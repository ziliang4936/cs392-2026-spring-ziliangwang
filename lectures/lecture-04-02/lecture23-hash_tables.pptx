
<file path=[Content_Types].xml><?xml version="1.0" encoding="utf-8"?>
<Types xmlns="http://schemas.openxmlformats.org/package/2006/content-types"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ti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85.xml" ContentType="application/vnd.openxmlformats-officedocument.presentationml.slide+xml"/>
  <Override PartName="/ppt/slides/slide286.xml" ContentType="application/vnd.openxmlformats-officedocument.presentationml.slide+xml"/>
  <Override PartName="/ppt/slides/slide287.xml" ContentType="application/vnd.openxmlformats-officedocument.presentationml.slide+xml"/>
  <Override PartName="/ppt/slides/slide288.xml" ContentType="application/vnd.openxmlformats-officedocument.presentationml.slide+xml"/>
  <Override PartName="/ppt/slides/slide289.xml" ContentType="application/vnd.openxmlformats-officedocument.presentationml.slide+xml"/>
  <Override PartName="/ppt/slides/slide290.xml" ContentType="application/vnd.openxmlformats-officedocument.presentationml.slide+xml"/>
  <Override PartName="/ppt/slides/slide291.xml" ContentType="application/vnd.openxmlformats-officedocument.presentationml.slide+xml"/>
  <Override PartName="/ppt/slides/slide292.xml" ContentType="application/vnd.openxmlformats-officedocument.presentationml.slide+xml"/>
  <Override PartName="/ppt/slides/slide293.xml" ContentType="application/vnd.openxmlformats-officedocument.presentationml.slide+xml"/>
  <Override PartName="/ppt/slides/slide294.xml" ContentType="application/vnd.openxmlformats-officedocument.presentationml.slide+xml"/>
  <Override PartName="/ppt/slides/slide295.xml" ContentType="application/vnd.openxmlformats-officedocument.presentationml.slide+xml"/>
  <Override PartName="/ppt/slides/slide296.xml" ContentType="application/vnd.openxmlformats-officedocument.presentationml.slide+xml"/>
  <Override PartName="/ppt/slides/slide297.xml" ContentType="application/vnd.openxmlformats-officedocument.presentationml.slide+xml"/>
  <Override PartName="/ppt/slides/slide298.xml" ContentType="application/vnd.openxmlformats-officedocument.presentationml.slide+xml"/>
  <Override PartName="/ppt/slides/slide299.xml" ContentType="application/vnd.openxmlformats-officedocument.presentationml.slide+xml"/>
  <Override PartName="/ppt/slides/slide300.xml" ContentType="application/vnd.openxmlformats-officedocument.presentationml.slide+xml"/>
  <Override PartName="/ppt/slides/slide301.xml" ContentType="application/vnd.openxmlformats-officedocument.presentationml.slide+xml"/>
  <Override PartName="/ppt/slides/slide302.xml" ContentType="application/vnd.openxmlformats-officedocument.presentationml.slide+xml"/>
  <Override PartName="/ppt/slides/slide303.xml" ContentType="application/vnd.openxmlformats-officedocument.presentationml.slide+xml"/>
  <Override PartName="/ppt/slides/slide304.xml" ContentType="application/vnd.openxmlformats-officedocument.presentationml.slide+xml"/>
  <Override PartName="/ppt/slides/slide305.xml" ContentType="application/vnd.openxmlformats-officedocument.presentationml.slide+xml"/>
  <Override PartName="/ppt/slides/slide306.xml" ContentType="application/vnd.openxmlformats-officedocument.presentationml.slide+xml"/>
  <Override PartName="/ppt/slides/slide307.xml" ContentType="application/vnd.openxmlformats-officedocument.presentationml.slide+xml"/>
  <Override PartName="/ppt/slides/slide308.xml" ContentType="application/vnd.openxmlformats-officedocument.presentationml.slide+xml"/>
  <Override PartName="/ppt/slides/slide309.xml" ContentType="application/vnd.openxmlformats-officedocument.presentationml.slide+xml"/>
  <Override PartName="/ppt/slides/slide310.xml" ContentType="application/vnd.openxmlformats-officedocument.presentationml.slide+xml"/>
  <Override PartName="/ppt/slides/slide311.xml" ContentType="application/vnd.openxmlformats-officedocument.presentationml.slide+xml"/>
  <Override PartName="/ppt/slides/slide312.xml" ContentType="application/vnd.openxmlformats-officedocument.presentationml.slide+xml"/>
  <Override PartName="/ppt/slides/slide313.xml" ContentType="application/vnd.openxmlformats-officedocument.presentationml.slide+xml"/>
  <Override PartName="/ppt/slides/slide314.xml" ContentType="application/vnd.openxmlformats-officedocument.presentationml.slide+xml"/>
  <Override PartName="/ppt/slides/slide315.xml" ContentType="application/vnd.openxmlformats-officedocument.presentationml.slide+xml"/>
  <Override PartName="/ppt/slides/slide316.xml" ContentType="application/vnd.openxmlformats-officedocument.presentationml.slide+xml"/>
  <Override PartName="/ppt/slides/slide317.xml" ContentType="application/vnd.openxmlformats-officedocument.presentationml.slide+xml"/>
  <Override PartName="/ppt/slides/slide318.xml" ContentType="application/vnd.openxmlformats-officedocument.presentationml.slide+xml"/>
  <Override PartName="/ppt/slides/slide319.xml" ContentType="application/vnd.openxmlformats-officedocument.presentationml.slide+xml"/>
  <Override PartName="/ppt/slides/slide320.xml" ContentType="application/vnd.openxmlformats-officedocument.presentationml.slide+xml"/>
  <Override PartName="/ppt/slides/slide321.xml" ContentType="application/vnd.openxmlformats-officedocument.presentationml.slide+xml"/>
  <Override PartName="/ppt/slides/slide322.xml" ContentType="application/vnd.openxmlformats-officedocument.presentationml.slide+xml"/>
  <Override PartName="/ppt/slides/slide323.xml" ContentType="application/vnd.openxmlformats-officedocument.presentationml.slide+xml"/>
  <Override PartName="/ppt/slides/slide324.xml" ContentType="application/vnd.openxmlformats-officedocument.presentationml.slide+xml"/>
  <Override PartName="/ppt/slides/slide325.xml" ContentType="application/vnd.openxmlformats-officedocument.presentationml.slide+xml"/>
  <Override PartName="/ppt/slides/slide326.xml" ContentType="application/vnd.openxmlformats-officedocument.presentationml.slide+xml"/>
  <Override PartName="/ppt/slides/slide327.xml" ContentType="application/vnd.openxmlformats-officedocument.presentationml.slide+xml"/>
  <Override PartName="/ppt/slides/slide328.xml" ContentType="application/vnd.openxmlformats-officedocument.presentationml.slide+xml"/>
  <Override PartName="/ppt/slides/slide329.xml" ContentType="application/vnd.openxmlformats-officedocument.presentationml.slide+xml"/>
  <Override PartName="/ppt/slides/slide330.xml" ContentType="application/vnd.openxmlformats-officedocument.presentationml.slide+xml"/>
  <Override PartName="/ppt/slides/slide331.xml" ContentType="application/vnd.openxmlformats-officedocument.presentationml.slide+xml"/>
  <Override PartName="/ppt/slides/slide332.xml" ContentType="application/vnd.openxmlformats-officedocument.presentationml.slide+xml"/>
  <Override PartName="/ppt/slides/slide333.xml" ContentType="application/vnd.openxmlformats-officedocument.presentationml.slide+xml"/>
  <Override PartName="/ppt/slides/slide334.xml" ContentType="application/vnd.openxmlformats-officedocument.presentationml.slide+xml"/>
  <Override PartName="/ppt/slides/slide335.xml" ContentType="application/vnd.openxmlformats-officedocument.presentationml.slide+xml"/>
  <Override PartName="/ppt/slides/slide336.xml" ContentType="application/vnd.openxmlformats-officedocument.presentationml.slide+xml"/>
  <Override PartName="/ppt/slides/slide337.xml" ContentType="application/vnd.openxmlformats-officedocument.presentationml.slide+xml"/>
  <Override PartName="/ppt/slides/slide338.xml" ContentType="application/vnd.openxmlformats-officedocument.presentationml.slide+xml"/>
  <Override PartName="/ppt/slides/slide339.xml" ContentType="application/vnd.openxmlformats-officedocument.presentationml.slide+xml"/>
  <Override PartName="/ppt/slides/slide340.xml" ContentType="application/vnd.openxmlformats-officedocument.presentationml.slide+xml"/>
  <Override PartName="/ppt/slides/slide341.xml" ContentType="application/vnd.openxmlformats-officedocument.presentationml.slide+xml"/>
  <Override PartName="/ppt/slides/slide342.xml" ContentType="application/vnd.openxmlformats-officedocument.presentationml.slide+xml"/>
  <Override PartName="/ppt/slides/slide343.xml" ContentType="application/vnd.openxmlformats-officedocument.presentationml.slide+xml"/>
  <Override PartName="/ppt/slides/slide344.xml" ContentType="application/vnd.openxmlformats-officedocument.presentationml.slide+xml"/>
  <Override PartName="/ppt/slides/slide345.xml" ContentType="application/vnd.openxmlformats-officedocument.presentationml.slide+xml"/>
  <Override PartName="/ppt/slides/slide346.xml" ContentType="application/vnd.openxmlformats-officedocument.presentationml.slide+xml"/>
  <Override PartName="/ppt/slides/slide347.xml" ContentType="application/vnd.openxmlformats-officedocument.presentationml.slide+xml"/>
  <Override PartName="/ppt/slides/slide348.xml" ContentType="application/vnd.openxmlformats-officedocument.presentationml.slide+xml"/>
  <Override PartName="/ppt/slides/slide349.xml" ContentType="application/vnd.openxmlformats-officedocument.presentationml.slide+xml"/>
  <Override PartName="/ppt/slides/slide350.xml" ContentType="application/vnd.openxmlformats-officedocument.presentationml.slide+xml"/>
  <Override PartName="/ppt/slides/slide351.xml" ContentType="application/vnd.openxmlformats-officedocument.presentationml.slide+xml"/>
  <Override PartName="/ppt/slides/slide352.xml" ContentType="application/vnd.openxmlformats-officedocument.presentationml.slide+xml"/>
  <Override PartName="/ppt/slides/slide353.xml" ContentType="application/vnd.openxmlformats-officedocument.presentationml.slide+xml"/>
  <Override PartName="/ppt/slides/slide354.xml" ContentType="application/vnd.openxmlformats-officedocument.presentationml.slide+xml"/>
  <Override PartName="/ppt/slides/slide355.xml" ContentType="application/vnd.openxmlformats-officedocument.presentationml.slide+xml"/>
  <Override PartName="/ppt/slides/slide356.xml" ContentType="application/vnd.openxmlformats-officedocument.presentationml.slide+xml"/>
  <Override PartName="/ppt/slides/slide357.xml" ContentType="application/vnd.openxmlformats-officedocument.presentationml.slide+xml"/>
  <Override PartName="/ppt/slides/slide358.xml" ContentType="application/vnd.openxmlformats-officedocument.presentationml.slide+xml"/>
  <Override PartName="/ppt/slides/slide359.xml" ContentType="application/vnd.openxmlformats-officedocument.presentationml.slide+xml"/>
  <Override PartName="/ppt/slides/slide360.xml" ContentType="application/vnd.openxmlformats-officedocument.presentationml.slide+xml"/>
  <Override PartName="/ppt/slides/slide361.xml" ContentType="application/vnd.openxmlformats-officedocument.presentationml.slide+xml"/>
  <Override PartName="/ppt/slides/slide362.xml" ContentType="application/vnd.openxmlformats-officedocument.presentationml.slide+xml"/>
  <Override PartName="/ppt/slides/slide363.xml" ContentType="application/vnd.openxmlformats-officedocument.presentationml.slide+xml"/>
  <Override PartName="/ppt/slides/slide364.xml" ContentType="application/vnd.openxmlformats-officedocument.presentationml.slide+xml"/>
  <Override PartName="/ppt/slides/slide36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0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84.xml" ContentType="application/vnd.openxmlformats-officedocument.presentationml.notesSlide+xml"/>
  <Override PartName="/ppt/notesSlides/notesSlide185.xml" ContentType="application/vnd.openxmlformats-officedocument.presentationml.notesSlide+xml"/>
  <Override PartName="/ppt/notesSlides/notesSlide186.xml" ContentType="application/vnd.openxmlformats-officedocument.presentationml.notesSlide+xml"/>
  <Override PartName="/ppt/notesSlides/notesSlide187.xml" ContentType="application/vnd.openxmlformats-officedocument.presentationml.notesSlide+xml"/>
  <Override PartName="/ppt/notesSlides/notesSlide188.xml" ContentType="application/vnd.openxmlformats-officedocument.presentationml.notesSlide+xml"/>
  <Override PartName="/ppt/notesSlides/notesSlide189.xml" ContentType="application/vnd.openxmlformats-officedocument.presentationml.notesSlide+xml"/>
  <Override PartName="/ppt/notesSlides/notesSlide190.xml" ContentType="application/vnd.openxmlformats-officedocument.presentationml.notesSlide+xml"/>
  <Override PartName="/ppt/notesSlides/notesSlide191.xml" ContentType="application/vnd.openxmlformats-officedocument.presentationml.notesSlide+xml"/>
  <Override PartName="/ppt/notesSlides/notesSlide192.xml" ContentType="application/vnd.openxmlformats-officedocument.presentationml.notesSlide+xml"/>
  <Override PartName="/ppt/notesSlides/notesSlide193.xml" ContentType="application/vnd.openxmlformats-officedocument.presentationml.notesSlide+xml"/>
  <Override PartName="/ppt/notesSlides/notesSlide194.xml" ContentType="application/vnd.openxmlformats-officedocument.presentationml.notesSlide+xml"/>
  <Override PartName="/ppt/notesSlides/notesSlide195.xml" ContentType="application/vnd.openxmlformats-officedocument.presentationml.notesSlide+xml"/>
  <Override PartName="/ppt/notesSlides/notesSlide196.xml" ContentType="application/vnd.openxmlformats-officedocument.presentationml.notesSlide+xml"/>
  <Override PartName="/ppt/notesSlides/notesSlide197.xml" ContentType="application/vnd.openxmlformats-officedocument.presentationml.notesSlide+xml"/>
  <Override PartName="/ppt/notesSlides/notesSlide198.xml" ContentType="application/vnd.openxmlformats-officedocument.presentationml.notesSlide+xml"/>
  <Override PartName="/ppt/notesSlides/notesSlide199.xml" ContentType="application/vnd.openxmlformats-officedocument.presentationml.notesSlide+xml"/>
  <Override PartName="/ppt/notesSlides/notesSlide200.xml" ContentType="application/vnd.openxmlformats-officedocument.presentationml.notesSlide+xml"/>
  <Override PartName="/ppt/notesSlides/notesSlide201.xml" ContentType="application/vnd.openxmlformats-officedocument.presentationml.notesSlide+xml"/>
  <Override PartName="/ppt/notesSlides/notesSlide202.xml" ContentType="application/vnd.openxmlformats-officedocument.presentationml.notesSlide+xml"/>
  <Override PartName="/ppt/notesSlides/notesSlide203.xml" ContentType="application/vnd.openxmlformats-officedocument.presentationml.notesSlide+xml"/>
  <Override PartName="/ppt/notesSlides/notesSlide204.xml" ContentType="application/vnd.openxmlformats-officedocument.presentationml.notesSlide+xml"/>
  <Override PartName="/ppt/notesSlides/notesSlide205.xml" ContentType="application/vnd.openxmlformats-officedocument.presentationml.notesSlide+xml"/>
  <Override PartName="/ppt/notesSlides/notesSlide206.xml" ContentType="application/vnd.openxmlformats-officedocument.presentationml.notesSlide+xml"/>
  <Override PartName="/ppt/notesSlides/notesSlide207.xml" ContentType="application/vnd.openxmlformats-officedocument.presentationml.notesSlide+xml"/>
  <Override PartName="/ppt/notesSlides/notesSlide208.xml" ContentType="application/vnd.openxmlformats-officedocument.presentationml.notesSlide+xml"/>
  <Override PartName="/ppt/notesSlides/notesSlide209.xml" ContentType="application/vnd.openxmlformats-officedocument.presentationml.notesSlide+xml"/>
  <Override PartName="/ppt/notesSlides/notesSlide210.xml" ContentType="application/vnd.openxmlformats-officedocument.presentationml.notesSlide+xml"/>
  <Override PartName="/ppt/notesSlides/notesSlide211.xml" ContentType="application/vnd.openxmlformats-officedocument.presentationml.notesSlide+xml"/>
  <Override PartName="/ppt/notesSlides/notesSlide212.xml" ContentType="application/vnd.openxmlformats-officedocument.presentationml.notesSlide+xml"/>
  <Override PartName="/ppt/notesSlides/notesSlide213.xml" ContentType="application/vnd.openxmlformats-officedocument.presentationml.notesSlide+xml"/>
  <Override PartName="/ppt/notesSlides/notesSlide214.xml" ContentType="application/vnd.openxmlformats-officedocument.presentationml.notesSlide+xml"/>
  <Override PartName="/ppt/notesSlides/notesSlide215.xml" ContentType="application/vnd.openxmlformats-officedocument.presentationml.notesSlide+xml"/>
  <Override PartName="/ppt/notesSlides/notesSlide216.xml" ContentType="application/vnd.openxmlformats-officedocument.presentationml.notesSlide+xml"/>
  <Override PartName="/ppt/notesSlides/notesSlide217.xml" ContentType="application/vnd.openxmlformats-officedocument.presentationml.notesSlide+xml"/>
  <Override PartName="/ppt/notesSlides/notesSlide218.xml" ContentType="application/vnd.openxmlformats-officedocument.presentationml.notesSlide+xml"/>
  <Override PartName="/ppt/notesSlides/notesSlide219.xml" ContentType="application/vnd.openxmlformats-officedocument.presentationml.notesSlide+xml"/>
  <Override PartName="/ppt/notesSlides/notesSlide220.xml" ContentType="application/vnd.openxmlformats-officedocument.presentationml.notesSlide+xml"/>
  <Override PartName="/ppt/notesSlides/notesSlide221.xml" ContentType="application/vnd.openxmlformats-officedocument.presentationml.notesSlide+xml"/>
  <Override PartName="/ppt/notesSlides/notesSlide222.xml" ContentType="application/vnd.openxmlformats-officedocument.presentationml.notesSlide+xml"/>
  <Override PartName="/ppt/notesSlides/notesSlide223.xml" ContentType="application/vnd.openxmlformats-officedocument.presentationml.notesSlide+xml"/>
  <Override PartName="/ppt/notesSlides/notesSlide224.xml" ContentType="application/vnd.openxmlformats-officedocument.presentationml.notesSlide+xml"/>
  <Override PartName="/ppt/notesSlides/notesSlide225.xml" ContentType="application/vnd.openxmlformats-officedocument.presentationml.notesSlide+xml"/>
  <Override PartName="/ppt/notesSlides/notesSlide226.xml" ContentType="application/vnd.openxmlformats-officedocument.presentationml.notesSlide+xml"/>
  <Override PartName="/ppt/notesSlides/notesSlide227.xml" ContentType="application/vnd.openxmlformats-officedocument.presentationml.notesSlide+xml"/>
  <Override PartName="/ppt/notesSlides/notesSlide228.xml" ContentType="application/vnd.openxmlformats-officedocument.presentationml.notesSlide+xml"/>
  <Override PartName="/ppt/notesSlides/notesSlide229.xml" ContentType="application/vnd.openxmlformats-officedocument.presentationml.notesSlide+xml"/>
  <Override PartName="/ppt/notesSlides/notesSlide230.xml" ContentType="application/vnd.openxmlformats-officedocument.presentationml.notesSlide+xml"/>
  <Override PartName="/ppt/notesSlides/notesSlide231.xml" ContentType="application/vnd.openxmlformats-officedocument.presentationml.notesSlide+xml"/>
  <Override PartName="/ppt/notesSlides/notesSlide232.xml" ContentType="application/vnd.openxmlformats-officedocument.presentationml.notesSlide+xml"/>
  <Override PartName="/ppt/notesSlides/notesSlide233.xml" ContentType="application/vnd.openxmlformats-officedocument.presentationml.notesSlide+xml"/>
  <Override PartName="/ppt/notesSlides/notesSlide234.xml" ContentType="application/vnd.openxmlformats-officedocument.presentationml.notesSlide+xml"/>
  <Override PartName="/ppt/notesSlides/notesSlide235.xml" ContentType="application/vnd.openxmlformats-officedocument.presentationml.notesSlide+xml"/>
  <Override PartName="/ppt/notesSlides/notesSlide236.xml" ContentType="application/vnd.openxmlformats-officedocument.presentationml.notesSlide+xml"/>
  <Override PartName="/ppt/notesSlides/notesSlide237.xml" ContentType="application/vnd.openxmlformats-officedocument.presentationml.notesSlide+xml"/>
  <Override PartName="/ppt/notesSlides/notesSlide238.xml" ContentType="application/vnd.openxmlformats-officedocument.presentationml.notesSlide+xml"/>
  <Override PartName="/ppt/notesSlides/notesSlide239.xml" ContentType="application/vnd.openxmlformats-officedocument.presentationml.notesSlide+xml"/>
  <Override PartName="/ppt/notesSlides/notesSlide240.xml" ContentType="application/vnd.openxmlformats-officedocument.presentationml.notesSlide+xml"/>
  <Override PartName="/ppt/notesSlides/notesSlide241.xml" ContentType="application/vnd.openxmlformats-officedocument.presentationml.notesSlide+xml"/>
  <Override PartName="/ppt/notesSlides/notesSlide242.xml" ContentType="application/vnd.openxmlformats-officedocument.presentationml.notesSlide+xml"/>
  <Override PartName="/ppt/notesSlides/notesSlide243.xml" ContentType="application/vnd.openxmlformats-officedocument.presentationml.notesSlide+xml"/>
  <Override PartName="/ppt/notesSlides/notesSlide244.xml" ContentType="application/vnd.openxmlformats-officedocument.presentationml.notesSlide+xml"/>
  <Override PartName="/ppt/notesSlides/notesSlide245.xml" ContentType="application/vnd.openxmlformats-officedocument.presentationml.notesSlide+xml"/>
  <Override PartName="/ppt/notesSlides/notesSlide246.xml" ContentType="application/vnd.openxmlformats-officedocument.presentationml.notesSlide+xml"/>
  <Override PartName="/ppt/notesSlides/notesSlide247.xml" ContentType="application/vnd.openxmlformats-officedocument.presentationml.notesSlide+xml"/>
  <Override PartName="/ppt/notesSlides/notesSlide248.xml" ContentType="application/vnd.openxmlformats-officedocument.presentationml.notesSlide+xml"/>
  <Override PartName="/ppt/notesSlides/notesSlide249.xml" ContentType="application/vnd.openxmlformats-officedocument.presentationml.notesSlide+xml"/>
  <Override PartName="/ppt/notesSlides/notesSlide250.xml" ContentType="application/vnd.openxmlformats-officedocument.presentationml.notesSlide+xml"/>
  <Override PartName="/ppt/notesSlides/notesSlide251.xml" ContentType="application/vnd.openxmlformats-officedocument.presentationml.notesSlide+xml"/>
  <Override PartName="/ppt/notesSlides/notesSlide252.xml" ContentType="application/vnd.openxmlformats-officedocument.presentationml.notesSlide+xml"/>
  <Override PartName="/ppt/notesSlides/notesSlide253.xml" ContentType="application/vnd.openxmlformats-officedocument.presentationml.notesSlide+xml"/>
  <Override PartName="/ppt/notesSlides/notesSlide254.xml" ContentType="application/vnd.openxmlformats-officedocument.presentationml.notesSlide+xml"/>
  <Override PartName="/ppt/notesSlides/notesSlide255.xml" ContentType="application/vnd.openxmlformats-officedocument.presentationml.notesSlide+xml"/>
  <Override PartName="/ppt/notesSlides/notesSlide256.xml" ContentType="application/vnd.openxmlformats-officedocument.presentationml.notesSlide+xml"/>
  <Override PartName="/ppt/notesSlides/notesSlide257.xml" ContentType="application/vnd.openxmlformats-officedocument.presentationml.notesSlide+xml"/>
  <Override PartName="/ppt/notesSlides/notesSlide258.xml" ContentType="application/vnd.openxmlformats-officedocument.presentationml.notesSlide+xml"/>
  <Override PartName="/ppt/notesSlides/notesSlide259.xml" ContentType="application/vnd.openxmlformats-officedocument.presentationml.notesSlide+xml"/>
  <Override PartName="/ppt/notesSlides/notesSlide260.xml" ContentType="application/vnd.openxmlformats-officedocument.presentationml.notesSlide+xml"/>
  <Override PartName="/ppt/notesSlides/notesSlide261.xml" ContentType="application/vnd.openxmlformats-officedocument.presentationml.notesSlide+xml"/>
  <Override PartName="/ppt/notesSlides/notesSlide262.xml" ContentType="application/vnd.openxmlformats-officedocument.presentationml.notesSlide+xml"/>
  <Override PartName="/ppt/notesSlides/notesSlide263.xml" ContentType="application/vnd.openxmlformats-officedocument.presentationml.notesSlide+xml"/>
  <Override PartName="/ppt/notesSlides/notesSlide264.xml" ContentType="application/vnd.openxmlformats-officedocument.presentationml.notesSlide+xml"/>
  <Override PartName="/ppt/notesSlides/notesSlide265.xml" ContentType="application/vnd.openxmlformats-officedocument.presentationml.notesSlide+xml"/>
  <Override PartName="/ppt/notesSlides/notesSlide266.xml" ContentType="application/vnd.openxmlformats-officedocument.presentationml.notesSlide+xml"/>
  <Override PartName="/ppt/notesSlides/notesSlide267.xml" ContentType="application/vnd.openxmlformats-officedocument.presentationml.notesSlide+xml"/>
  <Override PartName="/ppt/notesSlides/notesSlide268.xml" ContentType="application/vnd.openxmlformats-officedocument.presentationml.notesSlide+xml"/>
  <Override PartName="/ppt/notesSlides/notesSlide269.xml" ContentType="application/vnd.openxmlformats-officedocument.presentationml.notesSlide+xml"/>
  <Override PartName="/ppt/notesSlides/notesSlide270.xml" ContentType="application/vnd.openxmlformats-officedocument.presentationml.notesSlide+xml"/>
  <Override PartName="/ppt/notesSlides/notesSlide271.xml" ContentType="application/vnd.openxmlformats-officedocument.presentationml.notesSlide+xml"/>
  <Override PartName="/ppt/notesSlides/notesSlide272.xml" ContentType="application/vnd.openxmlformats-officedocument.presentationml.notesSlide+xml"/>
  <Override PartName="/ppt/notesSlides/notesSlide273.xml" ContentType="application/vnd.openxmlformats-officedocument.presentationml.notesSlide+xml"/>
  <Override PartName="/ppt/notesSlides/notesSlide274.xml" ContentType="application/vnd.openxmlformats-officedocument.presentationml.notesSlide+xml"/>
  <Override PartName="/ppt/notesSlides/notesSlide275.xml" ContentType="application/vnd.openxmlformats-officedocument.presentationml.notesSlide+xml"/>
  <Override PartName="/ppt/notesSlides/notesSlide276.xml" ContentType="application/vnd.openxmlformats-officedocument.presentationml.notesSlide+xml"/>
  <Override PartName="/ppt/notesSlides/notesSlide277.xml" ContentType="application/vnd.openxmlformats-officedocument.presentationml.notesSlide+xml"/>
  <Override PartName="/ppt/notesSlides/notesSlide278.xml" ContentType="application/vnd.openxmlformats-officedocument.presentationml.notesSlide+xml"/>
  <Override PartName="/ppt/notesSlides/notesSlide279.xml" ContentType="application/vnd.openxmlformats-officedocument.presentationml.notesSlide+xml"/>
  <Override PartName="/ppt/notesSlides/notesSlide280.xml" ContentType="application/vnd.openxmlformats-officedocument.presentationml.notesSlide+xml"/>
  <Override PartName="/ppt/notesSlides/notesSlide281.xml" ContentType="application/vnd.openxmlformats-officedocument.presentationml.notesSlide+xml"/>
  <Override PartName="/ppt/notesSlides/notesSlide282.xml" ContentType="application/vnd.openxmlformats-officedocument.presentationml.notesSlide+xml"/>
  <Override PartName="/ppt/notesSlides/notesSlide283.xml" ContentType="application/vnd.openxmlformats-officedocument.presentationml.notesSlide+xml"/>
  <Override PartName="/ppt/notesSlides/notesSlide284.xml" ContentType="application/vnd.openxmlformats-officedocument.presentationml.notesSlide+xml"/>
  <Override PartName="/ppt/notesSlides/notesSlide285.xml" ContentType="application/vnd.openxmlformats-officedocument.presentationml.notesSlide+xml"/>
  <Override PartName="/ppt/notesSlides/notesSlide286.xml" ContentType="application/vnd.openxmlformats-officedocument.presentationml.notesSlide+xml"/>
  <Override PartName="/ppt/notesSlides/notesSlide287.xml" ContentType="application/vnd.openxmlformats-officedocument.presentationml.notesSlide+xml"/>
  <Override PartName="/ppt/notesSlides/notesSlide288.xml" ContentType="application/vnd.openxmlformats-officedocument.presentationml.notesSlide+xml"/>
  <Override PartName="/ppt/notesSlides/notesSlide289.xml" ContentType="application/vnd.openxmlformats-officedocument.presentationml.notesSlide+xml"/>
  <Override PartName="/ppt/notesSlides/notesSlide290.xml" ContentType="application/vnd.openxmlformats-officedocument.presentationml.notesSlide+xml"/>
  <Override PartName="/ppt/notesSlides/notesSlide291.xml" ContentType="application/vnd.openxmlformats-officedocument.presentationml.notesSlide+xml"/>
  <Override PartName="/ppt/notesSlides/notesSlide292.xml" ContentType="application/vnd.openxmlformats-officedocument.presentationml.notesSlide+xml"/>
  <Override PartName="/ppt/notesSlides/notesSlide293.xml" ContentType="application/vnd.openxmlformats-officedocument.presentationml.notesSlide+xml"/>
  <Override PartName="/ppt/notesSlides/notesSlide294.xml" ContentType="application/vnd.openxmlformats-officedocument.presentationml.notesSlide+xml"/>
  <Override PartName="/ppt/notesSlides/notesSlide295.xml" ContentType="application/vnd.openxmlformats-officedocument.presentationml.notesSlide+xml"/>
  <Override PartName="/ppt/notesSlides/notesSlide296.xml" ContentType="application/vnd.openxmlformats-officedocument.presentationml.notesSlide+xml"/>
  <Override PartName="/ppt/notesSlides/notesSlide297.xml" ContentType="application/vnd.openxmlformats-officedocument.presentationml.notesSlide+xml"/>
  <Override PartName="/ppt/notesSlides/notesSlide298.xml" ContentType="application/vnd.openxmlformats-officedocument.presentationml.notesSlide+xml"/>
  <Override PartName="/ppt/notesSlides/notesSlide299.xml" ContentType="application/vnd.openxmlformats-officedocument.presentationml.notesSlide+xml"/>
  <Override PartName="/ppt/notesSlides/notesSlide300.xml" ContentType="application/vnd.openxmlformats-officedocument.presentationml.notesSlide+xml"/>
  <Override PartName="/ppt/notesSlides/notesSlide301.xml" ContentType="application/vnd.openxmlformats-officedocument.presentationml.notesSlide+xml"/>
  <Override PartName="/ppt/notesSlides/notesSlide302.xml" ContentType="application/vnd.openxmlformats-officedocument.presentationml.notesSlide+xml"/>
  <Override PartName="/ppt/notesSlides/notesSlide303.xml" ContentType="application/vnd.openxmlformats-officedocument.presentationml.notesSlide+xml"/>
  <Override PartName="/ppt/notesSlides/notesSlide304.xml" ContentType="application/vnd.openxmlformats-officedocument.presentationml.notesSlide+xml"/>
  <Override PartName="/ppt/notesSlides/notesSlide305.xml" ContentType="application/vnd.openxmlformats-officedocument.presentationml.notesSlide+xml"/>
  <Override PartName="/ppt/notesSlides/notesSlide306.xml" ContentType="application/vnd.openxmlformats-officedocument.presentationml.notesSlide+xml"/>
  <Override PartName="/ppt/notesSlides/notesSlide307.xml" ContentType="application/vnd.openxmlformats-officedocument.presentationml.notesSlide+xml"/>
  <Override PartName="/ppt/notesSlides/notesSlide308.xml" ContentType="application/vnd.openxmlformats-officedocument.presentationml.notesSlide+xml"/>
  <Override PartName="/ppt/notesSlides/notesSlide309.xml" ContentType="application/vnd.openxmlformats-officedocument.presentationml.notesSlide+xml"/>
  <Override PartName="/ppt/notesSlides/notesSlide310.xml" ContentType="application/vnd.openxmlformats-officedocument.presentationml.notesSlide+xml"/>
  <Override PartName="/ppt/notesSlides/notesSlide311.xml" ContentType="application/vnd.openxmlformats-officedocument.presentationml.notesSlide+xml"/>
  <Override PartName="/ppt/notesSlides/notesSlide312.xml" ContentType="application/vnd.openxmlformats-officedocument.presentationml.notesSlide+xml"/>
  <Override PartName="/ppt/notesSlides/notesSlide313.xml" ContentType="application/vnd.openxmlformats-officedocument.presentationml.notesSlide+xml"/>
  <Override PartName="/ppt/notesSlides/notesSlide314.xml" ContentType="application/vnd.openxmlformats-officedocument.presentationml.notesSlide+xml"/>
  <Override PartName="/ppt/notesSlides/notesSlide315.xml" ContentType="application/vnd.openxmlformats-officedocument.presentationml.notesSlide+xml"/>
  <Override PartName="/ppt/notesSlides/notesSlide316.xml" ContentType="application/vnd.openxmlformats-officedocument.presentationml.notesSlide+xml"/>
  <Override PartName="/ppt/notesSlides/notesSlide317.xml" ContentType="application/vnd.openxmlformats-officedocument.presentationml.notesSlide+xml"/>
  <Override PartName="/ppt/notesSlides/notesSlide318.xml" ContentType="application/vnd.openxmlformats-officedocument.presentationml.notesSlide+xml"/>
  <Override PartName="/ppt/notesSlides/notesSlide319.xml" ContentType="application/vnd.openxmlformats-officedocument.presentationml.notesSlide+xml"/>
  <Override PartName="/ppt/notesSlides/notesSlide320.xml" ContentType="application/vnd.openxmlformats-officedocument.presentationml.notesSlide+xml"/>
  <Override PartName="/ppt/notesSlides/notesSlide321.xml" ContentType="application/vnd.openxmlformats-officedocument.presentationml.notesSlide+xml"/>
  <Override PartName="/ppt/notesSlides/notesSlide322.xml" ContentType="application/vnd.openxmlformats-officedocument.presentationml.notesSlide+xml"/>
  <Override PartName="/ppt/notesSlides/notesSlide323.xml" ContentType="application/vnd.openxmlformats-officedocument.presentationml.notesSlide+xml"/>
  <Override PartName="/ppt/notesSlides/notesSlide324.xml" ContentType="application/vnd.openxmlformats-officedocument.presentationml.notesSlide+xml"/>
  <Override PartName="/ppt/notesSlides/notesSlide325.xml" ContentType="application/vnd.openxmlformats-officedocument.presentationml.notesSlide+xml"/>
  <Override PartName="/ppt/notesSlides/notesSlide326.xml" ContentType="application/vnd.openxmlformats-officedocument.presentationml.notesSlide+xml"/>
  <Override PartName="/ppt/notesSlides/notesSlide327.xml" ContentType="application/vnd.openxmlformats-officedocument.presentationml.notesSlide+xml"/>
  <Override PartName="/ppt/notesSlides/notesSlide328.xml" ContentType="application/vnd.openxmlformats-officedocument.presentationml.notesSlide+xml"/>
  <Override PartName="/ppt/notesSlides/notesSlide329.xml" ContentType="application/vnd.openxmlformats-officedocument.presentationml.notesSlide+xml"/>
  <Override PartName="/ppt/notesSlides/notesSlide330.xml" ContentType="application/vnd.openxmlformats-officedocument.presentationml.notesSlide+xml"/>
  <Override PartName="/ppt/notesSlides/notesSlide331.xml" ContentType="application/vnd.openxmlformats-officedocument.presentationml.notesSlide+xml"/>
  <Override PartName="/ppt/notesSlides/notesSlide332.xml" ContentType="application/vnd.openxmlformats-officedocument.presentationml.notesSlide+xml"/>
  <Override PartName="/ppt/notesSlides/notesSlide333.xml" ContentType="application/vnd.openxmlformats-officedocument.presentationml.notesSlide+xml"/>
  <Override PartName="/ppt/notesSlides/notesSlide334.xml" ContentType="application/vnd.openxmlformats-officedocument.presentationml.notesSlide+xml"/>
  <Override PartName="/ppt/notesSlides/notesSlide335.xml" ContentType="application/vnd.openxmlformats-officedocument.presentationml.notesSlide+xml"/>
  <Override PartName="/ppt/notesSlides/notesSlide336.xml" ContentType="application/vnd.openxmlformats-officedocument.presentationml.notesSlide+xml"/>
  <Override PartName="/ppt/notesSlides/notesSlide337.xml" ContentType="application/vnd.openxmlformats-officedocument.presentationml.notesSlide+xml"/>
  <Override PartName="/ppt/notesSlides/notesSlide338.xml" ContentType="application/vnd.openxmlformats-officedocument.presentationml.notesSlide+xml"/>
  <Override PartName="/ppt/notesSlides/notesSlide339.xml" ContentType="application/vnd.openxmlformats-officedocument.presentationml.notesSlide+xml"/>
  <Override PartName="/ppt/notesSlides/notesSlide340.xml" ContentType="application/vnd.openxmlformats-officedocument.presentationml.notesSlide+xml"/>
  <Override PartName="/ppt/notesSlides/notesSlide341.xml" ContentType="application/vnd.openxmlformats-officedocument.presentationml.notesSlide+xml"/>
  <Override PartName="/ppt/notesSlides/notesSlide342.xml" ContentType="application/vnd.openxmlformats-officedocument.presentationml.notesSlide+xml"/>
  <Override PartName="/ppt/notesSlides/notesSlide343.xml" ContentType="application/vnd.openxmlformats-officedocument.presentationml.notesSlide+xml"/>
  <Override PartName="/ppt/notesSlides/notesSlide344.xml" ContentType="application/vnd.openxmlformats-officedocument.presentationml.notesSlide+xml"/>
  <Override PartName="/ppt/notesSlides/notesSlide3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48" r:id="rId1"/>
    <p:sldMasterId id="2147483661" r:id="rId2"/>
  </p:sldMasterIdLst>
  <p:notesMasterIdLst>
    <p:notesMasterId r:id="rId368"/>
  </p:notesMasterIdLst>
  <p:handoutMasterIdLst>
    <p:handoutMasterId r:id="rId369"/>
  </p:handoutMasterIdLst>
  <p:sldIdLst>
    <p:sldId id="2334" r:id="rId3"/>
    <p:sldId id="2335" r:id="rId4"/>
    <p:sldId id="2336" r:id="rId5"/>
    <p:sldId id="2337" r:id="rId6"/>
    <p:sldId id="2338" r:id="rId7"/>
    <p:sldId id="2339" r:id="rId8"/>
    <p:sldId id="2340" r:id="rId9"/>
    <p:sldId id="2341" r:id="rId10"/>
    <p:sldId id="2342" r:id="rId11"/>
    <p:sldId id="2343" r:id="rId12"/>
    <p:sldId id="2344" r:id="rId13"/>
    <p:sldId id="2345" r:id="rId14"/>
    <p:sldId id="2346" r:id="rId15"/>
    <p:sldId id="2347" r:id="rId16"/>
    <p:sldId id="2348" r:id="rId17"/>
    <p:sldId id="2349" r:id="rId18"/>
    <p:sldId id="2350" r:id="rId19"/>
    <p:sldId id="2351" r:id="rId20"/>
    <p:sldId id="2352" r:id="rId21"/>
    <p:sldId id="2353" r:id="rId22"/>
    <p:sldId id="2354" r:id="rId23"/>
    <p:sldId id="2355" r:id="rId24"/>
    <p:sldId id="2459" r:id="rId25"/>
    <p:sldId id="2460" r:id="rId26"/>
    <p:sldId id="2356" r:id="rId27"/>
    <p:sldId id="2357" r:id="rId28"/>
    <p:sldId id="2358" r:id="rId29"/>
    <p:sldId id="2359" r:id="rId30"/>
    <p:sldId id="2360" r:id="rId31"/>
    <p:sldId id="2361" r:id="rId32"/>
    <p:sldId id="2362" r:id="rId33"/>
    <p:sldId id="2363" r:id="rId34"/>
    <p:sldId id="2364" r:id="rId35"/>
    <p:sldId id="2365" r:id="rId36"/>
    <p:sldId id="2366" r:id="rId37"/>
    <p:sldId id="2367" r:id="rId38"/>
    <p:sldId id="2450" r:id="rId39"/>
    <p:sldId id="2455" r:id="rId40"/>
    <p:sldId id="2456" r:id="rId41"/>
    <p:sldId id="2454" r:id="rId42"/>
    <p:sldId id="2458" r:id="rId43"/>
    <p:sldId id="2457" r:id="rId44"/>
    <p:sldId id="2453" r:id="rId45"/>
    <p:sldId id="2451" r:id="rId46"/>
    <p:sldId id="2452" r:id="rId47"/>
    <p:sldId id="2472" r:id="rId48"/>
    <p:sldId id="2370" r:id="rId49"/>
    <p:sldId id="2371" r:id="rId50"/>
    <p:sldId id="2372" r:id="rId51"/>
    <p:sldId id="2373" r:id="rId52"/>
    <p:sldId id="2374" r:id="rId53"/>
    <p:sldId id="2375" r:id="rId54"/>
    <p:sldId id="2376" r:id="rId55"/>
    <p:sldId id="2377" r:id="rId56"/>
    <p:sldId id="2378" r:id="rId57"/>
    <p:sldId id="2379" r:id="rId58"/>
    <p:sldId id="2380" r:id="rId59"/>
    <p:sldId id="2381" r:id="rId60"/>
    <p:sldId id="2382" r:id="rId61"/>
    <p:sldId id="2383" r:id="rId62"/>
    <p:sldId id="2384" r:id="rId63"/>
    <p:sldId id="2385" r:id="rId64"/>
    <p:sldId id="2386" r:id="rId65"/>
    <p:sldId id="2387" r:id="rId66"/>
    <p:sldId id="2388" r:id="rId67"/>
    <p:sldId id="2389" r:id="rId68"/>
    <p:sldId id="2390" r:id="rId69"/>
    <p:sldId id="2391" r:id="rId70"/>
    <p:sldId id="2392" r:id="rId71"/>
    <p:sldId id="2393" r:id="rId72"/>
    <p:sldId id="2394" r:id="rId73"/>
    <p:sldId id="2395" r:id="rId74"/>
    <p:sldId id="2396" r:id="rId75"/>
    <p:sldId id="2397" r:id="rId76"/>
    <p:sldId id="2398" r:id="rId77"/>
    <p:sldId id="2399" r:id="rId78"/>
    <p:sldId id="2400" r:id="rId79"/>
    <p:sldId id="2401" r:id="rId80"/>
    <p:sldId id="2402" r:id="rId81"/>
    <p:sldId id="2403" r:id="rId82"/>
    <p:sldId id="2404" r:id="rId83"/>
    <p:sldId id="2405" r:id="rId84"/>
    <p:sldId id="2406" r:id="rId85"/>
    <p:sldId id="2407" r:id="rId86"/>
    <p:sldId id="2408" r:id="rId87"/>
    <p:sldId id="2409" r:id="rId88"/>
    <p:sldId id="2410" r:id="rId89"/>
    <p:sldId id="2411" r:id="rId90"/>
    <p:sldId id="2412" r:id="rId91"/>
    <p:sldId id="2413" r:id="rId92"/>
    <p:sldId id="2414" r:id="rId93"/>
    <p:sldId id="2415" r:id="rId94"/>
    <p:sldId id="2416" r:id="rId95"/>
    <p:sldId id="2417" r:id="rId96"/>
    <p:sldId id="2418" r:id="rId97"/>
    <p:sldId id="2419" r:id="rId98"/>
    <p:sldId id="2420" r:id="rId99"/>
    <p:sldId id="2421" r:id="rId100"/>
    <p:sldId id="2422" r:id="rId101"/>
    <p:sldId id="2423" r:id="rId102"/>
    <p:sldId id="2424" r:id="rId103"/>
    <p:sldId id="2425" r:id="rId104"/>
    <p:sldId id="2426" r:id="rId105"/>
    <p:sldId id="1308" r:id="rId106"/>
    <p:sldId id="2099" r:id="rId107"/>
    <p:sldId id="2100" r:id="rId108"/>
    <p:sldId id="2101" r:id="rId109"/>
    <p:sldId id="2119" r:id="rId110"/>
    <p:sldId id="2120" r:id="rId111"/>
    <p:sldId id="2121" r:id="rId112"/>
    <p:sldId id="2054" r:id="rId113"/>
    <p:sldId id="2055" r:id="rId114"/>
    <p:sldId id="1309" r:id="rId115"/>
    <p:sldId id="2056" r:id="rId116"/>
    <p:sldId id="2057" r:id="rId117"/>
    <p:sldId id="1312" r:id="rId118"/>
    <p:sldId id="2058" r:id="rId119"/>
    <p:sldId id="1315" r:id="rId120"/>
    <p:sldId id="2059" r:id="rId121"/>
    <p:sldId id="2060" r:id="rId122"/>
    <p:sldId id="2061" r:id="rId123"/>
    <p:sldId id="2062" r:id="rId124"/>
    <p:sldId id="2063" r:id="rId125"/>
    <p:sldId id="1320" r:id="rId126"/>
    <p:sldId id="2064" r:id="rId127"/>
    <p:sldId id="2319" r:id="rId128"/>
    <p:sldId id="2320" r:id="rId129"/>
    <p:sldId id="2065" r:id="rId130"/>
    <p:sldId id="2461" r:id="rId131"/>
    <p:sldId id="2067" r:id="rId132"/>
    <p:sldId id="2068" r:id="rId133"/>
    <p:sldId id="2069" r:id="rId134"/>
    <p:sldId id="2070" r:id="rId135"/>
    <p:sldId id="2071" r:id="rId136"/>
    <p:sldId id="2072" r:id="rId137"/>
    <p:sldId id="2073" r:id="rId138"/>
    <p:sldId id="2074" r:id="rId139"/>
    <p:sldId id="2075" r:id="rId140"/>
    <p:sldId id="2077" r:id="rId141"/>
    <p:sldId id="2078" r:id="rId142"/>
    <p:sldId id="2079" r:id="rId143"/>
    <p:sldId id="2312" r:id="rId144"/>
    <p:sldId id="2080" r:id="rId145"/>
    <p:sldId id="2081" r:id="rId146"/>
    <p:sldId id="2082" r:id="rId147"/>
    <p:sldId id="2083" r:id="rId148"/>
    <p:sldId id="2124" r:id="rId149"/>
    <p:sldId id="2084" r:id="rId150"/>
    <p:sldId id="2085" r:id="rId151"/>
    <p:sldId id="2122" r:id="rId152"/>
    <p:sldId id="2427" r:id="rId153"/>
    <p:sldId id="2086" r:id="rId154"/>
    <p:sldId id="2088" r:id="rId155"/>
    <p:sldId id="2089" r:id="rId156"/>
    <p:sldId id="2090" r:id="rId157"/>
    <p:sldId id="2091" r:id="rId158"/>
    <p:sldId id="2092" r:id="rId159"/>
    <p:sldId id="2093" r:id="rId160"/>
    <p:sldId id="2094" r:id="rId161"/>
    <p:sldId id="2192" r:id="rId162"/>
    <p:sldId id="2321" r:id="rId163"/>
    <p:sldId id="2193" r:id="rId164"/>
    <p:sldId id="2194" r:id="rId165"/>
    <p:sldId id="2195" r:id="rId166"/>
    <p:sldId id="2196" r:id="rId167"/>
    <p:sldId id="2197" r:id="rId168"/>
    <p:sldId id="2208" r:id="rId169"/>
    <p:sldId id="2209" r:id="rId170"/>
    <p:sldId id="2210" r:id="rId171"/>
    <p:sldId id="2211" r:id="rId172"/>
    <p:sldId id="2212" r:id="rId173"/>
    <p:sldId id="2213" r:id="rId174"/>
    <p:sldId id="2214" r:id="rId175"/>
    <p:sldId id="2215" r:id="rId176"/>
    <p:sldId id="2216" r:id="rId177"/>
    <p:sldId id="2217" r:id="rId178"/>
    <p:sldId id="2218" r:id="rId179"/>
    <p:sldId id="2219" r:id="rId180"/>
    <p:sldId id="2220" r:id="rId181"/>
    <p:sldId id="2221" r:id="rId182"/>
    <p:sldId id="2222" r:id="rId183"/>
    <p:sldId id="2223" r:id="rId184"/>
    <p:sldId id="2224" r:id="rId185"/>
    <p:sldId id="2225" r:id="rId186"/>
    <p:sldId id="2226" r:id="rId187"/>
    <p:sldId id="2227" r:id="rId188"/>
    <p:sldId id="2228" r:id="rId189"/>
    <p:sldId id="2229" r:id="rId190"/>
    <p:sldId id="2230" r:id="rId191"/>
    <p:sldId id="2231" r:id="rId192"/>
    <p:sldId id="2232" r:id="rId193"/>
    <p:sldId id="2233" r:id="rId194"/>
    <p:sldId id="2234" r:id="rId195"/>
    <p:sldId id="2235" r:id="rId196"/>
    <p:sldId id="2236" r:id="rId197"/>
    <p:sldId id="2237" r:id="rId198"/>
    <p:sldId id="2238" r:id="rId199"/>
    <p:sldId id="2239" r:id="rId200"/>
    <p:sldId id="2240" r:id="rId201"/>
    <p:sldId id="2241" r:id="rId202"/>
    <p:sldId id="2242" r:id="rId203"/>
    <p:sldId id="2243" r:id="rId204"/>
    <p:sldId id="2322" r:id="rId205"/>
    <p:sldId id="2244" r:id="rId206"/>
    <p:sldId id="2245" r:id="rId207"/>
    <p:sldId id="2246" r:id="rId208"/>
    <p:sldId id="2247" r:id="rId209"/>
    <p:sldId id="2248" r:id="rId210"/>
    <p:sldId id="2249" r:id="rId211"/>
    <p:sldId id="2250" r:id="rId212"/>
    <p:sldId id="2251" r:id="rId213"/>
    <p:sldId id="2252" r:id="rId214"/>
    <p:sldId id="2277" r:id="rId215"/>
    <p:sldId id="2278" r:id="rId216"/>
    <p:sldId id="2279" r:id="rId217"/>
    <p:sldId id="2280" r:id="rId218"/>
    <p:sldId id="2281" r:id="rId219"/>
    <p:sldId id="2282" r:id="rId220"/>
    <p:sldId id="2283" r:id="rId221"/>
    <p:sldId id="2284" r:id="rId222"/>
    <p:sldId id="2285" r:id="rId223"/>
    <p:sldId id="2286" r:id="rId224"/>
    <p:sldId id="2288" r:id="rId225"/>
    <p:sldId id="2292" r:id="rId226"/>
    <p:sldId id="2315" r:id="rId227"/>
    <p:sldId id="2316" r:id="rId228"/>
    <p:sldId id="2317" r:id="rId229"/>
    <p:sldId id="2014" r:id="rId230"/>
    <p:sldId id="2102" r:id="rId231"/>
    <p:sldId id="2103" r:id="rId232"/>
    <p:sldId id="2468" r:id="rId233"/>
    <p:sldId id="2473" r:id="rId234"/>
    <p:sldId id="2475" r:id="rId235"/>
    <p:sldId id="2474" r:id="rId236"/>
    <p:sldId id="2476" r:id="rId237"/>
    <p:sldId id="2470" r:id="rId238"/>
    <p:sldId id="2295" r:id="rId239"/>
    <p:sldId id="2128" r:id="rId240"/>
    <p:sldId id="2297" r:id="rId241"/>
    <p:sldId id="2299" r:id="rId242"/>
    <p:sldId id="2300" r:id="rId243"/>
    <p:sldId id="2129" r:id="rId244"/>
    <p:sldId id="2130" r:id="rId245"/>
    <p:sldId id="2131" r:id="rId246"/>
    <p:sldId id="2132" r:id="rId247"/>
    <p:sldId id="2302" r:id="rId248"/>
    <p:sldId id="2133" r:id="rId249"/>
    <p:sldId id="2134" r:id="rId250"/>
    <p:sldId id="2135" r:id="rId251"/>
    <p:sldId id="2136" r:id="rId252"/>
    <p:sldId id="2137" r:id="rId253"/>
    <p:sldId id="2138" r:id="rId254"/>
    <p:sldId id="2477" r:id="rId255"/>
    <p:sldId id="2139" r:id="rId256"/>
    <p:sldId id="2478" r:id="rId257"/>
    <p:sldId id="2140" r:id="rId258"/>
    <p:sldId id="2479" r:id="rId259"/>
    <p:sldId id="2141" r:id="rId260"/>
    <p:sldId id="2142" r:id="rId261"/>
    <p:sldId id="2462" r:id="rId262"/>
    <p:sldId id="2145" r:id="rId263"/>
    <p:sldId id="2148" r:id="rId264"/>
    <p:sldId id="2149" r:id="rId265"/>
    <p:sldId id="2150" r:id="rId266"/>
    <p:sldId id="2151" r:id="rId267"/>
    <p:sldId id="2146" r:id="rId268"/>
    <p:sldId id="2147" r:id="rId269"/>
    <p:sldId id="2152" r:id="rId270"/>
    <p:sldId id="2153" r:id="rId271"/>
    <p:sldId id="2154" r:id="rId272"/>
    <p:sldId id="2155" r:id="rId273"/>
    <p:sldId id="2156" r:id="rId274"/>
    <p:sldId id="2157" r:id="rId275"/>
    <p:sldId id="2158" r:id="rId276"/>
    <p:sldId id="2159" r:id="rId277"/>
    <p:sldId id="2160" r:id="rId278"/>
    <p:sldId id="2161" r:id="rId279"/>
    <p:sldId id="2162" r:id="rId280"/>
    <p:sldId id="2163" r:id="rId281"/>
    <p:sldId id="2164" r:id="rId282"/>
    <p:sldId id="2165" r:id="rId283"/>
    <p:sldId id="2167" r:id="rId284"/>
    <p:sldId id="2168" r:id="rId285"/>
    <p:sldId id="2166" r:id="rId286"/>
    <p:sldId id="2170" r:id="rId287"/>
    <p:sldId id="2308" r:id="rId288"/>
    <p:sldId id="2171" r:id="rId289"/>
    <p:sldId id="2306" r:id="rId290"/>
    <p:sldId id="2307" r:id="rId291"/>
    <p:sldId id="2303" r:id="rId292"/>
    <p:sldId id="2176" r:id="rId293"/>
    <p:sldId id="2177" r:id="rId294"/>
    <p:sldId id="2178" r:id="rId295"/>
    <p:sldId id="2179" r:id="rId296"/>
    <p:sldId id="2180" r:id="rId297"/>
    <p:sldId id="2181" r:id="rId298"/>
    <p:sldId id="2182" r:id="rId299"/>
    <p:sldId id="2183" r:id="rId300"/>
    <p:sldId id="2184" r:id="rId301"/>
    <p:sldId id="2446" r:id="rId302"/>
    <p:sldId id="2445" r:id="rId303"/>
    <p:sldId id="2442" r:id="rId304"/>
    <p:sldId id="2443" r:id="rId305"/>
    <p:sldId id="2444" r:id="rId306"/>
    <p:sldId id="2447" r:id="rId307"/>
    <p:sldId id="2304" r:id="rId308"/>
    <p:sldId id="2448" r:id="rId309"/>
    <p:sldId id="2305" r:id="rId310"/>
    <p:sldId id="2325" r:id="rId311"/>
    <p:sldId id="2449" r:id="rId312"/>
    <p:sldId id="2428" r:id="rId313"/>
    <p:sldId id="2185" r:id="rId314"/>
    <p:sldId id="2463" r:id="rId315"/>
    <p:sldId id="2188" r:id="rId316"/>
    <p:sldId id="2189" r:id="rId317"/>
    <p:sldId id="2190" r:id="rId318"/>
    <p:sldId id="2191" r:id="rId319"/>
    <p:sldId id="2198" r:id="rId320"/>
    <p:sldId id="2199" r:id="rId321"/>
    <p:sldId id="2200" r:id="rId322"/>
    <p:sldId id="2464" r:id="rId323"/>
    <p:sldId id="2201" r:id="rId324"/>
    <p:sldId id="2202" r:id="rId325"/>
    <p:sldId id="2207" r:id="rId326"/>
    <p:sldId id="2471" r:id="rId327"/>
    <p:sldId id="2331" r:id="rId328"/>
    <p:sldId id="2330" r:id="rId329"/>
    <p:sldId id="2329" r:id="rId330"/>
    <p:sldId id="2328" r:id="rId331"/>
    <p:sldId id="2327" r:id="rId332"/>
    <p:sldId id="2332" r:id="rId333"/>
    <p:sldId id="2440" r:id="rId334"/>
    <p:sldId id="2255" r:id="rId335"/>
    <p:sldId id="2256" r:id="rId336"/>
    <p:sldId id="2257" r:id="rId337"/>
    <p:sldId id="2333" r:id="rId338"/>
    <p:sldId id="2258" r:id="rId339"/>
    <p:sldId id="2259" r:id="rId340"/>
    <p:sldId id="2260" r:id="rId341"/>
    <p:sldId id="2261" r:id="rId342"/>
    <p:sldId id="2262" r:id="rId343"/>
    <p:sldId id="2264" r:id="rId344"/>
    <p:sldId id="2265" r:id="rId345"/>
    <p:sldId id="2266" r:id="rId346"/>
    <p:sldId id="2267" r:id="rId347"/>
    <p:sldId id="2268" r:id="rId348"/>
    <p:sldId id="2269" r:id="rId349"/>
    <p:sldId id="2270" r:id="rId350"/>
    <p:sldId id="2271" r:id="rId351"/>
    <p:sldId id="2465" r:id="rId352"/>
    <p:sldId id="2466" r:id="rId353"/>
    <p:sldId id="2272" r:id="rId354"/>
    <p:sldId id="2273" r:id="rId355"/>
    <p:sldId id="2432" r:id="rId356"/>
    <p:sldId id="2433" r:id="rId357"/>
    <p:sldId id="2434" r:id="rId358"/>
    <p:sldId id="2435" r:id="rId359"/>
    <p:sldId id="2274" r:id="rId360"/>
    <p:sldId id="2437" r:id="rId361"/>
    <p:sldId id="2438" r:id="rId362"/>
    <p:sldId id="2439" r:id="rId363"/>
    <p:sldId id="2275" r:id="rId364"/>
    <p:sldId id="2276" r:id="rId365"/>
    <p:sldId id="2436" r:id="rId366"/>
    <p:sldId id="2467" r:id="rId367"/>
  </p:sldIdLst>
  <p:sldSz cx="9144000" cy="6858000" type="screen4x3"/>
  <p:notesSz cx="6858000" cy="9144000"/>
  <p:custShowLst>
    <p:custShow name="Custom Show 1" id="0">
      <p:sldLst/>
    </p:custShow>
  </p:custShowLst>
  <p:defaultTextStyle>
    <a:defPPr>
      <a:defRPr lang="en-GB"/>
    </a:defPPr>
    <a:lvl1pPr algn="ctr" rtl="0" eaLnBrk="0" fontAlgn="base" hangingPunct="0">
      <a:spcBef>
        <a:spcPct val="0"/>
      </a:spcBef>
      <a:spcAft>
        <a:spcPct val="0"/>
      </a:spcAft>
      <a:defRPr kern="1200">
        <a:solidFill>
          <a:srgbClr val="000000"/>
        </a:solidFill>
        <a:latin typeface="Arial Narrow" panose="020B0606020202030204" pitchFamily="34" charset="0"/>
        <a:ea typeface="+mn-ea"/>
        <a:cs typeface="+mn-cs"/>
      </a:defRPr>
    </a:lvl1pPr>
    <a:lvl2pPr marL="457200" algn="ctr" rtl="0" eaLnBrk="0" fontAlgn="base" hangingPunct="0">
      <a:spcBef>
        <a:spcPct val="0"/>
      </a:spcBef>
      <a:spcAft>
        <a:spcPct val="0"/>
      </a:spcAft>
      <a:defRPr kern="1200">
        <a:solidFill>
          <a:srgbClr val="000000"/>
        </a:solidFill>
        <a:latin typeface="Arial Narrow" panose="020B0606020202030204" pitchFamily="34" charset="0"/>
        <a:ea typeface="+mn-ea"/>
        <a:cs typeface="+mn-cs"/>
      </a:defRPr>
    </a:lvl2pPr>
    <a:lvl3pPr marL="914400" algn="ctr" rtl="0" eaLnBrk="0" fontAlgn="base" hangingPunct="0">
      <a:spcBef>
        <a:spcPct val="0"/>
      </a:spcBef>
      <a:spcAft>
        <a:spcPct val="0"/>
      </a:spcAft>
      <a:defRPr kern="1200">
        <a:solidFill>
          <a:srgbClr val="000000"/>
        </a:solidFill>
        <a:latin typeface="Arial Narrow" panose="020B0606020202030204" pitchFamily="34" charset="0"/>
        <a:ea typeface="+mn-ea"/>
        <a:cs typeface="+mn-cs"/>
      </a:defRPr>
    </a:lvl3pPr>
    <a:lvl4pPr marL="1371600" algn="ctr" rtl="0" eaLnBrk="0" fontAlgn="base" hangingPunct="0">
      <a:spcBef>
        <a:spcPct val="0"/>
      </a:spcBef>
      <a:spcAft>
        <a:spcPct val="0"/>
      </a:spcAft>
      <a:defRPr kern="1200">
        <a:solidFill>
          <a:srgbClr val="000000"/>
        </a:solidFill>
        <a:latin typeface="Arial Narrow" panose="020B0606020202030204" pitchFamily="34" charset="0"/>
        <a:ea typeface="+mn-ea"/>
        <a:cs typeface="+mn-cs"/>
      </a:defRPr>
    </a:lvl4pPr>
    <a:lvl5pPr marL="1828800" algn="ctr" rtl="0" eaLnBrk="0" fontAlgn="base" hangingPunct="0">
      <a:spcBef>
        <a:spcPct val="0"/>
      </a:spcBef>
      <a:spcAft>
        <a:spcPct val="0"/>
      </a:spcAft>
      <a:defRPr kern="1200">
        <a:solidFill>
          <a:srgbClr val="000000"/>
        </a:solidFill>
        <a:latin typeface="Arial Narrow" panose="020B0606020202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rgbClr val="000000"/>
        </a:solidFill>
        <a:latin typeface="Arial Narrow" panose="020B0606020202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rgbClr val="000000"/>
        </a:solidFill>
        <a:latin typeface="Arial Narrow" panose="020B0606020202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rgbClr val="000000"/>
        </a:solidFill>
        <a:latin typeface="Arial Narrow" panose="020B0606020202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rgbClr val="000000"/>
        </a:solidFill>
        <a:latin typeface="Arial Narrow" panose="020B0606020202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02">
          <p15:clr>
            <a:srgbClr val="A4A3A4"/>
          </p15:clr>
        </p15:guide>
        <p15:guide id="2" pos="216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2" scaleToFitPaper="1" frameSlides="1"/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EAEAEA"/>
    <a:srgbClr val="0000FF"/>
    <a:srgbClr val="FF0000"/>
    <a:srgbClr val="008000"/>
    <a:srgbClr val="00FF00"/>
    <a:srgbClr val="99FF66"/>
    <a:srgbClr val="CC0099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43" autoAdjust="0"/>
    <p:restoredTop sz="89416" autoAdjust="0"/>
  </p:normalViewPr>
  <p:slideViewPr>
    <p:cSldViewPr snapToGrid="0">
      <p:cViewPr varScale="1">
        <p:scale>
          <a:sx n="69" d="100"/>
          <a:sy n="69" d="100"/>
        </p:scale>
        <p:origin x="1028" y="56"/>
      </p:cViewPr>
      <p:guideLst>
        <p:guide orient="horz" pos="2160"/>
        <p:guide pos="2880"/>
      </p:guideLst>
    </p:cSldViewPr>
  </p:slideViewPr>
  <p:outlineViewPr>
    <p:cViewPr varScale="1">
      <p:scale>
        <a:sx n="170" d="200"/>
        <a:sy n="170" d="200"/>
      </p:scale>
      <p:origin x="-780" y="-84"/>
    </p:cViewPr>
  </p:outlineViewPr>
  <p:notesTextViewPr>
    <p:cViewPr>
      <p:scale>
        <a:sx n="75" d="100"/>
        <a:sy n="75" d="100"/>
      </p:scale>
      <p:origin x="0" y="0"/>
    </p:cViewPr>
  </p:notesTextViewPr>
  <p:notesViewPr>
    <p:cSldViewPr snapToGrid="0">
      <p:cViewPr>
        <p:scale>
          <a:sx n="200" d="100"/>
          <a:sy n="200" d="100"/>
        </p:scale>
        <p:origin x="-660" y="6600"/>
      </p:cViewPr>
      <p:guideLst>
        <p:guide orient="horz" pos="2802"/>
        <p:guide pos="216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5.xml"/><Relationship Id="rId299" Type="http://schemas.openxmlformats.org/officeDocument/2006/relationships/slide" Target="slides/slide297.xml"/><Relationship Id="rId21" Type="http://schemas.openxmlformats.org/officeDocument/2006/relationships/slide" Target="slides/slide19.xml"/><Relationship Id="rId63" Type="http://schemas.openxmlformats.org/officeDocument/2006/relationships/slide" Target="slides/slide61.xml"/><Relationship Id="rId159" Type="http://schemas.openxmlformats.org/officeDocument/2006/relationships/slide" Target="slides/slide157.xml"/><Relationship Id="rId324" Type="http://schemas.openxmlformats.org/officeDocument/2006/relationships/slide" Target="slides/slide322.xml"/><Relationship Id="rId366" Type="http://schemas.openxmlformats.org/officeDocument/2006/relationships/slide" Target="slides/slide364.xml"/><Relationship Id="rId170" Type="http://schemas.openxmlformats.org/officeDocument/2006/relationships/slide" Target="slides/slide168.xml"/><Relationship Id="rId226" Type="http://schemas.openxmlformats.org/officeDocument/2006/relationships/slide" Target="slides/slide224.xml"/><Relationship Id="rId268" Type="http://schemas.openxmlformats.org/officeDocument/2006/relationships/slide" Target="slides/slide266.xml"/><Relationship Id="rId32" Type="http://schemas.openxmlformats.org/officeDocument/2006/relationships/slide" Target="slides/slide30.xml"/><Relationship Id="rId74" Type="http://schemas.openxmlformats.org/officeDocument/2006/relationships/slide" Target="slides/slide72.xml"/><Relationship Id="rId128" Type="http://schemas.openxmlformats.org/officeDocument/2006/relationships/slide" Target="slides/slide126.xml"/><Relationship Id="rId335" Type="http://schemas.openxmlformats.org/officeDocument/2006/relationships/slide" Target="slides/slide333.xml"/><Relationship Id="rId5" Type="http://schemas.openxmlformats.org/officeDocument/2006/relationships/slide" Target="slides/slide3.xml"/><Relationship Id="rId181" Type="http://schemas.openxmlformats.org/officeDocument/2006/relationships/slide" Target="slides/slide179.xml"/><Relationship Id="rId237" Type="http://schemas.openxmlformats.org/officeDocument/2006/relationships/slide" Target="slides/slide235.xml"/><Relationship Id="rId279" Type="http://schemas.openxmlformats.org/officeDocument/2006/relationships/slide" Target="slides/slide277.xml"/><Relationship Id="rId43" Type="http://schemas.openxmlformats.org/officeDocument/2006/relationships/slide" Target="slides/slide41.xml"/><Relationship Id="rId139" Type="http://schemas.openxmlformats.org/officeDocument/2006/relationships/slide" Target="slides/slide137.xml"/><Relationship Id="rId290" Type="http://schemas.openxmlformats.org/officeDocument/2006/relationships/slide" Target="slides/slide288.xml"/><Relationship Id="rId304" Type="http://schemas.openxmlformats.org/officeDocument/2006/relationships/slide" Target="slides/slide302.xml"/><Relationship Id="rId346" Type="http://schemas.openxmlformats.org/officeDocument/2006/relationships/slide" Target="slides/slide344.xml"/><Relationship Id="rId85" Type="http://schemas.openxmlformats.org/officeDocument/2006/relationships/slide" Target="slides/slide83.xml"/><Relationship Id="rId150" Type="http://schemas.openxmlformats.org/officeDocument/2006/relationships/slide" Target="slides/slide148.xml"/><Relationship Id="rId192" Type="http://schemas.openxmlformats.org/officeDocument/2006/relationships/slide" Target="slides/slide190.xml"/><Relationship Id="rId206" Type="http://schemas.openxmlformats.org/officeDocument/2006/relationships/slide" Target="slides/slide204.xml"/><Relationship Id="rId248" Type="http://schemas.openxmlformats.org/officeDocument/2006/relationships/slide" Target="slides/slide246.xml"/><Relationship Id="rId12" Type="http://schemas.openxmlformats.org/officeDocument/2006/relationships/slide" Target="slides/slide10.xml"/><Relationship Id="rId108" Type="http://schemas.openxmlformats.org/officeDocument/2006/relationships/slide" Target="slides/slide106.xml"/><Relationship Id="rId315" Type="http://schemas.openxmlformats.org/officeDocument/2006/relationships/slide" Target="slides/slide313.xml"/><Relationship Id="rId357" Type="http://schemas.openxmlformats.org/officeDocument/2006/relationships/slide" Target="slides/slide355.xml"/><Relationship Id="rId54" Type="http://schemas.openxmlformats.org/officeDocument/2006/relationships/slide" Target="slides/slide52.xml"/><Relationship Id="rId96" Type="http://schemas.openxmlformats.org/officeDocument/2006/relationships/slide" Target="slides/slide94.xml"/><Relationship Id="rId161" Type="http://schemas.openxmlformats.org/officeDocument/2006/relationships/slide" Target="slides/slide159.xml"/><Relationship Id="rId217" Type="http://schemas.openxmlformats.org/officeDocument/2006/relationships/slide" Target="slides/slide215.xml"/><Relationship Id="rId259" Type="http://schemas.openxmlformats.org/officeDocument/2006/relationships/slide" Target="slides/slide257.xml"/><Relationship Id="rId23" Type="http://schemas.openxmlformats.org/officeDocument/2006/relationships/slide" Target="slides/slide21.xml"/><Relationship Id="rId119" Type="http://schemas.openxmlformats.org/officeDocument/2006/relationships/slide" Target="slides/slide117.xml"/><Relationship Id="rId270" Type="http://schemas.openxmlformats.org/officeDocument/2006/relationships/slide" Target="slides/slide268.xml"/><Relationship Id="rId326" Type="http://schemas.openxmlformats.org/officeDocument/2006/relationships/slide" Target="slides/slide324.xml"/><Relationship Id="rId65" Type="http://schemas.openxmlformats.org/officeDocument/2006/relationships/slide" Target="slides/slide63.xml"/><Relationship Id="rId130" Type="http://schemas.openxmlformats.org/officeDocument/2006/relationships/slide" Target="slides/slide128.xml"/><Relationship Id="rId368" Type="http://schemas.openxmlformats.org/officeDocument/2006/relationships/notesMaster" Target="notesMasters/notesMaster1.xml"/><Relationship Id="rId172" Type="http://schemas.openxmlformats.org/officeDocument/2006/relationships/slide" Target="slides/slide170.xml"/><Relationship Id="rId228" Type="http://schemas.openxmlformats.org/officeDocument/2006/relationships/slide" Target="slides/slide226.xml"/><Relationship Id="rId281" Type="http://schemas.openxmlformats.org/officeDocument/2006/relationships/slide" Target="slides/slide279.xml"/><Relationship Id="rId337" Type="http://schemas.openxmlformats.org/officeDocument/2006/relationships/slide" Target="slides/slide335.xml"/><Relationship Id="rId34" Type="http://schemas.openxmlformats.org/officeDocument/2006/relationships/slide" Target="slides/slide32.xml"/><Relationship Id="rId76" Type="http://schemas.openxmlformats.org/officeDocument/2006/relationships/slide" Target="slides/slide74.xml"/><Relationship Id="rId141" Type="http://schemas.openxmlformats.org/officeDocument/2006/relationships/slide" Target="slides/slide139.xml"/><Relationship Id="rId7" Type="http://schemas.openxmlformats.org/officeDocument/2006/relationships/slide" Target="slides/slide5.xml"/><Relationship Id="rId183" Type="http://schemas.openxmlformats.org/officeDocument/2006/relationships/slide" Target="slides/slide181.xml"/><Relationship Id="rId239" Type="http://schemas.openxmlformats.org/officeDocument/2006/relationships/slide" Target="slides/slide237.xml"/><Relationship Id="rId250" Type="http://schemas.openxmlformats.org/officeDocument/2006/relationships/slide" Target="slides/slide248.xml"/><Relationship Id="rId292" Type="http://schemas.openxmlformats.org/officeDocument/2006/relationships/slide" Target="slides/slide290.xml"/><Relationship Id="rId306" Type="http://schemas.openxmlformats.org/officeDocument/2006/relationships/slide" Target="slides/slide304.xml"/><Relationship Id="rId45" Type="http://schemas.openxmlformats.org/officeDocument/2006/relationships/slide" Target="slides/slide43.xml"/><Relationship Id="rId87" Type="http://schemas.openxmlformats.org/officeDocument/2006/relationships/slide" Target="slides/slide85.xml"/><Relationship Id="rId110" Type="http://schemas.openxmlformats.org/officeDocument/2006/relationships/slide" Target="slides/slide108.xml"/><Relationship Id="rId348" Type="http://schemas.openxmlformats.org/officeDocument/2006/relationships/slide" Target="slides/slide346.xml"/><Relationship Id="rId152" Type="http://schemas.openxmlformats.org/officeDocument/2006/relationships/slide" Target="slides/slide150.xml"/><Relationship Id="rId194" Type="http://schemas.openxmlformats.org/officeDocument/2006/relationships/slide" Target="slides/slide192.xml"/><Relationship Id="rId208" Type="http://schemas.openxmlformats.org/officeDocument/2006/relationships/slide" Target="slides/slide206.xml"/><Relationship Id="rId261" Type="http://schemas.openxmlformats.org/officeDocument/2006/relationships/slide" Target="slides/slide259.xml"/><Relationship Id="rId14" Type="http://schemas.openxmlformats.org/officeDocument/2006/relationships/slide" Target="slides/slide12.xml"/><Relationship Id="rId56" Type="http://schemas.openxmlformats.org/officeDocument/2006/relationships/slide" Target="slides/slide54.xml"/><Relationship Id="rId317" Type="http://schemas.openxmlformats.org/officeDocument/2006/relationships/slide" Target="slides/slide315.xml"/><Relationship Id="rId359" Type="http://schemas.openxmlformats.org/officeDocument/2006/relationships/slide" Target="slides/slide357.xml"/><Relationship Id="rId98" Type="http://schemas.openxmlformats.org/officeDocument/2006/relationships/slide" Target="slides/slide96.xml"/><Relationship Id="rId121" Type="http://schemas.openxmlformats.org/officeDocument/2006/relationships/slide" Target="slides/slide119.xml"/><Relationship Id="rId163" Type="http://schemas.openxmlformats.org/officeDocument/2006/relationships/slide" Target="slides/slide161.xml"/><Relationship Id="rId219" Type="http://schemas.openxmlformats.org/officeDocument/2006/relationships/slide" Target="slides/slide217.xml"/><Relationship Id="rId370" Type="http://schemas.openxmlformats.org/officeDocument/2006/relationships/presProps" Target="presProps.xml"/><Relationship Id="rId230" Type="http://schemas.openxmlformats.org/officeDocument/2006/relationships/slide" Target="slides/slide228.xml"/><Relationship Id="rId25" Type="http://schemas.openxmlformats.org/officeDocument/2006/relationships/slide" Target="slides/slide23.xml"/><Relationship Id="rId67" Type="http://schemas.openxmlformats.org/officeDocument/2006/relationships/slide" Target="slides/slide65.xml"/><Relationship Id="rId272" Type="http://schemas.openxmlformats.org/officeDocument/2006/relationships/slide" Target="slides/slide270.xml"/><Relationship Id="rId328" Type="http://schemas.openxmlformats.org/officeDocument/2006/relationships/slide" Target="slides/slide326.xml"/><Relationship Id="rId132" Type="http://schemas.openxmlformats.org/officeDocument/2006/relationships/slide" Target="slides/slide130.xml"/><Relationship Id="rId174" Type="http://schemas.openxmlformats.org/officeDocument/2006/relationships/slide" Target="slides/slide172.xml"/><Relationship Id="rId241" Type="http://schemas.openxmlformats.org/officeDocument/2006/relationships/slide" Target="slides/slide239.xml"/><Relationship Id="rId36" Type="http://schemas.openxmlformats.org/officeDocument/2006/relationships/slide" Target="slides/slide34.xml"/><Relationship Id="rId283" Type="http://schemas.openxmlformats.org/officeDocument/2006/relationships/slide" Target="slides/slide281.xml"/><Relationship Id="rId339" Type="http://schemas.openxmlformats.org/officeDocument/2006/relationships/slide" Target="slides/slide337.xml"/><Relationship Id="rId78" Type="http://schemas.openxmlformats.org/officeDocument/2006/relationships/slide" Target="slides/slide76.xml"/><Relationship Id="rId99" Type="http://schemas.openxmlformats.org/officeDocument/2006/relationships/slide" Target="slides/slide97.xml"/><Relationship Id="rId101" Type="http://schemas.openxmlformats.org/officeDocument/2006/relationships/slide" Target="slides/slide99.xml"/><Relationship Id="rId122" Type="http://schemas.openxmlformats.org/officeDocument/2006/relationships/slide" Target="slides/slide120.xml"/><Relationship Id="rId143" Type="http://schemas.openxmlformats.org/officeDocument/2006/relationships/slide" Target="slides/slide141.xml"/><Relationship Id="rId164" Type="http://schemas.openxmlformats.org/officeDocument/2006/relationships/slide" Target="slides/slide162.xml"/><Relationship Id="rId185" Type="http://schemas.openxmlformats.org/officeDocument/2006/relationships/slide" Target="slides/slide183.xml"/><Relationship Id="rId350" Type="http://schemas.openxmlformats.org/officeDocument/2006/relationships/slide" Target="slides/slide348.xml"/><Relationship Id="rId371" Type="http://schemas.openxmlformats.org/officeDocument/2006/relationships/viewProps" Target="viewProps.xml"/><Relationship Id="rId9" Type="http://schemas.openxmlformats.org/officeDocument/2006/relationships/slide" Target="slides/slide7.xml"/><Relationship Id="rId210" Type="http://schemas.openxmlformats.org/officeDocument/2006/relationships/slide" Target="slides/slide208.xml"/><Relationship Id="rId26" Type="http://schemas.openxmlformats.org/officeDocument/2006/relationships/slide" Target="slides/slide24.xml"/><Relationship Id="rId231" Type="http://schemas.openxmlformats.org/officeDocument/2006/relationships/slide" Target="slides/slide229.xml"/><Relationship Id="rId252" Type="http://schemas.openxmlformats.org/officeDocument/2006/relationships/slide" Target="slides/slide250.xml"/><Relationship Id="rId273" Type="http://schemas.openxmlformats.org/officeDocument/2006/relationships/slide" Target="slides/slide271.xml"/><Relationship Id="rId294" Type="http://schemas.openxmlformats.org/officeDocument/2006/relationships/slide" Target="slides/slide292.xml"/><Relationship Id="rId308" Type="http://schemas.openxmlformats.org/officeDocument/2006/relationships/slide" Target="slides/slide306.xml"/><Relationship Id="rId329" Type="http://schemas.openxmlformats.org/officeDocument/2006/relationships/slide" Target="slides/slide327.xml"/><Relationship Id="rId47" Type="http://schemas.openxmlformats.org/officeDocument/2006/relationships/slide" Target="slides/slide45.xml"/><Relationship Id="rId68" Type="http://schemas.openxmlformats.org/officeDocument/2006/relationships/slide" Target="slides/slide66.xml"/><Relationship Id="rId89" Type="http://schemas.openxmlformats.org/officeDocument/2006/relationships/slide" Target="slides/slide87.xml"/><Relationship Id="rId112" Type="http://schemas.openxmlformats.org/officeDocument/2006/relationships/slide" Target="slides/slide110.xml"/><Relationship Id="rId133" Type="http://schemas.openxmlformats.org/officeDocument/2006/relationships/slide" Target="slides/slide131.xml"/><Relationship Id="rId154" Type="http://schemas.openxmlformats.org/officeDocument/2006/relationships/slide" Target="slides/slide152.xml"/><Relationship Id="rId175" Type="http://schemas.openxmlformats.org/officeDocument/2006/relationships/slide" Target="slides/slide173.xml"/><Relationship Id="rId340" Type="http://schemas.openxmlformats.org/officeDocument/2006/relationships/slide" Target="slides/slide338.xml"/><Relationship Id="rId361" Type="http://schemas.openxmlformats.org/officeDocument/2006/relationships/slide" Target="slides/slide359.xml"/><Relationship Id="rId196" Type="http://schemas.openxmlformats.org/officeDocument/2006/relationships/slide" Target="slides/slide194.xml"/><Relationship Id="rId200" Type="http://schemas.openxmlformats.org/officeDocument/2006/relationships/slide" Target="slides/slide198.xml"/><Relationship Id="rId16" Type="http://schemas.openxmlformats.org/officeDocument/2006/relationships/slide" Target="slides/slide14.xml"/><Relationship Id="rId221" Type="http://schemas.openxmlformats.org/officeDocument/2006/relationships/slide" Target="slides/slide219.xml"/><Relationship Id="rId242" Type="http://schemas.openxmlformats.org/officeDocument/2006/relationships/slide" Target="slides/slide240.xml"/><Relationship Id="rId263" Type="http://schemas.openxmlformats.org/officeDocument/2006/relationships/slide" Target="slides/slide261.xml"/><Relationship Id="rId284" Type="http://schemas.openxmlformats.org/officeDocument/2006/relationships/slide" Target="slides/slide282.xml"/><Relationship Id="rId319" Type="http://schemas.openxmlformats.org/officeDocument/2006/relationships/slide" Target="slides/slide317.xml"/><Relationship Id="rId37" Type="http://schemas.openxmlformats.org/officeDocument/2006/relationships/slide" Target="slides/slide35.xml"/><Relationship Id="rId58" Type="http://schemas.openxmlformats.org/officeDocument/2006/relationships/slide" Target="slides/slide56.xml"/><Relationship Id="rId79" Type="http://schemas.openxmlformats.org/officeDocument/2006/relationships/slide" Target="slides/slide77.xml"/><Relationship Id="rId102" Type="http://schemas.openxmlformats.org/officeDocument/2006/relationships/slide" Target="slides/slide100.xml"/><Relationship Id="rId123" Type="http://schemas.openxmlformats.org/officeDocument/2006/relationships/slide" Target="slides/slide121.xml"/><Relationship Id="rId144" Type="http://schemas.openxmlformats.org/officeDocument/2006/relationships/slide" Target="slides/slide142.xml"/><Relationship Id="rId330" Type="http://schemas.openxmlformats.org/officeDocument/2006/relationships/slide" Target="slides/slide328.xml"/><Relationship Id="rId90" Type="http://schemas.openxmlformats.org/officeDocument/2006/relationships/slide" Target="slides/slide88.xml"/><Relationship Id="rId165" Type="http://schemas.openxmlformats.org/officeDocument/2006/relationships/slide" Target="slides/slide163.xml"/><Relationship Id="rId186" Type="http://schemas.openxmlformats.org/officeDocument/2006/relationships/slide" Target="slides/slide184.xml"/><Relationship Id="rId351" Type="http://schemas.openxmlformats.org/officeDocument/2006/relationships/slide" Target="slides/slide349.xml"/><Relationship Id="rId372" Type="http://schemas.openxmlformats.org/officeDocument/2006/relationships/theme" Target="theme/theme1.xml"/><Relationship Id="rId211" Type="http://schemas.openxmlformats.org/officeDocument/2006/relationships/slide" Target="slides/slide209.xml"/><Relationship Id="rId232" Type="http://schemas.openxmlformats.org/officeDocument/2006/relationships/slide" Target="slides/slide230.xml"/><Relationship Id="rId253" Type="http://schemas.openxmlformats.org/officeDocument/2006/relationships/slide" Target="slides/slide251.xml"/><Relationship Id="rId274" Type="http://schemas.openxmlformats.org/officeDocument/2006/relationships/slide" Target="slides/slide272.xml"/><Relationship Id="rId295" Type="http://schemas.openxmlformats.org/officeDocument/2006/relationships/slide" Target="slides/slide293.xml"/><Relationship Id="rId309" Type="http://schemas.openxmlformats.org/officeDocument/2006/relationships/slide" Target="slides/slide307.xml"/><Relationship Id="rId27" Type="http://schemas.openxmlformats.org/officeDocument/2006/relationships/slide" Target="slides/slide25.xml"/><Relationship Id="rId48" Type="http://schemas.openxmlformats.org/officeDocument/2006/relationships/slide" Target="slides/slide46.xml"/><Relationship Id="rId69" Type="http://schemas.openxmlformats.org/officeDocument/2006/relationships/slide" Target="slides/slide67.xml"/><Relationship Id="rId113" Type="http://schemas.openxmlformats.org/officeDocument/2006/relationships/slide" Target="slides/slide111.xml"/><Relationship Id="rId134" Type="http://schemas.openxmlformats.org/officeDocument/2006/relationships/slide" Target="slides/slide132.xml"/><Relationship Id="rId320" Type="http://schemas.openxmlformats.org/officeDocument/2006/relationships/slide" Target="slides/slide318.xml"/><Relationship Id="rId80" Type="http://schemas.openxmlformats.org/officeDocument/2006/relationships/slide" Target="slides/slide78.xml"/><Relationship Id="rId155" Type="http://schemas.openxmlformats.org/officeDocument/2006/relationships/slide" Target="slides/slide153.xml"/><Relationship Id="rId176" Type="http://schemas.openxmlformats.org/officeDocument/2006/relationships/slide" Target="slides/slide174.xml"/><Relationship Id="rId197" Type="http://schemas.openxmlformats.org/officeDocument/2006/relationships/slide" Target="slides/slide195.xml"/><Relationship Id="rId341" Type="http://schemas.openxmlformats.org/officeDocument/2006/relationships/slide" Target="slides/slide339.xml"/><Relationship Id="rId362" Type="http://schemas.openxmlformats.org/officeDocument/2006/relationships/slide" Target="slides/slide360.xml"/><Relationship Id="rId201" Type="http://schemas.openxmlformats.org/officeDocument/2006/relationships/slide" Target="slides/slide199.xml"/><Relationship Id="rId222" Type="http://schemas.openxmlformats.org/officeDocument/2006/relationships/slide" Target="slides/slide220.xml"/><Relationship Id="rId243" Type="http://schemas.openxmlformats.org/officeDocument/2006/relationships/slide" Target="slides/slide241.xml"/><Relationship Id="rId264" Type="http://schemas.openxmlformats.org/officeDocument/2006/relationships/slide" Target="slides/slide262.xml"/><Relationship Id="rId285" Type="http://schemas.openxmlformats.org/officeDocument/2006/relationships/slide" Target="slides/slide283.xml"/><Relationship Id="rId17" Type="http://schemas.openxmlformats.org/officeDocument/2006/relationships/slide" Target="slides/slide15.xml"/><Relationship Id="rId38" Type="http://schemas.openxmlformats.org/officeDocument/2006/relationships/slide" Target="slides/slide36.xml"/><Relationship Id="rId59" Type="http://schemas.openxmlformats.org/officeDocument/2006/relationships/slide" Target="slides/slide57.xml"/><Relationship Id="rId103" Type="http://schemas.openxmlformats.org/officeDocument/2006/relationships/slide" Target="slides/slide101.xml"/><Relationship Id="rId124" Type="http://schemas.openxmlformats.org/officeDocument/2006/relationships/slide" Target="slides/slide122.xml"/><Relationship Id="rId310" Type="http://schemas.openxmlformats.org/officeDocument/2006/relationships/slide" Target="slides/slide308.xml"/><Relationship Id="rId70" Type="http://schemas.openxmlformats.org/officeDocument/2006/relationships/slide" Target="slides/slide68.xml"/><Relationship Id="rId91" Type="http://schemas.openxmlformats.org/officeDocument/2006/relationships/slide" Target="slides/slide89.xml"/><Relationship Id="rId145" Type="http://schemas.openxmlformats.org/officeDocument/2006/relationships/slide" Target="slides/slide143.xml"/><Relationship Id="rId166" Type="http://schemas.openxmlformats.org/officeDocument/2006/relationships/slide" Target="slides/slide164.xml"/><Relationship Id="rId187" Type="http://schemas.openxmlformats.org/officeDocument/2006/relationships/slide" Target="slides/slide185.xml"/><Relationship Id="rId331" Type="http://schemas.openxmlformats.org/officeDocument/2006/relationships/slide" Target="slides/slide329.xml"/><Relationship Id="rId352" Type="http://schemas.openxmlformats.org/officeDocument/2006/relationships/slide" Target="slides/slide350.xml"/><Relationship Id="rId37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12" Type="http://schemas.openxmlformats.org/officeDocument/2006/relationships/slide" Target="slides/slide210.xml"/><Relationship Id="rId233" Type="http://schemas.openxmlformats.org/officeDocument/2006/relationships/slide" Target="slides/slide231.xml"/><Relationship Id="rId254" Type="http://schemas.openxmlformats.org/officeDocument/2006/relationships/slide" Target="slides/slide252.xml"/><Relationship Id="rId28" Type="http://schemas.openxmlformats.org/officeDocument/2006/relationships/slide" Target="slides/slide26.xml"/><Relationship Id="rId49" Type="http://schemas.openxmlformats.org/officeDocument/2006/relationships/slide" Target="slides/slide47.xml"/><Relationship Id="rId114" Type="http://schemas.openxmlformats.org/officeDocument/2006/relationships/slide" Target="slides/slide112.xml"/><Relationship Id="rId275" Type="http://schemas.openxmlformats.org/officeDocument/2006/relationships/slide" Target="slides/slide273.xml"/><Relationship Id="rId296" Type="http://schemas.openxmlformats.org/officeDocument/2006/relationships/slide" Target="slides/slide294.xml"/><Relationship Id="rId300" Type="http://schemas.openxmlformats.org/officeDocument/2006/relationships/slide" Target="slides/slide298.xml"/><Relationship Id="rId60" Type="http://schemas.openxmlformats.org/officeDocument/2006/relationships/slide" Target="slides/slide58.xml"/><Relationship Id="rId81" Type="http://schemas.openxmlformats.org/officeDocument/2006/relationships/slide" Target="slides/slide79.xml"/><Relationship Id="rId135" Type="http://schemas.openxmlformats.org/officeDocument/2006/relationships/slide" Target="slides/slide133.xml"/><Relationship Id="rId156" Type="http://schemas.openxmlformats.org/officeDocument/2006/relationships/slide" Target="slides/slide154.xml"/><Relationship Id="rId177" Type="http://schemas.openxmlformats.org/officeDocument/2006/relationships/slide" Target="slides/slide175.xml"/><Relationship Id="rId198" Type="http://schemas.openxmlformats.org/officeDocument/2006/relationships/slide" Target="slides/slide196.xml"/><Relationship Id="rId321" Type="http://schemas.openxmlformats.org/officeDocument/2006/relationships/slide" Target="slides/slide319.xml"/><Relationship Id="rId342" Type="http://schemas.openxmlformats.org/officeDocument/2006/relationships/slide" Target="slides/slide340.xml"/><Relationship Id="rId363" Type="http://schemas.openxmlformats.org/officeDocument/2006/relationships/slide" Target="slides/slide361.xml"/><Relationship Id="rId202" Type="http://schemas.openxmlformats.org/officeDocument/2006/relationships/slide" Target="slides/slide200.xml"/><Relationship Id="rId223" Type="http://schemas.openxmlformats.org/officeDocument/2006/relationships/slide" Target="slides/slide221.xml"/><Relationship Id="rId244" Type="http://schemas.openxmlformats.org/officeDocument/2006/relationships/slide" Target="slides/slide242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265" Type="http://schemas.openxmlformats.org/officeDocument/2006/relationships/slide" Target="slides/slide263.xml"/><Relationship Id="rId286" Type="http://schemas.openxmlformats.org/officeDocument/2006/relationships/slide" Target="slides/slide284.xml"/><Relationship Id="rId50" Type="http://schemas.openxmlformats.org/officeDocument/2006/relationships/slide" Target="slides/slide48.xml"/><Relationship Id="rId104" Type="http://schemas.openxmlformats.org/officeDocument/2006/relationships/slide" Target="slides/slide102.xml"/><Relationship Id="rId125" Type="http://schemas.openxmlformats.org/officeDocument/2006/relationships/slide" Target="slides/slide123.xml"/><Relationship Id="rId146" Type="http://schemas.openxmlformats.org/officeDocument/2006/relationships/slide" Target="slides/slide144.xml"/><Relationship Id="rId167" Type="http://schemas.openxmlformats.org/officeDocument/2006/relationships/slide" Target="slides/slide165.xml"/><Relationship Id="rId188" Type="http://schemas.openxmlformats.org/officeDocument/2006/relationships/slide" Target="slides/slide186.xml"/><Relationship Id="rId311" Type="http://schemas.openxmlformats.org/officeDocument/2006/relationships/slide" Target="slides/slide309.xml"/><Relationship Id="rId332" Type="http://schemas.openxmlformats.org/officeDocument/2006/relationships/slide" Target="slides/slide330.xml"/><Relationship Id="rId353" Type="http://schemas.openxmlformats.org/officeDocument/2006/relationships/slide" Target="slides/slide351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13" Type="http://schemas.openxmlformats.org/officeDocument/2006/relationships/slide" Target="slides/slide211.xml"/><Relationship Id="rId234" Type="http://schemas.openxmlformats.org/officeDocument/2006/relationships/slide" Target="slides/slide232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55" Type="http://schemas.openxmlformats.org/officeDocument/2006/relationships/slide" Target="slides/slide253.xml"/><Relationship Id="rId276" Type="http://schemas.openxmlformats.org/officeDocument/2006/relationships/slide" Target="slides/slide274.xml"/><Relationship Id="rId297" Type="http://schemas.openxmlformats.org/officeDocument/2006/relationships/slide" Target="slides/slide295.xml"/><Relationship Id="rId40" Type="http://schemas.openxmlformats.org/officeDocument/2006/relationships/slide" Target="slides/slide38.xml"/><Relationship Id="rId115" Type="http://schemas.openxmlformats.org/officeDocument/2006/relationships/slide" Target="slides/slide113.xml"/><Relationship Id="rId136" Type="http://schemas.openxmlformats.org/officeDocument/2006/relationships/slide" Target="slides/slide134.xml"/><Relationship Id="rId157" Type="http://schemas.openxmlformats.org/officeDocument/2006/relationships/slide" Target="slides/slide155.xml"/><Relationship Id="rId178" Type="http://schemas.openxmlformats.org/officeDocument/2006/relationships/slide" Target="slides/slide176.xml"/><Relationship Id="rId301" Type="http://schemas.openxmlformats.org/officeDocument/2006/relationships/slide" Target="slides/slide299.xml"/><Relationship Id="rId322" Type="http://schemas.openxmlformats.org/officeDocument/2006/relationships/slide" Target="slides/slide320.xml"/><Relationship Id="rId343" Type="http://schemas.openxmlformats.org/officeDocument/2006/relationships/slide" Target="slides/slide341.xml"/><Relationship Id="rId364" Type="http://schemas.openxmlformats.org/officeDocument/2006/relationships/slide" Target="slides/slide362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9" Type="http://schemas.openxmlformats.org/officeDocument/2006/relationships/slide" Target="slides/slide197.xml"/><Relationship Id="rId203" Type="http://schemas.openxmlformats.org/officeDocument/2006/relationships/slide" Target="slides/slide201.xml"/><Relationship Id="rId19" Type="http://schemas.openxmlformats.org/officeDocument/2006/relationships/slide" Target="slides/slide17.xml"/><Relationship Id="rId224" Type="http://schemas.openxmlformats.org/officeDocument/2006/relationships/slide" Target="slides/slide222.xml"/><Relationship Id="rId245" Type="http://schemas.openxmlformats.org/officeDocument/2006/relationships/slide" Target="slides/slide243.xml"/><Relationship Id="rId266" Type="http://schemas.openxmlformats.org/officeDocument/2006/relationships/slide" Target="slides/slide264.xml"/><Relationship Id="rId287" Type="http://schemas.openxmlformats.org/officeDocument/2006/relationships/slide" Target="slides/slide285.xml"/><Relationship Id="rId30" Type="http://schemas.openxmlformats.org/officeDocument/2006/relationships/slide" Target="slides/slide28.xml"/><Relationship Id="rId105" Type="http://schemas.openxmlformats.org/officeDocument/2006/relationships/slide" Target="slides/slide103.xml"/><Relationship Id="rId126" Type="http://schemas.openxmlformats.org/officeDocument/2006/relationships/slide" Target="slides/slide124.xml"/><Relationship Id="rId147" Type="http://schemas.openxmlformats.org/officeDocument/2006/relationships/slide" Target="slides/slide145.xml"/><Relationship Id="rId168" Type="http://schemas.openxmlformats.org/officeDocument/2006/relationships/slide" Target="slides/slide166.xml"/><Relationship Id="rId312" Type="http://schemas.openxmlformats.org/officeDocument/2006/relationships/slide" Target="slides/slide310.xml"/><Relationship Id="rId333" Type="http://schemas.openxmlformats.org/officeDocument/2006/relationships/slide" Target="slides/slide331.xml"/><Relationship Id="rId354" Type="http://schemas.openxmlformats.org/officeDocument/2006/relationships/slide" Target="slides/slide352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slide" Target="slides/slide91.xml"/><Relationship Id="rId189" Type="http://schemas.openxmlformats.org/officeDocument/2006/relationships/slide" Target="slides/slide187.xml"/><Relationship Id="rId3" Type="http://schemas.openxmlformats.org/officeDocument/2006/relationships/slide" Target="slides/slide1.xml"/><Relationship Id="rId214" Type="http://schemas.openxmlformats.org/officeDocument/2006/relationships/slide" Target="slides/slide212.xml"/><Relationship Id="rId235" Type="http://schemas.openxmlformats.org/officeDocument/2006/relationships/slide" Target="slides/slide233.xml"/><Relationship Id="rId256" Type="http://schemas.openxmlformats.org/officeDocument/2006/relationships/slide" Target="slides/slide254.xml"/><Relationship Id="rId277" Type="http://schemas.openxmlformats.org/officeDocument/2006/relationships/slide" Target="slides/slide275.xml"/><Relationship Id="rId298" Type="http://schemas.openxmlformats.org/officeDocument/2006/relationships/slide" Target="slides/slide296.xml"/><Relationship Id="rId116" Type="http://schemas.openxmlformats.org/officeDocument/2006/relationships/slide" Target="slides/slide114.xml"/><Relationship Id="rId137" Type="http://schemas.openxmlformats.org/officeDocument/2006/relationships/slide" Target="slides/slide135.xml"/><Relationship Id="rId158" Type="http://schemas.openxmlformats.org/officeDocument/2006/relationships/slide" Target="slides/slide156.xml"/><Relationship Id="rId302" Type="http://schemas.openxmlformats.org/officeDocument/2006/relationships/slide" Target="slides/slide300.xml"/><Relationship Id="rId323" Type="http://schemas.openxmlformats.org/officeDocument/2006/relationships/slide" Target="slides/slide321.xml"/><Relationship Id="rId344" Type="http://schemas.openxmlformats.org/officeDocument/2006/relationships/slide" Target="slides/slide342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62" Type="http://schemas.openxmlformats.org/officeDocument/2006/relationships/slide" Target="slides/slide60.xml"/><Relationship Id="rId83" Type="http://schemas.openxmlformats.org/officeDocument/2006/relationships/slide" Target="slides/slide81.xml"/><Relationship Id="rId179" Type="http://schemas.openxmlformats.org/officeDocument/2006/relationships/slide" Target="slides/slide177.xml"/><Relationship Id="rId365" Type="http://schemas.openxmlformats.org/officeDocument/2006/relationships/slide" Target="slides/slide363.xml"/><Relationship Id="rId190" Type="http://schemas.openxmlformats.org/officeDocument/2006/relationships/slide" Target="slides/slide188.xml"/><Relationship Id="rId204" Type="http://schemas.openxmlformats.org/officeDocument/2006/relationships/slide" Target="slides/slide202.xml"/><Relationship Id="rId225" Type="http://schemas.openxmlformats.org/officeDocument/2006/relationships/slide" Target="slides/slide223.xml"/><Relationship Id="rId246" Type="http://schemas.openxmlformats.org/officeDocument/2006/relationships/slide" Target="slides/slide244.xml"/><Relationship Id="rId267" Type="http://schemas.openxmlformats.org/officeDocument/2006/relationships/slide" Target="slides/slide265.xml"/><Relationship Id="rId288" Type="http://schemas.openxmlformats.org/officeDocument/2006/relationships/slide" Target="slides/slide286.xml"/><Relationship Id="rId106" Type="http://schemas.openxmlformats.org/officeDocument/2006/relationships/slide" Target="slides/slide104.xml"/><Relationship Id="rId127" Type="http://schemas.openxmlformats.org/officeDocument/2006/relationships/slide" Target="slides/slide125.xml"/><Relationship Id="rId313" Type="http://schemas.openxmlformats.org/officeDocument/2006/relationships/slide" Target="slides/slide311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52" Type="http://schemas.openxmlformats.org/officeDocument/2006/relationships/slide" Target="slides/slide50.xml"/><Relationship Id="rId73" Type="http://schemas.openxmlformats.org/officeDocument/2006/relationships/slide" Target="slides/slide71.xml"/><Relationship Id="rId94" Type="http://schemas.openxmlformats.org/officeDocument/2006/relationships/slide" Target="slides/slide92.xml"/><Relationship Id="rId148" Type="http://schemas.openxmlformats.org/officeDocument/2006/relationships/slide" Target="slides/slide146.xml"/><Relationship Id="rId169" Type="http://schemas.openxmlformats.org/officeDocument/2006/relationships/slide" Target="slides/slide167.xml"/><Relationship Id="rId334" Type="http://schemas.openxmlformats.org/officeDocument/2006/relationships/slide" Target="slides/slide332.xml"/><Relationship Id="rId355" Type="http://schemas.openxmlformats.org/officeDocument/2006/relationships/slide" Target="slides/slide353.xml"/><Relationship Id="rId4" Type="http://schemas.openxmlformats.org/officeDocument/2006/relationships/slide" Target="slides/slide2.xml"/><Relationship Id="rId180" Type="http://schemas.openxmlformats.org/officeDocument/2006/relationships/slide" Target="slides/slide178.xml"/><Relationship Id="rId215" Type="http://schemas.openxmlformats.org/officeDocument/2006/relationships/slide" Target="slides/slide213.xml"/><Relationship Id="rId236" Type="http://schemas.openxmlformats.org/officeDocument/2006/relationships/slide" Target="slides/slide234.xml"/><Relationship Id="rId257" Type="http://schemas.openxmlformats.org/officeDocument/2006/relationships/slide" Target="slides/slide255.xml"/><Relationship Id="rId278" Type="http://schemas.openxmlformats.org/officeDocument/2006/relationships/slide" Target="slides/slide276.xml"/><Relationship Id="rId303" Type="http://schemas.openxmlformats.org/officeDocument/2006/relationships/slide" Target="slides/slide301.xml"/><Relationship Id="rId42" Type="http://schemas.openxmlformats.org/officeDocument/2006/relationships/slide" Target="slides/slide40.xml"/><Relationship Id="rId84" Type="http://schemas.openxmlformats.org/officeDocument/2006/relationships/slide" Target="slides/slide82.xml"/><Relationship Id="rId138" Type="http://schemas.openxmlformats.org/officeDocument/2006/relationships/slide" Target="slides/slide136.xml"/><Relationship Id="rId345" Type="http://schemas.openxmlformats.org/officeDocument/2006/relationships/slide" Target="slides/slide343.xml"/><Relationship Id="rId191" Type="http://schemas.openxmlformats.org/officeDocument/2006/relationships/slide" Target="slides/slide189.xml"/><Relationship Id="rId205" Type="http://schemas.openxmlformats.org/officeDocument/2006/relationships/slide" Target="slides/slide203.xml"/><Relationship Id="rId247" Type="http://schemas.openxmlformats.org/officeDocument/2006/relationships/slide" Target="slides/slide245.xml"/><Relationship Id="rId107" Type="http://schemas.openxmlformats.org/officeDocument/2006/relationships/slide" Target="slides/slide105.xml"/><Relationship Id="rId289" Type="http://schemas.openxmlformats.org/officeDocument/2006/relationships/slide" Target="slides/slide287.xml"/><Relationship Id="rId11" Type="http://schemas.openxmlformats.org/officeDocument/2006/relationships/slide" Target="slides/slide9.xml"/><Relationship Id="rId53" Type="http://schemas.openxmlformats.org/officeDocument/2006/relationships/slide" Target="slides/slide51.xml"/><Relationship Id="rId149" Type="http://schemas.openxmlformats.org/officeDocument/2006/relationships/slide" Target="slides/slide147.xml"/><Relationship Id="rId314" Type="http://schemas.openxmlformats.org/officeDocument/2006/relationships/slide" Target="slides/slide312.xml"/><Relationship Id="rId356" Type="http://schemas.openxmlformats.org/officeDocument/2006/relationships/slide" Target="slides/slide354.xml"/><Relationship Id="rId95" Type="http://schemas.openxmlformats.org/officeDocument/2006/relationships/slide" Target="slides/slide93.xml"/><Relationship Id="rId160" Type="http://schemas.openxmlformats.org/officeDocument/2006/relationships/slide" Target="slides/slide158.xml"/><Relationship Id="rId216" Type="http://schemas.openxmlformats.org/officeDocument/2006/relationships/slide" Target="slides/slide214.xml"/><Relationship Id="rId258" Type="http://schemas.openxmlformats.org/officeDocument/2006/relationships/slide" Target="slides/slide256.xml"/><Relationship Id="rId22" Type="http://schemas.openxmlformats.org/officeDocument/2006/relationships/slide" Target="slides/slide20.xml"/><Relationship Id="rId64" Type="http://schemas.openxmlformats.org/officeDocument/2006/relationships/slide" Target="slides/slide62.xml"/><Relationship Id="rId118" Type="http://schemas.openxmlformats.org/officeDocument/2006/relationships/slide" Target="slides/slide116.xml"/><Relationship Id="rId325" Type="http://schemas.openxmlformats.org/officeDocument/2006/relationships/slide" Target="slides/slide323.xml"/><Relationship Id="rId367" Type="http://schemas.openxmlformats.org/officeDocument/2006/relationships/slide" Target="slides/slide365.xml"/><Relationship Id="rId171" Type="http://schemas.openxmlformats.org/officeDocument/2006/relationships/slide" Target="slides/slide169.xml"/><Relationship Id="rId227" Type="http://schemas.openxmlformats.org/officeDocument/2006/relationships/slide" Target="slides/slide225.xml"/><Relationship Id="rId269" Type="http://schemas.openxmlformats.org/officeDocument/2006/relationships/slide" Target="slides/slide267.xml"/><Relationship Id="rId33" Type="http://schemas.openxmlformats.org/officeDocument/2006/relationships/slide" Target="slides/slide31.xml"/><Relationship Id="rId129" Type="http://schemas.openxmlformats.org/officeDocument/2006/relationships/slide" Target="slides/slide127.xml"/><Relationship Id="rId280" Type="http://schemas.openxmlformats.org/officeDocument/2006/relationships/slide" Target="slides/slide278.xml"/><Relationship Id="rId336" Type="http://schemas.openxmlformats.org/officeDocument/2006/relationships/slide" Target="slides/slide334.xml"/><Relationship Id="rId75" Type="http://schemas.openxmlformats.org/officeDocument/2006/relationships/slide" Target="slides/slide73.xml"/><Relationship Id="rId140" Type="http://schemas.openxmlformats.org/officeDocument/2006/relationships/slide" Target="slides/slide138.xml"/><Relationship Id="rId182" Type="http://schemas.openxmlformats.org/officeDocument/2006/relationships/slide" Target="slides/slide180.xml"/><Relationship Id="rId6" Type="http://schemas.openxmlformats.org/officeDocument/2006/relationships/slide" Target="slides/slide4.xml"/><Relationship Id="rId238" Type="http://schemas.openxmlformats.org/officeDocument/2006/relationships/slide" Target="slides/slide236.xml"/><Relationship Id="rId291" Type="http://schemas.openxmlformats.org/officeDocument/2006/relationships/slide" Target="slides/slide289.xml"/><Relationship Id="rId305" Type="http://schemas.openxmlformats.org/officeDocument/2006/relationships/slide" Target="slides/slide303.xml"/><Relationship Id="rId347" Type="http://schemas.openxmlformats.org/officeDocument/2006/relationships/slide" Target="slides/slide345.xml"/><Relationship Id="rId44" Type="http://schemas.openxmlformats.org/officeDocument/2006/relationships/slide" Target="slides/slide42.xml"/><Relationship Id="rId86" Type="http://schemas.openxmlformats.org/officeDocument/2006/relationships/slide" Target="slides/slide84.xml"/><Relationship Id="rId151" Type="http://schemas.openxmlformats.org/officeDocument/2006/relationships/slide" Target="slides/slide149.xml"/><Relationship Id="rId193" Type="http://schemas.openxmlformats.org/officeDocument/2006/relationships/slide" Target="slides/slide191.xml"/><Relationship Id="rId207" Type="http://schemas.openxmlformats.org/officeDocument/2006/relationships/slide" Target="slides/slide205.xml"/><Relationship Id="rId249" Type="http://schemas.openxmlformats.org/officeDocument/2006/relationships/slide" Target="slides/slide247.xml"/><Relationship Id="rId13" Type="http://schemas.openxmlformats.org/officeDocument/2006/relationships/slide" Target="slides/slide11.xml"/><Relationship Id="rId109" Type="http://schemas.openxmlformats.org/officeDocument/2006/relationships/slide" Target="slides/slide107.xml"/><Relationship Id="rId260" Type="http://schemas.openxmlformats.org/officeDocument/2006/relationships/slide" Target="slides/slide258.xml"/><Relationship Id="rId316" Type="http://schemas.openxmlformats.org/officeDocument/2006/relationships/slide" Target="slides/slide314.xml"/><Relationship Id="rId55" Type="http://schemas.openxmlformats.org/officeDocument/2006/relationships/slide" Target="slides/slide53.xml"/><Relationship Id="rId97" Type="http://schemas.openxmlformats.org/officeDocument/2006/relationships/slide" Target="slides/slide95.xml"/><Relationship Id="rId120" Type="http://schemas.openxmlformats.org/officeDocument/2006/relationships/slide" Target="slides/slide118.xml"/><Relationship Id="rId358" Type="http://schemas.openxmlformats.org/officeDocument/2006/relationships/slide" Target="slides/slide356.xml"/><Relationship Id="rId162" Type="http://schemas.openxmlformats.org/officeDocument/2006/relationships/slide" Target="slides/slide160.xml"/><Relationship Id="rId218" Type="http://schemas.openxmlformats.org/officeDocument/2006/relationships/slide" Target="slides/slide216.xml"/><Relationship Id="rId271" Type="http://schemas.openxmlformats.org/officeDocument/2006/relationships/slide" Target="slides/slide269.xml"/><Relationship Id="rId24" Type="http://schemas.openxmlformats.org/officeDocument/2006/relationships/slide" Target="slides/slide22.xml"/><Relationship Id="rId66" Type="http://schemas.openxmlformats.org/officeDocument/2006/relationships/slide" Target="slides/slide64.xml"/><Relationship Id="rId131" Type="http://schemas.openxmlformats.org/officeDocument/2006/relationships/slide" Target="slides/slide129.xml"/><Relationship Id="rId327" Type="http://schemas.openxmlformats.org/officeDocument/2006/relationships/slide" Target="slides/slide325.xml"/><Relationship Id="rId369" Type="http://schemas.openxmlformats.org/officeDocument/2006/relationships/handoutMaster" Target="handoutMasters/handoutMaster1.xml"/><Relationship Id="rId173" Type="http://schemas.openxmlformats.org/officeDocument/2006/relationships/slide" Target="slides/slide171.xml"/><Relationship Id="rId229" Type="http://schemas.openxmlformats.org/officeDocument/2006/relationships/slide" Target="slides/slide227.xml"/><Relationship Id="rId240" Type="http://schemas.openxmlformats.org/officeDocument/2006/relationships/slide" Target="slides/slide238.xml"/><Relationship Id="rId35" Type="http://schemas.openxmlformats.org/officeDocument/2006/relationships/slide" Target="slides/slide33.xml"/><Relationship Id="rId77" Type="http://schemas.openxmlformats.org/officeDocument/2006/relationships/slide" Target="slides/slide75.xml"/><Relationship Id="rId100" Type="http://schemas.openxmlformats.org/officeDocument/2006/relationships/slide" Target="slides/slide98.xml"/><Relationship Id="rId282" Type="http://schemas.openxmlformats.org/officeDocument/2006/relationships/slide" Target="slides/slide280.xml"/><Relationship Id="rId338" Type="http://schemas.openxmlformats.org/officeDocument/2006/relationships/slide" Target="slides/slide336.xml"/><Relationship Id="rId8" Type="http://schemas.openxmlformats.org/officeDocument/2006/relationships/slide" Target="slides/slide6.xml"/><Relationship Id="rId142" Type="http://schemas.openxmlformats.org/officeDocument/2006/relationships/slide" Target="slides/slide140.xml"/><Relationship Id="rId184" Type="http://schemas.openxmlformats.org/officeDocument/2006/relationships/slide" Target="slides/slide182.xml"/><Relationship Id="rId251" Type="http://schemas.openxmlformats.org/officeDocument/2006/relationships/slide" Target="slides/slide249.xml"/><Relationship Id="rId46" Type="http://schemas.openxmlformats.org/officeDocument/2006/relationships/slide" Target="slides/slide44.xml"/><Relationship Id="rId293" Type="http://schemas.openxmlformats.org/officeDocument/2006/relationships/slide" Target="slides/slide291.xml"/><Relationship Id="rId307" Type="http://schemas.openxmlformats.org/officeDocument/2006/relationships/slide" Target="slides/slide305.xml"/><Relationship Id="rId349" Type="http://schemas.openxmlformats.org/officeDocument/2006/relationships/slide" Target="slides/slide347.xml"/><Relationship Id="rId88" Type="http://schemas.openxmlformats.org/officeDocument/2006/relationships/slide" Target="slides/slide86.xml"/><Relationship Id="rId111" Type="http://schemas.openxmlformats.org/officeDocument/2006/relationships/slide" Target="slides/slide109.xml"/><Relationship Id="rId153" Type="http://schemas.openxmlformats.org/officeDocument/2006/relationships/slide" Target="slides/slide151.xml"/><Relationship Id="rId195" Type="http://schemas.openxmlformats.org/officeDocument/2006/relationships/slide" Target="slides/slide193.xml"/><Relationship Id="rId209" Type="http://schemas.openxmlformats.org/officeDocument/2006/relationships/slide" Target="slides/slide207.xml"/><Relationship Id="rId360" Type="http://schemas.openxmlformats.org/officeDocument/2006/relationships/slide" Target="slides/slide358.xml"/><Relationship Id="rId220" Type="http://schemas.openxmlformats.org/officeDocument/2006/relationships/slide" Target="slides/slide218.xml"/><Relationship Id="rId15" Type="http://schemas.openxmlformats.org/officeDocument/2006/relationships/slide" Target="slides/slide13.xml"/><Relationship Id="rId57" Type="http://schemas.openxmlformats.org/officeDocument/2006/relationships/slide" Target="slides/slide55.xml"/><Relationship Id="rId262" Type="http://schemas.openxmlformats.org/officeDocument/2006/relationships/slide" Target="slides/slide260.xml"/><Relationship Id="rId318" Type="http://schemas.openxmlformats.org/officeDocument/2006/relationships/slide" Target="slides/slide31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AutoShape 1"/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36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rgbClr val="000000"/>
                </a:solidFill>
                <a:latin typeface="Arial Narrow" pitchFamily="34" charset="0"/>
              </a:defRPr>
            </a:lvl1pPr>
            <a:lvl2pPr marL="742950" indent="-285750">
              <a:defRPr>
                <a:solidFill>
                  <a:srgbClr val="000000"/>
                </a:solidFill>
                <a:latin typeface="Arial Narrow" pitchFamily="34" charset="0"/>
              </a:defRPr>
            </a:lvl2pPr>
            <a:lvl3pPr marL="1143000" indent="-228600">
              <a:defRPr>
                <a:solidFill>
                  <a:srgbClr val="000000"/>
                </a:solidFill>
                <a:latin typeface="Arial Narrow" pitchFamily="34" charset="0"/>
              </a:defRPr>
            </a:lvl3pPr>
            <a:lvl4pPr marL="1600200" indent="-228600">
              <a:defRPr>
                <a:solidFill>
                  <a:srgbClr val="000000"/>
                </a:solidFill>
                <a:latin typeface="Arial Narrow" pitchFamily="34" charset="0"/>
              </a:defRPr>
            </a:lvl4pPr>
            <a:lvl5pPr marL="2057400" indent="-228600">
              <a:defRPr>
                <a:solidFill>
                  <a:srgbClr val="000000"/>
                </a:solidFill>
                <a:latin typeface="Arial Narrow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 Narrow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 Narrow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 Narrow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 Narrow" pitchFamily="34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91139" name="AutoShape 2"/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rgbClr val="000000"/>
                </a:solidFill>
                <a:latin typeface="Arial Narrow" pitchFamily="34" charset="0"/>
              </a:defRPr>
            </a:lvl1pPr>
            <a:lvl2pPr marL="742950" indent="-285750">
              <a:defRPr>
                <a:solidFill>
                  <a:srgbClr val="000000"/>
                </a:solidFill>
                <a:latin typeface="Arial Narrow" pitchFamily="34" charset="0"/>
              </a:defRPr>
            </a:lvl2pPr>
            <a:lvl3pPr marL="1143000" indent="-228600">
              <a:defRPr>
                <a:solidFill>
                  <a:srgbClr val="000000"/>
                </a:solidFill>
                <a:latin typeface="Arial Narrow" pitchFamily="34" charset="0"/>
              </a:defRPr>
            </a:lvl3pPr>
            <a:lvl4pPr marL="1600200" indent="-228600">
              <a:defRPr>
                <a:solidFill>
                  <a:srgbClr val="000000"/>
                </a:solidFill>
                <a:latin typeface="Arial Narrow" pitchFamily="34" charset="0"/>
              </a:defRPr>
            </a:lvl4pPr>
            <a:lvl5pPr marL="2057400" indent="-228600">
              <a:defRPr>
                <a:solidFill>
                  <a:srgbClr val="000000"/>
                </a:solidFill>
                <a:latin typeface="Arial Narrow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 Narrow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 Narrow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 Narrow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 Narrow" pitchFamily="34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91140" name="AutoShape 3"/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rgbClr val="000000"/>
                </a:solidFill>
                <a:latin typeface="Arial Narrow" pitchFamily="34" charset="0"/>
              </a:defRPr>
            </a:lvl1pPr>
            <a:lvl2pPr marL="742950" indent="-285750">
              <a:defRPr>
                <a:solidFill>
                  <a:srgbClr val="000000"/>
                </a:solidFill>
                <a:latin typeface="Arial Narrow" pitchFamily="34" charset="0"/>
              </a:defRPr>
            </a:lvl2pPr>
            <a:lvl3pPr marL="1143000" indent="-228600">
              <a:defRPr>
                <a:solidFill>
                  <a:srgbClr val="000000"/>
                </a:solidFill>
                <a:latin typeface="Arial Narrow" pitchFamily="34" charset="0"/>
              </a:defRPr>
            </a:lvl3pPr>
            <a:lvl4pPr marL="1600200" indent="-228600">
              <a:defRPr>
                <a:solidFill>
                  <a:srgbClr val="000000"/>
                </a:solidFill>
                <a:latin typeface="Arial Narrow" pitchFamily="34" charset="0"/>
              </a:defRPr>
            </a:lvl4pPr>
            <a:lvl5pPr marL="2057400" indent="-228600">
              <a:defRPr>
                <a:solidFill>
                  <a:srgbClr val="000000"/>
                </a:solidFill>
                <a:latin typeface="Arial Narrow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 Narrow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 Narrow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 Narrow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 Narrow" pitchFamily="34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91141" name="AutoShape 4"/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rgbClr val="000000"/>
                </a:solidFill>
                <a:latin typeface="Arial Narrow" pitchFamily="34" charset="0"/>
              </a:defRPr>
            </a:lvl1pPr>
            <a:lvl2pPr marL="742950" indent="-285750">
              <a:defRPr>
                <a:solidFill>
                  <a:srgbClr val="000000"/>
                </a:solidFill>
                <a:latin typeface="Arial Narrow" pitchFamily="34" charset="0"/>
              </a:defRPr>
            </a:lvl2pPr>
            <a:lvl3pPr marL="1143000" indent="-228600">
              <a:defRPr>
                <a:solidFill>
                  <a:srgbClr val="000000"/>
                </a:solidFill>
                <a:latin typeface="Arial Narrow" pitchFamily="34" charset="0"/>
              </a:defRPr>
            </a:lvl3pPr>
            <a:lvl4pPr marL="1600200" indent="-228600">
              <a:defRPr>
                <a:solidFill>
                  <a:srgbClr val="000000"/>
                </a:solidFill>
                <a:latin typeface="Arial Narrow" pitchFamily="34" charset="0"/>
              </a:defRPr>
            </a:lvl4pPr>
            <a:lvl5pPr marL="2057400" indent="-228600">
              <a:defRPr>
                <a:solidFill>
                  <a:srgbClr val="000000"/>
                </a:solidFill>
                <a:latin typeface="Arial Narrow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 Narrow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 Narrow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 Narrow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 Narrow" pitchFamily="34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91142" name="AutoShape 5"/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rgbClr val="000000"/>
                </a:solidFill>
                <a:latin typeface="Arial Narrow" pitchFamily="34" charset="0"/>
              </a:defRPr>
            </a:lvl1pPr>
            <a:lvl2pPr marL="742950" indent="-285750">
              <a:defRPr>
                <a:solidFill>
                  <a:srgbClr val="000000"/>
                </a:solidFill>
                <a:latin typeface="Arial Narrow" pitchFamily="34" charset="0"/>
              </a:defRPr>
            </a:lvl2pPr>
            <a:lvl3pPr marL="1143000" indent="-228600">
              <a:defRPr>
                <a:solidFill>
                  <a:srgbClr val="000000"/>
                </a:solidFill>
                <a:latin typeface="Arial Narrow" pitchFamily="34" charset="0"/>
              </a:defRPr>
            </a:lvl3pPr>
            <a:lvl4pPr marL="1600200" indent="-228600">
              <a:defRPr>
                <a:solidFill>
                  <a:srgbClr val="000000"/>
                </a:solidFill>
                <a:latin typeface="Arial Narrow" pitchFamily="34" charset="0"/>
              </a:defRPr>
            </a:lvl4pPr>
            <a:lvl5pPr marL="2057400" indent="-228600">
              <a:defRPr>
                <a:solidFill>
                  <a:srgbClr val="000000"/>
                </a:solidFill>
                <a:latin typeface="Arial Narrow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 Narrow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 Narrow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 Narrow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 Narrow" pitchFamily="34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91143" name="AutoShape 6"/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rgbClr val="000000"/>
                </a:solidFill>
                <a:latin typeface="Arial Narrow" pitchFamily="34" charset="0"/>
              </a:defRPr>
            </a:lvl1pPr>
            <a:lvl2pPr marL="742950" indent="-285750">
              <a:defRPr>
                <a:solidFill>
                  <a:srgbClr val="000000"/>
                </a:solidFill>
                <a:latin typeface="Arial Narrow" pitchFamily="34" charset="0"/>
              </a:defRPr>
            </a:lvl2pPr>
            <a:lvl3pPr marL="1143000" indent="-228600">
              <a:defRPr>
                <a:solidFill>
                  <a:srgbClr val="000000"/>
                </a:solidFill>
                <a:latin typeface="Arial Narrow" pitchFamily="34" charset="0"/>
              </a:defRPr>
            </a:lvl3pPr>
            <a:lvl4pPr marL="1600200" indent="-228600">
              <a:defRPr>
                <a:solidFill>
                  <a:srgbClr val="000000"/>
                </a:solidFill>
                <a:latin typeface="Arial Narrow" pitchFamily="34" charset="0"/>
              </a:defRPr>
            </a:lvl4pPr>
            <a:lvl5pPr marL="2057400" indent="-228600">
              <a:defRPr>
                <a:solidFill>
                  <a:srgbClr val="000000"/>
                </a:solidFill>
                <a:latin typeface="Arial Narrow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 Narrow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 Narrow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 Narrow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 Narrow" pitchFamily="34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01384" name="Rectangle 7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58875" y="685800"/>
            <a:ext cx="457200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056" name="Rectangle 8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17575" y="4343400"/>
            <a:ext cx="504825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63" tIns="45732" rIns="91463" bIns="45732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noProof="0"/>
          </a:p>
        </p:txBody>
      </p:sp>
      <p:sp>
        <p:nvSpPr>
          <p:cNvPr id="2057" name="Text Box 9"/>
          <p:cNvSpPr txBox="1">
            <a:spLocks noChangeArrowheads="1"/>
          </p:cNvSpPr>
          <p:nvPr/>
        </p:nvSpPr>
        <p:spPr bwMode="auto">
          <a:xfrm>
            <a:off x="3900488" y="8883650"/>
            <a:ext cx="2982912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63" tIns="45732" rIns="91463" bIns="45732" anchor="b">
            <a:spAutoFit/>
          </a:bodyPr>
          <a:lstStyle>
            <a:lvl1pPr algn="l" defTabSz="900113">
              <a:tabLst>
                <a:tab pos="0" algn="l"/>
                <a:tab pos="439738" algn="l"/>
                <a:tab pos="879475" algn="l"/>
                <a:tab pos="1320800" algn="l"/>
                <a:tab pos="1762125" algn="l"/>
                <a:tab pos="2203450" algn="l"/>
                <a:tab pos="2644775" algn="l"/>
                <a:tab pos="3084513" algn="l"/>
                <a:tab pos="3525838" algn="l"/>
                <a:tab pos="3967163" algn="l"/>
                <a:tab pos="4406900" algn="l"/>
                <a:tab pos="4846638" algn="l"/>
                <a:tab pos="5287963" algn="l"/>
                <a:tab pos="5730875" algn="l"/>
                <a:tab pos="6170613" algn="l"/>
                <a:tab pos="6613525" algn="l"/>
                <a:tab pos="7053263" algn="l"/>
                <a:tab pos="7493000" algn="l"/>
                <a:tab pos="7932738" algn="l"/>
                <a:tab pos="8374063" algn="l"/>
                <a:tab pos="8815388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450850" algn="l" defTabSz="900113">
              <a:tabLst>
                <a:tab pos="0" algn="l"/>
                <a:tab pos="439738" algn="l"/>
                <a:tab pos="879475" algn="l"/>
                <a:tab pos="1320800" algn="l"/>
                <a:tab pos="1762125" algn="l"/>
                <a:tab pos="2203450" algn="l"/>
                <a:tab pos="2644775" algn="l"/>
                <a:tab pos="3084513" algn="l"/>
                <a:tab pos="3525838" algn="l"/>
                <a:tab pos="3967163" algn="l"/>
                <a:tab pos="4406900" algn="l"/>
                <a:tab pos="4846638" algn="l"/>
                <a:tab pos="5287963" algn="l"/>
                <a:tab pos="5730875" algn="l"/>
                <a:tab pos="6170613" algn="l"/>
                <a:tab pos="6613525" algn="l"/>
                <a:tab pos="7053263" algn="l"/>
                <a:tab pos="7493000" algn="l"/>
                <a:tab pos="7932738" algn="l"/>
                <a:tab pos="8374063" algn="l"/>
                <a:tab pos="8815388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900113" algn="l" defTabSz="900113">
              <a:tabLst>
                <a:tab pos="0" algn="l"/>
                <a:tab pos="439738" algn="l"/>
                <a:tab pos="879475" algn="l"/>
                <a:tab pos="1320800" algn="l"/>
                <a:tab pos="1762125" algn="l"/>
                <a:tab pos="2203450" algn="l"/>
                <a:tab pos="2644775" algn="l"/>
                <a:tab pos="3084513" algn="l"/>
                <a:tab pos="3525838" algn="l"/>
                <a:tab pos="3967163" algn="l"/>
                <a:tab pos="4406900" algn="l"/>
                <a:tab pos="4846638" algn="l"/>
                <a:tab pos="5287963" algn="l"/>
                <a:tab pos="5730875" algn="l"/>
                <a:tab pos="6170613" algn="l"/>
                <a:tab pos="6613525" algn="l"/>
                <a:tab pos="7053263" algn="l"/>
                <a:tab pos="7493000" algn="l"/>
                <a:tab pos="7932738" algn="l"/>
                <a:tab pos="8374063" algn="l"/>
                <a:tab pos="8815388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350963" algn="l" defTabSz="900113">
              <a:tabLst>
                <a:tab pos="0" algn="l"/>
                <a:tab pos="439738" algn="l"/>
                <a:tab pos="879475" algn="l"/>
                <a:tab pos="1320800" algn="l"/>
                <a:tab pos="1762125" algn="l"/>
                <a:tab pos="2203450" algn="l"/>
                <a:tab pos="2644775" algn="l"/>
                <a:tab pos="3084513" algn="l"/>
                <a:tab pos="3525838" algn="l"/>
                <a:tab pos="3967163" algn="l"/>
                <a:tab pos="4406900" algn="l"/>
                <a:tab pos="4846638" algn="l"/>
                <a:tab pos="5287963" algn="l"/>
                <a:tab pos="5730875" algn="l"/>
                <a:tab pos="6170613" algn="l"/>
                <a:tab pos="6613525" algn="l"/>
                <a:tab pos="7053263" algn="l"/>
                <a:tab pos="7493000" algn="l"/>
                <a:tab pos="7932738" algn="l"/>
                <a:tab pos="8374063" algn="l"/>
                <a:tab pos="8815388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1800225" algn="l" defTabSz="900113">
              <a:tabLst>
                <a:tab pos="0" algn="l"/>
                <a:tab pos="439738" algn="l"/>
                <a:tab pos="879475" algn="l"/>
                <a:tab pos="1320800" algn="l"/>
                <a:tab pos="1762125" algn="l"/>
                <a:tab pos="2203450" algn="l"/>
                <a:tab pos="2644775" algn="l"/>
                <a:tab pos="3084513" algn="l"/>
                <a:tab pos="3525838" algn="l"/>
                <a:tab pos="3967163" algn="l"/>
                <a:tab pos="4406900" algn="l"/>
                <a:tab pos="4846638" algn="l"/>
                <a:tab pos="5287963" algn="l"/>
                <a:tab pos="5730875" algn="l"/>
                <a:tab pos="6170613" algn="l"/>
                <a:tab pos="6613525" algn="l"/>
                <a:tab pos="7053263" algn="l"/>
                <a:tab pos="7493000" algn="l"/>
                <a:tab pos="7932738" algn="l"/>
                <a:tab pos="8374063" algn="l"/>
                <a:tab pos="8815388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257425" defTabSz="90011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39738" algn="l"/>
                <a:tab pos="879475" algn="l"/>
                <a:tab pos="1320800" algn="l"/>
                <a:tab pos="1762125" algn="l"/>
                <a:tab pos="2203450" algn="l"/>
                <a:tab pos="2644775" algn="l"/>
                <a:tab pos="3084513" algn="l"/>
                <a:tab pos="3525838" algn="l"/>
                <a:tab pos="3967163" algn="l"/>
                <a:tab pos="4406900" algn="l"/>
                <a:tab pos="4846638" algn="l"/>
                <a:tab pos="5287963" algn="l"/>
                <a:tab pos="5730875" algn="l"/>
                <a:tab pos="6170613" algn="l"/>
                <a:tab pos="6613525" algn="l"/>
                <a:tab pos="7053263" algn="l"/>
                <a:tab pos="7493000" algn="l"/>
                <a:tab pos="7932738" algn="l"/>
                <a:tab pos="8374063" algn="l"/>
                <a:tab pos="8815388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714625" defTabSz="90011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39738" algn="l"/>
                <a:tab pos="879475" algn="l"/>
                <a:tab pos="1320800" algn="l"/>
                <a:tab pos="1762125" algn="l"/>
                <a:tab pos="2203450" algn="l"/>
                <a:tab pos="2644775" algn="l"/>
                <a:tab pos="3084513" algn="l"/>
                <a:tab pos="3525838" algn="l"/>
                <a:tab pos="3967163" algn="l"/>
                <a:tab pos="4406900" algn="l"/>
                <a:tab pos="4846638" algn="l"/>
                <a:tab pos="5287963" algn="l"/>
                <a:tab pos="5730875" algn="l"/>
                <a:tab pos="6170613" algn="l"/>
                <a:tab pos="6613525" algn="l"/>
                <a:tab pos="7053263" algn="l"/>
                <a:tab pos="7493000" algn="l"/>
                <a:tab pos="7932738" algn="l"/>
                <a:tab pos="8374063" algn="l"/>
                <a:tab pos="8815388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171825" defTabSz="90011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39738" algn="l"/>
                <a:tab pos="879475" algn="l"/>
                <a:tab pos="1320800" algn="l"/>
                <a:tab pos="1762125" algn="l"/>
                <a:tab pos="2203450" algn="l"/>
                <a:tab pos="2644775" algn="l"/>
                <a:tab pos="3084513" algn="l"/>
                <a:tab pos="3525838" algn="l"/>
                <a:tab pos="3967163" algn="l"/>
                <a:tab pos="4406900" algn="l"/>
                <a:tab pos="4846638" algn="l"/>
                <a:tab pos="5287963" algn="l"/>
                <a:tab pos="5730875" algn="l"/>
                <a:tab pos="6170613" algn="l"/>
                <a:tab pos="6613525" algn="l"/>
                <a:tab pos="7053263" algn="l"/>
                <a:tab pos="7493000" algn="l"/>
                <a:tab pos="7932738" algn="l"/>
                <a:tab pos="8374063" algn="l"/>
                <a:tab pos="8815388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629025" defTabSz="90011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39738" algn="l"/>
                <a:tab pos="879475" algn="l"/>
                <a:tab pos="1320800" algn="l"/>
                <a:tab pos="1762125" algn="l"/>
                <a:tab pos="2203450" algn="l"/>
                <a:tab pos="2644775" algn="l"/>
                <a:tab pos="3084513" algn="l"/>
                <a:tab pos="3525838" algn="l"/>
                <a:tab pos="3967163" algn="l"/>
                <a:tab pos="4406900" algn="l"/>
                <a:tab pos="4846638" algn="l"/>
                <a:tab pos="5287963" algn="l"/>
                <a:tab pos="5730875" algn="l"/>
                <a:tab pos="6170613" algn="l"/>
                <a:tab pos="6613525" algn="l"/>
                <a:tab pos="7053263" algn="l"/>
                <a:tab pos="7493000" algn="l"/>
                <a:tab pos="7932738" algn="l"/>
                <a:tab pos="8374063" algn="l"/>
                <a:tab pos="8815388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r">
              <a:buClr>
                <a:srgbClr val="000000"/>
              </a:buClr>
              <a:buFont typeface="Times New Roman" pitchFamily="18" charset="0"/>
              <a:buNone/>
              <a:defRPr/>
            </a:pPr>
            <a:r>
              <a:rPr lang="en-GB" sz="1100"/>
              <a:t>1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47675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1pPr>
    <a:lvl2pPr marL="742950" indent="-285750" algn="l" defTabSz="447675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2pPr>
    <a:lvl3pPr marL="1143000" indent="-228600" algn="l" defTabSz="447675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3pPr>
    <a:lvl4pPr marL="1600200" indent="-228600" algn="l" defTabSz="447675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4pPr>
    <a:lvl5pPr marL="2057400" indent="-228600" algn="l" defTabSz="447675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1.xml"/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3.xml"/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4.xml"/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5.xml"/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6.xml"/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7.xml"/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8.xml"/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9.xml"/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0.xml"/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1.xml"/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2.xml"/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3.xml"/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4.xml"/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5.xml"/><Relationship Id="rId1" Type="http://schemas.openxmlformats.org/officeDocument/2006/relationships/notesMaster" Target="../notesMasters/notesMaster1.xml"/></Relationships>
</file>

<file path=ppt/notesSlides/_rels/notesSlide1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6.xml"/><Relationship Id="rId1" Type="http://schemas.openxmlformats.org/officeDocument/2006/relationships/notesMaster" Target="../notesMasters/notesMaster1.xml"/></Relationships>
</file>

<file path=ppt/notesSlides/_rels/notesSlide1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7.xml"/><Relationship Id="rId1" Type="http://schemas.openxmlformats.org/officeDocument/2006/relationships/notesMaster" Target="../notesMasters/notesMaster1.xml"/></Relationships>
</file>

<file path=ppt/notesSlides/_rels/notesSlide1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8.xml"/><Relationship Id="rId1" Type="http://schemas.openxmlformats.org/officeDocument/2006/relationships/notesMaster" Target="../notesMasters/notesMaster1.xml"/></Relationships>
</file>

<file path=ppt/notesSlides/_rels/notesSlide1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9.xml"/><Relationship Id="rId1" Type="http://schemas.openxmlformats.org/officeDocument/2006/relationships/notesMaster" Target="../notesMasters/notesMaster1.xml"/></Relationships>
</file>

<file path=ppt/notesSlides/_rels/notesSlide1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0.xml"/><Relationship Id="rId1" Type="http://schemas.openxmlformats.org/officeDocument/2006/relationships/notesMaster" Target="../notesMasters/notesMaster1.xml"/></Relationships>
</file>

<file path=ppt/notesSlides/_rels/notesSlide1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1.xml"/><Relationship Id="rId1" Type="http://schemas.openxmlformats.org/officeDocument/2006/relationships/notesMaster" Target="../notesMasters/notesMaster1.xml"/></Relationships>
</file>

<file path=ppt/notesSlides/_rels/notesSlide1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2.xml"/><Relationship Id="rId1" Type="http://schemas.openxmlformats.org/officeDocument/2006/relationships/notesMaster" Target="../notesMasters/notesMaster1.xml"/></Relationships>
</file>

<file path=ppt/notesSlides/_rels/notesSlide1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3.xml"/><Relationship Id="rId1" Type="http://schemas.openxmlformats.org/officeDocument/2006/relationships/notesMaster" Target="../notesMasters/notesMaster1.xml"/></Relationships>
</file>

<file path=ppt/notesSlides/_rels/notesSlide1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4.xml"/><Relationship Id="rId1" Type="http://schemas.openxmlformats.org/officeDocument/2006/relationships/notesMaster" Target="../notesMasters/notesMaster1.xml"/></Relationships>
</file>

<file path=ppt/notesSlides/_rels/notesSlide1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5.xml"/><Relationship Id="rId1" Type="http://schemas.openxmlformats.org/officeDocument/2006/relationships/notesMaster" Target="../notesMasters/notesMaster1.xml"/></Relationships>
</file>

<file path=ppt/notesSlides/_rels/notesSlide1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6.xml"/><Relationship Id="rId1" Type="http://schemas.openxmlformats.org/officeDocument/2006/relationships/notesMaster" Target="../notesMasters/notesMaster1.xml"/></Relationships>
</file>

<file path=ppt/notesSlides/_rels/notesSlide1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7.xml"/><Relationship Id="rId1" Type="http://schemas.openxmlformats.org/officeDocument/2006/relationships/notesMaster" Target="../notesMasters/notesMaster1.xml"/></Relationships>
</file>

<file path=ppt/notesSlides/_rels/notesSlide1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8.xml"/><Relationship Id="rId1" Type="http://schemas.openxmlformats.org/officeDocument/2006/relationships/notesMaster" Target="../notesMasters/notesMaster1.xml"/></Relationships>
</file>

<file path=ppt/notesSlides/_rels/notesSlide1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9.xml"/><Relationship Id="rId1" Type="http://schemas.openxmlformats.org/officeDocument/2006/relationships/notesMaster" Target="../notesMasters/notesMaster1.xml"/></Relationships>
</file>

<file path=ppt/notesSlides/_rels/notesSlide1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0.xml"/><Relationship Id="rId1" Type="http://schemas.openxmlformats.org/officeDocument/2006/relationships/notesMaster" Target="../notesMasters/notesMaster1.xml"/></Relationships>
</file>

<file path=ppt/notesSlides/_rels/notesSlide1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1.xml"/><Relationship Id="rId1" Type="http://schemas.openxmlformats.org/officeDocument/2006/relationships/notesMaster" Target="../notesMasters/notesMaster1.xml"/></Relationships>
</file>

<file path=ppt/notesSlides/_rels/notesSlide1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2.xml"/><Relationship Id="rId1" Type="http://schemas.openxmlformats.org/officeDocument/2006/relationships/notesMaster" Target="../notesMasters/notesMaster1.xml"/></Relationships>
</file>

<file path=ppt/notesSlides/_rels/notesSlide1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3.xml"/><Relationship Id="rId1" Type="http://schemas.openxmlformats.org/officeDocument/2006/relationships/notesMaster" Target="../notesMasters/notesMaster1.xml"/></Relationships>
</file>

<file path=ppt/notesSlides/_rels/notesSlide1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4.xml"/><Relationship Id="rId1" Type="http://schemas.openxmlformats.org/officeDocument/2006/relationships/notesMaster" Target="../notesMasters/notesMaster1.xml"/></Relationships>
</file>

<file path=ppt/notesSlides/_rels/notesSlide1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5.xml"/><Relationship Id="rId1" Type="http://schemas.openxmlformats.org/officeDocument/2006/relationships/notesMaster" Target="../notesMasters/notesMaster1.xml"/></Relationships>
</file>

<file path=ppt/notesSlides/_rels/notesSlide1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6.xml"/><Relationship Id="rId1" Type="http://schemas.openxmlformats.org/officeDocument/2006/relationships/notesMaster" Target="../notesMasters/notesMaster1.xml"/></Relationships>
</file>

<file path=ppt/notesSlides/_rels/notesSlide1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7.xml"/><Relationship Id="rId1" Type="http://schemas.openxmlformats.org/officeDocument/2006/relationships/notesMaster" Target="../notesMasters/notesMaster1.xml"/></Relationships>
</file>

<file path=ppt/notesSlides/_rels/notesSlide1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8.xml"/><Relationship Id="rId1" Type="http://schemas.openxmlformats.org/officeDocument/2006/relationships/notesMaster" Target="../notesMasters/notesMaster1.xml"/></Relationships>
</file>

<file path=ppt/notesSlides/_rels/notesSlide1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9.xml"/><Relationship Id="rId1" Type="http://schemas.openxmlformats.org/officeDocument/2006/relationships/notesMaster" Target="../notesMasters/notesMaster1.xml"/></Relationships>
</file>

<file path=ppt/notesSlides/_rels/notesSlide1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0.xml"/><Relationship Id="rId1" Type="http://schemas.openxmlformats.org/officeDocument/2006/relationships/notesMaster" Target="../notesMasters/notesMaster1.xml"/></Relationships>
</file>

<file path=ppt/notesSlides/_rels/notesSlide1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1.xml"/><Relationship Id="rId1" Type="http://schemas.openxmlformats.org/officeDocument/2006/relationships/notesMaster" Target="../notesMasters/notesMaster1.xml"/></Relationships>
</file>

<file path=ppt/notesSlides/_rels/notesSlide1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2.xml"/><Relationship Id="rId1" Type="http://schemas.openxmlformats.org/officeDocument/2006/relationships/notesMaster" Target="../notesMasters/notesMaster1.xml"/></Relationships>
</file>

<file path=ppt/notesSlides/_rels/notesSlide1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3.xml"/><Relationship Id="rId1" Type="http://schemas.openxmlformats.org/officeDocument/2006/relationships/notesMaster" Target="../notesMasters/notesMaster1.xml"/></Relationships>
</file>

<file path=ppt/notesSlides/_rels/notesSlide1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4.xml"/><Relationship Id="rId1" Type="http://schemas.openxmlformats.org/officeDocument/2006/relationships/notesMaster" Target="../notesMasters/notesMaster1.xml"/></Relationships>
</file>

<file path=ppt/notesSlides/_rels/notesSlide1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5.xml"/><Relationship Id="rId1" Type="http://schemas.openxmlformats.org/officeDocument/2006/relationships/notesMaster" Target="../notesMasters/notesMaster1.xml"/></Relationships>
</file>

<file path=ppt/notesSlides/_rels/notesSlide1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6.xml"/><Relationship Id="rId1" Type="http://schemas.openxmlformats.org/officeDocument/2006/relationships/notesMaster" Target="../notesMasters/notesMaster1.xml"/></Relationships>
</file>

<file path=ppt/notesSlides/_rels/notesSlide1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7.xml"/><Relationship Id="rId1" Type="http://schemas.openxmlformats.org/officeDocument/2006/relationships/notesMaster" Target="../notesMasters/notesMaster1.xml"/></Relationships>
</file>

<file path=ppt/notesSlides/_rels/notesSlide1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8.xml"/><Relationship Id="rId1" Type="http://schemas.openxmlformats.org/officeDocument/2006/relationships/notesMaster" Target="../notesMasters/notesMaster1.xml"/></Relationships>
</file>

<file path=ppt/notesSlides/_rels/notesSlide1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9.xml"/><Relationship Id="rId1" Type="http://schemas.openxmlformats.org/officeDocument/2006/relationships/notesMaster" Target="../notesMasters/notesMaster1.xml"/></Relationships>
</file>

<file path=ppt/notesSlides/_rels/notesSlide1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0.xml"/><Relationship Id="rId1" Type="http://schemas.openxmlformats.org/officeDocument/2006/relationships/notesMaster" Target="../notesMasters/notesMaster1.xml"/></Relationships>
</file>

<file path=ppt/notesSlides/_rels/notesSlide1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1.xml"/><Relationship Id="rId1" Type="http://schemas.openxmlformats.org/officeDocument/2006/relationships/notesMaster" Target="../notesMasters/notesMaster1.xml"/></Relationships>
</file>

<file path=ppt/notesSlides/_rels/notesSlide1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2.xml"/><Relationship Id="rId1" Type="http://schemas.openxmlformats.org/officeDocument/2006/relationships/notesMaster" Target="../notesMasters/notesMaster1.xml"/></Relationships>
</file>

<file path=ppt/notesSlides/_rels/notesSlide1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3.xml"/><Relationship Id="rId1" Type="http://schemas.openxmlformats.org/officeDocument/2006/relationships/notesMaster" Target="../notesMasters/notesMaster1.xml"/></Relationships>
</file>

<file path=ppt/notesSlides/_rels/notesSlide1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4.xml"/><Relationship Id="rId1" Type="http://schemas.openxmlformats.org/officeDocument/2006/relationships/notesMaster" Target="../notesMasters/notesMaster1.xml"/></Relationships>
</file>

<file path=ppt/notesSlides/_rels/notesSlide1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5.xml"/><Relationship Id="rId1" Type="http://schemas.openxmlformats.org/officeDocument/2006/relationships/notesMaster" Target="../notesMasters/notesMaster1.xml"/></Relationships>
</file>

<file path=ppt/notesSlides/_rels/notesSlide1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6.xml"/><Relationship Id="rId1" Type="http://schemas.openxmlformats.org/officeDocument/2006/relationships/notesMaster" Target="../notesMasters/notesMaster1.xml"/></Relationships>
</file>

<file path=ppt/notesSlides/_rels/notesSlide1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7.xml"/><Relationship Id="rId1" Type="http://schemas.openxmlformats.org/officeDocument/2006/relationships/notesMaster" Target="../notesMasters/notesMaster1.xml"/></Relationships>
</file>

<file path=ppt/notesSlides/_rels/notesSlide1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8.xml"/><Relationship Id="rId1" Type="http://schemas.openxmlformats.org/officeDocument/2006/relationships/notesMaster" Target="../notesMasters/notesMaster1.xml"/></Relationships>
</file>

<file path=ppt/notesSlides/_rels/notesSlide1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9.xml"/><Relationship Id="rId1" Type="http://schemas.openxmlformats.org/officeDocument/2006/relationships/notesMaster" Target="../notesMasters/notesMaster1.xml"/></Relationships>
</file>

<file path=ppt/notesSlides/_rels/notesSlide1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0.xml"/><Relationship Id="rId1" Type="http://schemas.openxmlformats.org/officeDocument/2006/relationships/notesMaster" Target="../notesMasters/notesMaster1.xml"/></Relationships>
</file>

<file path=ppt/notesSlides/_rels/notesSlide1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1.xml"/><Relationship Id="rId1" Type="http://schemas.openxmlformats.org/officeDocument/2006/relationships/notesMaster" Target="../notesMasters/notesMaster1.xml"/></Relationships>
</file>

<file path=ppt/notesSlides/_rels/notesSlide1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2.xml"/><Relationship Id="rId1" Type="http://schemas.openxmlformats.org/officeDocument/2006/relationships/notesMaster" Target="../notesMasters/notesMaster1.xml"/></Relationships>
</file>

<file path=ppt/notesSlides/_rels/notesSlide1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3.xml"/><Relationship Id="rId1" Type="http://schemas.openxmlformats.org/officeDocument/2006/relationships/notesMaster" Target="../notesMasters/notesMaster1.xml"/></Relationships>
</file>

<file path=ppt/notesSlides/_rels/notesSlide1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4.xml"/><Relationship Id="rId1" Type="http://schemas.openxmlformats.org/officeDocument/2006/relationships/notesMaster" Target="../notesMasters/notesMaster1.xml"/></Relationships>
</file>

<file path=ppt/notesSlides/_rels/notesSlide1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5.xml"/><Relationship Id="rId1" Type="http://schemas.openxmlformats.org/officeDocument/2006/relationships/notesMaster" Target="../notesMasters/notesMaster1.xml"/></Relationships>
</file>

<file path=ppt/notesSlides/_rels/notesSlide1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6.xml"/><Relationship Id="rId1" Type="http://schemas.openxmlformats.org/officeDocument/2006/relationships/notesMaster" Target="../notesMasters/notesMaster1.xml"/></Relationships>
</file>

<file path=ppt/notesSlides/_rels/notesSlide1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7.xml"/><Relationship Id="rId1" Type="http://schemas.openxmlformats.org/officeDocument/2006/relationships/notesMaster" Target="../notesMasters/notesMaster1.xml"/></Relationships>
</file>

<file path=ppt/notesSlides/_rels/notesSlide1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8.xml"/><Relationship Id="rId1" Type="http://schemas.openxmlformats.org/officeDocument/2006/relationships/notesMaster" Target="../notesMasters/notesMaster1.xml"/></Relationships>
</file>

<file path=ppt/notesSlides/_rels/notesSlide1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9.xml"/><Relationship Id="rId1" Type="http://schemas.openxmlformats.org/officeDocument/2006/relationships/notesMaster" Target="../notesMasters/notesMaster1.xml"/></Relationships>
</file>

<file path=ppt/notesSlides/_rels/notesSlide1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0.xml"/><Relationship Id="rId1" Type="http://schemas.openxmlformats.org/officeDocument/2006/relationships/notesMaster" Target="../notesMasters/notesMaster1.xml"/></Relationships>
</file>

<file path=ppt/notesSlides/_rels/notesSlide1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1.xml"/><Relationship Id="rId1" Type="http://schemas.openxmlformats.org/officeDocument/2006/relationships/notesMaster" Target="../notesMasters/notesMaster1.xml"/></Relationships>
</file>

<file path=ppt/notesSlides/_rels/notesSlide1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2.xml"/><Relationship Id="rId1" Type="http://schemas.openxmlformats.org/officeDocument/2006/relationships/notesMaster" Target="../notesMasters/notesMaster1.xml"/></Relationships>
</file>

<file path=ppt/notesSlides/_rels/notesSlide1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3.xml"/><Relationship Id="rId1" Type="http://schemas.openxmlformats.org/officeDocument/2006/relationships/notesMaster" Target="../notesMasters/notesMaster1.xml"/></Relationships>
</file>

<file path=ppt/notesSlides/_rels/notesSlide1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4.xml"/><Relationship Id="rId1" Type="http://schemas.openxmlformats.org/officeDocument/2006/relationships/notesMaster" Target="../notesMasters/notesMaster1.xml"/></Relationships>
</file>

<file path=ppt/notesSlides/_rels/notesSlide1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5.xml"/><Relationship Id="rId1" Type="http://schemas.openxmlformats.org/officeDocument/2006/relationships/notesMaster" Target="../notesMasters/notesMaster1.xml"/></Relationships>
</file>

<file path=ppt/notesSlides/_rels/notesSlide1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6.xml"/><Relationship Id="rId1" Type="http://schemas.openxmlformats.org/officeDocument/2006/relationships/notesMaster" Target="../notesMasters/notesMaster1.xml"/></Relationships>
</file>

<file path=ppt/notesSlides/_rels/notesSlide1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7.xml"/><Relationship Id="rId1" Type="http://schemas.openxmlformats.org/officeDocument/2006/relationships/notesMaster" Target="../notesMasters/notesMaster1.xml"/></Relationships>
</file>

<file path=ppt/notesSlides/_rels/notesSlide1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8.xml"/><Relationship Id="rId1" Type="http://schemas.openxmlformats.org/officeDocument/2006/relationships/notesMaster" Target="../notesMasters/notesMaster1.xml"/></Relationships>
</file>

<file path=ppt/notesSlides/_rels/notesSlide2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9.xml"/><Relationship Id="rId1" Type="http://schemas.openxmlformats.org/officeDocument/2006/relationships/notesMaster" Target="../notesMasters/notesMaster1.xml"/></Relationships>
</file>

<file path=ppt/notesSlides/_rels/notesSlide2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0.xml"/><Relationship Id="rId1" Type="http://schemas.openxmlformats.org/officeDocument/2006/relationships/notesMaster" Target="../notesMasters/notesMaster1.xml"/></Relationships>
</file>

<file path=ppt/notesSlides/_rels/notesSlide2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1.xml"/><Relationship Id="rId1" Type="http://schemas.openxmlformats.org/officeDocument/2006/relationships/notesMaster" Target="../notesMasters/notesMaster1.xml"/></Relationships>
</file>

<file path=ppt/notesSlides/_rels/notesSlide2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2.xml"/><Relationship Id="rId1" Type="http://schemas.openxmlformats.org/officeDocument/2006/relationships/notesMaster" Target="../notesMasters/notesMaster1.xml"/></Relationships>
</file>

<file path=ppt/notesSlides/_rels/notesSlide2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4.xml"/><Relationship Id="rId1" Type="http://schemas.openxmlformats.org/officeDocument/2006/relationships/notesMaster" Target="../notesMasters/notesMaster1.xml"/></Relationships>
</file>

<file path=ppt/notesSlides/_rels/notesSlide2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5.xml"/><Relationship Id="rId1" Type="http://schemas.openxmlformats.org/officeDocument/2006/relationships/notesMaster" Target="../notesMasters/notesMaster1.xml"/></Relationships>
</file>

<file path=ppt/notesSlides/_rels/notesSlide2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6.xml"/><Relationship Id="rId1" Type="http://schemas.openxmlformats.org/officeDocument/2006/relationships/notesMaster" Target="../notesMasters/notesMaster1.xml"/></Relationships>
</file>

<file path=ppt/notesSlides/_rels/notesSlide2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7.xml"/><Relationship Id="rId1" Type="http://schemas.openxmlformats.org/officeDocument/2006/relationships/notesMaster" Target="../notesMasters/notesMaster1.xml"/></Relationships>
</file>

<file path=ppt/notesSlides/_rels/notesSlide2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8.xml"/><Relationship Id="rId1" Type="http://schemas.openxmlformats.org/officeDocument/2006/relationships/notesMaster" Target="../notesMasters/notesMaster1.xml"/></Relationships>
</file>

<file path=ppt/notesSlides/_rels/notesSlide2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9.xml"/><Relationship Id="rId1" Type="http://schemas.openxmlformats.org/officeDocument/2006/relationships/notesMaster" Target="../notesMasters/notesMaster1.xml"/></Relationships>
</file>

<file path=ppt/notesSlides/_rels/notesSlide2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0.xml"/><Relationship Id="rId1" Type="http://schemas.openxmlformats.org/officeDocument/2006/relationships/notesMaster" Target="../notesMasters/notesMaster1.xml"/></Relationships>
</file>

<file path=ppt/notesSlides/_rels/notesSlide2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1.xml"/><Relationship Id="rId1" Type="http://schemas.openxmlformats.org/officeDocument/2006/relationships/notesMaster" Target="../notesMasters/notesMaster1.xml"/></Relationships>
</file>

<file path=ppt/notesSlides/_rels/notesSlide2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2.xml"/><Relationship Id="rId1" Type="http://schemas.openxmlformats.org/officeDocument/2006/relationships/notesMaster" Target="../notesMasters/notesMaster1.xml"/></Relationships>
</file>

<file path=ppt/notesSlides/_rels/notesSlide2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1.xml"/><Relationship Id="rId1" Type="http://schemas.openxmlformats.org/officeDocument/2006/relationships/notesMaster" Target="../notesMasters/notesMaster1.xml"/></Relationships>
</file>

<file path=ppt/notesSlides/_rels/notesSlide2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2.xml"/><Relationship Id="rId1" Type="http://schemas.openxmlformats.org/officeDocument/2006/relationships/notesMaster" Target="../notesMasters/notesMaster1.xml"/></Relationships>
</file>

<file path=ppt/notesSlides/_rels/notesSlide2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3.xml"/><Relationship Id="rId1" Type="http://schemas.openxmlformats.org/officeDocument/2006/relationships/notesMaster" Target="../notesMasters/notesMaster1.xml"/></Relationships>
</file>

<file path=ppt/notesSlides/_rels/notesSlide2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4.xml"/><Relationship Id="rId1" Type="http://schemas.openxmlformats.org/officeDocument/2006/relationships/notesMaster" Target="../notesMasters/notesMaster1.xml"/></Relationships>
</file>

<file path=ppt/notesSlides/_rels/notesSlide2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5.xml"/><Relationship Id="rId1" Type="http://schemas.openxmlformats.org/officeDocument/2006/relationships/notesMaster" Target="../notesMasters/notesMaster1.xml"/></Relationships>
</file>

<file path=ppt/notesSlides/_rels/notesSlide2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6.xml"/><Relationship Id="rId1" Type="http://schemas.openxmlformats.org/officeDocument/2006/relationships/notesMaster" Target="../notesMasters/notesMaster1.xml"/></Relationships>
</file>

<file path=ppt/notesSlides/_rels/notesSlide2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7.xml"/><Relationship Id="rId1" Type="http://schemas.openxmlformats.org/officeDocument/2006/relationships/notesMaster" Target="../notesMasters/notesMaster1.xml"/></Relationships>
</file>

<file path=ppt/notesSlides/_rels/notesSlide2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8.xml"/><Relationship Id="rId1" Type="http://schemas.openxmlformats.org/officeDocument/2006/relationships/notesMaster" Target="../notesMasters/notesMaster1.xml"/></Relationships>
</file>

<file path=ppt/notesSlides/_rels/notesSlide2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9.xml"/><Relationship Id="rId1" Type="http://schemas.openxmlformats.org/officeDocument/2006/relationships/notesMaster" Target="../notesMasters/notesMaster1.xml"/></Relationships>
</file>

<file path=ppt/notesSlides/_rels/notesSlide2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0.xml"/><Relationship Id="rId1" Type="http://schemas.openxmlformats.org/officeDocument/2006/relationships/notesMaster" Target="../notesMasters/notesMaster1.xml"/></Relationships>
</file>

<file path=ppt/notesSlides/_rels/notesSlide2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1.xml"/><Relationship Id="rId1" Type="http://schemas.openxmlformats.org/officeDocument/2006/relationships/notesMaster" Target="../notesMasters/notesMaster1.xml"/></Relationships>
</file>

<file path=ppt/notesSlides/_rels/notesSlide2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2.xml"/><Relationship Id="rId1" Type="http://schemas.openxmlformats.org/officeDocument/2006/relationships/notesMaster" Target="../notesMasters/notesMaster1.xml"/></Relationships>
</file>

<file path=ppt/notesSlides/_rels/notesSlide2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3.xml"/><Relationship Id="rId1" Type="http://schemas.openxmlformats.org/officeDocument/2006/relationships/notesMaster" Target="../notesMasters/notesMaster1.xml"/></Relationships>
</file>

<file path=ppt/notesSlides/_rels/notesSlide2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4.xml"/><Relationship Id="rId1" Type="http://schemas.openxmlformats.org/officeDocument/2006/relationships/notesMaster" Target="../notesMasters/notesMaster1.xml"/></Relationships>
</file>

<file path=ppt/notesSlides/_rels/notesSlide2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5.xml"/><Relationship Id="rId1" Type="http://schemas.openxmlformats.org/officeDocument/2006/relationships/notesMaster" Target="../notesMasters/notesMaster1.xml"/></Relationships>
</file>

<file path=ppt/notesSlides/_rels/notesSlide2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6.xml"/><Relationship Id="rId1" Type="http://schemas.openxmlformats.org/officeDocument/2006/relationships/notesMaster" Target="../notesMasters/notesMaster1.xml"/></Relationships>
</file>

<file path=ppt/notesSlides/_rels/notesSlide2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7.xml"/><Relationship Id="rId1" Type="http://schemas.openxmlformats.org/officeDocument/2006/relationships/notesMaster" Target="../notesMasters/notesMaster1.xml"/></Relationships>
</file>

<file path=ppt/notesSlides/_rels/notesSlide2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8.xml"/><Relationship Id="rId1" Type="http://schemas.openxmlformats.org/officeDocument/2006/relationships/notesMaster" Target="../notesMasters/notesMaster1.xml"/></Relationships>
</file>

<file path=ppt/notesSlides/_rels/notesSlide2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9.xml"/><Relationship Id="rId1" Type="http://schemas.openxmlformats.org/officeDocument/2006/relationships/notesMaster" Target="../notesMasters/notesMaster1.xml"/></Relationships>
</file>

<file path=ppt/notesSlides/_rels/notesSlide2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0.xml"/><Relationship Id="rId1" Type="http://schemas.openxmlformats.org/officeDocument/2006/relationships/notesMaster" Target="../notesMasters/notesMaster1.xml"/></Relationships>
</file>

<file path=ppt/notesSlides/_rels/notesSlide2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1.xml"/><Relationship Id="rId1" Type="http://schemas.openxmlformats.org/officeDocument/2006/relationships/notesMaster" Target="../notesMasters/notesMaster1.xml"/></Relationships>
</file>

<file path=ppt/notesSlides/_rels/notesSlide2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2.xml"/><Relationship Id="rId1" Type="http://schemas.openxmlformats.org/officeDocument/2006/relationships/notesMaster" Target="../notesMasters/notesMaster1.xml"/></Relationships>
</file>

<file path=ppt/notesSlides/_rels/notesSlide2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3.xml"/><Relationship Id="rId1" Type="http://schemas.openxmlformats.org/officeDocument/2006/relationships/notesMaster" Target="../notesMasters/notesMaster1.xml"/></Relationships>
</file>

<file path=ppt/notesSlides/_rels/notesSlide2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4.xml"/><Relationship Id="rId1" Type="http://schemas.openxmlformats.org/officeDocument/2006/relationships/notesMaster" Target="../notesMasters/notesMaster1.xml"/></Relationships>
</file>

<file path=ppt/notesSlides/_rels/notesSlide2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5.xml"/><Relationship Id="rId1" Type="http://schemas.openxmlformats.org/officeDocument/2006/relationships/notesMaster" Target="../notesMasters/notesMaster1.xml"/></Relationships>
</file>

<file path=ppt/notesSlides/_rels/notesSlide2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6.xml"/><Relationship Id="rId1" Type="http://schemas.openxmlformats.org/officeDocument/2006/relationships/notesMaster" Target="../notesMasters/notesMaster1.xml"/></Relationships>
</file>

<file path=ppt/notesSlides/_rels/notesSlide2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7.xml"/><Relationship Id="rId1" Type="http://schemas.openxmlformats.org/officeDocument/2006/relationships/notesMaster" Target="../notesMasters/notesMaster1.xml"/></Relationships>
</file>

<file path=ppt/notesSlides/_rels/notesSlide2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8.xml"/><Relationship Id="rId1" Type="http://schemas.openxmlformats.org/officeDocument/2006/relationships/notesMaster" Target="../notesMasters/notesMaster1.xml"/></Relationships>
</file>

<file path=ppt/notesSlides/_rels/notesSlide2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9.xml"/><Relationship Id="rId1" Type="http://schemas.openxmlformats.org/officeDocument/2006/relationships/notesMaster" Target="../notesMasters/notesMaster1.xml"/></Relationships>
</file>

<file path=ppt/notesSlides/_rels/notesSlide2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0.xml"/><Relationship Id="rId1" Type="http://schemas.openxmlformats.org/officeDocument/2006/relationships/notesMaster" Target="../notesMasters/notesMaster1.xml"/></Relationships>
</file>

<file path=ppt/notesSlides/_rels/notesSlide2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1.xml"/><Relationship Id="rId1" Type="http://schemas.openxmlformats.org/officeDocument/2006/relationships/notesMaster" Target="../notesMasters/notesMaster1.xml"/></Relationships>
</file>

<file path=ppt/notesSlides/_rels/notesSlide2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2.xml"/><Relationship Id="rId1" Type="http://schemas.openxmlformats.org/officeDocument/2006/relationships/notesMaster" Target="../notesMasters/notesMaster1.xml"/></Relationships>
</file>

<file path=ppt/notesSlides/_rels/notesSlide2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3.xml"/><Relationship Id="rId1" Type="http://schemas.openxmlformats.org/officeDocument/2006/relationships/notesMaster" Target="../notesMasters/notesMaster1.xml"/></Relationships>
</file>

<file path=ppt/notesSlides/_rels/notesSlide2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4.xml"/><Relationship Id="rId1" Type="http://schemas.openxmlformats.org/officeDocument/2006/relationships/notesMaster" Target="../notesMasters/notesMaster1.xml"/></Relationships>
</file>

<file path=ppt/notesSlides/_rels/notesSlide2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5.xml"/><Relationship Id="rId1" Type="http://schemas.openxmlformats.org/officeDocument/2006/relationships/notesMaster" Target="../notesMasters/notesMaster1.xml"/></Relationships>
</file>

<file path=ppt/notesSlides/_rels/notesSlide2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6.xml"/><Relationship Id="rId1" Type="http://schemas.openxmlformats.org/officeDocument/2006/relationships/notesMaster" Target="../notesMasters/notesMaster1.xml"/></Relationships>
</file>

<file path=ppt/notesSlides/_rels/notesSlide2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7.xml"/><Relationship Id="rId1" Type="http://schemas.openxmlformats.org/officeDocument/2006/relationships/notesMaster" Target="../notesMasters/notesMaster1.xml"/></Relationships>
</file>

<file path=ppt/notesSlides/_rels/notesSlide2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8.xml"/><Relationship Id="rId1" Type="http://schemas.openxmlformats.org/officeDocument/2006/relationships/notesMaster" Target="../notesMasters/notesMaster1.xml"/></Relationships>
</file>

<file path=ppt/notesSlides/_rels/notesSlide2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9.xml"/><Relationship Id="rId1" Type="http://schemas.openxmlformats.org/officeDocument/2006/relationships/notesMaster" Target="../notesMasters/notesMaster1.xml"/></Relationships>
</file>

<file path=ppt/notesSlides/_rels/notesSlide2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0.xml"/><Relationship Id="rId1" Type="http://schemas.openxmlformats.org/officeDocument/2006/relationships/notesMaster" Target="../notesMasters/notesMaster1.xml"/></Relationships>
</file>

<file path=ppt/notesSlides/_rels/notesSlide2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1.xml"/><Relationship Id="rId1" Type="http://schemas.openxmlformats.org/officeDocument/2006/relationships/notesMaster" Target="../notesMasters/notesMaster1.xml"/></Relationships>
</file>

<file path=ppt/notesSlides/_rels/notesSlide2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2.xml"/><Relationship Id="rId1" Type="http://schemas.openxmlformats.org/officeDocument/2006/relationships/notesMaster" Target="../notesMasters/notesMaster1.xml"/></Relationships>
</file>

<file path=ppt/notesSlides/_rels/notesSlide2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3.xml"/><Relationship Id="rId1" Type="http://schemas.openxmlformats.org/officeDocument/2006/relationships/notesMaster" Target="../notesMasters/notesMaster1.xml"/></Relationships>
</file>

<file path=ppt/notesSlides/_rels/notesSlide2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4.xml"/><Relationship Id="rId1" Type="http://schemas.openxmlformats.org/officeDocument/2006/relationships/notesMaster" Target="../notesMasters/notesMaster1.xml"/></Relationships>
</file>

<file path=ppt/notesSlides/_rels/notesSlide2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5.xml"/><Relationship Id="rId1" Type="http://schemas.openxmlformats.org/officeDocument/2006/relationships/notesMaster" Target="../notesMasters/notesMaster1.xml"/></Relationships>
</file>

<file path=ppt/notesSlides/_rels/notesSlide2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6.xml"/><Relationship Id="rId1" Type="http://schemas.openxmlformats.org/officeDocument/2006/relationships/notesMaster" Target="../notesMasters/notesMaster1.xml"/></Relationships>
</file>

<file path=ppt/notesSlides/_rels/notesSlide2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7.xml"/><Relationship Id="rId1" Type="http://schemas.openxmlformats.org/officeDocument/2006/relationships/notesMaster" Target="../notesMasters/notesMaster1.xml"/></Relationships>
</file>

<file path=ppt/notesSlides/_rels/notesSlide2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8.xml"/><Relationship Id="rId1" Type="http://schemas.openxmlformats.org/officeDocument/2006/relationships/notesMaster" Target="../notesMasters/notesMaster1.xml"/></Relationships>
</file>

<file path=ppt/notesSlides/_rels/notesSlide2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9.xml"/><Relationship Id="rId1" Type="http://schemas.openxmlformats.org/officeDocument/2006/relationships/notesMaster" Target="../notesMasters/notesMaster1.xml"/></Relationships>
</file>

<file path=ppt/notesSlides/_rels/notesSlide2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0.xml"/><Relationship Id="rId1" Type="http://schemas.openxmlformats.org/officeDocument/2006/relationships/notesMaster" Target="../notesMasters/notesMaster1.xml"/></Relationships>
</file>

<file path=ppt/notesSlides/_rels/notesSlide2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1.xml"/><Relationship Id="rId1" Type="http://schemas.openxmlformats.org/officeDocument/2006/relationships/notesMaster" Target="../notesMasters/notesMaster1.xml"/></Relationships>
</file>

<file path=ppt/notesSlides/_rels/notesSlide2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2.xml"/><Relationship Id="rId1" Type="http://schemas.openxmlformats.org/officeDocument/2006/relationships/notesMaster" Target="../notesMasters/notesMaster1.xml"/></Relationships>
</file>

<file path=ppt/notesSlides/_rels/notesSlide2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3.xml"/><Relationship Id="rId1" Type="http://schemas.openxmlformats.org/officeDocument/2006/relationships/notesMaster" Target="../notesMasters/notesMaster1.xml"/></Relationships>
</file>

<file path=ppt/notesSlides/_rels/notesSlide2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4.xml"/><Relationship Id="rId1" Type="http://schemas.openxmlformats.org/officeDocument/2006/relationships/notesMaster" Target="../notesMasters/notesMaster1.xml"/></Relationships>
</file>

<file path=ppt/notesSlides/_rels/notesSlide2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5.xml"/><Relationship Id="rId1" Type="http://schemas.openxmlformats.org/officeDocument/2006/relationships/notesMaster" Target="../notesMasters/notesMaster1.xml"/></Relationships>
</file>

<file path=ppt/notesSlides/_rels/notesSlide2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6.xml"/><Relationship Id="rId1" Type="http://schemas.openxmlformats.org/officeDocument/2006/relationships/notesMaster" Target="../notesMasters/notesMaster1.xml"/></Relationships>
</file>

<file path=ppt/notesSlides/_rels/notesSlide2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7.xml"/><Relationship Id="rId1" Type="http://schemas.openxmlformats.org/officeDocument/2006/relationships/notesMaster" Target="../notesMasters/notesMaster1.xml"/></Relationships>
</file>

<file path=ppt/notesSlides/_rels/notesSlide2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8.xml"/><Relationship Id="rId1" Type="http://schemas.openxmlformats.org/officeDocument/2006/relationships/notesMaster" Target="../notesMasters/notesMaster1.xml"/></Relationships>
</file>

<file path=ppt/notesSlides/_rels/notesSlide2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9.xml"/><Relationship Id="rId1" Type="http://schemas.openxmlformats.org/officeDocument/2006/relationships/notesMaster" Target="../notesMasters/notesMaster1.xml"/></Relationships>
</file>

<file path=ppt/notesSlides/_rels/notesSlide2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0.xml"/><Relationship Id="rId1" Type="http://schemas.openxmlformats.org/officeDocument/2006/relationships/notesMaster" Target="../notesMasters/notesMaster1.xml"/></Relationships>
</file>

<file path=ppt/notesSlides/_rels/notesSlide2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1.xml"/><Relationship Id="rId1" Type="http://schemas.openxmlformats.org/officeDocument/2006/relationships/notesMaster" Target="../notesMasters/notesMaster1.xml"/></Relationships>
</file>

<file path=ppt/notesSlides/_rels/notesSlide2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2.xml"/><Relationship Id="rId1" Type="http://schemas.openxmlformats.org/officeDocument/2006/relationships/notesMaster" Target="../notesMasters/notesMaster1.xml"/></Relationships>
</file>

<file path=ppt/notesSlides/_rels/notesSlide2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3.xml"/><Relationship Id="rId1" Type="http://schemas.openxmlformats.org/officeDocument/2006/relationships/notesMaster" Target="../notesMasters/notesMaster1.xml"/></Relationships>
</file>

<file path=ppt/notesSlides/_rels/notesSlide2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4.xml"/><Relationship Id="rId1" Type="http://schemas.openxmlformats.org/officeDocument/2006/relationships/notesMaster" Target="../notesMasters/notesMaster1.xml"/></Relationships>
</file>

<file path=ppt/notesSlides/_rels/notesSlide2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5.xml"/><Relationship Id="rId1" Type="http://schemas.openxmlformats.org/officeDocument/2006/relationships/notesMaster" Target="../notesMasters/notesMaster1.xml"/></Relationships>
</file>

<file path=ppt/notesSlides/_rels/notesSlide2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6.xml"/><Relationship Id="rId1" Type="http://schemas.openxmlformats.org/officeDocument/2006/relationships/notesMaster" Target="../notesMasters/notesMaster1.xml"/></Relationships>
</file>

<file path=ppt/notesSlides/_rels/notesSlide2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7.xml"/><Relationship Id="rId1" Type="http://schemas.openxmlformats.org/officeDocument/2006/relationships/notesMaster" Target="../notesMasters/notesMaster1.xml"/></Relationships>
</file>

<file path=ppt/notesSlides/_rels/notesSlide2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8.xml"/><Relationship Id="rId1" Type="http://schemas.openxmlformats.org/officeDocument/2006/relationships/notesMaster" Target="../notesMasters/notesMaster1.xml"/></Relationships>
</file>

<file path=ppt/notesSlides/_rels/notesSlide2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9.xml"/><Relationship Id="rId1" Type="http://schemas.openxmlformats.org/officeDocument/2006/relationships/notesMaster" Target="../notesMasters/notesMaster1.xml"/></Relationships>
</file>

<file path=ppt/notesSlides/_rels/notesSlide2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0.xml"/><Relationship Id="rId1" Type="http://schemas.openxmlformats.org/officeDocument/2006/relationships/notesMaster" Target="../notesMasters/notesMaster1.xml"/></Relationships>
</file>

<file path=ppt/notesSlides/_rels/notesSlide2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1.xml"/><Relationship Id="rId1" Type="http://schemas.openxmlformats.org/officeDocument/2006/relationships/notesMaster" Target="../notesMasters/notesMaster1.xml"/></Relationships>
</file>

<file path=ppt/notesSlides/_rels/notesSlide2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2.xml"/><Relationship Id="rId1" Type="http://schemas.openxmlformats.org/officeDocument/2006/relationships/notesMaster" Target="../notesMasters/notesMaster1.xml"/></Relationships>
</file>

<file path=ppt/notesSlides/_rels/notesSlide2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3.xml"/><Relationship Id="rId1" Type="http://schemas.openxmlformats.org/officeDocument/2006/relationships/notesMaster" Target="../notesMasters/notesMaster1.xml"/></Relationships>
</file>

<file path=ppt/notesSlides/_rels/notesSlide2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4.xml"/><Relationship Id="rId1" Type="http://schemas.openxmlformats.org/officeDocument/2006/relationships/notesMaster" Target="../notesMasters/notesMaster1.xml"/></Relationships>
</file>

<file path=ppt/notesSlides/_rels/notesSlide2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5.xml"/><Relationship Id="rId1" Type="http://schemas.openxmlformats.org/officeDocument/2006/relationships/notesMaster" Target="../notesMasters/notesMaster1.xml"/></Relationships>
</file>

<file path=ppt/notesSlides/_rels/notesSlide2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6.xml"/><Relationship Id="rId1" Type="http://schemas.openxmlformats.org/officeDocument/2006/relationships/notesMaster" Target="../notesMasters/notesMaster1.xml"/></Relationships>
</file>

<file path=ppt/notesSlides/_rels/notesSlide2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7.xml"/><Relationship Id="rId1" Type="http://schemas.openxmlformats.org/officeDocument/2006/relationships/notesMaster" Target="../notesMasters/notesMaster1.xml"/></Relationships>
</file>

<file path=ppt/notesSlides/_rels/notesSlide2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8.xml"/><Relationship Id="rId1" Type="http://schemas.openxmlformats.org/officeDocument/2006/relationships/notesMaster" Target="../notesMasters/notesMaster1.xml"/></Relationships>
</file>

<file path=ppt/notesSlides/_rels/notesSlide2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9.xml"/><Relationship Id="rId1" Type="http://schemas.openxmlformats.org/officeDocument/2006/relationships/notesMaster" Target="../notesMasters/notesMaster1.xml"/></Relationships>
</file>

<file path=ppt/notesSlides/_rels/notesSlide2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0.xml"/><Relationship Id="rId1" Type="http://schemas.openxmlformats.org/officeDocument/2006/relationships/notesMaster" Target="../notesMasters/notesMaster1.xml"/></Relationships>
</file>

<file path=ppt/notesSlides/_rels/notesSlide2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1.xml"/><Relationship Id="rId1" Type="http://schemas.openxmlformats.org/officeDocument/2006/relationships/notesMaster" Target="../notesMasters/notesMaster1.xml"/></Relationships>
</file>

<file path=ppt/notesSlides/_rels/notesSlide2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2.xml"/><Relationship Id="rId1" Type="http://schemas.openxmlformats.org/officeDocument/2006/relationships/notesMaster" Target="../notesMasters/notesMaster1.xml"/></Relationships>
</file>

<file path=ppt/notesSlides/_rels/notesSlide2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3.xml"/><Relationship Id="rId1" Type="http://schemas.openxmlformats.org/officeDocument/2006/relationships/notesMaster" Target="../notesMasters/notesMaster1.xml"/></Relationships>
</file>

<file path=ppt/notesSlides/_rels/notesSlide2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4.xml"/><Relationship Id="rId1" Type="http://schemas.openxmlformats.org/officeDocument/2006/relationships/notesMaster" Target="../notesMasters/notesMaster1.xml"/></Relationships>
</file>

<file path=ppt/notesSlides/_rels/notesSlide2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5.xml"/><Relationship Id="rId1" Type="http://schemas.openxmlformats.org/officeDocument/2006/relationships/notesMaster" Target="../notesMasters/notesMaster1.xml"/></Relationships>
</file>

<file path=ppt/notesSlides/_rels/notesSlide2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6.xml"/><Relationship Id="rId1" Type="http://schemas.openxmlformats.org/officeDocument/2006/relationships/notesMaster" Target="../notesMasters/notesMaster1.xml"/></Relationships>
</file>

<file path=ppt/notesSlides/_rels/notesSlide2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7.xml"/><Relationship Id="rId1" Type="http://schemas.openxmlformats.org/officeDocument/2006/relationships/notesMaster" Target="../notesMasters/notesMaster1.xml"/></Relationships>
</file>

<file path=ppt/notesSlides/_rels/notesSlide3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8.xml"/><Relationship Id="rId1" Type="http://schemas.openxmlformats.org/officeDocument/2006/relationships/notesMaster" Target="../notesMasters/notesMaster1.xml"/></Relationships>
</file>

<file path=ppt/notesSlides/_rels/notesSlide3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9.xml"/><Relationship Id="rId1" Type="http://schemas.openxmlformats.org/officeDocument/2006/relationships/notesMaster" Target="../notesMasters/notesMaster1.xml"/></Relationships>
</file>

<file path=ppt/notesSlides/_rels/notesSlide3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0.xml"/><Relationship Id="rId1" Type="http://schemas.openxmlformats.org/officeDocument/2006/relationships/notesMaster" Target="../notesMasters/notesMaster1.xml"/></Relationships>
</file>

<file path=ppt/notesSlides/_rels/notesSlide3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1.xml"/><Relationship Id="rId1" Type="http://schemas.openxmlformats.org/officeDocument/2006/relationships/notesMaster" Target="../notesMasters/notesMaster1.xml"/></Relationships>
</file>

<file path=ppt/notesSlides/_rels/notesSlide3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2.xml"/><Relationship Id="rId1" Type="http://schemas.openxmlformats.org/officeDocument/2006/relationships/notesMaster" Target="../notesMasters/notesMaster1.xml"/></Relationships>
</file>

<file path=ppt/notesSlides/_rels/notesSlide3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3.xml"/><Relationship Id="rId1" Type="http://schemas.openxmlformats.org/officeDocument/2006/relationships/notesMaster" Target="../notesMasters/notesMaster1.xml"/></Relationships>
</file>

<file path=ppt/notesSlides/_rels/notesSlide3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4.xml"/><Relationship Id="rId1" Type="http://schemas.openxmlformats.org/officeDocument/2006/relationships/notesMaster" Target="../notesMasters/notesMaster1.xml"/></Relationships>
</file>

<file path=ppt/notesSlides/_rels/notesSlide3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5.xml"/><Relationship Id="rId1" Type="http://schemas.openxmlformats.org/officeDocument/2006/relationships/notesMaster" Target="../notesMasters/notesMaster1.xml"/></Relationships>
</file>

<file path=ppt/notesSlides/_rels/notesSlide3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6.xml"/><Relationship Id="rId1" Type="http://schemas.openxmlformats.org/officeDocument/2006/relationships/notesMaster" Target="../notesMasters/notesMaster1.xml"/></Relationships>
</file>

<file path=ppt/notesSlides/_rels/notesSlide3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7.xml"/><Relationship Id="rId1" Type="http://schemas.openxmlformats.org/officeDocument/2006/relationships/notesMaster" Target="../notesMasters/notesMaster1.xml"/></Relationships>
</file>

<file path=ppt/notesSlides/_rels/notesSlide3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8.xml"/><Relationship Id="rId1" Type="http://schemas.openxmlformats.org/officeDocument/2006/relationships/notesMaster" Target="../notesMasters/notesMaster1.xml"/></Relationships>
</file>

<file path=ppt/notesSlides/_rels/notesSlide3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9.xml"/><Relationship Id="rId1" Type="http://schemas.openxmlformats.org/officeDocument/2006/relationships/notesMaster" Target="../notesMasters/notesMaster1.xml"/></Relationships>
</file>

<file path=ppt/notesSlides/_rels/notesSlide3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0.xml"/><Relationship Id="rId1" Type="http://schemas.openxmlformats.org/officeDocument/2006/relationships/notesMaster" Target="../notesMasters/notesMaster1.xml"/></Relationships>
</file>

<file path=ppt/notesSlides/_rels/notesSlide3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2.xml"/><Relationship Id="rId1" Type="http://schemas.openxmlformats.org/officeDocument/2006/relationships/notesMaster" Target="../notesMasters/notesMaster1.xml"/></Relationships>
</file>

<file path=ppt/notesSlides/_rels/notesSlide3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3.xml"/><Relationship Id="rId1" Type="http://schemas.openxmlformats.org/officeDocument/2006/relationships/notesMaster" Target="../notesMasters/notesMaster1.xml"/></Relationships>
</file>

<file path=ppt/notesSlides/_rels/notesSlide3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4.xml"/><Relationship Id="rId1" Type="http://schemas.openxmlformats.org/officeDocument/2006/relationships/notesMaster" Target="../notesMasters/notesMaster1.xml"/></Relationships>
</file>

<file path=ppt/notesSlides/_rels/notesSlide3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5.xml"/><Relationship Id="rId1" Type="http://schemas.openxmlformats.org/officeDocument/2006/relationships/notesMaster" Target="../notesMasters/notesMaster1.xml"/></Relationships>
</file>

<file path=ppt/notesSlides/_rels/notesSlide3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6.xml"/><Relationship Id="rId1" Type="http://schemas.openxmlformats.org/officeDocument/2006/relationships/notesMaster" Target="../notesMasters/notesMaster1.xml"/></Relationships>
</file>

<file path=ppt/notesSlides/_rels/notesSlide3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7.xml"/><Relationship Id="rId1" Type="http://schemas.openxmlformats.org/officeDocument/2006/relationships/notesMaster" Target="../notesMasters/notesMaster1.xml"/></Relationships>
</file>

<file path=ppt/notesSlides/_rels/notesSlide3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8.xml"/><Relationship Id="rId1" Type="http://schemas.openxmlformats.org/officeDocument/2006/relationships/notesMaster" Target="../notesMasters/notesMaster1.xml"/></Relationships>
</file>

<file path=ppt/notesSlides/_rels/notesSlide3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9.xml"/><Relationship Id="rId1" Type="http://schemas.openxmlformats.org/officeDocument/2006/relationships/notesMaster" Target="../notesMasters/notesMaster1.xml"/></Relationships>
</file>

<file path=ppt/notesSlides/_rels/notesSlide3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0.xml"/><Relationship Id="rId1" Type="http://schemas.openxmlformats.org/officeDocument/2006/relationships/notesMaster" Target="../notesMasters/notesMaster1.xml"/></Relationships>
</file>

<file path=ppt/notesSlides/_rels/notesSlide3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1.xml"/><Relationship Id="rId1" Type="http://schemas.openxmlformats.org/officeDocument/2006/relationships/notesMaster" Target="../notesMasters/notesMaster1.xml"/></Relationships>
</file>

<file path=ppt/notesSlides/_rels/notesSlide3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2.xml"/><Relationship Id="rId1" Type="http://schemas.openxmlformats.org/officeDocument/2006/relationships/notesMaster" Target="../notesMasters/notesMaster1.xml"/></Relationships>
</file>

<file path=ppt/notesSlides/_rels/notesSlide3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3.xml"/><Relationship Id="rId1" Type="http://schemas.openxmlformats.org/officeDocument/2006/relationships/notesMaster" Target="../notesMasters/notesMaster1.xml"/></Relationships>
</file>

<file path=ppt/notesSlides/_rels/notesSlide3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4.xml"/><Relationship Id="rId1" Type="http://schemas.openxmlformats.org/officeDocument/2006/relationships/notesMaster" Target="../notesMasters/notesMaster1.xml"/></Relationships>
</file>

<file path=ppt/notesSlides/_rels/notesSlide3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5.xml"/><Relationship Id="rId1" Type="http://schemas.openxmlformats.org/officeDocument/2006/relationships/notesMaster" Target="../notesMasters/notesMaster1.xml"/></Relationships>
</file>

<file path=ppt/notesSlides/_rels/notesSlide3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6.xml"/><Relationship Id="rId1" Type="http://schemas.openxmlformats.org/officeDocument/2006/relationships/notesMaster" Target="../notesMasters/notesMaster1.xml"/></Relationships>
</file>

<file path=ppt/notesSlides/_rels/notesSlide3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7.xml"/><Relationship Id="rId1" Type="http://schemas.openxmlformats.org/officeDocument/2006/relationships/notesMaster" Target="../notesMasters/notesMaster1.xml"/></Relationships>
</file>

<file path=ppt/notesSlides/_rels/notesSlide3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8.xml"/><Relationship Id="rId1" Type="http://schemas.openxmlformats.org/officeDocument/2006/relationships/notesMaster" Target="../notesMasters/notesMaster1.xml"/></Relationships>
</file>

<file path=ppt/notesSlides/_rels/notesSlide3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9.xml"/><Relationship Id="rId1" Type="http://schemas.openxmlformats.org/officeDocument/2006/relationships/notesMaster" Target="../notesMasters/notesMaster1.xml"/></Relationships>
</file>

<file path=ppt/notesSlides/_rels/notesSlide3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0.xml"/><Relationship Id="rId1" Type="http://schemas.openxmlformats.org/officeDocument/2006/relationships/notesMaster" Target="../notesMasters/notesMaster1.xml"/></Relationships>
</file>

<file path=ppt/notesSlides/_rels/notesSlide3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1.xml"/><Relationship Id="rId1" Type="http://schemas.openxmlformats.org/officeDocument/2006/relationships/notesMaster" Target="../notesMasters/notesMaster1.xml"/></Relationships>
</file>

<file path=ppt/notesSlides/_rels/notesSlide3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2.xml"/><Relationship Id="rId1" Type="http://schemas.openxmlformats.org/officeDocument/2006/relationships/notesMaster" Target="../notesMasters/notesMaster1.xml"/></Relationships>
</file>

<file path=ppt/notesSlides/_rels/notesSlide3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3.xml"/><Relationship Id="rId1" Type="http://schemas.openxmlformats.org/officeDocument/2006/relationships/notesMaster" Target="../notesMasters/notesMaster1.xml"/></Relationships>
</file>

<file path=ppt/notesSlides/_rels/notesSlide3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4.xml"/><Relationship Id="rId1" Type="http://schemas.openxmlformats.org/officeDocument/2006/relationships/notesMaster" Target="../notesMasters/notesMaster1.xml"/></Relationships>
</file>

<file path=ppt/notesSlides/_rels/notesSlide3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5.xml"/><Relationship Id="rId1" Type="http://schemas.openxmlformats.org/officeDocument/2006/relationships/notesMaster" Target="../notesMasters/notesMaster1.xml"/></Relationships>
</file>

<file path=ppt/notesSlides/_rels/notesSlide3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6.xml"/><Relationship Id="rId1" Type="http://schemas.openxmlformats.org/officeDocument/2006/relationships/notesMaster" Target="../notesMasters/notesMaster1.xml"/></Relationships>
</file>

<file path=ppt/notesSlides/_rels/notesSlide3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7.xml"/><Relationship Id="rId1" Type="http://schemas.openxmlformats.org/officeDocument/2006/relationships/notesMaster" Target="../notesMasters/notesMaster1.xml"/></Relationships>
</file>

<file path=ppt/notesSlides/_rels/notesSlide3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8.xml"/><Relationship Id="rId1" Type="http://schemas.openxmlformats.org/officeDocument/2006/relationships/notesMaster" Target="../notesMasters/notesMaster1.xml"/></Relationships>
</file>

<file path=ppt/notesSlides/_rels/notesSlide3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9.xml"/><Relationship Id="rId1" Type="http://schemas.openxmlformats.org/officeDocument/2006/relationships/notesMaster" Target="../notesMasters/notesMaster1.xml"/></Relationships>
</file>

<file path=ppt/notesSlides/_rels/notesSlide3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0.xml"/><Relationship Id="rId1" Type="http://schemas.openxmlformats.org/officeDocument/2006/relationships/notesMaster" Target="../notesMasters/notesMaster1.xml"/></Relationships>
</file>

<file path=ppt/notesSlides/_rels/notesSlide3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1.xml"/><Relationship Id="rId1" Type="http://schemas.openxmlformats.org/officeDocument/2006/relationships/notesMaster" Target="../notesMasters/notesMaster1.xml"/></Relationships>
</file>

<file path=ppt/notesSlides/_rels/notesSlide3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2.xml"/><Relationship Id="rId1" Type="http://schemas.openxmlformats.org/officeDocument/2006/relationships/notesMaster" Target="../notesMasters/notesMaster1.xml"/></Relationships>
</file>

<file path=ppt/notesSlides/_rels/notesSlide3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3.xml"/><Relationship Id="rId1" Type="http://schemas.openxmlformats.org/officeDocument/2006/relationships/notesMaster" Target="../notesMasters/notesMaster1.xml"/></Relationships>
</file>

<file path=ppt/notesSlides/_rels/notesSlide3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8875" y="685800"/>
            <a:ext cx="4570413" cy="3427413"/>
          </a:xfrm>
          <a:ln/>
        </p:spPr>
      </p:sp>
      <p:sp>
        <p:nvSpPr>
          <p:cNvPr id="102403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 wrap="none" lIns="94960" tIns="47480" rIns="94960" bIns="47480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100044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3427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841368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4451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440015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5475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744166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5475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060095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6499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416517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6499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76812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6499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399690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6499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498155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6499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805576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7523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0778172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8547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1837519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9571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2634762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9571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979712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9571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1629291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0595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1411526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0595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2721280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1619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2297604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1619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5350900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2643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0785998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3667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374825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4691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8396595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5715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4666047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5715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094228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5715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8030203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6739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8027287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7763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821016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7763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6000332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7763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1487037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7763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1888396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7763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583406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7763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4032900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7763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2152711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7763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368300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7763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3213676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7763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0838605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7763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5525791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8787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6806176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8787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4345543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9811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2308130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9811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9719639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9811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03117943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0835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81383388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0835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5987384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1859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29107120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1859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52850765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1859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98302393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883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31619038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883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63525173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3907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99177377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4931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12293513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4931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7196117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4931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655830179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4931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92695445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4931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893126802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4931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859737527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4931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04753085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4931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38303419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4931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99793873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4931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68568700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5955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70160975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5955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63434352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9027" name="Text Box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en-US"/>
              <a:t>whenever we attempt to insert a key whose hash code is in an existing cluster, the size of the cluster increases</a:t>
            </a:r>
          </a:p>
        </p:txBody>
      </p:sp>
    </p:spTree>
    <p:extLst>
      <p:ext uri="{BB962C8B-B14F-4D97-AF65-F5344CB8AC3E}">
        <p14:creationId xmlns:p14="http://schemas.microsoft.com/office/powerpoint/2010/main" val="4111910732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9027" name="Text Box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en-US"/>
              <a:t>whenever we attempt to insert a key whose hash code is in an existing cluster, the size of the cluster increases</a:t>
            </a:r>
          </a:p>
        </p:txBody>
      </p:sp>
    </p:spTree>
    <p:extLst>
      <p:ext uri="{BB962C8B-B14F-4D97-AF65-F5344CB8AC3E}">
        <p14:creationId xmlns:p14="http://schemas.microsoft.com/office/powerpoint/2010/main" val="2385920568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9027" name="Text Box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en-US"/>
              <a:t>whenever we attempt to insert a key whose hash code is in an existing cluster, the size of the cluster increases</a:t>
            </a:r>
          </a:p>
        </p:txBody>
      </p:sp>
    </p:spTree>
    <p:extLst>
      <p:ext uri="{BB962C8B-B14F-4D97-AF65-F5344CB8AC3E}">
        <p14:creationId xmlns:p14="http://schemas.microsoft.com/office/powerpoint/2010/main" val="1653313289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0051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92727032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0051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82752360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0051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98713760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0051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94506187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0051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72761112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1075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02371174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2099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90327856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2099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36028374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2099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9494994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23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16988927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4147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1434383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4147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43005455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4147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54161990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4147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87543969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4147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30525652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4147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19747393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4147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7548308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6195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56719209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6195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2567583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6195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78965157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6195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4965214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6195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55067487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6195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29078533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7219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33437174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8243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0821598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9267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31168226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0291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29419026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1315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72323806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2339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en-US" b="1" dirty="0"/>
              <a:t>mod</a:t>
            </a:r>
            <a:r>
              <a:rPr lang="en-US" altLang="en-US" b="1" baseline="0" dirty="0"/>
              <a:t> 10 gives the units digit</a:t>
            </a:r>
          </a:p>
          <a:p>
            <a:r>
              <a:rPr lang="en-US" altLang="en-US" b="1" baseline="0" dirty="0"/>
              <a:t>no perfect square has a units digit of 2, 3, 7, or 8!</a:t>
            </a:r>
            <a:endParaRPr lang="en-US" altLang="en-US" b="1" dirty="0"/>
          </a:p>
        </p:txBody>
      </p:sp>
    </p:spTree>
    <p:extLst>
      <p:ext uri="{BB962C8B-B14F-4D97-AF65-F5344CB8AC3E}">
        <p14:creationId xmlns:p14="http://schemas.microsoft.com/office/powerpoint/2010/main" val="819094687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63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63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01749185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63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63079099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63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83663809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63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79621208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63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05213527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63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42767693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4387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85222556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4387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24400666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4387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5411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84603060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5411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11495357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5411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6435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21473530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6435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6435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32833789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6435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84852599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6435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02798325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6435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18354127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6435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81176430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8483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9507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99837858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9507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46054547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9507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87812190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9507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20454803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9507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17128917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9507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21656320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9507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94799121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0531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32191569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0531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73109457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0531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73822215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0531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7458102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0531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19770854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1555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79679187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1555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53536264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97558770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85488850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50874235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00483911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03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52238960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03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62504668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03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12900369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03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8910159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03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90398375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4627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30455633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4627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22681949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4627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12944111"/>
      </p:ext>
    </p:extLst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4627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17907079"/>
      </p:ext>
    </p:extLst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4627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01969438"/>
      </p:ext>
    </p:extLst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5651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55396271"/>
      </p:ext>
    </p:extLst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5651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2948320"/>
      </p:ext>
    </p:extLst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5651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50958099"/>
      </p:ext>
    </p:extLst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5651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43712871"/>
      </p:ext>
    </p:extLst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5651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60652520"/>
      </p:ext>
    </p:extLst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5651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32098711"/>
      </p:ext>
    </p:extLst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6675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83511653"/>
      </p:ext>
    </p:extLst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3059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41314435"/>
      </p:ext>
    </p:extLst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3059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85863708"/>
      </p:ext>
    </p:extLst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083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1625350"/>
      </p:ext>
    </p:extLst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083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95336451"/>
      </p:ext>
    </p:extLst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6131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09642554"/>
      </p:ext>
    </p:extLst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6131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12274818"/>
      </p:ext>
    </p:extLst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6131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02420432"/>
      </p:ext>
    </p:extLst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2275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39378080"/>
      </p:ext>
    </p:extLst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2275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58349932"/>
      </p:ext>
    </p:extLst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2275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74594920"/>
      </p:ext>
    </p:extLst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2275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34639874"/>
      </p:ext>
    </p:extLst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2275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60570327"/>
      </p:ext>
    </p:extLst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2275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5197809"/>
      </p:ext>
    </p:extLst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2275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61083799"/>
      </p:ext>
    </p:extLst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2275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24827762"/>
      </p:ext>
    </p:extLst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2275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66461197"/>
      </p:ext>
    </p:extLst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2275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41102759"/>
      </p:ext>
    </p:extLst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2275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03540178"/>
      </p:ext>
    </p:extLst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2275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44242182"/>
      </p:ext>
    </p:extLst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2275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99312618"/>
      </p:ext>
    </p:extLst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2275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30441334"/>
      </p:ext>
    </p:extLst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2275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12625636"/>
      </p:ext>
    </p:extLst>
  </p:cSld>
  <p:clrMapOvr>
    <a:masterClrMapping/>
  </p:clrMapOvr>
</p:notes>
</file>

<file path=ppt/notesSlides/notesSlide1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2275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78524553"/>
      </p:ext>
    </p:extLst>
  </p:cSld>
  <p:clrMapOvr>
    <a:masterClrMapping/>
  </p:clrMapOvr>
</p:notes>
</file>

<file path=ppt/notesSlides/notesSlide1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2275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86077296"/>
      </p:ext>
    </p:extLst>
  </p:cSld>
  <p:clrMapOvr>
    <a:masterClrMapping/>
  </p:clrMapOvr>
</p:notes>
</file>

<file path=ppt/notesSlides/notesSlide1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2275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66105700"/>
      </p:ext>
    </p:extLst>
  </p:cSld>
  <p:clrMapOvr>
    <a:masterClrMapping/>
  </p:clrMapOvr>
</p:notes>
</file>

<file path=ppt/notesSlides/notesSlide1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2275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58366323"/>
      </p:ext>
    </p:extLst>
  </p:cSld>
  <p:clrMapOvr>
    <a:masterClrMapping/>
  </p:clrMapOvr>
</p:notes>
</file>

<file path=ppt/notesSlides/notesSlide1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2275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04128975"/>
      </p:ext>
    </p:extLst>
  </p:cSld>
  <p:clrMapOvr>
    <a:masterClrMapping/>
  </p:clrMapOvr>
</p:notes>
</file>

<file path=ppt/notesSlides/notesSlide1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2275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38346877"/>
      </p:ext>
    </p:extLst>
  </p:cSld>
  <p:clrMapOvr>
    <a:masterClrMapping/>
  </p:clrMapOvr>
</p:notes>
</file>

<file path=ppt/notesSlides/notesSlide1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2275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17879766"/>
      </p:ext>
    </p:extLst>
  </p:cSld>
  <p:clrMapOvr>
    <a:masterClrMapping/>
  </p:clrMapOvr>
</p:notes>
</file>

<file path=ppt/notesSlides/notesSlide1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2275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35880603"/>
      </p:ext>
    </p:extLst>
  </p:cSld>
  <p:clrMapOvr>
    <a:masterClrMapping/>
  </p:clrMapOvr>
</p:notes>
</file>

<file path=ppt/notesSlides/notesSlide1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2275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74271620"/>
      </p:ext>
    </p:extLst>
  </p:cSld>
  <p:clrMapOvr>
    <a:masterClrMapping/>
  </p:clrMapOvr>
</p:notes>
</file>

<file path=ppt/notesSlides/notesSlide1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2275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94087983"/>
      </p:ext>
    </p:extLst>
  </p:cSld>
  <p:clrMapOvr>
    <a:masterClrMapping/>
  </p:clrMapOvr>
</p:notes>
</file>

<file path=ppt/notesSlides/notesSlide1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2275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2788668"/>
      </p:ext>
    </p:extLst>
  </p:cSld>
  <p:clrMapOvr>
    <a:masterClrMapping/>
  </p:clrMapOvr>
</p:notes>
</file>

<file path=ppt/notesSlides/notesSlide1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2275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20881067"/>
      </p:ext>
    </p:extLst>
  </p:cSld>
  <p:clrMapOvr>
    <a:masterClrMapping/>
  </p:clrMapOvr>
</p:notes>
</file>

<file path=ppt/notesSlides/notesSlide1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2275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4814269"/>
      </p:ext>
    </p:extLst>
  </p:cSld>
  <p:clrMapOvr>
    <a:masterClrMapping/>
  </p:clrMapOvr>
</p:notes>
</file>

<file path=ppt/notesSlides/notesSlide1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2275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53419700"/>
      </p:ext>
    </p:extLst>
  </p:cSld>
  <p:clrMapOvr>
    <a:masterClrMapping/>
  </p:clrMapOvr>
</p:notes>
</file>

<file path=ppt/notesSlides/notesSlide1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2275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68244012"/>
      </p:ext>
    </p:extLst>
  </p:cSld>
  <p:clrMapOvr>
    <a:masterClrMapping/>
  </p:clrMapOvr>
</p:notes>
</file>

<file path=ppt/notesSlides/notesSlide1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2275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98909195"/>
      </p:ext>
    </p:extLst>
  </p:cSld>
  <p:clrMapOvr>
    <a:masterClrMapping/>
  </p:clrMapOvr>
</p:notes>
</file>

<file path=ppt/notesSlides/notesSlide1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2275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71440111"/>
      </p:ext>
    </p:extLst>
  </p:cSld>
  <p:clrMapOvr>
    <a:masterClrMapping/>
  </p:clrMapOvr>
</p:notes>
</file>

<file path=ppt/notesSlides/notesSlide1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2275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99229433"/>
      </p:ext>
    </p:extLst>
  </p:cSld>
  <p:clrMapOvr>
    <a:masterClrMapping/>
  </p:clrMapOvr>
</p:notes>
</file>

<file path=ppt/notesSlides/notesSlide1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2275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4542978"/>
      </p:ext>
    </p:extLst>
  </p:cSld>
  <p:clrMapOvr>
    <a:masterClrMapping/>
  </p:clrMapOvr>
</p:notes>
</file>

<file path=ppt/notesSlides/notesSlide1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2275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34418464"/>
      </p:ext>
    </p:extLst>
  </p:cSld>
  <p:clrMapOvr>
    <a:masterClrMapping/>
  </p:clrMapOvr>
</p:notes>
</file>

<file path=ppt/notesSlides/notesSlide1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3299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15320727"/>
      </p:ext>
    </p:extLst>
  </p:cSld>
  <p:clrMapOvr>
    <a:masterClrMapping/>
  </p:clrMapOvr>
</p:notes>
</file>

<file path=ppt/notesSlides/notesSlide1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3299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56137696"/>
      </p:ext>
    </p:extLst>
  </p:cSld>
  <p:clrMapOvr>
    <a:masterClrMapping/>
  </p:clrMapOvr>
</p:notes>
</file>

<file path=ppt/notesSlides/notesSlide1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4323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33660592"/>
      </p:ext>
    </p:extLst>
  </p:cSld>
  <p:clrMapOvr>
    <a:masterClrMapping/>
  </p:clrMapOvr>
</p:notes>
</file>

<file path=ppt/notesSlides/notesSlide1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5347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0705755"/>
      </p:ext>
    </p:extLst>
  </p:cSld>
  <p:clrMapOvr>
    <a:masterClrMapping/>
  </p:clrMapOvr>
</p:notes>
</file>

<file path=ppt/notesSlides/notesSlide1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5347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32248225"/>
      </p:ext>
    </p:extLst>
  </p:cSld>
  <p:clrMapOvr>
    <a:masterClrMapping/>
  </p:clrMapOvr>
</p:notes>
</file>

<file path=ppt/notesSlides/notesSlide1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6371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marL="0" marR="0" lvl="0" indent="0" algn="l" defTabSz="447675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/>
              <a:defRPr/>
            </a:pPr>
            <a:r>
              <a:rPr lang="en-US" altLang="en-US" dirty="0"/>
              <a:t>approaches exist that limit the number of rehashed items</a:t>
            </a:r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816069316"/>
      </p:ext>
    </p:extLst>
  </p:cSld>
  <p:clrMapOvr>
    <a:masterClrMapping/>
  </p:clrMapOvr>
</p:notes>
</file>

<file path=ppt/notesSlides/notesSlide1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6371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marL="0" marR="0" lvl="0" indent="0" algn="l" defTabSz="447675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/>
              <a:defRPr/>
            </a:pPr>
            <a:r>
              <a:rPr lang="en-US" altLang="en-US" dirty="0"/>
              <a:t>approaches exist that limit the number of rehashed items</a:t>
            </a:r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110225388"/>
      </p:ext>
    </p:extLst>
  </p:cSld>
  <p:clrMapOvr>
    <a:masterClrMapping/>
  </p:clrMapOvr>
</p:notes>
</file>

<file path=ppt/notesSlides/notesSlide2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6371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marL="0" marR="0" lvl="0" indent="0" algn="l" defTabSz="447675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/>
              <a:defRPr/>
            </a:pPr>
            <a:r>
              <a:rPr lang="en-US" altLang="en-US" dirty="0"/>
              <a:t>approaches exist that limit the number of rehashed items</a:t>
            </a:r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668121729"/>
      </p:ext>
    </p:extLst>
  </p:cSld>
  <p:clrMapOvr>
    <a:masterClrMapping/>
  </p:clrMapOvr>
</p:notes>
</file>

<file path=ppt/notesSlides/notesSlide2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6371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marL="0" marR="0" lvl="0" indent="0" algn="l" defTabSz="447675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/>
              <a:defRPr/>
            </a:pPr>
            <a:r>
              <a:rPr lang="en-US" altLang="en-US" dirty="0"/>
              <a:t>approaches exist that limit the number of rehashed items</a:t>
            </a:r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351950917"/>
      </p:ext>
    </p:extLst>
  </p:cSld>
  <p:clrMapOvr>
    <a:masterClrMapping/>
  </p:clrMapOvr>
</p:notes>
</file>

<file path=ppt/notesSlides/notesSlide2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6371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marL="0" marR="0" lvl="0" indent="0" algn="l" defTabSz="447675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/>
              <a:defRPr/>
            </a:pPr>
            <a:r>
              <a:rPr lang="en-US" altLang="en-US" dirty="0"/>
              <a:t>approaches exist that limit the number of rehashed items</a:t>
            </a:r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683251672"/>
      </p:ext>
    </p:extLst>
  </p:cSld>
  <p:clrMapOvr>
    <a:masterClrMapping/>
  </p:clrMapOvr>
</p:notes>
</file>

<file path=ppt/notesSlides/notesSlide2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6371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marL="0" marR="0" lvl="0" indent="0" algn="l" defTabSz="447675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/>
              <a:defRPr/>
            </a:pPr>
            <a:r>
              <a:rPr lang="en-US" altLang="en-US" dirty="0"/>
              <a:t>approaches exist that limit the number of rehashed items</a:t>
            </a:r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662185555"/>
      </p:ext>
    </p:extLst>
  </p:cSld>
  <p:clrMapOvr>
    <a:masterClrMapping/>
  </p:clrMapOvr>
</p:notes>
</file>

<file path=ppt/notesSlides/notesSlide2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2275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262086121"/>
      </p:ext>
    </p:extLst>
  </p:cSld>
  <p:clrMapOvr>
    <a:masterClrMapping/>
  </p:clrMapOvr>
</p:notes>
</file>

<file path=ppt/notesSlides/notesSlide2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2275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53060464"/>
      </p:ext>
    </p:extLst>
  </p:cSld>
  <p:clrMapOvr>
    <a:masterClrMapping/>
  </p:clrMapOvr>
</p:notes>
</file>

<file path=ppt/notesSlides/notesSlide2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2275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805845434"/>
      </p:ext>
    </p:extLst>
  </p:cSld>
  <p:clrMapOvr>
    <a:masterClrMapping/>
  </p:clrMapOvr>
</p:notes>
</file>

<file path=ppt/notesSlides/notesSlide2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2275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57375994"/>
      </p:ext>
    </p:extLst>
  </p:cSld>
  <p:clrMapOvr>
    <a:masterClrMapping/>
  </p:clrMapOvr>
</p:notes>
</file>

<file path=ppt/notesSlides/notesSlide2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2275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156637904"/>
      </p:ext>
    </p:extLst>
  </p:cSld>
  <p:clrMapOvr>
    <a:masterClrMapping/>
  </p:clrMapOvr>
</p:notes>
</file>

<file path=ppt/notesSlides/notesSlide2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2275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941997650"/>
      </p:ext>
    </p:extLst>
  </p:cSld>
  <p:clrMapOvr>
    <a:masterClrMapping/>
  </p:clrMapOvr>
</p:notes>
</file>

<file path=ppt/notesSlides/notesSlide2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2275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04376445"/>
      </p:ext>
    </p:extLst>
  </p:cSld>
  <p:clrMapOvr>
    <a:masterClrMapping/>
  </p:clrMapOvr>
</p:notes>
</file>

<file path=ppt/notesSlides/notesSlide2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2275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12205328"/>
      </p:ext>
    </p:extLst>
  </p:cSld>
  <p:clrMapOvr>
    <a:masterClrMapping/>
  </p:clrMapOvr>
</p:notes>
</file>

<file path=ppt/notesSlides/notesSlide2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2275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0020163"/>
      </p:ext>
    </p:extLst>
  </p:cSld>
  <p:clrMapOvr>
    <a:masterClrMapping/>
  </p:clrMapOvr>
</p:notes>
</file>

<file path=ppt/notesSlides/notesSlide2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8723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84643380"/>
      </p:ext>
    </p:extLst>
  </p:cSld>
  <p:clrMapOvr>
    <a:masterClrMapping/>
  </p:clrMapOvr>
</p:notes>
</file>

<file path=ppt/notesSlides/notesSlide2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8723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83234901"/>
      </p:ext>
    </p:extLst>
  </p:cSld>
  <p:clrMapOvr>
    <a:masterClrMapping/>
  </p:clrMapOvr>
</p:notes>
</file>

<file path=ppt/notesSlides/notesSlide2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8723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19213337"/>
      </p:ext>
    </p:extLst>
  </p:cSld>
  <p:clrMapOvr>
    <a:masterClrMapping/>
  </p:clrMapOvr>
</p:notes>
</file>

<file path=ppt/notesSlides/notesSlide2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8723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70315861"/>
      </p:ext>
    </p:extLst>
  </p:cSld>
  <p:clrMapOvr>
    <a:masterClrMapping/>
  </p:clrMapOvr>
</p:notes>
</file>

<file path=ppt/notesSlides/notesSlide2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8723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20014403"/>
      </p:ext>
    </p:extLst>
  </p:cSld>
  <p:clrMapOvr>
    <a:masterClrMapping/>
  </p:clrMapOvr>
</p:notes>
</file>

<file path=ppt/notesSlides/notesSlide2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8723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13440104"/>
      </p:ext>
    </p:extLst>
  </p:cSld>
  <p:clrMapOvr>
    <a:masterClrMapping/>
  </p:clrMapOvr>
</p:notes>
</file>

<file path=ppt/notesSlides/notesSlide2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8723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54841576"/>
      </p:ext>
    </p:extLst>
  </p:cSld>
  <p:clrMapOvr>
    <a:masterClrMapping/>
  </p:clrMapOvr>
</p:notes>
</file>

<file path=ppt/notesSlides/notesSlide2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8723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35694020"/>
      </p:ext>
    </p:extLst>
  </p:cSld>
  <p:clrMapOvr>
    <a:masterClrMapping/>
  </p:clrMapOvr>
</p:notes>
</file>

<file path=ppt/notesSlides/notesSlide2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8723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39545499"/>
      </p:ext>
    </p:extLst>
  </p:cSld>
  <p:clrMapOvr>
    <a:masterClrMapping/>
  </p:clrMapOvr>
</p:notes>
</file>

<file path=ppt/notesSlides/notesSlide2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8723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39320606"/>
      </p:ext>
    </p:extLst>
  </p:cSld>
  <p:clrMapOvr>
    <a:masterClrMapping/>
  </p:clrMapOvr>
</p:notes>
</file>

<file path=ppt/notesSlides/notesSlide2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8723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21915461"/>
      </p:ext>
    </p:extLst>
  </p:cSld>
  <p:clrMapOvr>
    <a:masterClrMapping/>
  </p:clrMapOvr>
</p:notes>
</file>

<file path=ppt/notesSlides/notesSlide2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8723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63630964"/>
      </p:ext>
    </p:extLst>
  </p:cSld>
  <p:clrMapOvr>
    <a:masterClrMapping/>
  </p:clrMapOvr>
</p:notes>
</file>

<file path=ppt/notesSlides/notesSlide2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8723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10008527"/>
      </p:ext>
    </p:extLst>
  </p:cSld>
  <p:clrMapOvr>
    <a:masterClrMapping/>
  </p:clrMapOvr>
</p:notes>
</file>

<file path=ppt/notesSlides/notesSlide2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8723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82104773"/>
      </p:ext>
    </p:extLst>
  </p:cSld>
  <p:clrMapOvr>
    <a:masterClrMapping/>
  </p:clrMapOvr>
</p:notes>
</file>

<file path=ppt/notesSlides/notesSlide2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8723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43883329"/>
      </p:ext>
    </p:extLst>
  </p:cSld>
  <p:clrMapOvr>
    <a:masterClrMapping/>
  </p:clrMapOvr>
</p:notes>
</file>

<file path=ppt/notesSlides/notesSlide2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8723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44818418"/>
      </p:ext>
    </p:extLst>
  </p:cSld>
  <p:clrMapOvr>
    <a:masterClrMapping/>
  </p:clrMapOvr>
</p:notes>
</file>

<file path=ppt/notesSlides/notesSlide2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8723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88637099"/>
      </p:ext>
    </p:extLst>
  </p:cSld>
  <p:clrMapOvr>
    <a:masterClrMapping/>
  </p:clrMapOvr>
</p:notes>
</file>

<file path=ppt/notesSlides/notesSlide2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8723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53697108"/>
      </p:ext>
    </p:extLst>
  </p:cSld>
  <p:clrMapOvr>
    <a:masterClrMapping/>
  </p:clrMapOvr>
</p:notes>
</file>

<file path=ppt/notesSlides/notesSlide2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8723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4827924"/>
      </p:ext>
    </p:extLst>
  </p:cSld>
  <p:clrMapOvr>
    <a:masterClrMapping/>
  </p:clrMapOvr>
</p:notes>
</file>

<file path=ppt/notesSlides/notesSlide2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8723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7582993"/>
      </p:ext>
    </p:extLst>
  </p:cSld>
  <p:clrMapOvr>
    <a:masterClrMapping/>
  </p:clrMapOvr>
</p:notes>
</file>

<file path=ppt/notesSlides/notesSlide2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8723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89442460"/>
      </p:ext>
    </p:extLst>
  </p:cSld>
  <p:clrMapOvr>
    <a:masterClrMapping/>
  </p:clrMapOvr>
</p:notes>
</file>

<file path=ppt/notesSlides/notesSlide2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8723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80703745"/>
      </p:ext>
    </p:extLst>
  </p:cSld>
  <p:clrMapOvr>
    <a:masterClrMapping/>
  </p:clrMapOvr>
</p:notes>
</file>

<file path=ppt/notesSlides/notesSlide2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8723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73315172"/>
      </p:ext>
    </p:extLst>
  </p:cSld>
  <p:clrMapOvr>
    <a:masterClrMapping/>
  </p:clrMapOvr>
</p:notes>
</file>

<file path=ppt/notesSlides/notesSlide2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0771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51720213"/>
      </p:ext>
    </p:extLst>
  </p:cSld>
  <p:clrMapOvr>
    <a:masterClrMapping/>
  </p:clrMapOvr>
</p:notes>
</file>

<file path=ppt/notesSlides/notesSlide2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0771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2368122"/>
      </p:ext>
    </p:extLst>
  </p:cSld>
  <p:clrMapOvr>
    <a:masterClrMapping/>
  </p:clrMapOvr>
</p:notes>
</file>

<file path=ppt/notesSlides/notesSlide2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0771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96790999"/>
      </p:ext>
    </p:extLst>
  </p:cSld>
  <p:clrMapOvr>
    <a:masterClrMapping/>
  </p:clrMapOvr>
</p:notes>
</file>

<file path=ppt/notesSlides/notesSlide2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0771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12895329"/>
      </p:ext>
    </p:extLst>
  </p:cSld>
  <p:clrMapOvr>
    <a:masterClrMapping/>
  </p:clrMapOvr>
</p:notes>
</file>

<file path=ppt/notesSlides/notesSlide2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1795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7969438"/>
      </p:ext>
    </p:extLst>
  </p:cSld>
  <p:clrMapOvr>
    <a:masterClrMapping/>
  </p:clrMapOvr>
</p:notes>
</file>

<file path=ppt/notesSlides/notesSlide2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1795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73851826"/>
      </p:ext>
    </p:extLst>
  </p:cSld>
  <p:clrMapOvr>
    <a:masterClrMapping/>
  </p:clrMapOvr>
</p:notes>
</file>

<file path=ppt/notesSlides/notesSlide2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1795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58919555"/>
      </p:ext>
    </p:extLst>
  </p:cSld>
  <p:clrMapOvr>
    <a:masterClrMapping/>
  </p:clrMapOvr>
</p:notes>
</file>

<file path=ppt/notesSlides/notesSlide2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1795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86999955"/>
      </p:ext>
    </p:extLst>
  </p:cSld>
  <p:clrMapOvr>
    <a:masterClrMapping/>
  </p:clrMapOvr>
</p:notes>
</file>

<file path=ppt/notesSlides/notesSlide2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1795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21252396"/>
      </p:ext>
    </p:extLst>
  </p:cSld>
  <p:clrMapOvr>
    <a:masterClrMapping/>
  </p:clrMapOvr>
</p:notes>
</file>

<file path=ppt/notesSlides/notesSlide2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1795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72948723"/>
      </p:ext>
    </p:extLst>
  </p:cSld>
  <p:clrMapOvr>
    <a:masterClrMapping/>
  </p:clrMapOvr>
</p:notes>
</file>

<file path=ppt/notesSlides/notesSlide2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1795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37388719"/>
      </p:ext>
    </p:extLst>
  </p:cSld>
  <p:clrMapOvr>
    <a:masterClrMapping/>
  </p:clrMapOvr>
</p:notes>
</file>

<file path=ppt/notesSlides/notesSlide2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1795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61591704"/>
      </p:ext>
    </p:extLst>
  </p:cSld>
  <p:clrMapOvr>
    <a:masterClrMapping/>
  </p:clrMapOvr>
</p:notes>
</file>

<file path=ppt/notesSlides/notesSlide2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1795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94974672"/>
      </p:ext>
    </p:extLst>
  </p:cSld>
  <p:clrMapOvr>
    <a:masterClrMapping/>
  </p:clrMapOvr>
</p:notes>
</file>

<file path=ppt/notesSlides/notesSlide2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1795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97227286"/>
      </p:ext>
    </p:extLst>
  </p:cSld>
  <p:clrMapOvr>
    <a:masterClrMapping/>
  </p:clrMapOvr>
</p:notes>
</file>

<file path=ppt/notesSlides/notesSlide2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1795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37388631"/>
      </p:ext>
    </p:extLst>
  </p:cSld>
  <p:clrMapOvr>
    <a:masterClrMapping/>
  </p:clrMapOvr>
</p:notes>
</file>

<file path=ppt/notesSlides/notesSlide2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1795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20750988"/>
      </p:ext>
    </p:extLst>
  </p:cSld>
  <p:clrMapOvr>
    <a:masterClrMapping/>
  </p:clrMapOvr>
</p:notes>
</file>

<file path=ppt/notesSlides/notesSlide2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2819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39832686"/>
      </p:ext>
    </p:extLst>
  </p:cSld>
  <p:clrMapOvr>
    <a:masterClrMapping/>
  </p:clrMapOvr>
</p:notes>
</file>

<file path=ppt/notesSlides/notesSlide2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43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51172395"/>
      </p:ext>
    </p:extLst>
  </p:cSld>
  <p:clrMapOvr>
    <a:masterClrMapping/>
  </p:clrMapOvr>
</p:notes>
</file>

<file path=ppt/notesSlides/notesSlide2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43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10460020"/>
      </p:ext>
    </p:extLst>
  </p:cSld>
  <p:clrMapOvr>
    <a:masterClrMapping/>
  </p:clrMapOvr>
</p:notes>
</file>

<file path=ppt/notesSlides/notesSlide2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43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61771301"/>
      </p:ext>
    </p:extLst>
  </p:cSld>
  <p:clrMapOvr>
    <a:masterClrMapping/>
  </p:clrMapOvr>
</p:notes>
</file>

<file path=ppt/notesSlides/notesSlide2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43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91182805"/>
      </p:ext>
    </p:extLst>
  </p:cSld>
  <p:clrMapOvr>
    <a:masterClrMapping/>
  </p:clrMapOvr>
</p:notes>
</file>

<file path=ppt/notesSlides/notesSlide2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43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21911942"/>
      </p:ext>
    </p:extLst>
  </p:cSld>
  <p:clrMapOvr>
    <a:masterClrMapping/>
  </p:clrMapOvr>
</p:notes>
</file>

<file path=ppt/notesSlides/notesSlide2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43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63195307"/>
      </p:ext>
    </p:extLst>
  </p:cSld>
  <p:clrMapOvr>
    <a:masterClrMapping/>
  </p:clrMapOvr>
</p:notes>
</file>

<file path=ppt/notesSlides/notesSlide2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43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02767932"/>
      </p:ext>
    </p:extLst>
  </p:cSld>
  <p:clrMapOvr>
    <a:masterClrMapping/>
  </p:clrMapOvr>
</p:notes>
</file>

<file path=ppt/notesSlides/notesSlide2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43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02051894"/>
      </p:ext>
    </p:extLst>
  </p:cSld>
  <p:clrMapOvr>
    <a:masterClrMapping/>
  </p:clrMapOvr>
</p:notes>
</file>

<file path=ppt/notesSlides/notesSlide2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4867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30723317"/>
      </p:ext>
    </p:extLst>
  </p:cSld>
  <p:clrMapOvr>
    <a:masterClrMapping/>
  </p:clrMapOvr>
</p:notes>
</file>

<file path=ppt/notesSlides/notesSlide2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5891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06529724"/>
      </p:ext>
    </p:extLst>
  </p:cSld>
  <p:clrMapOvr>
    <a:masterClrMapping/>
  </p:clrMapOvr>
</p:notes>
</file>

<file path=ppt/notesSlides/notesSlide2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5891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90772503"/>
      </p:ext>
    </p:extLst>
  </p:cSld>
  <p:clrMapOvr>
    <a:masterClrMapping/>
  </p:clrMapOvr>
</p:notes>
</file>

<file path=ppt/notesSlides/notesSlide2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5891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16988815"/>
      </p:ext>
    </p:extLst>
  </p:cSld>
  <p:clrMapOvr>
    <a:masterClrMapping/>
  </p:clrMapOvr>
</p:notes>
</file>

<file path=ppt/notesSlides/notesSlide2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5891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57985442"/>
      </p:ext>
    </p:extLst>
  </p:cSld>
  <p:clrMapOvr>
    <a:masterClrMapping/>
  </p:clrMapOvr>
</p:notes>
</file>

<file path=ppt/notesSlides/notesSlide2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5891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15520799"/>
      </p:ext>
    </p:extLst>
  </p:cSld>
  <p:clrMapOvr>
    <a:masterClrMapping/>
  </p:clrMapOvr>
</p:notes>
</file>

<file path=ppt/notesSlides/notesSlide2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6915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45952519"/>
      </p:ext>
    </p:extLst>
  </p:cSld>
  <p:clrMapOvr>
    <a:masterClrMapping/>
  </p:clrMapOvr>
</p:notes>
</file>

<file path=ppt/notesSlides/notesSlide2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6915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34994812"/>
      </p:ext>
    </p:extLst>
  </p:cSld>
  <p:clrMapOvr>
    <a:masterClrMapping/>
  </p:clrMapOvr>
</p:notes>
</file>

<file path=ppt/notesSlides/notesSlide2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6915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1108826"/>
      </p:ext>
    </p:extLst>
  </p:cSld>
  <p:clrMapOvr>
    <a:masterClrMapping/>
  </p:clrMapOvr>
</p:notes>
</file>

<file path=ppt/notesSlides/notesSlide2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7939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04003761"/>
      </p:ext>
    </p:extLst>
  </p:cSld>
  <p:clrMapOvr>
    <a:masterClrMapping/>
  </p:clrMapOvr>
</p:notes>
</file>

<file path=ppt/notesSlides/notesSlide2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7939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01222444"/>
      </p:ext>
    </p:extLst>
  </p:cSld>
  <p:clrMapOvr>
    <a:masterClrMapping/>
  </p:clrMapOvr>
</p:notes>
</file>

<file path=ppt/notesSlides/notesSlide2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7939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20895757"/>
      </p:ext>
    </p:extLst>
  </p:cSld>
  <p:clrMapOvr>
    <a:masterClrMapping/>
  </p:clrMapOvr>
</p:notes>
</file>

<file path=ppt/notesSlides/notesSlide2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1011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07723188"/>
      </p:ext>
    </p:extLst>
  </p:cSld>
  <p:clrMapOvr>
    <a:masterClrMapping/>
  </p:clrMapOvr>
</p:notes>
</file>

<file path=ppt/notesSlides/notesSlide2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1011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57863250"/>
      </p:ext>
    </p:extLst>
  </p:cSld>
  <p:clrMapOvr>
    <a:masterClrMapping/>
  </p:clrMapOvr>
</p:notes>
</file>

<file path=ppt/notesSlides/notesSlide2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1011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87336219"/>
      </p:ext>
    </p:extLst>
  </p:cSld>
  <p:clrMapOvr>
    <a:masterClrMapping/>
  </p:clrMapOvr>
</p:notes>
</file>

<file path=ppt/notesSlides/notesSlide2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1011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38650416"/>
      </p:ext>
    </p:extLst>
  </p:cSld>
  <p:clrMapOvr>
    <a:masterClrMapping/>
  </p:clrMapOvr>
</p:notes>
</file>

<file path=ppt/notesSlides/notesSlide2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1011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90843110"/>
      </p:ext>
    </p:extLst>
  </p:cSld>
  <p:clrMapOvr>
    <a:masterClrMapping/>
  </p:clrMapOvr>
</p:notes>
</file>

<file path=ppt/notesSlides/notesSlide2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1011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96472295"/>
      </p:ext>
    </p:extLst>
  </p:cSld>
  <p:clrMapOvr>
    <a:masterClrMapping/>
  </p:clrMapOvr>
</p:notes>
</file>

<file path=ppt/notesSlides/notesSlide2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1011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31248630"/>
      </p:ext>
    </p:extLst>
  </p:cSld>
  <p:clrMapOvr>
    <a:masterClrMapping/>
  </p:clrMapOvr>
</p:notes>
</file>

<file path=ppt/notesSlides/notesSlide2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1011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90037937"/>
      </p:ext>
    </p:extLst>
  </p:cSld>
  <p:clrMapOvr>
    <a:masterClrMapping/>
  </p:clrMapOvr>
</p:notes>
</file>

<file path=ppt/notesSlides/notesSlide2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1011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18091037"/>
      </p:ext>
    </p:extLst>
  </p:cSld>
  <p:clrMapOvr>
    <a:masterClrMapping/>
  </p:clrMapOvr>
</p:notes>
</file>

<file path=ppt/notesSlides/notesSlide2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1011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57640641"/>
      </p:ext>
    </p:extLst>
  </p:cSld>
  <p:clrMapOvr>
    <a:masterClrMapping/>
  </p:clrMapOvr>
</p:notes>
</file>

<file path=ppt/notesSlides/notesSlide2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1011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89576888"/>
      </p:ext>
    </p:extLst>
  </p:cSld>
  <p:clrMapOvr>
    <a:masterClrMapping/>
  </p:clrMapOvr>
</p:notes>
</file>

<file path=ppt/notesSlides/notesSlide2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1011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89485630"/>
      </p:ext>
    </p:extLst>
  </p:cSld>
  <p:clrMapOvr>
    <a:masterClrMapping/>
  </p:clrMapOvr>
</p:notes>
</file>

<file path=ppt/notesSlides/notesSlide2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1011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67366941"/>
      </p:ext>
    </p:extLst>
  </p:cSld>
  <p:clrMapOvr>
    <a:masterClrMapping/>
  </p:clrMapOvr>
</p:notes>
</file>

<file path=ppt/notesSlides/notesSlide2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1011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99085683"/>
      </p:ext>
    </p:extLst>
  </p:cSld>
  <p:clrMapOvr>
    <a:masterClrMapping/>
  </p:clrMapOvr>
</p:notes>
</file>

<file path=ppt/notesSlides/notesSlide2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7939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87977885"/>
      </p:ext>
    </p:extLst>
  </p:cSld>
  <p:clrMapOvr>
    <a:masterClrMapping/>
  </p:clrMapOvr>
</p:notes>
</file>

<file path=ppt/notesSlides/notesSlide2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7939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99745666"/>
      </p:ext>
    </p:extLst>
  </p:cSld>
  <p:clrMapOvr>
    <a:masterClrMapping/>
  </p:clrMapOvr>
</p:notes>
</file>

<file path=ppt/notesSlides/notesSlide2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7939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43605260"/>
      </p:ext>
    </p:extLst>
  </p:cSld>
  <p:clrMapOvr>
    <a:masterClrMapping/>
  </p:clrMapOvr>
</p:notes>
</file>

<file path=ppt/notesSlides/notesSlide2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7939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75198711"/>
      </p:ext>
    </p:extLst>
  </p:cSld>
  <p:clrMapOvr>
    <a:masterClrMapping/>
  </p:clrMapOvr>
</p:notes>
</file>

<file path=ppt/notesSlides/notesSlide2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6915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4556311"/>
      </p:ext>
    </p:extLst>
  </p:cSld>
  <p:clrMapOvr>
    <a:masterClrMapping/>
  </p:clrMapOvr>
</p:notes>
</file>

<file path=ppt/notesSlides/notesSlide2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6915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81302040"/>
      </p:ext>
    </p:extLst>
  </p:cSld>
  <p:clrMapOvr>
    <a:masterClrMapping/>
  </p:clrMapOvr>
</p:notes>
</file>

<file path=ppt/notesSlides/notesSlide2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6915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03081111"/>
      </p:ext>
    </p:extLst>
  </p:cSld>
  <p:clrMapOvr>
    <a:masterClrMapping/>
  </p:clrMapOvr>
</p:notes>
</file>

<file path=ppt/notesSlides/notesSlide2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2035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64088886"/>
      </p:ext>
    </p:extLst>
  </p:cSld>
  <p:clrMapOvr>
    <a:masterClrMapping/>
  </p:clrMapOvr>
</p:notes>
</file>

<file path=ppt/notesSlides/notesSlide2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2035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00124563"/>
      </p:ext>
    </p:extLst>
  </p:cSld>
  <p:clrMapOvr>
    <a:masterClrMapping/>
  </p:clrMapOvr>
</p:notes>
</file>

<file path=ppt/notesSlides/notesSlide2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2035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92148692"/>
      </p:ext>
    </p:extLst>
  </p:cSld>
  <p:clrMapOvr>
    <a:masterClrMapping/>
  </p:clrMapOvr>
</p:notes>
</file>

<file path=ppt/notesSlides/notesSlide2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2035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88837731"/>
      </p:ext>
    </p:extLst>
  </p:cSld>
  <p:clrMapOvr>
    <a:masterClrMapping/>
  </p:clrMapOvr>
</p:notes>
</file>

<file path=ppt/notesSlides/notesSlide2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2035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76859584"/>
      </p:ext>
    </p:extLst>
  </p:cSld>
  <p:clrMapOvr>
    <a:masterClrMapping/>
  </p:clrMapOvr>
</p:notes>
</file>

<file path=ppt/notesSlides/notesSlide2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2035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60822440"/>
      </p:ext>
    </p:extLst>
  </p:cSld>
  <p:clrMapOvr>
    <a:masterClrMapping/>
  </p:clrMapOvr>
</p:notes>
</file>

<file path=ppt/notesSlides/notesSlide3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7155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91219472"/>
      </p:ext>
    </p:extLst>
  </p:cSld>
  <p:clrMapOvr>
    <a:masterClrMapping/>
  </p:clrMapOvr>
</p:notes>
</file>

<file path=ppt/notesSlides/notesSlide3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7155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13838896"/>
      </p:ext>
    </p:extLst>
  </p:cSld>
  <p:clrMapOvr>
    <a:masterClrMapping/>
  </p:clrMapOvr>
</p:notes>
</file>

<file path=ppt/notesSlides/notesSlide3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7155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13674411"/>
      </p:ext>
    </p:extLst>
  </p:cSld>
  <p:clrMapOvr>
    <a:masterClrMapping/>
  </p:clrMapOvr>
</p:notes>
</file>

<file path=ppt/notesSlides/notesSlide3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7155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15001404"/>
      </p:ext>
    </p:extLst>
  </p:cSld>
  <p:clrMapOvr>
    <a:masterClrMapping/>
  </p:clrMapOvr>
</p:notes>
</file>

<file path=ppt/notesSlides/notesSlide3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7155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12504743"/>
      </p:ext>
    </p:extLst>
  </p:cSld>
  <p:clrMapOvr>
    <a:masterClrMapping/>
  </p:clrMapOvr>
</p:notes>
</file>

<file path=ppt/notesSlides/notesSlide3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7155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3673698"/>
      </p:ext>
    </p:extLst>
  </p:cSld>
  <p:clrMapOvr>
    <a:masterClrMapping/>
  </p:clrMapOvr>
</p:notes>
</file>

<file path=ppt/notesSlides/notesSlide3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8179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73572006"/>
      </p:ext>
    </p:extLst>
  </p:cSld>
  <p:clrMapOvr>
    <a:masterClrMapping/>
  </p:clrMapOvr>
</p:notes>
</file>

<file path=ppt/notesSlides/notesSlide3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8179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94200780"/>
      </p:ext>
    </p:extLst>
  </p:cSld>
  <p:clrMapOvr>
    <a:masterClrMapping/>
  </p:clrMapOvr>
</p:notes>
</file>

<file path=ppt/notesSlides/notesSlide3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8179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98491671"/>
      </p:ext>
    </p:extLst>
  </p:cSld>
  <p:clrMapOvr>
    <a:masterClrMapping/>
  </p:clrMapOvr>
</p:notes>
</file>

<file path=ppt/notesSlides/notesSlide3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8179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18736807"/>
      </p:ext>
    </p:extLst>
  </p:cSld>
  <p:clrMapOvr>
    <a:masterClrMapping/>
  </p:clrMapOvr>
</p:notes>
</file>

<file path=ppt/notesSlides/notesSlide3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8179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90689882"/>
      </p:ext>
    </p:extLst>
  </p:cSld>
  <p:clrMapOvr>
    <a:masterClrMapping/>
  </p:clrMapOvr>
</p:notes>
</file>

<file path=ppt/notesSlides/notesSlide3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8179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91995269"/>
      </p:ext>
    </p:extLst>
  </p:cSld>
  <p:clrMapOvr>
    <a:masterClrMapping/>
  </p:clrMapOvr>
</p:notes>
</file>

<file path=ppt/notesSlides/notesSlide3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8179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51140612"/>
      </p:ext>
    </p:extLst>
  </p:cSld>
  <p:clrMapOvr>
    <a:masterClrMapping/>
  </p:clrMapOvr>
</p:notes>
</file>

<file path=ppt/notesSlides/notesSlide3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7395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22926594"/>
      </p:ext>
    </p:extLst>
  </p:cSld>
  <p:clrMapOvr>
    <a:masterClrMapping/>
  </p:clrMapOvr>
</p:notes>
</file>

<file path=ppt/notesSlides/notesSlide3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7395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30143683"/>
      </p:ext>
    </p:extLst>
  </p:cSld>
  <p:clrMapOvr>
    <a:masterClrMapping/>
  </p:clrMapOvr>
</p:notes>
</file>

<file path=ppt/notesSlides/notesSlide3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7395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83263629"/>
      </p:ext>
    </p:extLst>
  </p:cSld>
  <p:clrMapOvr>
    <a:masterClrMapping/>
  </p:clrMapOvr>
</p:notes>
</file>

<file path=ppt/notesSlides/notesSlide3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8419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5527534"/>
      </p:ext>
    </p:extLst>
  </p:cSld>
  <p:clrMapOvr>
    <a:masterClrMapping/>
  </p:clrMapOvr>
</p:notes>
</file>

<file path=ppt/notesSlides/notesSlide3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8419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49831688"/>
      </p:ext>
    </p:extLst>
  </p:cSld>
  <p:clrMapOvr>
    <a:masterClrMapping/>
  </p:clrMapOvr>
</p:notes>
</file>

<file path=ppt/notesSlides/notesSlide3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8419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41325652"/>
      </p:ext>
    </p:extLst>
  </p:cSld>
  <p:clrMapOvr>
    <a:masterClrMapping/>
  </p:clrMapOvr>
</p:notes>
</file>

<file path=ppt/notesSlides/notesSlide3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8419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04269061"/>
      </p:ext>
    </p:extLst>
  </p:cSld>
  <p:clrMapOvr>
    <a:masterClrMapping/>
  </p:clrMapOvr>
</p:notes>
</file>

<file path=ppt/notesSlides/notesSlide3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8419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65856249"/>
      </p:ext>
    </p:extLst>
  </p:cSld>
  <p:clrMapOvr>
    <a:masterClrMapping/>
  </p:clrMapOvr>
</p:notes>
</file>

<file path=ppt/notesSlides/notesSlide3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8419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97071614"/>
      </p:ext>
    </p:extLst>
  </p:cSld>
  <p:clrMapOvr>
    <a:masterClrMapping/>
  </p:clrMapOvr>
</p:notes>
</file>

<file path=ppt/notesSlides/notesSlide3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8419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74814483"/>
      </p:ext>
    </p:extLst>
  </p:cSld>
  <p:clrMapOvr>
    <a:masterClrMapping/>
  </p:clrMapOvr>
</p:notes>
</file>

<file path=ppt/notesSlides/notesSlide3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8419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52783647"/>
      </p:ext>
    </p:extLst>
  </p:cSld>
  <p:clrMapOvr>
    <a:masterClrMapping/>
  </p:clrMapOvr>
</p:notes>
</file>

<file path=ppt/notesSlides/notesSlide3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9443" name="Text Box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en-US" dirty="0"/>
              <a:t>"a    " = 225, "b    " = 226, …, "z    " = 250; "aa   " = 2*97 + 3*32 = 290    so the number of hash codes is actually less than 385 </a:t>
            </a:r>
          </a:p>
        </p:txBody>
      </p:sp>
    </p:spTree>
    <p:extLst>
      <p:ext uri="{BB962C8B-B14F-4D97-AF65-F5344CB8AC3E}">
        <p14:creationId xmlns:p14="http://schemas.microsoft.com/office/powerpoint/2010/main" val="1368610784"/>
      </p:ext>
    </p:extLst>
  </p:cSld>
  <p:clrMapOvr>
    <a:masterClrMapping/>
  </p:clrMapOvr>
</p:notes>
</file>

<file path=ppt/notesSlides/notesSlide3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0467" name="Text Box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en-US" dirty="0"/>
              <a:t>"a    " = 225, "b    " = 226, …, "z    " = 250; "aa   " = 2*97 + 3*32 = 290    so the number of hash codes is actually less than 385 </a:t>
            </a:r>
          </a:p>
        </p:txBody>
      </p:sp>
    </p:spTree>
    <p:extLst>
      <p:ext uri="{BB962C8B-B14F-4D97-AF65-F5344CB8AC3E}">
        <p14:creationId xmlns:p14="http://schemas.microsoft.com/office/powerpoint/2010/main" val="3633968330"/>
      </p:ext>
    </p:extLst>
  </p:cSld>
  <p:clrMapOvr>
    <a:masterClrMapping/>
  </p:clrMapOvr>
</p:notes>
</file>

<file path=ppt/notesSlides/notesSlide3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1491" name="Text Box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en-US" dirty="0"/>
              <a:t>"a    " = 225, "b    " = 226, …, "z    " = 250; "aa   " = 2*97 + 3*32 = 290    so the number of hash codes is actually less than 385 </a:t>
            </a:r>
          </a:p>
        </p:txBody>
      </p:sp>
    </p:spTree>
    <p:extLst>
      <p:ext uri="{BB962C8B-B14F-4D97-AF65-F5344CB8AC3E}">
        <p14:creationId xmlns:p14="http://schemas.microsoft.com/office/powerpoint/2010/main" val="3970711804"/>
      </p:ext>
    </p:extLst>
  </p:cSld>
  <p:clrMapOvr>
    <a:masterClrMapping/>
  </p:clrMapOvr>
</p:notes>
</file>

<file path=ppt/notesSlides/notesSlide3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2515" name="Text Box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en-US" dirty="0"/>
              <a:t>"a    " = 225, "b    " = 226, …, "z    " = 250; "aa   " = 2*97 + 3*32 = 290    so the number of hash codes is actually less than 385 </a:t>
            </a:r>
          </a:p>
        </p:txBody>
      </p:sp>
    </p:spTree>
    <p:extLst>
      <p:ext uri="{BB962C8B-B14F-4D97-AF65-F5344CB8AC3E}">
        <p14:creationId xmlns:p14="http://schemas.microsoft.com/office/powerpoint/2010/main" val="2529246870"/>
      </p:ext>
    </p:extLst>
  </p:cSld>
  <p:clrMapOvr>
    <a:masterClrMapping/>
  </p:clrMapOvr>
</p:notes>
</file>

<file path=ppt/notesSlides/notesSlide3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3539" name="Text Box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en-US" dirty="0"/>
              <a:t>"a    " = 225, "b    " = 226, …, "z    " = 250; "aa   " = 2*97 + 3*32 = 290    so the number of hash codes is actually less than 385 </a:t>
            </a:r>
          </a:p>
        </p:txBody>
      </p:sp>
    </p:spTree>
    <p:extLst>
      <p:ext uri="{BB962C8B-B14F-4D97-AF65-F5344CB8AC3E}">
        <p14:creationId xmlns:p14="http://schemas.microsoft.com/office/powerpoint/2010/main" val="221162022"/>
      </p:ext>
    </p:extLst>
  </p:cSld>
  <p:clrMapOvr>
    <a:masterClrMapping/>
  </p:clrMapOvr>
</p:notes>
</file>

<file path=ppt/notesSlides/notesSlide3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63" name="Text Box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en-US" baseline="0" dirty="0"/>
              <a:t>b = 31 because b is an </a:t>
            </a:r>
            <a:r>
              <a:rPr lang="en-US" altLang="en-US" b="1" baseline="0" dirty="0"/>
              <a:t>odd prime number</a:t>
            </a:r>
            <a:endParaRPr lang="en-US" altLang="en-US" b="1" dirty="0"/>
          </a:p>
        </p:txBody>
      </p:sp>
    </p:spTree>
    <p:extLst>
      <p:ext uri="{BB962C8B-B14F-4D97-AF65-F5344CB8AC3E}">
        <p14:creationId xmlns:p14="http://schemas.microsoft.com/office/powerpoint/2010/main" val="24961848"/>
      </p:ext>
    </p:extLst>
  </p:cSld>
  <p:clrMapOvr>
    <a:masterClrMapping/>
  </p:clrMapOvr>
</p:notes>
</file>

<file path=ppt/notesSlides/notesSlide3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5587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21033439"/>
      </p:ext>
    </p:extLst>
  </p:cSld>
  <p:clrMapOvr>
    <a:masterClrMapping/>
  </p:clrMapOvr>
</p:notes>
</file>

<file path=ppt/notesSlides/notesSlide3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5587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76729333"/>
      </p:ext>
    </p:extLst>
  </p:cSld>
  <p:clrMapOvr>
    <a:masterClrMapping/>
  </p:clrMapOvr>
</p:notes>
</file>

<file path=ppt/notesSlides/notesSlide3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5587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5931354"/>
      </p:ext>
    </p:extLst>
  </p:cSld>
  <p:clrMapOvr>
    <a:masterClrMapping/>
  </p:clrMapOvr>
</p:notes>
</file>

<file path=ppt/notesSlides/notesSlide3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6611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66639575"/>
      </p:ext>
    </p:extLst>
  </p:cSld>
  <p:clrMapOvr>
    <a:masterClrMapping/>
  </p:clrMapOvr>
</p:notes>
</file>

<file path=ppt/notesSlides/notesSlide3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7635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47650455"/>
      </p:ext>
    </p:extLst>
  </p:cSld>
  <p:clrMapOvr>
    <a:masterClrMapping/>
  </p:clrMapOvr>
</p:notes>
</file>

<file path=ppt/notesSlides/notesSlide3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7635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72447808"/>
      </p:ext>
    </p:extLst>
  </p:cSld>
  <p:clrMapOvr>
    <a:masterClrMapping/>
  </p:clrMapOvr>
</p:notes>
</file>

<file path=ppt/notesSlides/notesSlide3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7635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8795702"/>
      </p:ext>
    </p:extLst>
  </p:cSld>
  <p:clrMapOvr>
    <a:masterClrMapping/>
  </p:clrMapOvr>
</p:notes>
</file>

<file path=ppt/notesSlides/notesSlide3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7635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83613289"/>
      </p:ext>
    </p:extLst>
  </p:cSld>
  <p:clrMapOvr>
    <a:masterClrMapping/>
  </p:clrMapOvr>
</p:notes>
</file>

<file path=ppt/notesSlides/notesSlide3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7635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32365294"/>
      </p:ext>
    </p:extLst>
  </p:cSld>
  <p:clrMapOvr>
    <a:masterClrMapping/>
  </p:clrMapOvr>
</p:notes>
</file>

<file path=ppt/notesSlides/notesSlide3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7635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en-US" dirty="0"/>
              <a:t>the type of tree used is a red-black tree, which is a way of implementing a 2-3 tree without needing two different types of</a:t>
            </a:r>
            <a:r>
              <a:rPr lang="en-US" altLang="en-US" baseline="0" dirty="0"/>
              <a:t> nodes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778172232"/>
      </p:ext>
    </p:extLst>
  </p:cSld>
  <p:clrMapOvr>
    <a:masterClrMapping/>
  </p:clrMapOvr>
</p:notes>
</file>

<file path=ppt/notesSlides/notesSlide3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7635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en-US" dirty="0"/>
              <a:t>the type of tree used is a red-black tree, which is a way of implementing a 2-3 tree without needing two different types of</a:t>
            </a:r>
            <a:r>
              <a:rPr lang="en-US" altLang="en-US" baseline="0" dirty="0"/>
              <a:t> nodes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309482174"/>
      </p:ext>
    </p:extLst>
  </p:cSld>
  <p:clrMapOvr>
    <a:masterClrMapping/>
  </p:clrMapOvr>
</p:notes>
</file>

<file path=ppt/notesSlides/notesSlide3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7635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en-US" dirty="0"/>
              <a:t>the type of tree used is a red-black tree, which is a way of implementing a 2-3 tree without needing two different types of</a:t>
            </a:r>
            <a:r>
              <a:rPr lang="en-US" altLang="en-US" baseline="0" dirty="0"/>
              <a:t> nodes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233485195"/>
      </p:ext>
    </p:extLst>
  </p:cSld>
  <p:clrMapOvr>
    <a:masterClrMapping/>
  </p:clrMapOvr>
</p:notes>
</file>

<file path=ppt/notesSlides/notesSlide3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7635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en-US" dirty="0"/>
              <a:t>the type of tree used is a red-black tree, which is a way of implementing a 2-3 tree without needing two different types of</a:t>
            </a:r>
            <a:r>
              <a:rPr lang="en-US" altLang="en-US" baseline="0" dirty="0"/>
              <a:t> nodes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020254581"/>
      </p:ext>
    </p:extLst>
  </p:cSld>
  <p:clrMapOvr>
    <a:masterClrMapping/>
  </p:clrMapOvr>
</p:notes>
</file>

<file path=ppt/notesSlides/notesSlide3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7635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en-US" dirty="0"/>
              <a:t>the type of tree used is a red-black tree, which is a way of implementing a 2-3 tree without needing two different types of</a:t>
            </a:r>
            <a:r>
              <a:rPr lang="en-US" altLang="en-US" baseline="0" dirty="0"/>
              <a:t> nodes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709163727"/>
      </p:ext>
    </p:extLst>
  </p:cSld>
  <p:clrMapOvr>
    <a:masterClrMapping/>
  </p:clrMapOvr>
</p:notes>
</file>

<file path=ppt/notesSlides/notesSlide3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7635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en-US" dirty="0"/>
              <a:t>the type of tree used is a red-black tree, which is a way of implementing a 2-3 tree without needing two different types of</a:t>
            </a:r>
            <a:r>
              <a:rPr lang="en-US" altLang="en-US" baseline="0" dirty="0"/>
              <a:t> nodes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787007510"/>
      </p:ext>
    </p:extLst>
  </p:cSld>
  <p:clrMapOvr>
    <a:masterClrMapping/>
  </p:clrMapOvr>
</p:notes>
</file>

<file path=ppt/notesSlides/notesSlide3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7635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en-US" dirty="0"/>
              <a:t>the type of tree used is a red-black tree, which is a way of implementing a 2-3 tree without needing two different types of</a:t>
            </a:r>
            <a:r>
              <a:rPr lang="en-US" altLang="en-US" baseline="0" dirty="0"/>
              <a:t> nodes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9023632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7081224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670742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065358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7513" y="844550"/>
            <a:ext cx="4076700" cy="56149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6613" y="844550"/>
            <a:ext cx="4076700" cy="56149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363155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470161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219801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23821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876620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95468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944468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46863" y="76200"/>
            <a:ext cx="2076450" cy="63833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7513" y="76200"/>
            <a:ext cx="6076950" cy="63833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832407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6200"/>
            <a:ext cx="7762875" cy="8477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22199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2576734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256658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808828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7513" y="844550"/>
            <a:ext cx="4076700" cy="56149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6613" y="844550"/>
            <a:ext cx="4076700" cy="56149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8007641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749044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6347013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427986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3288133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645202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3579966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46863" y="76200"/>
            <a:ext cx="2076450" cy="63833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7513" y="76200"/>
            <a:ext cx="6076950" cy="63833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0367984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6200"/>
            <a:ext cx="7762875" cy="8477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780284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76200"/>
            <a:ext cx="7762875" cy="847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tge title text format</a:t>
            </a:r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417513" y="844550"/>
            <a:ext cx="8305800" cy="5614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the outline text format</a:t>
            </a:r>
          </a:p>
          <a:p>
            <a:pPr lvl="1"/>
            <a:r>
              <a:rPr lang="en-GB" altLang="en-US"/>
              <a:t>Second Outline Level</a:t>
            </a:r>
          </a:p>
          <a:p>
            <a:pPr lvl="2"/>
            <a:r>
              <a:rPr lang="en-GB" altLang="en-US"/>
              <a:t>Third Outline Level</a:t>
            </a:r>
          </a:p>
          <a:p>
            <a:pPr lvl="3"/>
            <a:r>
              <a:rPr lang="en-GB" altLang="en-US"/>
              <a:t>Fourth Outline Level</a:t>
            </a:r>
          </a:p>
          <a:p>
            <a:pPr lvl="4"/>
            <a:r>
              <a:rPr lang="en-GB" altLang="en-US"/>
              <a:t>Fifth Outline Level</a:t>
            </a:r>
          </a:p>
          <a:p>
            <a:pPr lvl="4"/>
            <a:r>
              <a:rPr lang="en-GB" altLang="en-US"/>
              <a:t>Sixth Outline Level</a:t>
            </a:r>
          </a:p>
          <a:p>
            <a:pPr lvl="4"/>
            <a:r>
              <a:rPr lang="en-GB" altLang="en-US"/>
              <a:t>Seventh Outline Level</a:t>
            </a:r>
          </a:p>
          <a:p>
            <a:pPr lvl="4"/>
            <a:r>
              <a:rPr lang="en-GB" altLang="en-US"/>
              <a:t>Eighth Outline Level</a:t>
            </a:r>
          </a:p>
          <a:p>
            <a:pPr lvl="4"/>
            <a:r>
              <a:rPr lang="en-GB" altLang="en-US"/>
              <a:t>Ninth Outline Level</a:t>
            </a:r>
          </a:p>
        </p:txBody>
      </p:sp>
      <p:sp>
        <p:nvSpPr>
          <p:cNvPr id="1028" name="Text Box 4"/>
          <p:cNvSpPr txBox="1">
            <a:spLocks noChangeArrowheads="1"/>
          </p:cNvSpPr>
          <p:nvPr userDrawn="1"/>
        </p:nvSpPr>
        <p:spPr bwMode="auto">
          <a:xfrm>
            <a:off x="7913688" y="6477000"/>
            <a:ext cx="1208087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rgbClr val="000000"/>
                </a:solidFill>
                <a:latin typeface="Arial Narrow" pitchFamily="34" charset="0"/>
              </a:defRPr>
            </a:lvl1pPr>
            <a:lvl2pPr marL="742950" indent="-285750">
              <a:defRPr>
                <a:solidFill>
                  <a:srgbClr val="000000"/>
                </a:solidFill>
                <a:latin typeface="Arial Narrow" pitchFamily="34" charset="0"/>
              </a:defRPr>
            </a:lvl2pPr>
            <a:lvl3pPr marL="1143000" indent="-228600">
              <a:defRPr>
                <a:solidFill>
                  <a:srgbClr val="000000"/>
                </a:solidFill>
                <a:latin typeface="Arial Narrow" pitchFamily="34" charset="0"/>
              </a:defRPr>
            </a:lvl3pPr>
            <a:lvl4pPr marL="1600200" indent="-228600">
              <a:defRPr>
                <a:solidFill>
                  <a:srgbClr val="000000"/>
                </a:solidFill>
                <a:latin typeface="Arial Narrow" pitchFamily="34" charset="0"/>
              </a:defRPr>
            </a:lvl4pPr>
            <a:lvl5pPr marL="2057400" indent="-228600">
              <a:defRPr>
                <a:solidFill>
                  <a:srgbClr val="000000"/>
                </a:solidFill>
                <a:latin typeface="Arial Narrow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 Narrow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 Narrow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 Narrow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 Narrow" pitchFamily="34" charset="0"/>
              </a:defRPr>
            </a:lvl9pPr>
          </a:lstStyle>
          <a:p>
            <a:pPr algn="r">
              <a:spcBef>
                <a:spcPct val="50000"/>
              </a:spcBef>
              <a:defRPr/>
            </a:pPr>
            <a:r>
              <a:rPr lang="en-US" sz="1200"/>
              <a:t>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47675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800">
          <a:solidFill>
            <a:srgbClr val="800000"/>
          </a:solidFill>
          <a:latin typeface="+mj-lt"/>
          <a:ea typeface="+mj-ea"/>
          <a:cs typeface="+mj-cs"/>
        </a:defRPr>
      </a:lvl1pPr>
      <a:lvl2pPr algn="ctr" defTabSz="447675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800">
          <a:solidFill>
            <a:srgbClr val="800000"/>
          </a:solidFill>
          <a:latin typeface="Arial" charset="0"/>
          <a:cs typeface="Arial" charset="0"/>
        </a:defRPr>
      </a:lvl2pPr>
      <a:lvl3pPr algn="ctr" defTabSz="447675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800">
          <a:solidFill>
            <a:srgbClr val="800000"/>
          </a:solidFill>
          <a:latin typeface="Arial" charset="0"/>
          <a:cs typeface="Arial" charset="0"/>
        </a:defRPr>
      </a:lvl3pPr>
      <a:lvl4pPr algn="ctr" defTabSz="447675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800">
          <a:solidFill>
            <a:srgbClr val="800000"/>
          </a:solidFill>
          <a:latin typeface="Arial" charset="0"/>
          <a:cs typeface="Arial" charset="0"/>
        </a:defRPr>
      </a:lvl4pPr>
      <a:lvl5pPr algn="ctr" defTabSz="447675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800">
          <a:solidFill>
            <a:srgbClr val="800000"/>
          </a:solidFill>
          <a:latin typeface="Arial" charset="0"/>
          <a:cs typeface="Arial" charset="0"/>
        </a:defRPr>
      </a:lvl5pPr>
      <a:lvl6pPr marL="457200" algn="l" defTabSz="447675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cs typeface="Arial" charset="0"/>
        </a:defRPr>
      </a:lvl6pPr>
      <a:lvl7pPr marL="914400" algn="l" defTabSz="447675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cs typeface="Arial" charset="0"/>
        </a:defRPr>
      </a:lvl7pPr>
      <a:lvl8pPr marL="1371600" algn="l" defTabSz="447675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cs typeface="Arial" charset="0"/>
        </a:defRPr>
      </a:lvl8pPr>
      <a:lvl9pPr marL="1828800" algn="l" defTabSz="447675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cs typeface="Arial" charset="0"/>
        </a:defRPr>
      </a:lvl9pPr>
    </p:titleStyle>
    <p:bodyStyle>
      <a:lvl1pPr marL="333375" indent="-333375" algn="l" defTabSz="447675" rtl="0" eaLnBrk="0" fontAlgn="base" hangingPunct="0">
        <a:spcBef>
          <a:spcPts val="1425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buChar char="•"/>
        <a:defRPr sz="2200">
          <a:solidFill>
            <a:srgbClr val="000000"/>
          </a:solidFill>
          <a:latin typeface="+mn-lt"/>
          <a:ea typeface="+mn-ea"/>
          <a:cs typeface="+mn-cs"/>
        </a:defRPr>
      </a:lvl1pPr>
      <a:lvl2pPr marL="733425" indent="-276225" algn="l" defTabSz="447675" rtl="0" eaLnBrk="0" fontAlgn="base" hangingPunct="0">
        <a:spcBef>
          <a:spcPts val="525"/>
        </a:spcBef>
        <a:spcAft>
          <a:spcPct val="0"/>
        </a:spcAft>
        <a:buClr>
          <a:srgbClr val="000000"/>
        </a:buClr>
        <a:buSzPct val="100000"/>
        <a:buChar char="•"/>
        <a:defRPr sz="2200">
          <a:solidFill>
            <a:srgbClr val="000000"/>
          </a:solidFill>
          <a:latin typeface="+mn-lt"/>
        </a:defRPr>
      </a:lvl2pPr>
      <a:lvl3pPr marL="1076325" indent="-161925" algn="l" defTabSz="447675" rtl="0" eaLnBrk="0" fontAlgn="base" hangingPunct="0">
        <a:spcBef>
          <a:spcPts val="425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buChar char="•"/>
        <a:defRPr sz="2000">
          <a:solidFill>
            <a:srgbClr val="000000"/>
          </a:solidFill>
          <a:latin typeface="+mn-lt"/>
        </a:defRPr>
      </a:lvl3pPr>
      <a:lvl4pPr marL="1600200" indent="-228600" algn="l" defTabSz="447675" rtl="0" eaLnBrk="0" fontAlgn="base" hangingPunct="0">
        <a:spcBef>
          <a:spcPts val="425"/>
        </a:spcBef>
        <a:spcAft>
          <a:spcPct val="0"/>
        </a:spcAft>
        <a:buClr>
          <a:srgbClr val="000000"/>
        </a:buClr>
        <a:buSzPct val="100000"/>
        <a:buFont typeface="Helvetica" panose="020B0604020202020204" pitchFamily="34" charset="0"/>
        <a:buChar char="–"/>
        <a:defRPr sz="2000">
          <a:solidFill>
            <a:srgbClr val="000000"/>
          </a:solidFill>
          <a:latin typeface="+mn-lt"/>
        </a:defRPr>
      </a:lvl4pPr>
      <a:lvl5pPr marL="2057400" indent="-228600" algn="l" defTabSz="447675" rtl="0" eaLnBrk="0" fontAlgn="base" hangingPunct="0">
        <a:spcBef>
          <a:spcPts val="425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buChar char="»"/>
        <a:defRPr sz="2000">
          <a:solidFill>
            <a:srgbClr val="000000"/>
          </a:solidFill>
          <a:latin typeface="+mn-lt"/>
        </a:defRPr>
      </a:lvl5pPr>
      <a:lvl6pPr marL="2514600" indent="-228600" algn="l" defTabSz="447675" rtl="0" eaLnBrk="0" fontAlgn="base" hangingPunct="0">
        <a:spcBef>
          <a:spcPts val="425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buChar char="»"/>
        <a:defRPr sz="2000">
          <a:solidFill>
            <a:srgbClr val="000000"/>
          </a:solidFill>
          <a:latin typeface="+mn-lt"/>
        </a:defRPr>
      </a:lvl6pPr>
      <a:lvl7pPr marL="2971800" indent="-228600" algn="l" defTabSz="447675" rtl="0" eaLnBrk="0" fontAlgn="base" hangingPunct="0">
        <a:spcBef>
          <a:spcPts val="425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buChar char="»"/>
        <a:defRPr sz="2000">
          <a:solidFill>
            <a:srgbClr val="000000"/>
          </a:solidFill>
          <a:latin typeface="+mn-lt"/>
        </a:defRPr>
      </a:lvl7pPr>
      <a:lvl8pPr marL="3429000" indent="-228600" algn="l" defTabSz="447675" rtl="0" eaLnBrk="0" fontAlgn="base" hangingPunct="0">
        <a:spcBef>
          <a:spcPts val="425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buChar char="»"/>
        <a:defRPr sz="2000">
          <a:solidFill>
            <a:srgbClr val="000000"/>
          </a:solidFill>
          <a:latin typeface="+mn-lt"/>
        </a:defRPr>
      </a:lvl8pPr>
      <a:lvl9pPr marL="3886200" indent="-228600" algn="l" defTabSz="447675" rtl="0" eaLnBrk="0" fontAlgn="base" hangingPunct="0">
        <a:spcBef>
          <a:spcPts val="425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buChar char="»"/>
        <a:defRPr sz="2000">
          <a:solidFill>
            <a:srgbClr val="000000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76200"/>
            <a:ext cx="7762875" cy="847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tge title text format</a:t>
            </a:r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417513" y="844550"/>
            <a:ext cx="8305800" cy="5614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the outline text format</a:t>
            </a:r>
          </a:p>
          <a:p>
            <a:pPr lvl="1"/>
            <a:r>
              <a:rPr lang="en-GB" altLang="en-US"/>
              <a:t>Second Outline Level</a:t>
            </a:r>
          </a:p>
          <a:p>
            <a:pPr lvl="2"/>
            <a:r>
              <a:rPr lang="en-GB" altLang="en-US"/>
              <a:t>Third Outline Level</a:t>
            </a:r>
          </a:p>
          <a:p>
            <a:pPr lvl="3"/>
            <a:r>
              <a:rPr lang="en-GB" altLang="en-US"/>
              <a:t>Fourth Outline Level</a:t>
            </a:r>
          </a:p>
          <a:p>
            <a:pPr lvl="4"/>
            <a:r>
              <a:rPr lang="en-GB" altLang="en-US"/>
              <a:t>Fifth Outline Level</a:t>
            </a:r>
          </a:p>
          <a:p>
            <a:pPr lvl="4"/>
            <a:r>
              <a:rPr lang="en-GB" altLang="en-US"/>
              <a:t>Sixth Outline Level</a:t>
            </a:r>
          </a:p>
          <a:p>
            <a:pPr lvl="4"/>
            <a:r>
              <a:rPr lang="en-GB" altLang="en-US"/>
              <a:t>Seventh Outline Level</a:t>
            </a:r>
          </a:p>
          <a:p>
            <a:pPr lvl="4"/>
            <a:r>
              <a:rPr lang="en-GB" altLang="en-US"/>
              <a:t>Eighth Outline Level</a:t>
            </a:r>
          </a:p>
          <a:p>
            <a:pPr lvl="4"/>
            <a:r>
              <a:rPr lang="en-GB" altLang="en-US"/>
              <a:t>Ninth Outline Level</a:t>
            </a:r>
          </a:p>
        </p:txBody>
      </p:sp>
    </p:spTree>
    <p:extLst>
      <p:ext uri="{BB962C8B-B14F-4D97-AF65-F5344CB8AC3E}">
        <p14:creationId xmlns:p14="http://schemas.microsoft.com/office/powerpoint/2010/main" val="24932395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ctr" defTabSz="447675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800">
          <a:solidFill>
            <a:srgbClr val="800000"/>
          </a:solidFill>
          <a:latin typeface="+mj-lt"/>
          <a:ea typeface="+mj-ea"/>
          <a:cs typeface="+mj-cs"/>
        </a:defRPr>
      </a:lvl1pPr>
      <a:lvl2pPr algn="ctr" defTabSz="447675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800">
          <a:solidFill>
            <a:srgbClr val="800000"/>
          </a:solidFill>
          <a:latin typeface="Arial" charset="0"/>
          <a:cs typeface="Arial" charset="0"/>
        </a:defRPr>
      </a:lvl2pPr>
      <a:lvl3pPr algn="ctr" defTabSz="447675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800">
          <a:solidFill>
            <a:srgbClr val="800000"/>
          </a:solidFill>
          <a:latin typeface="Arial" charset="0"/>
          <a:cs typeface="Arial" charset="0"/>
        </a:defRPr>
      </a:lvl3pPr>
      <a:lvl4pPr algn="ctr" defTabSz="447675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800">
          <a:solidFill>
            <a:srgbClr val="800000"/>
          </a:solidFill>
          <a:latin typeface="Arial" charset="0"/>
          <a:cs typeface="Arial" charset="0"/>
        </a:defRPr>
      </a:lvl4pPr>
      <a:lvl5pPr algn="ctr" defTabSz="447675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800">
          <a:solidFill>
            <a:srgbClr val="800000"/>
          </a:solidFill>
          <a:latin typeface="Arial" charset="0"/>
          <a:cs typeface="Arial" charset="0"/>
        </a:defRPr>
      </a:lvl5pPr>
      <a:lvl6pPr marL="457200" algn="l" defTabSz="447675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cs typeface="Arial" charset="0"/>
        </a:defRPr>
      </a:lvl6pPr>
      <a:lvl7pPr marL="914400" algn="l" defTabSz="447675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cs typeface="Arial" charset="0"/>
        </a:defRPr>
      </a:lvl7pPr>
      <a:lvl8pPr marL="1371600" algn="l" defTabSz="447675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cs typeface="Arial" charset="0"/>
        </a:defRPr>
      </a:lvl8pPr>
      <a:lvl9pPr marL="1828800" algn="l" defTabSz="447675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cs typeface="Arial" charset="0"/>
        </a:defRPr>
      </a:lvl9pPr>
    </p:titleStyle>
    <p:bodyStyle>
      <a:lvl1pPr marL="333375" indent="-333375" algn="l" defTabSz="447675" rtl="0" eaLnBrk="0" fontAlgn="base" hangingPunct="0">
        <a:spcBef>
          <a:spcPts val="1425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buChar char="•"/>
        <a:defRPr sz="2200">
          <a:solidFill>
            <a:srgbClr val="000000"/>
          </a:solidFill>
          <a:latin typeface="+mn-lt"/>
          <a:ea typeface="+mn-ea"/>
          <a:cs typeface="+mn-cs"/>
        </a:defRPr>
      </a:lvl1pPr>
      <a:lvl2pPr marL="733425" indent="-276225" algn="l" defTabSz="447675" rtl="0" eaLnBrk="0" fontAlgn="base" hangingPunct="0">
        <a:spcBef>
          <a:spcPts val="525"/>
        </a:spcBef>
        <a:spcAft>
          <a:spcPct val="0"/>
        </a:spcAft>
        <a:buClr>
          <a:srgbClr val="000000"/>
        </a:buClr>
        <a:buSzPct val="100000"/>
        <a:buChar char="•"/>
        <a:defRPr sz="2200">
          <a:solidFill>
            <a:srgbClr val="000000"/>
          </a:solidFill>
          <a:latin typeface="+mn-lt"/>
        </a:defRPr>
      </a:lvl2pPr>
      <a:lvl3pPr marL="1076325" indent="-161925" algn="l" defTabSz="447675" rtl="0" eaLnBrk="0" fontAlgn="base" hangingPunct="0">
        <a:spcBef>
          <a:spcPts val="425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buChar char="•"/>
        <a:defRPr sz="2000">
          <a:solidFill>
            <a:srgbClr val="000000"/>
          </a:solidFill>
          <a:latin typeface="+mn-lt"/>
        </a:defRPr>
      </a:lvl3pPr>
      <a:lvl4pPr marL="1600200" indent="-228600" algn="l" defTabSz="447675" rtl="0" eaLnBrk="0" fontAlgn="base" hangingPunct="0">
        <a:spcBef>
          <a:spcPts val="425"/>
        </a:spcBef>
        <a:spcAft>
          <a:spcPct val="0"/>
        </a:spcAft>
        <a:buClr>
          <a:srgbClr val="000000"/>
        </a:buClr>
        <a:buSzPct val="100000"/>
        <a:buFont typeface="Helvetica" panose="020B0604020202020204" pitchFamily="34" charset="0"/>
        <a:buChar char="–"/>
        <a:defRPr sz="2000">
          <a:solidFill>
            <a:srgbClr val="000000"/>
          </a:solidFill>
          <a:latin typeface="+mn-lt"/>
        </a:defRPr>
      </a:lvl4pPr>
      <a:lvl5pPr marL="2057400" indent="-228600" algn="l" defTabSz="447675" rtl="0" eaLnBrk="0" fontAlgn="base" hangingPunct="0">
        <a:spcBef>
          <a:spcPts val="425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buChar char="»"/>
        <a:defRPr sz="2000">
          <a:solidFill>
            <a:srgbClr val="000000"/>
          </a:solidFill>
          <a:latin typeface="+mn-lt"/>
        </a:defRPr>
      </a:lvl5pPr>
      <a:lvl6pPr marL="2514600" indent="-228600" algn="l" defTabSz="447675" rtl="0" eaLnBrk="0" fontAlgn="base" hangingPunct="0">
        <a:spcBef>
          <a:spcPts val="425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buChar char="»"/>
        <a:defRPr sz="2000">
          <a:solidFill>
            <a:srgbClr val="000000"/>
          </a:solidFill>
          <a:latin typeface="+mn-lt"/>
        </a:defRPr>
      </a:lvl6pPr>
      <a:lvl7pPr marL="2971800" indent="-228600" algn="l" defTabSz="447675" rtl="0" eaLnBrk="0" fontAlgn="base" hangingPunct="0">
        <a:spcBef>
          <a:spcPts val="425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buChar char="»"/>
        <a:defRPr sz="2000">
          <a:solidFill>
            <a:srgbClr val="000000"/>
          </a:solidFill>
          <a:latin typeface="+mn-lt"/>
        </a:defRPr>
      </a:lvl7pPr>
      <a:lvl8pPr marL="3429000" indent="-228600" algn="l" defTabSz="447675" rtl="0" eaLnBrk="0" fontAlgn="base" hangingPunct="0">
        <a:spcBef>
          <a:spcPts val="425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buChar char="»"/>
        <a:defRPr sz="2000">
          <a:solidFill>
            <a:srgbClr val="000000"/>
          </a:solidFill>
          <a:latin typeface="+mn-lt"/>
        </a:defRPr>
      </a:lvl8pPr>
      <a:lvl9pPr marL="3886200" indent="-228600" algn="l" defTabSz="447675" rtl="0" eaLnBrk="0" fontAlgn="base" hangingPunct="0">
        <a:spcBef>
          <a:spcPts val="425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buChar char="»"/>
        <a:defRPr sz="2000">
          <a:solidFill>
            <a:srgbClr val="000000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7.xml"/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8.xml"/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9.xml"/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0.xml"/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1.xml"/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2.xml"/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3.xml"/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4.xml"/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5.xml"/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6.xml"/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7.xml"/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8.xml"/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9.xml"/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0.xml"/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1.xml"/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2.xml"/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3.xml"/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4.xml"/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5.xml"/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6.xml"/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7.xml"/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8.xml"/><Relationship Id="rId1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9.xml"/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0.xml"/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1.xml"/><Relationship Id="rId1" Type="http://schemas.openxmlformats.org/officeDocument/2006/relationships/slideLayout" Target="../slideLayouts/slideLayout2.xml"/></Relationships>
</file>

<file path=ppt/slides/_rels/slide1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2.xml"/><Relationship Id="rId1" Type="http://schemas.openxmlformats.org/officeDocument/2006/relationships/slideLayout" Target="../slideLayouts/slideLayout2.xml"/></Relationships>
</file>

<file path=ppt/slides/_rels/slide1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3.xml"/><Relationship Id="rId1" Type="http://schemas.openxmlformats.org/officeDocument/2006/relationships/slideLayout" Target="../slideLayouts/slideLayout2.xml"/></Relationships>
</file>

<file path=ppt/slides/_rels/slide1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4.xml"/><Relationship Id="rId1" Type="http://schemas.openxmlformats.org/officeDocument/2006/relationships/slideLayout" Target="../slideLayouts/slideLayout2.xml"/></Relationships>
</file>

<file path=ppt/slides/_rels/slide1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5.xml"/><Relationship Id="rId1" Type="http://schemas.openxmlformats.org/officeDocument/2006/relationships/slideLayout" Target="../slideLayouts/slideLayout2.xml"/></Relationships>
</file>

<file path=ppt/slides/_rels/slide1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6.xml"/><Relationship Id="rId1" Type="http://schemas.openxmlformats.org/officeDocument/2006/relationships/slideLayout" Target="../slideLayouts/slideLayout2.xml"/></Relationships>
</file>

<file path=ppt/slides/_rels/slide1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7.xml"/><Relationship Id="rId1" Type="http://schemas.openxmlformats.org/officeDocument/2006/relationships/slideLayout" Target="../slideLayouts/slideLayout2.xml"/></Relationships>
</file>

<file path=ppt/slides/_rels/slide1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8.xml"/><Relationship Id="rId1" Type="http://schemas.openxmlformats.org/officeDocument/2006/relationships/slideLayout" Target="../slideLayouts/slideLayout2.xml"/></Relationships>
</file>

<file path=ppt/slides/_rels/slide1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9.xml"/><Relationship Id="rId1" Type="http://schemas.openxmlformats.org/officeDocument/2006/relationships/slideLayout" Target="../slideLayouts/slideLayout2.xml"/></Relationships>
</file>

<file path=ppt/slides/_rels/slide1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0.xml"/><Relationship Id="rId1" Type="http://schemas.openxmlformats.org/officeDocument/2006/relationships/slideLayout" Target="../slideLayouts/slideLayout2.xml"/></Relationships>
</file>

<file path=ppt/slides/_rels/slide1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1.xml"/><Relationship Id="rId1" Type="http://schemas.openxmlformats.org/officeDocument/2006/relationships/slideLayout" Target="../slideLayouts/slideLayout14.xml"/></Relationships>
</file>

<file path=ppt/slides/_rels/slide1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2.xml"/><Relationship Id="rId1" Type="http://schemas.openxmlformats.org/officeDocument/2006/relationships/slideLayout" Target="../slideLayouts/slideLayout14.xml"/></Relationships>
</file>

<file path=ppt/slides/_rels/slide1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3.xml"/><Relationship Id="rId1" Type="http://schemas.openxmlformats.org/officeDocument/2006/relationships/slideLayout" Target="../slideLayouts/slideLayout14.xml"/></Relationships>
</file>

<file path=ppt/slides/_rels/slide1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4.xml"/><Relationship Id="rId1" Type="http://schemas.openxmlformats.org/officeDocument/2006/relationships/slideLayout" Target="../slideLayouts/slideLayout14.xml"/></Relationships>
</file>

<file path=ppt/slides/_rels/slide1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5.xml"/><Relationship Id="rId1" Type="http://schemas.openxmlformats.org/officeDocument/2006/relationships/slideLayout" Target="../slideLayouts/slideLayout14.xml"/></Relationships>
</file>

<file path=ppt/slides/_rels/slide1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6.xml"/><Relationship Id="rId1" Type="http://schemas.openxmlformats.org/officeDocument/2006/relationships/slideLayout" Target="../slideLayouts/slideLayout14.xml"/></Relationships>
</file>

<file path=ppt/slides/_rels/slide1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7.xml"/><Relationship Id="rId1" Type="http://schemas.openxmlformats.org/officeDocument/2006/relationships/slideLayout" Target="../slideLayouts/slideLayout14.xml"/></Relationships>
</file>

<file path=ppt/slides/_rels/slide1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8.xml"/><Relationship Id="rId1" Type="http://schemas.openxmlformats.org/officeDocument/2006/relationships/slideLayout" Target="../slideLayouts/slideLayout14.xml"/></Relationships>
</file>

<file path=ppt/slides/_rels/slide1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9.xml"/><Relationship Id="rId1" Type="http://schemas.openxmlformats.org/officeDocument/2006/relationships/slideLayout" Target="../slideLayouts/slideLayout14.xml"/></Relationships>
</file>

<file path=ppt/slides/_rels/slide1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0.xml"/><Relationship Id="rId1" Type="http://schemas.openxmlformats.org/officeDocument/2006/relationships/slideLayout" Target="../slideLayouts/slideLayout14.xml"/></Relationships>
</file>

<file path=ppt/slides/_rels/slide1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1.xml"/><Relationship Id="rId1" Type="http://schemas.openxmlformats.org/officeDocument/2006/relationships/slideLayout" Target="../slideLayouts/slideLayout14.xml"/></Relationships>
</file>

<file path=ppt/slides/_rels/slide1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2.xml"/><Relationship Id="rId1" Type="http://schemas.openxmlformats.org/officeDocument/2006/relationships/slideLayout" Target="../slideLayouts/slideLayout14.xml"/></Relationships>
</file>

<file path=ppt/slides/_rels/slide1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3.xml"/><Relationship Id="rId1" Type="http://schemas.openxmlformats.org/officeDocument/2006/relationships/slideLayout" Target="../slideLayouts/slideLayout14.xml"/></Relationships>
</file>

<file path=ppt/slides/_rels/slide1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4.xml"/><Relationship Id="rId1" Type="http://schemas.openxmlformats.org/officeDocument/2006/relationships/slideLayout" Target="../slideLayouts/slideLayout14.xml"/></Relationships>
</file>

<file path=ppt/slides/_rels/slide1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5.xml"/><Relationship Id="rId1" Type="http://schemas.openxmlformats.org/officeDocument/2006/relationships/slideLayout" Target="../slideLayouts/slideLayout14.xml"/></Relationships>
</file>

<file path=ppt/slides/_rels/slide1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6.xml"/><Relationship Id="rId1" Type="http://schemas.openxmlformats.org/officeDocument/2006/relationships/slideLayout" Target="../slideLayouts/slideLayout14.xml"/></Relationships>
</file>

<file path=ppt/slides/_rels/slide1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7.xml"/><Relationship Id="rId1" Type="http://schemas.openxmlformats.org/officeDocument/2006/relationships/slideLayout" Target="../slideLayouts/slideLayout14.xml"/></Relationships>
</file>

<file path=ppt/slides/_rels/slide1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8.xml"/><Relationship Id="rId1" Type="http://schemas.openxmlformats.org/officeDocument/2006/relationships/slideLayout" Target="../slideLayouts/slideLayout14.xml"/></Relationships>
</file>

<file path=ppt/slides/_rels/slide1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9.xml"/><Relationship Id="rId1" Type="http://schemas.openxmlformats.org/officeDocument/2006/relationships/slideLayout" Target="../slideLayouts/slideLayout14.xml"/></Relationships>
</file>

<file path=ppt/slides/_rels/slide1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0.xml"/><Relationship Id="rId1" Type="http://schemas.openxmlformats.org/officeDocument/2006/relationships/slideLayout" Target="../slideLayouts/slideLayout14.xml"/></Relationships>
</file>

<file path=ppt/slides/_rels/slide1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1.xml"/><Relationship Id="rId1" Type="http://schemas.openxmlformats.org/officeDocument/2006/relationships/slideLayout" Target="../slideLayouts/slideLayout14.xml"/></Relationships>
</file>

<file path=ppt/slides/_rels/slide1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2.xml"/><Relationship Id="rId1" Type="http://schemas.openxmlformats.org/officeDocument/2006/relationships/slideLayout" Target="../slideLayouts/slideLayout14.xml"/></Relationships>
</file>

<file path=ppt/slides/_rels/slide1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3.xml"/><Relationship Id="rId1" Type="http://schemas.openxmlformats.org/officeDocument/2006/relationships/slideLayout" Target="../slideLayouts/slideLayout14.xml"/></Relationships>
</file>

<file path=ppt/slides/_rels/slide1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4.xml"/><Relationship Id="rId1" Type="http://schemas.openxmlformats.org/officeDocument/2006/relationships/slideLayout" Target="../slideLayouts/slideLayout14.xml"/></Relationships>
</file>

<file path=ppt/slides/_rels/slide1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5.xml"/><Relationship Id="rId1" Type="http://schemas.openxmlformats.org/officeDocument/2006/relationships/slideLayout" Target="../slideLayouts/slideLayout14.xml"/></Relationships>
</file>

<file path=ppt/slides/_rels/slide1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6.xml"/><Relationship Id="rId1" Type="http://schemas.openxmlformats.org/officeDocument/2006/relationships/slideLayout" Target="../slideLayouts/slideLayout14.xml"/></Relationships>
</file>

<file path=ppt/slides/_rels/slide1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7.xml"/><Relationship Id="rId1" Type="http://schemas.openxmlformats.org/officeDocument/2006/relationships/slideLayout" Target="../slideLayouts/slideLayout14.xml"/></Relationships>
</file>

<file path=ppt/slides/_rels/slide1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8.xml"/><Relationship Id="rId1" Type="http://schemas.openxmlformats.org/officeDocument/2006/relationships/slideLayout" Target="../slideLayouts/slideLayout14.xml"/></Relationships>
</file>

<file path=ppt/slides/_rels/slide1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9.xml"/><Relationship Id="rId1" Type="http://schemas.openxmlformats.org/officeDocument/2006/relationships/slideLayout" Target="../slideLayouts/slideLayout14.xml"/></Relationships>
</file>

<file path=ppt/slides/_rels/slide1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0.xml"/><Relationship Id="rId1" Type="http://schemas.openxmlformats.org/officeDocument/2006/relationships/slideLayout" Target="../slideLayouts/slideLayout14.xml"/></Relationships>
</file>

<file path=ppt/slides/_rels/slide1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1.xml"/><Relationship Id="rId1" Type="http://schemas.openxmlformats.org/officeDocument/2006/relationships/slideLayout" Target="../slideLayouts/slideLayout14.xml"/></Relationships>
</file>

<file path=ppt/slides/_rels/slide1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2.xml"/><Relationship Id="rId1" Type="http://schemas.openxmlformats.org/officeDocument/2006/relationships/slideLayout" Target="../slideLayouts/slideLayout14.xml"/></Relationships>
</file>

<file path=ppt/slides/_rels/slide1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3.xml"/><Relationship Id="rId1" Type="http://schemas.openxmlformats.org/officeDocument/2006/relationships/slideLayout" Target="../slideLayouts/slideLayout14.xml"/></Relationships>
</file>

<file path=ppt/slides/_rels/slide1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4.xml"/><Relationship Id="rId1" Type="http://schemas.openxmlformats.org/officeDocument/2006/relationships/slideLayout" Target="../slideLayouts/slideLayout14.xml"/></Relationships>
</file>

<file path=ppt/slides/_rels/slide1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5.xml"/><Relationship Id="rId1" Type="http://schemas.openxmlformats.org/officeDocument/2006/relationships/slideLayout" Target="../slideLayouts/slideLayout14.xml"/></Relationships>
</file>

<file path=ppt/slides/_rels/slide1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6.xml"/><Relationship Id="rId1" Type="http://schemas.openxmlformats.org/officeDocument/2006/relationships/slideLayout" Target="../slideLayouts/slideLayout14.xml"/></Relationships>
</file>

<file path=ppt/slides/_rels/slide1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7.xml"/><Relationship Id="rId1" Type="http://schemas.openxmlformats.org/officeDocument/2006/relationships/slideLayout" Target="../slideLayouts/slideLayout14.xml"/></Relationships>
</file>

<file path=ppt/slides/_rels/slide1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8.xml"/><Relationship Id="rId1" Type="http://schemas.openxmlformats.org/officeDocument/2006/relationships/slideLayout" Target="../slideLayouts/slideLayout14.xml"/></Relationships>
</file>

<file path=ppt/slides/_rels/slide1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9.xml"/><Relationship Id="rId1" Type="http://schemas.openxmlformats.org/officeDocument/2006/relationships/slideLayout" Target="../slideLayouts/slideLayout14.xml"/></Relationships>
</file>

<file path=ppt/slides/_rels/slide1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0.xml"/><Relationship Id="rId1" Type="http://schemas.openxmlformats.org/officeDocument/2006/relationships/slideLayout" Target="../slideLayouts/slideLayout14.xml"/></Relationships>
</file>

<file path=ppt/slides/_rels/slide2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1.xml"/><Relationship Id="rId1" Type="http://schemas.openxmlformats.org/officeDocument/2006/relationships/slideLayout" Target="../slideLayouts/slideLayout14.xml"/></Relationships>
</file>

<file path=ppt/slides/_rels/slide2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2.xml"/><Relationship Id="rId1" Type="http://schemas.openxmlformats.org/officeDocument/2006/relationships/slideLayout" Target="../slideLayouts/slideLayout14.xml"/></Relationships>
</file>

<file path=ppt/slides/_rels/slide2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3.xml"/><Relationship Id="rId1" Type="http://schemas.openxmlformats.org/officeDocument/2006/relationships/slideLayout" Target="../slideLayouts/slideLayout14.xml"/></Relationships>
</file>

<file path=ppt/slides/_rels/slide2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4.xml"/><Relationship Id="rId1" Type="http://schemas.openxmlformats.org/officeDocument/2006/relationships/slideLayout" Target="../slideLayouts/slideLayout14.xml"/></Relationships>
</file>

<file path=ppt/slides/_rels/slide2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5.xml"/><Relationship Id="rId1" Type="http://schemas.openxmlformats.org/officeDocument/2006/relationships/slideLayout" Target="../slideLayouts/slideLayout14.xml"/></Relationships>
</file>

<file path=ppt/slides/_rels/slide2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6.xml"/><Relationship Id="rId1" Type="http://schemas.openxmlformats.org/officeDocument/2006/relationships/slideLayout" Target="../slideLayouts/slideLayout14.xml"/></Relationships>
</file>

<file path=ppt/slides/_rels/slide2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7.xml"/><Relationship Id="rId1" Type="http://schemas.openxmlformats.org/officeDocument/2006/relationships/slideLayout" Target="../slideLayouts/slideLayout14.xml"/></Relationships>
</file>

<file path=ppt/slides/_rels/slide2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8.xml"/><Relationship Id="rId1" Type="http://schemas.openxmlformats.org/officeDocument/2006/relationships/slideLayout" Target="../slideLayouts/slideLayout14.xml"/></Relationships>
</file>

<file path=ppt/slides/_rels/slide2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9.xml"/><Relationship Id="rId1" Type="http://schemas.openxmlformats.org/officeDocument/2006/relationships/slideLayout" Target="../slideLayouts/slideLayout14.xml"/></Relationships>
</file>

<file path=ppt/slides/_rels/slide2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0.xml"/><Relationship Id="rId1" Type="http://schemas.openxmlformats.org/officeDocument/2006/relationships/slideLayout" Target="../slideLayouts/slideLayout14.xml"/></Relationships>
</file>

<file path=ppt/slides/_rels/slide2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1.xml"/><Relationship Id="rId1" Type="http://schemas.openxmlformats.org/officeDocument/2006/relationships/slideLayout" Target="../slideLayouts/slideLayout14.xml"/></Relationships>
</file>

<file path=ppt/slides/_rels/slide2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2.xml"/><Relationship Id="rId1" Type="http://schemas.openxmlformats.org/officeDocument/2006/relationships/slideLayout" Target="../slideLayouts/slideLayout14.xml"/></Relationships>
</file>

<file path=ppt/slides/_rels/slide2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3.xml"/><Relationship Id="rId1" Type="http://schemas.openxmlformats.org/officeDocument/2006/relationships/slideLayout" Target="../slideLayouts/slideLayout14.xml"/></Relationships>
</file>

<file path=ppt/slides/_rels/slide2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4.xml"/></Relationships>
</file>

<file path=ppt/slides/_rels/slide2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4.xml"/><Relationship Id="rId1" Type="http://schemas.openxmlformats.org/officeDocument/2006/relationships/slideLayout" Target="../slideLayouts/slideLayout14.xml"/></Relationships>
</file>

<file path=ppt/slides/_rels/slide2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5.xml"/><Relationship Id="rId1" Type="http://schemas.openxmlformats.org/officeDocument/2006/relationships/slideLayout" Target="../slideLayouts/slideLayout14.xml"/></Relationships>
</file>

<file path=ppt/slides/_rels/slide2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6.xml"/><Relationship Id="rId1" Type="http://schemas.openxmlformats.org/officeDocument/2006/relationships/slideLayout" Target="../slideLayouts/slideLayout14.xml"/></Relationships>
</file>

<file path=ppt/slides/_rels/slide2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7.xml"/><Relationship Id="rId1" Type="http://schemas.openxmlformats.org/officeDocument/2006/relationships/slideLayout" Target="../slideLayouts/slideLayout14.xml"/></Relationships>
</file>

<file path=ppt/slides/_rels/slide2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8.xml"/><Relationship Id="rId1" Type="http://schemas.openxmlformats.org/officeDocument/2006/relationships/slideLayout" Target="../slideLayouts/slideLayout14.xml"/></Relationships>
</file>

<file path=ppt/slides/_rels/slide2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9.xml"/><Relationship Id="rId1" Type="http://schemas.openxmlformats.org/officeDocument/2006/relationships/slideLayout" Target="../slideLayouts/slideLayout14.xml"/></Relationships>
</file>

<file path=ppt/slides/_rels/slide2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0.xml"/><Relationship Id="rId1" Type="http://schemas.openxmlformats.org/officeDocument/2006/relationships/slideLayout" Target="../slideLayouts/slideLayout14.xml"/></Relationships>
</file>

<file path=ppt/slides/_rels/slide2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1.xml"/><Relationship Id="rId1" Type="http://schemas.openxmlformats.org/officeDocument/2006/relationships/slideLayout" Target="../slideLayouts/slideLayout14.xml"/></Relationships>
</file>

<file path=ppt/slides/_rels/slide2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2.xml"/><Relationship Id="rId1" Type="http://schemas.openxmlformats.org/officeDocument/2006/relationships/slideLayout" Target="../slideLayouts/slideLayout14.xml"/></Relationships>
</file>

<file path=ppt/slides/_rels/slide2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/Relationships>
</file>

<file path=ppt/slides/_rels/slide2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3.xml"/><Relationship Id="rId1" Type="http://schemas.openxmlformats.org/officeDocument/2006/relationships/slideLayout" Target="../slideLayouts/slideLayout14.xml"/></Relationships>
</file>

<file path=ppt/slides/_rels/slide2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4.xml"/><Relationship Id="rId1" Type="http://schemas.openxmlformats.org/officeDocument/2006/relationships/slideLayout" Target="../slideLayouts/slideLayout14.xml"/></Relationships>
</file>

<file path=ppt/slides/_rels/slide2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5.xml"/><Relationship Id="rId1" Type="http://schemas.openxmlformats.org/officeDocument/2006/relationships/slideLayout" Target="../slideLayouts/slideLayout14.xml"/></Relationships>
</file>

<file path=ppt/slides/_rels/slide2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6.xml"/><Relationship Id="rId1" Type="http://schemas.openxmlformats.org/officeDocument/2006/relationships/slideLayout" Target="../slideLayouts/slideLayout14.xml"/></Relationships>
</file>

<file path=ppt/slides/_rels/slide2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7.xml"/><Relationship Id="rId1" Type="http://schemas.openxmlformats.org/officeDocument/2006/relationships/slideLayout" Target="../slideLayouts/slideLayout14.xml"/></Relationships>
</file>

<file path=ppt/slides/_rels/slide2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8.xml"/><Relationship Id="rId1" Type="http://schemas.openxmlformats.org/officeDocument/2006/relationships/slideLayout" Target="../slideLayouts/slideLayout14.xml"/></Relationships>
</file>

<file path=ppt/slides/_rels/slide2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9.xml"/><Relationship Id="rId1" Type="http://schemas.openxmlformats.org/officeDocument/2006/relationships/slideLayout" Target="../slideLayouts/slideLayout14.xml"/></Relationships>
</file>

<file path=ppt/slides/_rels/slide2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0.xml"/><Relationship Id="rId1" Type="http://schemas.openxmlformats.org/officeDocument/2006/relationships/slideLayout" Target="../slideLayouts/slideLayout14.xml"/></Relationships>
</file>

<file path=ppt/slides/_rels/slide2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1.xml"/><Relationship Id="rId1" Type="http://schemas.openxmlformats.org/officeDocument/2006/relationships/slideLayout" Target="../slideLayouts/slideLayout14.xml"/></Relationships>
</file>

<file path=ppt/slides/_rels/slide2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2.xml"/><Relationship Id="rId1" Type="http://schemas.openxmlformats.org/officeDocument/2006/relationships/slideLayout" Target="../slideLayouts/slideLayout14.xml"/></Relationships>
</file>

<file path=ppt/slides/_rels/slide2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3.xml"/><Relationship Id="rId1" Type="http://schemas.openxmlformats.org/officeDocument/2006/relationships/slideLayout" Target="../slideLayouts/slideLayout14.xml"/></Relationships>
</file>

<file path=ppt/slides/_rels/slide2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4.xml"/><Relationship Id="rId1" Type="http://schemas.openxmlformats.org/officeDocument/2006/relationships/slideLayout" Target="../slideLayouts/slideLayout14.xml"/></Relationships>
</file>

<file path=ppt/slides/_rels/slide2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5.xml"/><Relationship Id="rId1" Type="http://schemas.openxmlformats.org/officeDocument/2006/relationships/slideLayout" Target="../slideLayouts/slideLayout14.xml"/></Relationships>
</file>

<file path=ppt/slides/_rels/slide2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6.xml"/><Relationship Id="rId1" Type="http://schemas.openxmlformats.org/officeDocument/2006/relationships/slideLayout" Target="../slideLayouts/slideLayout14.xml"/></Relationships>
</file>

<file path=ppt/slides/_rels/slide2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7.xml"/><Relationship Id="rId1" Type="http://schemas.openxmlformats.org/officeDocument/2006/relationships/slideLayout" Target="../slideLayouts/slideLayout14.xml"/></Relationships>
</file>

<file path=ppt/slides/_rels/slide2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8.xml"/><Relationship Id="rId1" Type="http://schemas.openxmlformats.org/officeDocument/2006/relationships/slideLayout" Target="../slideLayouts/slideLayout14.xml"/></Relationships>
</file>

<file path=ppt/slides/_rels/slide2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9.xml"/><Relationship Id="rId1" Type="http://schemas.openxmlformats.org/officeDocument/2006/relationships/slideLayout" Target="../slideLayouts/slideLayout14.xml"/></Relationships>
</file>

<file path=ppt/slides/_rels/slide2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0.xml"/><Relationship Id="rId1" Type="http://schemas.openxmlformats.org/officeDocument/2006/relationships/slideLayout" Target="../slideLayouts/slideLayout14.xml"/></Relationships>
</file>

<file path=ppt/slides/_rels/slide2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1.xml"/><Relationship Id="rId1" Type="http://schemas.openxmlformats.org/officeDocument/2006/relationships/slideLayout" Target="../slideLayouts/slideLayout14.xml"/></Relationships>
</file>

<file path=ppt/slides/_rels/slide2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2.xml"/><Relationship Id="rId1" Type="http://schemas.openxmlformats.org/officeDocument/2006/relationships/slideLayout" Target="../slideLayouts/slideLayout14.xml"/></Relationships>
</file>

<file path=ppt/slides/_rels/slide2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3.xml"/><Relationship Id="rId1" Type="http://schemas.openxmlformats.org/officeDocument/2006/relationships/slideLayout" Target="../slideLayouts/slideLayout14.xml"/></Relationships>
</file>

<file path=ppt/slides/_rels/slide2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4.xml"/><Relationship Id="rId1" Type="http://schemas.openxmlformats.org/officeDocument/2006/relationships/slideLayout" Target="../slideLayouts/slideLayout14.xml"/></Relationships>
</file>

<file path=ppt/slides/_rels/slide2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5.xml"/><Relationship Id="rId1" Type="http://schemas.openxmlformats.org/officeDocument/2006/relationships/slideLayout" Target="../slideLayouts/slideLayout14.xml"/></Relationships>
</file>

<file path=ppt/slides/_rels/slide2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6.xml"/><Relationship Id="rId1" Type="http://schemas.openxmlformats.org/officeDocument/2006/relationships/slideLayout" Target="../slideLayouts/slideLayout14.xml"/></Relationships>
</file>

<file path=ppt/slides/_rels/slide2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7.xml"/><Relationship Id="rId1" Type="http://schemas.openxmlformats.org/officeDocument/2006/relationships/slideLayout" Target="../slideLayouts/slideLayout14.xml"/></Relationships>
</file>

<file path=ppt/slides/_rels/slide2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8.xml"/><Relationship Id="rId1" Type="http://schemas.openxmlformats.org/officeDocument/2006/relationships/slideLayout" Target="../slideLayouts/slideLayout14.xml"/></Relationships>
</file>

<file path=ppt/slides/_rels/slide2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9.xml"/><Relationship Id="rId1" Type="http://schemas.openxmlformats.org/officeDocument/2006/relationships/slideLayout" Target="../slideLayouts/slideLayout14.xml"/></Relationships>
</file>

<file path=ppt/slides/_rels/slide2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0.xml"/><Relationship Id="rId1" Type="http://schemas.openxmlformats.org/officeDocument/2006/relationships/slideLayout" Target="../slideLayouts/slideLayout14.xml"/></Relationships>
</file>

<file path=ppt/slides/_rels/slide2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1.xml"/><Relationship Id="rId1" Type="http://schemas.openxmlformats.org/officeDocument/2006/relationships/slideLayout" Target="../slideLayouts/slideLayout14.xml"/></Relationships>
</file>

<file path=ppt/slides/_rels/slide2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2.xml"/><Relationship Id="rId1" Type="http://schemas.openxmlformats.org/officeDocument/2006/relationships/slideLayout" Target="../slideLayouts/slideLayout14.xml"/></Relationships>
</file>

<file path=ppt/slides/_rels/slide2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3.xml"/><Relationship Id="rId1" Type="http://schemas.openxmlformats.org/officeDocument/2006/relationships/slideLayout" Target="../slideLayouts/slideLayout14.xml"/></Relationships>
</file>

<file path=ppt/slides/_rels/slide2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4.xml"/><Relationship Id="rId1" Type="http://schemas.openxmlformats.org/officeDocument/2006/relationships/slideLayout" Target="../slideLayouts/slideLayout14.xml"/></Relationships>
</file>

<file path=ppt/slides/_rels/slide2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5.xml"/><Relationship Id="rId1" Type="http://schemas.openxmlformats.org/officeDocument/2006/relationships/slideLayout" Target="../slideLayouts/slideLayout14.xml"/></Relationships>
</file>

<file path=ppt/slides/_rels/slide2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6.xml"/><Relationship Id="rId1" Type="http://schemas.openxmlformats.org/officeDocument/2006/relationships/slideLayout" Target="../slideLayouts/slideLayout14.xml"/></Relationships>
</file>

<file path=ppt/slides/_rels/slide2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7.xml"/><Relationship Id="rId1" Type="http://schemas.openxmlformats.org/officeDocument/2006/relationships/slideLayout" Target="../slideLayouts/slideLayout14.xml"/></Relationships>
</file>

<file path=ppt/slides/_rels/slide2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8.xml"/><Relationship Id="rId1" Type="http://schemas.openxmlformats.org/officeDocument/2006/relationships/slideLayout" Target="../slideLayouts/slideLayout14.xml"/></Relationships>
</file>

<file path=ppt/slides/_rels/slide2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9.xml"/><Relationship Id="rId1" Type="http://schemas.openxmlformats.org/officeDocument/2006/relationships/slideLayout" Target="../slideLayouts/slideLayout14.xml"/></Relationships>
</file>

<file path=ppt/slides/_rels/slide2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0.xml"/><Relationship Id="rId1" Type="http://schemas.openxmlformats.org/officeDocument/2006/relationships/slideLayout" Target="../slideLayouts/slideLayout14.xml"/></Relationships>
</file>

<file path=ppt/slides/_rels/slide2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1.xml"/><Relationship Id="rId1" Type="http://schemas.openxmlformats.org/officeDocument/2006/relationships/slideLayout" Target="../slideLayouts/slideLayout14.xml"/></Relationships>
</file>

<file path=ppt/slides/_rels/slide2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2.xml"/><Relationship Id="rId1" Type="http://schemas.openxmlformats.org/officeDocument/2006/relationships/slideLayout" Target="../slideLayouts/slideLayout14.xml"/></Relationships>
</file>

<file path=ppt/slides/_rels/slide2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3.xml"/><Relationship Id="rId1" Type="http://schemas.openxmlformats.org/officeDocument/2006/relationships/slideLayout" Target="../slideLayouts/slideLayout14.xml"/></Relationships>
</file>

<file path=ppt/slides/_rels/slide2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4.xml"/><Relationship Id="rId1" Type="http://schemas.openxmlformats.org/officeDocument/2006/relationships/slideLayout" Target="../slideLayouts/slideLayout14.xml"/></Relationships>
</file>

<file path=ppt/slides/_rels/slide2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5.xml"/><Relationship Id="rId1" Type="http://schemas.openxmlformats.org/officeDocument/2006/relationships/slideLayout" Target="../slideLayouts/slideLayout14.xml"/></Relationships>
</file>

<file path=ppt/slides/_rels/slide2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6.xml"/><Relationship Id="rId1" Type="http://schemas.openxmlformats.org/officeDocument/2006/relationships/slideLayout" Target="../slideLayouts/slideLayout14.xml"/></Relationships>
</file>

<file path=ppt/slides/_rels/slide2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7.xml"/><Relationship Id="rId1" Type="http://schemas.openxmlformats.org/officeDocument/2006/relationships/slideLayout" Target="../slideLayouts/slideLayout14.xml"/></Relationships>
</file>

<file path=ppt/slides/_rels/slide2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8.xml"/><Relationship Id="rId1" Type="http://schemas.openxmlformats.org/officeDocument/2006/relationships/slideLayout" Target="../slideLayouts/slideLayout14.xml"/></Relationships>
</file>

<file path=ppt/slides/_rels/slide2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9.xml"/><Relationship Id="rId1" Type="http://schemas.openxmlformats.org/officeDocument/2006/relationships/slideLayout" Target="../slideLayouts/slideLayout14.xml"/></Relationships>
</file>

<file path=ppt/slides/_rels/slide2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0.xml"/><Relationship Id="rId1" Type="http://schemas.openxmlformats.org/officeDocument/2006/relationships/slideLayout" Target="../slideLayouts/slideLayout14.xml"/></Relationships>
</file>

<file path=ppt/slides/_rels/slide2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1.xml"/><Relationship Id="rId1" Type="http://schemas.openxmlformats.org/officeDocument/2006/relationships/slideLayout" Target="../slideLayouts/slideLayout14.xml"/></Relationships>
</file>

<file path=ppt/slides/_rels/slide2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2.xml"/><Relationship Id="rId1" Type="http://schemas.openxmlformats.org/officeDocument/2006/relationships/slideLayout" Target="../slideLayouts/slideLayout14.xml"/></Relationships>
</file>

<file path=ppt/slides/_rels/slide2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3.xml"/><Relationship Id="rId1" Type="http://schemas.openxmlformats.org/officeDocument/2006/relationships/slideLayout" Target="../slideLayouts/slideLayout14.xml"/></Relationships>
</file>

<file path=ppt/slides/_rels/slide2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4.xml"/><Relationship Id="rId1" Type="http://schemas.openxmlformats.org/officeDocument/2006/relationships/slideLayout" Target="../slideLayouts/slideLayout14.xml"/></Relationships>
</file>

<file path=ppt/slides/_rels/slide2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5.xml"/><Relationship Id="rId1" Type="http://schemas.openxmlformats.org/officeDocument/2006/relationships/slideLayout" Target="../slideLayouts/slideLayout14.xml"/></Relationships>
</file>

<file path=ppt/slides/_rels/slide2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6.xml"/><Relationship Id="rId1" Type="http://schemas.openxmlformats.org/officeDocument/2006/relationships/slideLayout" Target="../slideLayouts/slideLayout14.xml"/></Relationships>
</file>

<file path=ppt/slides/_rels/slide2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7.xml"/><Relationship Id="rId1" Type="http://schemas.openxmlformats.org/officeDocument/2006/relationships/slideLayout" Target="../slideLayouts/slideLayout14.xml"/></Relationships>
</file>

<file path=ppt/slides/_rels/slide2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8.xml"/><Relationship Id="rId1" Type="http://schemas.openxmlformats.org/officeDocument/2006/relationships/slideLayout" Target="../slideLayouts/slideLayout14.xml"/></Relationships>
</file>

<file path=ppt/slides/_rels/slide2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9.xml"/><Relationship Id="rId1" Type="http://schemas.openxmlformats.org/officeDocument/2006/relationships/slideLayout" Target="../slideLayouts/slideLayout14.xml"/></Relationships>
</file>

<file path=ppt/slides/_rels/slide2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0.xml"/><Relationship Id="rId1" Type="http://schemas.openxmlformats.org/officeDocument/2006/relationships/slideLayout" Target="../slideLayouts/slideLayout14.xml"/></Relationships>
</file>

<file path=ppt/slides/_rels/slide2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1.xml"/><Relationship Id="rId1" Type="http://schemas.openxmlformats.org/officeDocument/2006/relationships/slideLayout" Target="../slideLayouts/slideLayout14.xml"/></Relationships>
</file>

<file path=ppt/slides/_rels/slide2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2.xml"/><Relationship Id="rId1" Type="http://schemas.openxmlformats.org/officeDocument/2006/relationships/slideLayout" Target="../slideLayouts/slideLayout14.xml"/></Relationships>
</file>

<file path=ppt/slides/_rels/slide2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3.xml"/><Relationship Id="rId1" Type="http://schemas.openxmlformats.org/officeDocument/2006/relationships/slideLayout" Target="../slideLayouts/slideLayout14.xml"/></Relationships>
</file>

<file path=ppt/slides/_rels/slide2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4.xml"/><Relationship Id="rId1" Type="http://schemas.openxmlformats.org/officeDocument/2006/relationships/slideLayout" Target="../slideLayouts/slideLayout14.xml"/></Relationships>
</file>

<file path=ppt/slides/_rels/slide2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5.xml"/><Relationship Id="rId1" Type="http://schemas.openxmlformats.org/officeDocument/2006/relationships/slideLayout" Target="../slideLayouts/slideLayout14.xml"/></Relationships>
</file>

<file path=ppt/slides/_rels/slide2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6.xml"/><Relationship Id="rId1" Type="http://schemas.openxmlformats.org/officeDocument/2006/relationships/slideLayout" Target="../slideLayouts/slideLayout14.xml"/></Relationships>
</file>

<file path=ppt/slides/_rels/slide2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7.xml"/><Relationship Id="rId1" Type="http://schemas.openxmlformats.org/officeDocument/2006/relationships/slideLayout" Target="../slideLayouts/slideLayout14.xml"/></Relationships>
</file>

<file path=ppt/slides/_rels/slide2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8.xml"/><Relationship Id="rId1" Type="http://schemas.openxmlformats.org/officeDocument/2006/relationships/slideLayout" Target="../slideLayouts/slideLayout14.xml"/></Relationships>
</file>

<file path=ppt/slides/_rels/slide2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9.xml"/><Relationship Id="rId1" Type="http://schemas.openxmlformats.org/officeDocument/2006/relationships/slideLayout" Target="../slideLayouts/slideLayout14.xml"/></Relationships>
</file>

<file path=ppt/slides/_rels/slide2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0.xml"/><Relationship Id="rId1" Type="http://schemas.openxmlformats.org/officeDocument/2006/relationships/slideLayout" Target="../slideLayouts/slideLayout14.xml"/></Relationships>
</file>

<file path=ppt/slides/_rels/slide2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1.xml"/><Relationship Id="rId1" Type="http://schemas.openxmlformats.org/officeDocument/2006/relationships/slideLayout" Target="../slideLayouts/slideLayout14.xml"/></Relationships>
</file>

<file path=ppt/slides/_rels/slide3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2.xml"/><Relationship Id="rId1" Type="http://schemas.openxmlformats.org/officeDocument/2006/relationships/slideLayout" Target="../slideLayouts/slideLayout14.xml"/></Relationships>
</file>

<file path=ppt/slides/_rels/slide3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3.xml"/><Relationship Id="rId1" Type="http://schemas.openxmlformats.org/officeDocument/2006/relationships/slideLayout" Target="../slideLayouts/slideLayout14.xml"/></Relationships>
</file>

<file path=ppt/slides/_rels/slide3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4.xml"/><Relationship Id="rId1" Type="http://schemas.openxmlformats.org/officeDocument/2006/relationships/slideLayout" Target="../slideLayouts/slideLayout14.xml"/></Relationships>
</file>

<file path=ppt/slides/_rels/slide3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5.xml"/><Relationship Id="rId1" Type="http://schemas.openxmlformats.org/officeDocument/2006/relationships/slideLayout" Target="../slideLayouts/slideLayout14.xml"/></Relationships>
</file>

<file path=ppt/slides/_rels/slide3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6.xml"/><Relationship Id="rId1" Type="http://schemas.openxmlformats.org/officeDocument/2006/relationships/slideLayout" Target="../slideLayouts/slideLayout14.xml"/></Relationships>
</file>

<file path=ppt/slides/_rels/slide3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7.xml"/><Relationship Id="rId1" Type="http://schemas.openxmlformats.org/officeDocument/2006/relationships/slideLayout" Target="../slideLayouts/slideLayout14.xml"/></Relationships>
</file>

<file path=ppt/slides/_rels/slide3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8.xml"/><Relationship Id="rId1" Type="http://schemas.openxmlformats.org/officeDocument/2006/relationships/slideLayout" Target="../slideLayouts/slideLayout14.xml"/></Relationships>
</file>

<file path=ppt/slides/_rels/slide3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9.xml"/><Relationship Id="rId1" Type="http://schemas.openxmlformats.org/officeDocument/2006/relationships/slideLayout" Target="../slideLayouts/slideLayout14.xml"/></Relationships>
</file>

<file path=ppt/slides/_rels/slide3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0.xml"/><Relationship Id="rId1" Type="http://schemas.openxmlformats.org/officeDocument/2006/relationships/slideLayout" Target="../slideLayouts/slideLayout14.xml"/></Relationships>
</file>

<file path=ppt/slides/_rels/slide3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1.xml"/><Relationship Id="rId1" Type="http://schemas.openxmlformats.org/officeDocument/2006/relationships/slideLayout" Target="../slideLayouts/slideLayout14.xml"/></Relationships>
</file>

<file path=ppt/slides/_rels/slide3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2.xml"/><Relationship Id="rId1" Type="http://schemas.openxmlformats.org/officeDocument/2006/relationships/slideLayout" Target="../slideLayouts/slideLayout14.xml"/></Relationships>
</file>

<file path=ppt/slides/_rels/slide3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3.xml"/><Relationship Id="rId1" Type="http://schemas.openxmlformats.org/officeDocument/2006/relationships/slideLayout" Target="../slideLayouts/slideLayout14.xml"/></Relationships>
</file>

<file path=ppt/slides/_rels/slide3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4.xml"/><Relationship Id="rId1" Type="http://schemas.openxmlformats.org/officeDocument/2006/relationships/slideLayout" Target="../slideLayouts/slideLayout14.xml"/></Relationships>
</file>

<file path=ppt/slides/_rels/slide3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5.xml"/><Relationship Id="rId1" Type="http://schemas.openxmlformats.org/officeDocument/2006/relationships/slideLayout" Target="../slideLayouts/slideLayout14.xml"/></Relationships>
</file>

<file path=ppt/slides/_rels/slide3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6.xml"/><Relationship Id="rId1" Type="http://schemas.openxmlformats.org/officeDocument/2006/relationships/slideLayout" Target="../slideLayouts/slideLayout14.xml"/></Relationships>
</file>

<file path=ppt/slides/_rels/slide3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7.xml"/><Relationship Id="rId1" Type="http://schemas.openxmlformats.org/officeDocument/2006/relationships/slideLayout" Target="../slideLayouts/slideLayout14.xml"/></Relationships>
</file>

<file path=ppt/slides/_rels/slide3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8.xml"/><Relationship Id="rId1" Type="http://schemas.openxmlformats.org/officeDocument/2006/relationships/slideLayout" Target="../slideLayouts/slideLayout14.xml"/></Relationships>
</file>

<file path=ppt/slides/_rels/slide3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9.xml"/><Relationship Id="rId1" Type="http://schemas.openxmlformats.org/officeDocument/2006/relationships/slideLayout" Target="../slideLayouts/slideLayout14.xml"/></Relationships>
</file>

<file path=ppt/slides/_rels/slide3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0.xml"/><Relationship Id="rId1" Type="http://schemas.openxmlformats.org/officeDocument/2006/relationships/slideLayout" Target="../slideLayouts/slideLayout14.xml"/></Relationships>
</file>

<file path=ppt/slides/_rels/slide3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1.xml"/><Relationship Id="rId1" Type="http://schemas.openxmlformats.org/officeDocument/2006/relationships/slideLayout" Target="../slideLayouts/slideLayout14.xml"/></Relationships>
</file>

<file path=ppt/slides/_rels/slide3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2.xml"/><Relationship Id="rId1" Type="http://schemas.openxmlformats.org/officeDocument/2006/relationships/slideLayout" Target="../slideLayouts/slideLayout14.xml"/></Relationships>
</file>

<file path=ppt/slides/_rels/slide3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3.xml"/><Relationship Id="rId1" Type="http://schemas.openxmlformats.org/officeDocument/2006/relationships/slideLayout" Target="../slideLayouts/slideLayout14.xml"/></Relationships>
</file>

<file path=ppt/slides/_rels/slide3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4.xml"/><Relationship Id="rId1" Type="http://schemas.openxmlformats.org/officeDocument/2006/relationships/slideLayout" Target="../slideLayouts/slideLayout14.xml"/></Relationships>
</file>

<file path=ppt/slides/_rels/slide3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5.xml"/><Relationship Id="rId1" Type="http://schemas.openxmlformats.org/officeDocument/2006/relationships/slideLayout" Target="../slideLayouts/slideLayout14.xml"/></Relationships>
</file>

<file path=ppt/slides/_rels/slide3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6.xml"/><Relationship Id="rId1" Type="http://schemas.openxmlformats.org/officeDocument/2006/relationships/slideLayout" Target="../slideLayouts/slideLayout14.xml"/></Relationships>
</file>

<file path=ppt/slides/_rels/slide3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7.xml"/><Relationship Id="rId1" Type="http://schemas.openxmlformats.org/officeDocument/2006/relationships/slideLayout" Target="../slideLayouts/slideLayout14.xml"/></Relationships>
</file>

<file path=ppt/slides/_rels/slide3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8.xml"/><Relationship Id="rId1" Type="http://schemas.openxmlformats.org/officeDocument/2006/relationships/slideLayout" Target="../slideLayouts/slideLayout14.xml"/></Relationships>
</file>

<file path=ppt/slides/_rels/slide3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9.xml"/><Relationship Id="rId1" Type="http://schemas.openxmlformats.org/officeDocument/2006/relationships/slideLayout" Target="../slideLayouts/slideLayout14.xml"/></Relationships>
</file>

<file path=ppt/slides/_rels/slide3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0.xml"/><Relationship Id="rId1" Type="http://schemas.openxmlformats.org/officeDocument/2006/relationships/slideLayout" Target="../slideLayouts/slideLayout14.xml"/></Relationships>
</file>

<file path=ppt/slides/_rels/slide3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1.xml"/><Relationship Id="rId1" Type="http://schemas.openxmlformats.org/officeDocument/2006/relationships/slideLayout" Target="../slideLayouts/slideLayout14.xml"/></Relationships>
</file>

<file path=ppt/slides/_rels/slide3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2.xml"/><Relationship Id="rId1" Type="http://schemas.openxmlformats.org/officeDocument/2006/relationships/slideLayout" Target="../slideLayouts/slideLayout14.xml"/></Relationships>
</file>

<file path=ppt/slides/_rels/slide3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4.xml"/></Relationships>
</file>

<file path=ppt/slides/_rels/slide3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3.xml"/><Relationship Id="rId1" Type="http://schemas.openxmlformats.org/officeDocument/2006/relationships/slideLayout" Target="../slideLayouts/slideLayout14.xml"/></Relationships>
</file>

<file path=ppt/slides/_rels/slide3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4.xml"/><Relationship Id="rId1" Type="http://schemas.openxmlformats.org/officeDocument/2006/relationships/slideLayout" Target="../slideLayouts/slideLayout14.xml"/></Relationships>
</file>

<file path=ppt/slides/_rels/slide3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5.xml"/><Relationship Id="rId1" Type="http://schemas.openxmlformats.org/officeDocument/2006/relationships/slideLayout" Target="../slideLayouts/slideLayout14.xml"/></Relationships>
</file>

<file path=ppt/slides/_rels/slide3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6.xml"/><Relationship Id="rId1" Type="http://schemas.openxmlformats.org/officeDocument/2006/relationships/slideLayout" Target="../slideLayouts/slideLayout14.xml"/></Relationships>
</file>

<file path=ppt/slides/_rels/slide3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7.xml"/><Relationship Id="rId1" Type="http://schemas.openxmlformats.org/officeDocument/2006/relationships/slideLayout" Target="../slideLayouts/slideLayout14.xml"/></Relationships>
</file>

<file path=ppt/slides/_rels/slide3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8.xml"/><Relationship Id="rId1" Type="http://schemas.openxmlformats.org/officeDocument/2006/relationships/slideLayout" Target="../slideLayouts/slideLayout14.xml"/></Relationships>
</file>

<file path=ppt/slides/_rels/slide3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9.xml"/><Relationship Id="rId1" Type="http://schemas.openxmlformats.org/officeDocument/2006/relationships/slideLayout" Target="../slideLayouts/slideLayout14.xml"/></Relationships>
</file>

<file path=ppt/slides/_rels/slide3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0.xml"/><Relationship Id="rId1" Type="http://schemas.openxmlformats.org/officeDocument/2006/relationships/slideLayout" Target="../slideLayouts/slideLayout14.xml"/></Relationships>
</file>

<file path=ppt/slides/_rels/slide3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1.xml"/><Relationship Id="rId1" Type="http://schemas.openxmlformats.org/officeDocument/2006/relationships/slideLayout" Target="../slideLayouts/slideLayout14.xml"/></Relationships>
</file>

<file path=ppt/slides/_rels/slide3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2.xml"/><Relationship Id="rId1" Type="http://schemas.openxmlformats.org/officeDocument/2006/relationships/slideLayout" Target="../slideLayouts/slideLayout14.xml"/></Relationships>
</file>

<file path=ppt/slides/_rels/slide3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3.xml"/><Relationship Id="rId1" Type="http://schemas.openxmlformats.org/officeDocument/2006/relationships/slideLayout" Target="../slideLayouts/slideLayout14.xml"/></Relationships>
</file>

<file path=ppt/slides/_rels/slide3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4.xml"/><Relationship Id="rId1" Type="http://schemas.openxmlformats.org/officeDocument/2006/relationships/slideLayout" Target="../slideLayouts/slideLayout14.xml"/></Relationships>
</file>

<file path=ppt/slides/_rels/slide3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5.xml"/><Relationship Id="rId1" Type="http://schemas.openxmlformats.org/officeDocument/2006/relationships/slideLayout" Target="../slideLayouts/slideLayout14.xml"/></Relationships>
</file>

<file path=ppt/slides/_rels/slide3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6.xml"/><Relationship Id="rId1" Type="http://schemas.openxmlformats.org/officeDocument/2006/relationships/slideLayout" Target="../slideLayouts/slideLayout14.xml"/></Relationships>
</file>

<file path=ppt/slides/_rels/slide3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7.xml"/><Relationship Id="rId1" Type="http://schemas.openxmlformats.org/officeDocument/2006/relationships/slideLayout" Target="../slideLayouts/slideLayout14.xml"/></Relationships>
</file>

<file path=ppt/slides/_rels/slide3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8.xml"/><Relationship Id="rId1" Type="http://schemas.openxmlformats.org/officeDocument/2006/relationships/slideLayout" Target="../slideLayouts/slideLayout14.xml"/></Relationships>
</file>

<file path=ppt/slides/_rels/slide3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9.xml"/><Relationship Id="rId1" Type="http://schemas.openxmlformats.org/officeDocument/2006/relationships/slideLayout" Target="../slideLayouts/slideLayout14.xml"/></Relationships>
</file>

<file path=ppt/slides/_rels/slide3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0.xml"/><Relationship Id="rId1" Type="http://schemas.openxmlformats.org/officeDocument/2006/relationships/slideLayout" Target="../slideLayouts/slideLayout14.xml"/></Relationships>
</file>

<file path=ppt/slides/_rels/slide3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1.xml"/><Relationship Id="rId1" Type="http://schemas.openxmlformats.org/officeDocument/2006/relationships/slideLayout" Target="../slideLayouts/slideLayout14.xml"/></Relationships>
</file>

<file path=ppt/slides/_rels/slide3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2.xml"/><Relationship Id="rId1" Type="http://schemas.openxmlformats.org/officeDocument/2006/relationships/slideLayout" Target="../slideLayouts/slideLayout14.xml"/></Relationships>
</file>

<file path=ppt/slides/_rels/slide3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3.xml"/><Relationship Id="rId1" Type="http://schemas.openxmlformats.org/officeDocument/2006/relationships/slideLayout" Target="../slideLayouts/slideLayout14.xml"/></Relationships>
</file>

<file path=ppt/slides/_rels/slide3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4.xml"/><Relationship Id="rId1" Type="http://schemas.openxmlformats.org/officeDocument/2006/relationships/slideLayout" Target="../slideLayouts/slideLayout14.xml"/></Relationships>
</file>

<file path=ppt/slides/_rels/slide3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5.xml"/><Relationship Id="rId1" Type="http://schemas.openxmlformats.org/officeDocument/2006/relationships/slideLayout" Target="../slideLayouts/slideLayout14.xml"/></Relationships>
</file>

<file path=ppt/slides/_rels/slide3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6.xml"/><Relationship Id="rId1" Type="http://schemas.openxmlformats.org/officeDocument/2006/relationships/slideLayout" Target="../slideLayouts/slideLayout14.xml"/></Relationships>
</file>

<file path=ppt/slides/_rels/slide3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7.xml"/><Relationship Id="rId1" Type="http://schemas.openxmlformats.org/officeDocument/2006/relationships/slideLayout" Target="../slideLayouts/slideLayout14.xml"/></Relationships>
</file>

<file path=ppt/slides/_rels/slide3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8.xml"/><Relationship Id="rId1" Type="http://schemas.openxmlformats.org/officeDocument/2006/relationships/slideLayout" Target="../slideLayouts/slideLayout14.xml"/></Relationships>
</file>

<file path=ppt/slides/_rels/slide3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9.xml"/><Relationship Id="rId1" Type="http://schemas.openxmlformats.org/officeDocument/2006/relationships/slideLayout" Target="../slideLayouts/slideLayout14.xml"/></Relationships>
</file>

<file path=ppt/slides/_rels/slide3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0.xml"/><Relationship Id="rId1" Type="http://schemas.openxmlformats.org/officeDocument/2006/relationships/slideLayout" Target="../slideLayouts/slideLayout14.xml"/></Relationships>
</file>

<file path=ppt/slides/_rels/slide3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1.xml"/><Relationship Id="rId1" Type="http://schemas.openxmlformats.org/officeDocument/2006/relationships/slideLayout" Target="../slideLayouts/slideLayout14.xml"/></Relationships>
</file>

<file path=ppt/slides/_rels/slide3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2.xml"/><Relationship Id="rId1" Type="http://schemas.openxmlformats.org/officeDocument/2006/relationships/slideLayout" Target="../slideLayouts/slideLayout14.xml"/></Relationships>
</file>

<file path=ppt/slides/_rels/slide3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3.xml"/><Relationship Id="rId1" Type="http://schemas.openxmlformats.org/officeDocument/2006/relationships/slideLayout" Target="../slideLayouts/slideLayout14.xml"/></Relationships>
</file>

<file path=ppt/slides/_rels/slide3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4.xml"/><Relationship Id="rId1" Type="http://schemas.openxmlformats.org/officeDocument/2006/relationships/slideLayout" Target="../slideLayouts/slideLayout14.xml"/></Relationships>
</file>

<file path=ppt/slides/_rels/slide3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5.xml"/><Relationship Id="rId1" Type="http://schemas.openxmlformats.org/officeDocument/2006/relationships/slideLayout" Target="../slideLayouts/slideLayout14.xml"/></Relationships>
</file>

<file path=ppt/slides/_rels/slide3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>
          <a:xfrm>
            <a:off x="2957561" y="2954215"/>
            <a:ext cx="2836570" cy="1004665"/>
          </a:xfrm>
        </p:spPr>
        <p:txBody>
          <a:bodyPr/>
          <a:lstStyle/>
          <a:p>
            <a:pPr eaLnBrk="1" hangingPunct="1">
              <a:buSzPct val="61000"/>
              <a:tabLst>
                <a:tab pos="0" algn="l"/>
                <a:tab pos="446088" algn="l"/>
                <a:tab pos="893763" algn="l"/>
                <a:tab pos="1341438" algn="l"/>
                <a:tab pos="1789113" algn="l"/>
                <a:tab pos="2236788" algn="l"/>
                <a:tab pos="2684463" algn="l"/>
                <a:tab pos="3132138" algn="l"/>
                <a:tab pos="3579813" algn="l"/>
                <a:tab pos="4027488" algn="l"/>
                <a:tab pos="4475163" algn="l"/>
                <a:tab pos="4922838" algn="l"/>
                <a:tab pos="5370513" algn="l"/>
                <a:tab pos="5818188" algn="l"/>
                <a:tab pos="6265863" algn="l"/>
                <a:tab pos="6713538" algn="l"/>
                <a:tab pos="7161213" algn="l"/>
                <a:tab pos="7608888" algn="l"/>
                <a:tab pos="8056563" algn="l"/>
                <a:tab pos="8504238" algn="l"/>
                <a:tab pos="8951913" algn="l"/>
              </a:tabLst>
            </a:pPr>
            <a:r>
              <a:rPr lang="en-GB" altLang="en-US" sz="3600" dirty="0"/>
              <a:t>Hash Tables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4294967295"/>
          </p:nvPr>
        </p:nvSpPr>
        <p:spPr>
          <a:xfrm>
            <a:off x="1175446" y="4211148"/>
            <a:ext cx="6400800" cy="2771775"/>
          </a:xfrm>
        </p:spPr>
        <p:txBody>
          <a:bodyPr/>
          <a:lstStyle/>
          <a:p>
            <a:pPr marL="0" indent="0" algn="ctr">
              <a:spcBef>
                <a:spcPts val="1675"/>
              </a:spcBef>
              <a:buSzPct val="49000"/>
              <a:buFont typeface="Times New Roman" panose="02020603050405020304" pitchFamily="18" charset="0"/>
              <a:buNone/>
              <a:tabLst>
                <a:tab pos="103188" algn="l"/>
                <a:tab pos="550863" algn="l"/>
                <a:tab pos="998538" algn="l"/>
                <a:tab pos="1446213" algn="l"/>
                <a:tab pos="1893888" algn="l"/>
                <a:tab pos="2341563" algn="l"/>
                <a:tab pos="2789238" algn="l"/>
                <a:tab pos="3236913" algn="l"/>
                <a:tab pos="3684588" algn="l"/>
                <a:tab pos="4132263" algn="l"/>
                <a:tab pos="4579938" algn="l"/>
                <a:tab pos="5029200" algn="l"/>
                <a:tab pos="5475288" algn="l"/>
                <a:tab pos="5922963" algn="l"/>
                <a:tab pos="6370638" algn="l"/>
                <a:tab pos="6818313" algn="l"/>
                <a:tab pos="7265988" algn="l"/>
                <a:tab pos="7713663" algn="l"/>
                <a:tab pos="8161338" algn="l"/>
                <a:tab pos="8609013" algn="l"/>
              </a:tabLst>
            </a:pPr>
            <a:r>
              <a:rPr lang="en-US" altLang="en-US" sz="2700" dirty="0"/>
              <a:t>Computer Science 112</a:t>
            </a:r>
            <a:br>
              <a:rPr lang="en-US" altLang="en-US" sz="2700" dirty="0"/>
            </a:br>
            <a:r>
              <a:rPr lang="en-US" altLang="en-US" sz="2700" dirty="0"/>
              <a:t>Boston University</a:t>
            </a:r>
            <a:endParaRPr lang="en-GB" altLang="en-US" sz="2700" dirty="0"/>
          </a:p>
          <a:p>
            <a:pPr marL="0" indent="0" algn="ctr">
              <a:spcBef>
                <a:spcPts val="1675"/>
              </a:spcBef>
              <a:buSzPct val="49000"/>
              <a:buFont typeface="Times New Roman" panose="02020603050405020304" pitchFamily="18" charset="0"/>
              <a:buNone/>
              <a:tabLst>
                <a:tab pos="103188" algn="l"/>
                <a:tab pos="550863" algn="l"/>
                <a:tab pos="998538" algn="l"/>
                <a:tab pos="1446213" algn="l"/>
                <a:tab pos="1893888" algn="l"/>
                <a:tab pos="2341563" algn="l"/>
                <a:tab pos="2789238" algn="l"/>
                <a:tab pos="3236913" algn="l"/>
                <a:tab pos="3684588" algn="l"/>
                <a:tab pos="4132263" algn="l"/>
                <a:tab pos="4579938" algn="l"/>
                <a:tab pos="5029200" algn="l"/>
                <a:tab pos="5475288" algn="l"/>
                <a:tab pos="5922963" algn="l"/>
                <a:tab pos="6370638" algn="l"/>
                <a:tab pos="6818313" algn="l"/>
                <a:tab pos="7265988" algn="l"/>
                <a:tab pos="7713663" algn="l"/>
                <a:tab pos="8161338" algn="l"/>
                <a:tab pos="8609013" algn="l"/>
              </a:tabLst>
            </a:pPr>
            <a:r>
              <a:rPr lang="en-GB" altLang="en-US" sz="2700" dirty="0"/>
              <a:t>Christine </a:t>
            </a:r>
            <a:r>
              <a:rPr lang="en-GB" altLang="en-US" sz="2700" dirty="0" err="1"/>
              <a:t>Papadakis-Kanaris</a:t>
            </a:r>
            <a:endParaRPr lang="en-GB" altLang="en-US" sz="2700" dirty="0"/>
          </a:p>
          <a:p>
            <a:pPr marL="0" indent="0" algn="ctr">
              <a:spcBef>
                <a:spcPts val="1175"/>
              </a:spcBef>
              <a:buSzTx/>
              <a:buFont typeface="Times New Roman" panose="02020603050405020304" pitchFamily="18" charset="0"/>
              <a:buNone/>
              <a:tabLst>
                <a:tab pos="103188" algn="l"/>
                <a:tab pos="550863" algn="l"/>
                <a:tab pos="998538" algn="l"/>
                <a:tab pos="1446213" algn="l"/>
                <a:tab pos="1893888" algn="l"/>
                <a:tab pos="2341563" algn="l"/>
                <a:tab pos="2789238" algn="l"/>
                <a:tab pos="3236913" algn="l"/>
                <a:tab pos="3684588" algn="l"/>
                <a:tab pos="4132263" algn="l"/>
                <a:tab pos="4579938" algn="l"/>
                <a:tab pos="5029200" algn="l"/>
                <a:tab pos="5475288" algn="l"/>
                <a:tab pos="5922963" algn="l"/>
                <a:tab pos="6370638" algn="l"/>
                <a:tab pos="6818313" algn="l"/>
                <a:tab pos="7265988" algn="l"/>
                <a:tab pos="7713663" algn="l"/>
                <a:tab pos="8161338" algn="l"/>
                <a:tab pos="8609013" algn="l"/>
              </a:tabLst>
            </a:pPr>
            <a:endParaRPr lang="en-GB" altLang="en-US" sz="2000" dirty="0"/>
          </a:p>
          <a:p>
            <a:pPr marL="0" indent="0" algn="ctr">
              <a:spcBef>
                <a:spcPts val="1175"/>
              </a:spcBef>
              <a:buSzTx/>
              <a:buFont typeface="Times New Roman" panose="02020603050405020304" pitchFamily="18" charset="0"/>
              <a:buNone/>
              <a:tabLst>
                <a:tab pos="103188" algn="l"/>
                <a:tab pos="550863" algn="l"/>
                <a:tab pos="998538" algn="l"/>
                <a:tab pos="1446213" algn="l"/>
                <a:tab pos="1893888" algn="l"/>
                <a:tab pos="2341563" algn="l"/>
                <a:tab pos="2789238" algn="l"/>
                <a:tab pos="3236913" algn="l"/>
                <a:tab pos="3684588" algn="l"/>
                <a:tab pos="4132263" algn="l"/>
                <a:tab pos="4579938" algn="l"/>
                <a:tab pos="5029200" algn="l"/>
                <a:tab pos="5475288" algn="l"/>
                <a:tab pos="5922963" algn="l"/>
                <a:tab pos="6370638" algn="l"/>
                <a:tab pos="6818313" algn="l"/>
                <a:tab pos="7265988" algn="l"/>
                <a:tab pos="7713663" algn="l"/>
                <a:tab pos="8161338" algn="l"/>
                <a:tab pos="8609013" algn="l"/>
              </a:tabLst>
            </a:pPr>
            <a:endParaRPr lang="en-GB" altLang="en-US" sz="20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1049" y="59126"/>
            <a:ext cx="5249594" cy="2642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2237656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Data Dictionary Revisited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382000" cy="5614988"/>
          </a:xfrm>
        </p:spPr>
        <p:txBody>
          <a:bodyPr/>
          <a:lstStyle/>
          <a:p>
            <a:r>
              <a:rPr lang="en-US" altLang="en-US" dirty="0"/>
              <a:t>We've considered several data structures that allow us to store and search for data items using their </a:t>
            </a:r>
            <a:r>
              <a:rPr lang="en-US" altLang="en-US" i="1" dirty="0"/>
              <a:t>keys</a:t>
            </a:r>
            <a:r>
              <a:rPr lang="en-US" altLang="en-US" dirty="0"/>
              <a:t> fields:</a:t>
            </a:r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</p:txBody>
      </p:sp>
      <p:graphicFrame>
        <p:nvGraphicFramePr>
          <p:cNvPr id="2407429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980873"/>
              </p:ext>
            </p:extLst>
          </p:nvPr>
        </p:nvGraphicFramePr>
        <p:xfrm>
          <a:off x="814388" y="1743075"/>
          <a:ext cx="8016875" cy="3338714"/>
        </p:xfrm>
        <a:graphic>
          <a:graphicData uri="http://schemas.openxmlformats.org/drawingml/2006/table">
            <a:tbl>
              <a:tblPr/>
              <a:tblGrid>
                <a:gridCol w="26558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71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892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5796">
                <a:tc>
                  <a:txBody>
                    <a:bodyPr/>
                    <a:lstStyle/>
                    <a:p>
                      <a:pPr marL="0" marR="0" lvl="0" indent="0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lvetica" pitchFamily="34" charset="0"/>
                        </a:rPr>
                        <a:t>data structure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lvetica" pitchFamily="34" charset="0"/>
                        </a:rPr>
                        <a:t>searching for an item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lvetica" pitchFamily="34" charset="0"/>
                        </a:rPr>
                        <a:t>inserting an item</a:t>
                      </a: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8436">
                <a:tc>
                  <a:txBody>
                    <a:bodyPr/>
                    <a:lstStyle/>
                    <a:p>
                      <a:pPr marL="0" marR="0" lvl="0" indent="0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lvetica" pitchFamily="34" charset="0"/>
                        </a:rPr>
                        <a:t>a list implemented using an array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800" b="0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lvetica" pitchFamily="34" charset="0"/>
                        </a:rPr>
                        <a:t>O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lvetica" pitchFamily="34" charset="0"/>
                        </a:rPr>
                        <a:t>(log n) </a:t>
                      </a:r>
                    </a:p>
                    <a:p>
                      <a:pPr marL="0" marR="0" lvl="0" indent="0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lvetica" pitchFamily="34" charset="0"/>
                        </a:rPr>
                        <a:t>using binary search</a:t>
                      </a:r>
                      <a:endParaRPr kumimoji="0" lang="en-US" sz="1800" b="0" i="1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Helvetica" pitchFamily="34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lvetica" pitchFamily="34" charset="0"/>
                        </a:rPr>
                        <a:t>O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lvetica" pitchFamily="34" charset="0"/>
                        </a:rPr>
                        <a:t>(n) if order of insertion does not matter. </a:t>
                      </a:r>
                    </a:p>
                    <a:p>
                      <a:pPr marL="0" marR="0" lvl="0" indent="0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Helvetica" pitchFamily="34" charset="0"/>
                      </a:endParaRP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8436">
                <a:tc>
                  <a:txBody>
                    <a:bodyPr/>
                    <a:lstStyle/>
                    <a:p>
                      <a:pPr marL="0" marR="0" lvl="0" indent="0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</a:rPr>
                        <a:t>a list implemented using a linked list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</a:rPr>
                        <a:t>O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</a:rPr>
                        <a:t>(n)</a:t>
                      </a:r>
                    </a:p>
                    <a:p>
                      <a:pPr marL="0" marR="0" lvl="0" indent="0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</a:rPr>
                        <a:t>using linear search </a:t>
                      </a:r>
                      <a:endParaRPr kumimoji="0" lang="en-US" sz="18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</a:rPr>
                        <a:t>O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</a:rPr>
                        <a:t>(n)</a:t>
                      </a:r>
                    </a:p>
                    <a:p>
                      <a:pPr marL="0" marR="0" lvl="0" indent="0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</a:endParaRP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54">
                <a:tc>
                  <a:txBody>
                    <a:bodyPr/>
                    <a:lstStyle/>
                    <a:p>
                      <a:pPr marL="0" marR="0" lvl="0" indent="0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</a:rPr>
                        <a:t>binary search tree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31775" marR="0" lvl="0" indent="-231775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Helvetica" pitchFamily="34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31775" marR="0" lvl="0" indent="-231775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Helvetica" pitchFamily="34" charset="0"/>
                      </a:endParaRP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54">
                <a:tc>
                  <a:txBody>
                    <a:bodyPr/>
                    <a:lstStyle/>
                    <a:p>
                      <a:pPr marL="0" marR="0" lvl="0" indent="0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</a:rPr>
                        <a:t>balanced search trees </a:t>
                      </a:r>
                      <a:b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</a:rPr>
                      </a:b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31775" marR="0" lvl="0" indent="-231775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Helvetica" pitchFamily="34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31775" marR="0" lvl="0" indent="-231775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Helvetica" pitchFamily="34" charset="0"/>
                      </a:endParaRP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43815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Data Dictionary Revisited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382000" cy="5614988"/>
          </a:xfrm>
        </p:spPr>
        <p:txBody>
          <a:bodyPr/>
          <a:lstStyle/>
          <a:p>
            <a:r>
              <a:rPr lang="en-US" altLang="en-US" dirty="0"/>
              <a:t>We've considered several data structures that allow us to store and search for data items using their </a:t>
            </a:r>
            <a:r>
              <a:rPr lang="en-US" altLang="en-US" i="1" dirty="0"/>
              <a:t>keys</a:t>
            </a:r>
            <a:r>
              <a:rPr lang="en-US" altLang="en-US" dirty="0"/>
              <a:t> fields:</a:t>
            </a:r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</p:txBody>
      </p:sp>
      <p:graphicFrame>
        <p:nvGraphicFramePr>
          <p:cNvPr id="3023876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8452861"/>
              </p:ext>
            </p:extLst>
          </p:nvPr>
        </p:nvGraphicFramePr>
        <p:xfrm>
          <a:off x="814388" y="1743075"/>
          <a:ext cx="8016875" cy="3338714"/>
        </p:xfrm>
        <a:graphic>
          <a:graphicData uri="http://schemas.openxmlformats.org/drawingml/2006/table">
            <a:tbl>
              <a:tblPr/>
              <a:tblGrid>
                <a:gridCol w="26558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71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892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5796">
                <a:tc>
                  <a:txBody>
                    <a:bodyPr/>
                    <a:lstStyle/>
                    <a:p>
                      <a:pPr marL="0" marR="0" lvl="0" indent="0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lvetica" pitchFamily="34" charset="0"/>
                        </a:rPr>
                        <a:t>data structure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lvetica" pitchFamily="34" charset="0"/>
                        </a:rPr>
                        <a:t>searching for an item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lvetica" pitchFamily="34" charset="0"/>
                        </a:rPr>
                        <a:t>inserting an item</a:t>
                      </a: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8436">
                <a:tc>
                  <a:txBody>
                    <a:bodyPr/>
                    <a:lstStyle/>
                    <a:p>
                      <a:pPr marL="0" marR="0" lvl="0" indent="0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lvetica" pitchFamily="34" charset="0"/>
                        </a:rPr>
                        <a:t>a list implemented using an array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800" b="0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lvetica" pitchFamily="34" charset="0"/>
                        </a:rPr>
                        <a:t>O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lvetica" pitchFamily="34" charset="0"/>
                        </a:rPr>
                        <a:t>(log n) </a:t>
                      </a:r>
                    </a:p>
                    <a:p>
                      <a:pPr marL="0" marR="0" lvl="0" indent="0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lvetica" pitchFamily="34" charset="0"/>
                        </a:rPr>
                        <a:t>using binary search</a:t>
                      </a:r>
                      <a:endParaRPr kumimoji="0" lang="en-US" sz="1800" b="0" i="1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Helvetica" pitchFamily="34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lvetica" pitchFamily="34" charset="0"/>
                        </a:rPr>
                        <a:t>O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lvetica" pitchFamily="34" charset="0"/>
                        </a:rPr>
                        <a:t>(n) if order of insertion does not matter.</a:t>
                      </a:r>
                    </a:p>
                    <a:p>
                      <a:pPr marL="0" marR="0" lvl="0" indent="0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Helvetica" pitchFamily="34" charset="0"/>
                      </a:endParaRP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8436">
                <a:tc>
                  <a:txBody>
                    <a:bodyPr/>
                    <a:lstStyle/>
                    <a:p>
                      <a:pPr marL="0" marR="0" lvl="0" indent="0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</a:rPr>
                        <a:t>a list implemented using a linked list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</a:rPr>
                        <a:t>O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</a:rPr>
                        <a:t>(n)</a:t>
                      </a:r>
                    </a:p>
                    <a:p>
                      <a:pPr marL="0" marR="0" lvl="0" indent="0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</a:rPr>
                        <a:t>using linear search </a:t>
                      </a:r>
                      <a:endParaRPr kumimoji="0" lang="en-US" sz="18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</a:rPr>
                        <a:t>O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</a:rPr>
                        <a:t>(n)</a:t>
                      </a:r>
                    </a:p>
                    <a:p>
                      <a:pPr marL="0" marR="0" lvl="0" indent="0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</a:endParaRP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54">
                <a:tc>
                  <a:txBody>
                    <a:bodyPr/>
                    <a:lstStyle/>
                    <a:p>
                      <a:pPr marL="0" marR="0" lvl="0" indent="0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</a:rPr>
                        <a:t>binary search tree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31775" marR="0" lvl="0" indent="-231775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Helvetica" pitchFamily="34" charset="0"/>
                        </a:rPr>
                        <a:t>O</a:t>
                      </a: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Helvetica" pitchFamily="34" charset="0"/>
                        </a:rPr>
                        <a:t>(log</a:t>
                      </a:r>
                      <a:r>
                        <a:rPr kumimoji="0" 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Helvetica" pitchFamily="34" charset="0"/>
                        </a:rPr>
                        <a:t> </a:t>
                      </a: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Helvetica" pitchFamily="34" charset="0"/>
                        </a:rPr>
                        <a:t>n) if balanced</a:t>
                      </a:r>
                    </a:p>
                    <a:p>
                      <a:pPr marL="231775" marR="0" lvl="0" indent="-231775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Helvetica" pitchFamily="34" charset="0"/>
                        </a:rPr>
                        <a:t>O</a:t>
                      </a: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Helvetica" pitchFamily="34" charset="0"/>
                        </a:rPr>
                        <a:t>(n) if not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31775" marR="0" lvl="0" indent="-231775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Helvetica" pitchFamily="34" charset="0"/>
                        </a:rPr>
                        <a:t>O</a:t>
                      </a: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Helvetica" pitchFamily="34" charset="0"/>
                        </a:rPr>
                        <a:t>(log</a:t>
                      </a:r>
                      <a:r>
                        <a:rPr kumimoji="0" 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Helvetica" pitchFamily="34" charset="0"/>
                        </a:rPr>
                        <a:t> </a:t>
                      </a: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Helvetica" pitchFamily="34" charset="0"/>
                        </a:rPr>
                        <a:t>n) if balanced</a:t>
                      </a:r>
                    </a:p>
                    <a:p>
                      <a:pPr marL="231775" marR="0" lvl="0" indent="-231775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Helvetica" pitchFamily="34" charset="0"/>
                        </a:rPr>
                        <a:t>O</a:t>
                      </a: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Helvetica" pitchFamily="34" charset="0"/>
                        </a:rPr>
                        <a:t>(n) if not</a:t>
                      </a: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54">
                <a:tc>
                  <a:txBody>
                    <a:bodyPr/>
                    <a:lstStyle/>
                    <a:p>
                      <a:pPr marL="0" marR="0" lvl="0" indent="0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</a:rPr>
                        <a:t>balanced search trees </a:t>
                      </a:r>
                      <a:b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</a:rPr>
                      </a:b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31775" marR="0" lvl="0" indent="-231775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Helvetica" pitchFamily="34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31775" marR="0" lvl="0" indent="-231775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Helvetica" pitchFamily="34" charset="0"/>
                      </a:endParaRP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012226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Data Dictionary Revisited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382000" cy="5614988"/>
          </a:xfrm>
        </p:spPr>
        <p:txBody>
          <a:bodyPr/>
          <a:lstStyle/>
          <a:p>
            <a:r>
              <a:rPr lang="en-US" altLang="en-US" dirty="0"/>
              <a:t>We've considered several data structures that allow us to store and search for data items using their </a:t>
            </a:r>
            <a:r>
              <a:rPr lang="en-US" altLang="en-US" i="1" dirty="0"/>
              <a:t>keys</a:t>
            </a:r>
            <a:r>
              <a:rPr lang="en-US" altLang="en-US" dirty="0"/>
              <a:t> fields:</a:t>
            </a:r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</p:txBody>
      </p:sp>
      <p:graphicFrame>
        <p:nvGraphicFramePr>
          <p:cNvPr id="3025924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7096068"/>
              </p:ext>
            </p:extLst>
          </p:nvPr>
        </p:nvGraphicFramePr>
        <p:xfrm>
          <a:off x="814388" y="1743075"/>
          <a:ext cx="8016875" cy="3338714"/>
        </p:xfrm>
        <a:graphic>
          <a:graphicData uri="http://schemas.openxmlformats.org/drawingml/2006/table">
            <a:tbl>
              <a:tblPr/>
              <a:tblGrid>
                <a:gridCol w="26558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71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892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5796">
                <a:tc>
                  <a:txBody>
                    <a:bodyPr/>
                    <a:lstStyle/>
                    <a:p>
                      <a:pPr marL="0" marR="0" lvl="0" indent="0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lvetica" pitchFamily="34" charset="0"/>
                        </a:rPr>
                        <a:t>data structure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lvetica" pitchFamily="34" charset="0"/>
                        </a:rPr>
                        <a:t>searching for an item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lvetica" pitchFamily="34" charset="0"/>
                        </a:rPr>
                        <a:t>inserting an item</a:t>
                      </a: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8436">
                <a:tc>
                  <a:txBody>
                    <a:bodyPr/>
                    <a:lstStyle/>
                    <a:p>
                      <a:pPr marL="0" marR="0" lvl="0" indent="0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lvetica" pitchFamily="34" charset="0"/>
                        </a:rPr>
                        <a:t>a list implemented using an array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800" b="0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lvetica" pitchFamily="34" charset="0"/>
                        </a:rPr>
                        <a:t>O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lvetica" pitchFamily="34" charset="0"/>
                        </a:rPr>
                        <a:t>(log n) </a:t>
                      </a:r>
                    </a:p>
                    <a:p>
                      <a:pPr marL="0" marR="0" lvl="0" indent="0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lvetica" pitchFamily="34" charset="0"/>
                        </a:rPr>
                        <a:t>using binary search</a:t>
                      </a:r>
                      <a:endParaRPr kumimoji="0" lang="en-US" sz="1800" b="0" i="1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Helvetica" pitchFamily="34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lvetica" pitchFamily="34" charset="0"/>
                        </a:rPr>
                        <a:t>O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lvetica" pitchFamily="34" charset="0"/>
                        </a:rPr>
                        <a:t>(n) if order of insertion does not matter.</a:t>
                      </a:r>
                    </a:p>
                    <a:p>
                      <a:pPr marL="0" marR="0" lvl="0" indent="0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Helvetica" pitchFamily="34" charset="0"/>
                      </a:endParaRP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8436">
                <a:tc>
                  <a:txBody>
                    <a:bodyPr/>
                    <a:lstStyle/>
                    <a:p>
                      <a:pPr marL="0" marR="0" lvl="0" indent="0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</a:rPr>
                        <a:t>a list implemented using a linked list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</a:rPr>
                        <a:t>O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</a:rPr>
                        <a:t>(n)</a:t>
                      </a:r>
                    </a:p>
                    <a:p>
                      <a:pPr marL="0" marR="0" lvl="0" indent="0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</a:rPr>
                        <a:t>using linear search </a:t>
                      </a:r>
                      <a:endParaRPr kumimoji="0" lang="en-US" sz="18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</a:rPr>
                        <a:t>O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</a:rPr>
                        <a:t>(n)</a:t>
                      </a:r>
                    </a:p>
                    <a:p>
                      <a:pPr marL="0" marR="0" lvl="0" indent="0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</a:endParaRP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54">
                <a:tc>
                  <a:txBody>
                    <a:bodyPr/>
                    <a:lstStyle/>
                    <a:p>
                      <a:pPr marL="0" marR="0" lvl="0" indent="0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</a:rPr>
                        <a:t>binary search tree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31775" marR="0" lvl="0" indent="-231775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800" b="0" i="1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Helvetica" pitchFamily="34" charset="0"/>
                        </a:rPr>
                        <a:t>O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Helvetica" pitchFamily="34" charset="0"/>
                        </a:rPr>
                        <a:t>(log</a:t>
                      </a: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Helvetica" pitchFamily="34" charset="0"/>
                        </a:rPr>
                        <a:t> 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Helvetica" pitchFamily="34" charset="0"/>
                        </a:rPr>
                        <a:t>n) if balanced</a:t>
                      </a:r>
                    </a:p>
                    <a:p>
                      <a:pPr marL="231775" marR="0" lvl="0" indent="-231775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800" b="0" i="1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Helvetica" pitchFamily="34" charset="0"/>
                        </a:rPr>
                        <a:t>O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Helvetica" pitchFamily="34" charset="0"/>
                        </a:rPr>
                        <a:t>(n) if not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31775" marR="0" lvl="0" indent="-231775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800" b="0" i="1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Helvetica" pitchFamily="34" charset="0"/>
                        </a:rPr>
                        <a:t>O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Helvetica" pitchFamily="34" charset="0"/>
                        </a:rPr>
                        <a:t>(log</a:t>
                      </a: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Helvetica" pitchFamily="34" charset="0"/>
                        </a:rPr>
                        <a:t> 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Helvetica" pitchFamily="34" charset="0"/>
                        </a:rPr>
                        <a:t>n) if balanced</a:t>
                      </a:r>
                    </a:p>
                    <a:p>
                      <a:pPr marL="231775" marR="0" lvl="0" indent="-231775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800" b="0" i="1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Helvetica" pitchFamily="34" charset="0"/>
                        </a:rPr>
                        <a:t>O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Helvetica" pitchFamily="34" charset="0"/>
                        </a:rPr>
                        <a:t>(n) if not</a:t>
                      </a: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54">
                <a:tc>
                  <a:txBody>
                    <a:bodyPr/>
                    <a:lstStyle/>
                    <a:p>
                      <a:pPr marL="0" marR="0" lvl="0" indent="0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</a:rPr>
                        <a:t>balanced search trees </a:t>
                      </a:r>
                      <a:b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</a:rPr>
                      </a:b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31775" marR="0" lvl="0" indent="-231775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Helvetica" pitchFamily="34" charset="0"/>
                        </a:rPr>
                        <a:t>O</a:t>
                      </a: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Helvetica" pitchFamily="34" charset="0"/>
                        </a:rPr>
                        <a:t>(log</a:t>
                      </a:r>
                      <a:r>
                        <a:rPr kumimoji="0" 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Helvetica" pitchFamily="34" charset="0"/>
                        </a:rPr>
                        <a:t> </a:t>
                      </a: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Helvetica" pitchFamily="34" charset="0"/>
                        </a:rPr>
                        <a:t>n) 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31775" marR="0" lvl="0" indent="-231775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Helvetica" pitchFamily="34" charset="0"/>
                        </a:rPr>
                        <a:t>O</a:t>
                      </a: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Helvetica" pitchFamily="34" charset="0"/>
                        </a:rPr>
                        <a:t>(log</a:t>
                      </a: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Helvetica" pitchFamily="34" charset="0"/>
                        </a:rPr>
                        <a:t> </a:t>
                      </a: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Helvetica" pitchFamily="34" charset="0"/>
                        </a:rPr>
                        <a:t>n)</a:t>
                      </a: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824791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87376" y="5474635"/>
            <a:ext cx="8243888" cy="98490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382000" cy="5614988"/>
          </a:xfrm>
        </p:spPr>
        <p:txBody>
          <a:bodyPr/>
          <a:lstStyle/>
          <a:p>
            <a:r>
              <a:rPr lang="en-US" altLang="en-US" dirty="0"/>
              <a:t>We've considered several data structures that allow us to store and search for data items using their </a:t>
            </a:r>
            <a:r>
              <a:rPr lang="en-US" altLang="en-US" i="1" dirty="0"/>
              <a:t>keys</a:t>
            </a:r>
            <a:r>
              <a:rPr lang="en-US" altLang="en-US" dirty="0"/>
              <a:t> fields:</a:t>
            </a:r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pPr>
              <a:spcBef>
                <a:spcPct val="0"/>
              </a:spcBef>
            </a:pPr>
            <a:endParaRPr lang="en-US" altLang="en-US" dirty="0">
              <a:solidFill>
                <a:srgbClr val="0000FF"/>
              </a:solidFill>
            </a:endParaRPr>
          </a:p>
          <a:p>
            <a:pPr>
              <a:spcBef>
                <a:spcPct val="0"/>
              </a:spcBef>
            </a:pPr>
            <a:r>
              <a:rPr lang="en-US" altLang="en-US" dirty="0">
                <a:solidFill>
                  <a:srgbClr val="0000FF"/>
                </a:solidFill>
              </a:rPr>
              <a:t>Hash tables</a:t>
            </a:r>
            <a:r>
              <a:rPr lang="en-US" altLang="en-US" dirty="0"/>
              <a:t>, </a:t>
            </a:r>
            <a:r>
              <a:rPr lang="en-US" altLang="en-US" i="1" dirty="0"/>
              <a:t>another data structure</a:t>
            </a:r>
            <a:r>
              <a:rPr lang="en-US" altLang="en-US" dirty="0"/>
              <a:t>, will allow us to do better than </a:t>
            </a:r>
            <a:r>
              <a:rPr lang="en-US" altLang="en-US" i="1" dirty="0">
                <a:solidFill>
                  <a:schemeClr val="tx1"/>
                </a:solidFill>
              </a:rPr>
              <a:t>O</a:t>
            </a:r>
            <a:r>
              <a:rPr lang="en-US" altLang="en-US" dirty="0">
                <a:solidFill>
                  <a:schemeClr val="tx1"/>
                </a:solidFill>
              </a:rPr>
              <a:t>(log</a:t>
            </a:r>
            <a:r>
              <a:rPr lang="en-US" altLang="en-US" sz="1100" dirty="0">
                <a:solidFill>
                  <a:schemeClr val="tx1"/>
                </a:solidFill>
              </a:rPr>
              <a:t> </a:t>
            </a:r>
            <a:r>
              <a:rPr lang="en-US" altLang="en-US" dirty="0">
                <a:solidFill>
                  <a:schemeClr val="tx1"/>
                </a:solidFill>
              </a:rPr>
              <a:t>n).</a:t>
            </a:r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Data Dictionary Revisited</a:t>
            </a:r>
          </a:p>
        </p:txBody>
      </p:sp>
      <p:graphicFrame>
        <p:nvGraphicFramePr>
          <p:cNvPr id="3025924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4725752"/>
              </p:ext>
            </p:extLst>
          </p:nvPr>
        </p:nvGraphicFramePr>
        <p:xfrm>
          <a:off x="814388" y="1743075"/>
          <a:ext cx="8016875" cy="3338714"/>
        </p:xfrm>
        <a:graphic>
          <a:graphicData uri="http://schemas.openxmlformats.org/drawingml/2006/table">
            <a:tbl>
              <a:tblPr/>
              <a:tblGrid>
                <a:gridCol w="26558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71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892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5796">
                <a:tc>
                  <a:txBody>
                    <a:bodyPr/>
                    <a:lstStyle/>
                    <a:p>
                      <a:pPr marL="0" marR="0" lvl="0" indent="0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lvetica" pitchFamily="34" charset="0"/>
                        </a:rPr>
                        <a:t>data structure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lvetica" pitchFamily="34" charset="0"/>
                        </a:rPr>
                        <a:t>searching for an item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lvetica" pitchFamily="34" charset="0"/>
                        </a:rPr>
                        <a:t>inserting an item</a:t>
                      </a: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8436">
                <a:tc>
                  <a:txBody>
                    <a:bodyPr/>
                    <a:lstStyle/>
                    <a:p>
                      <a:pPr marL="0" marR="0" lvl="0" indent="0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lvetica" pitchFamily="34" charset="0"/>
                        </a:rPr>
                        <a:t>a list implemented using an array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800" b="0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lvetica" pitchFamily="34" charset="0"/>
                        </a:rPr>
                        <a:t>O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lvetica" pitchFamily="34" charset="0"/>
                        </a:rPr>
                        <a:t>(log n) </a:t>
                      </a:r>
                    </a:p>
                    <a:p>
                      <a:pPr marL="0" marR="0" lvl="0" indent="0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lvetica" pitchFamily="34" charset="0"/>
                        </a:rPr>
                        <a:t>using binary search</a:t>
                      </a:r>
                      <a:endParaRPr kumimoji="0" lang="en-US" sz="1800" b="0" i="1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Helvetica" pitchFamily="34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lvetica" pitchFamily="34" charset="0"/>
                        </a:rPr>
                        <a:t>O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lvetica" pitchFamily="34" charset="0"/>
                        </a:rPr>
                        <a:t>(n) if order of insertion does not matter.</a:t>
                      </a:r>
                    </a:p>
                    <a:p>
                      <a:pPr marL="0" marR="0" lvl="0" indent="0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Helvetica" pitchFamily="34" charset="0"/>
                      </a:endParaRP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8436">
                <a:tc>
                  <a:txBody>
                    <a:bodyPr/>
                    <a:lstStyle/>
                    <a:p>
                      <a:pPr marL="0" marR="0" lvl="0" indent="0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</a:rPr>
                        <a:t>a list implemented using a linked list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</a:rPr>
                        <a:t>O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</a:rPr>
                        <a:t>(n)</a:t>
                      </a:r>
                    </a:p>
                    <a:p>
                      <a:pPr marL="0" marR="0" lvl="0" indent="0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</a:rPr>
                        <a:t>using linear search </a:t>
                      </a:r>
                      <a:endParaRPr kumimoji="0" lang="en-US" sz="18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</a:rPr>
                        <a:t>O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</a:rPr>
                        <a:t>(n)</a:t>
                      </a:r>
                    </a:p>
                    <a:p>
                      <a:pPr marL="0" marR="0" lvl="0" indent="0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</a:endParaRP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54">
                <a:tc>
                  <a:txBody>
                    <a:bodyPr/>
                    <a:lstStyle/>
                    <a:p>
                      <a:pPr marL="0" marR="0" lvl="0" indent="0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</a:rPr>
                        <a:t>binary search tree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31775" marR="0" lvl="0" indent="-231775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800" b="0" i="1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Helvetica" pitchFamily="34" charset="0"/>
                        </a:rPr>
                        <a:t>O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Helvetica" pitchFamily="34" charset="0"/>
                        </a:rPr>
                        <a:t>(log</a:t>
                      </a: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Helvetica" pitchFamily="34" charset="0"/>
                        </a:rPr>
                        <a:t> 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Helvetica" pitchFamily="34" charset="0"/>
                        </a:rPr>
                        <a:t>n) if balanced</a:t>
                      </a:r>
                    </a:p>
                    <a:p>
                      <a:pPr marL="231775" marR="0" lvl="0" indent="-231775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800" b="0" i="1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Helvetica" pitchFamily="34" charset="0"/>
                        </a:rPr>
                        <a:t>O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Helvetica" pitchFamily="34" charset="0"/>
                        </a:rPr>
                        <a:t>(n) if not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31775" marR="0" lvl="0" indent="-231775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800" b="0" i="1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Helvetica" pitchFamily="34" charset="0"/>
                        </a:rPr>
                        <a:t>O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Helvetica" pitchFamily="34" charset="0"/>
                        </a:rPr>
                        <a:t>(log</a:t>
                      </a: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Helvetica" pitchFamily="34" charset="0"/>
                        </a:rPr>
                        <a:t> 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Helvetica" pitchFamily="34" charset="0"/>
                        </a:rPr>
                        <a:t>n) if balanced</a:t>
                      </a:r>
                    </a:p>
                    <a:p>
                      <a:pPr marL="231775" marR="0" lvl="0" indent="-231775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800" b="0" i="1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Helvetica" pitchFamily="34" charset="0"/>
                        </a:rPr>
                        <a:t>O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Helvetica" pitchFamily="34" charset="0"/>
                        </a:rPr>
                        <a:t>(n) if not</a:t>
                      </a: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54">
                <a:tc>
                  <a:txBody>
                    <a:bodyPr/>
                    <a:lstStyle/>
                    <a:p>
                      <a:pPr marL="0" marR="0" lvl="0" indent="0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</a:rPr>
                        <a:t>balanced search trees </a:t>
                      </a:r>
                      <a:b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</a:rPr>
                      </a:b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31775" marR="0" lvl="0" indent="-231775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Helvetica" pitchFamily="34" charset="0"/>
                        </a:rPr>
                        <a:t>O</a:t>
                      </a: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Helvetica" pitchFamily="34" charset="0"/>
                        </a:rPr>
                        <a:t>(log</a:t>
                      </a:r>
                      <a:r>
                        <a:rPr kumimoji="0" 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Helvetica" pitchFamily="34" charset="0"/>
                        </a:rPr>
                        <a:t> </a:t>
                      </a: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Helvetica" pitchFamily="34" charset="0"/>
                        </a:rPr>
                        <a:t>n) 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31775" marR="0" lvl="0" indent="-231775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Helvetica" pitchFamily="34" charset="0"/>
                        </a:rPr>
                        <a:t>O</a:t>
                      </a: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Helvetica" pitchFamily="34" charset="0"/>
                        </a:rPr>
                        <a:t>(log</a:t>
                      </a: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Helvetica" pitchFamily="34" charset="0"/>
                        </a:rPr>
                        <a:t> </a:t>
                      </a: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Helvetica" pitchFamily="34" charset="0"/>
                        </a:rPr>
                        <a:t>n)</a:t>
                      </a: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31443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Hash Tables:</a:t>
            </a:r>
            <a:br>
              <a:rPr lang="en-US" dirty="0"/>
            </a:br>
            <a:r>
              <a:rPr lang="en-US" dirty="0"/>
              <a:t>in a nutshell</a:t>
            </a:r>
          </a:p>
        </p:txBody>
      </p:sp>
      <p:pic>
        <p:nvPicPr>
          <p:cNvPr id="4" name="Picture 3" descr="File:HashTable.tiff - Wikimedia Common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943" y="923925"/>
            <a:ext cx="8782212" cy="5723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0756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Hash Tables:</a:t>
            </a:r>
            <a:br>
              <a:rPr lang="en-US" dirty="0"/>
            </a:br>
            <a:r>
              <a:rPr lang="en-US" dirty="0"/>
              <a:t>in a nutshell</a:t>
            </a:r>
          </a:p>
        </p:txBody>
      </p:sp>
      <p:pic>
        <p:nvPicPr>
          <p:cNvPr id="4" name="Picture 3" descr="File:HashTable.tiff - Wikimedia Common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943" y="923925"/>
            <a:ext cx="8782212" cy="57230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6320" y="923924"/>
            <a:ext cx="1943834" cy="1590675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85958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Hash Tables:</a:t>
            </a:r>
            <a:br>
              <a:rPr lang="en-US" dirty="0"/>
            </a:br>
            <a:r>
              <a:rPr lang="en-US" dirty="0"/>
              <a:t>in a nutshell</a:t>
            </a:r>
          </a:p>
        </p:txBody>
      </p:sp>
      <p:pic>
        <p:nvPicPr>
          <p:cNvPr id="4" name="Picture 3" descr="File:HashTable.tiff - Wikimedia Common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943" y="923925"/>
            <a:ext cx="8782212" cy="57230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485166" y="5056310"/>
            <a:ext cx="1943834" cy="1590675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78075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Hash Tables:</a:t>
            </a:r>
            <a:br>
              <a:rPr lang="en-US" dirty="0"/>
            </a:br>
            <a:r>
              <a:rPr lang="en-US" dirty="0"/>
              <a:t>in a nutshell</a:t>
            </a:r>
          </a:p>
        </p:txBody>
      </p:sp>
      <p:pic>
        <p:nvPicPr>
          <p:cNvPr id="4" name="Picture 3" descr="File:HashTable.tiff - Wikimedia Common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943" y="923925"/>
            <a:ext cx="8782212" cy="57230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831122" y="923925"/>
            <a:ext cx="1512277" cy="1590675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62359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Hash Tables:</a:t>
            </a:r>
            <a:br>
              <a:rPr lang="en-US" dirty="0"/>
            </a:br>
            <a:r>
              <a:rPr lang="en-US" dirty="0"/>
              <a:t>in a nutshell</a:t>
            </a:r>
          </a:p>
        </p:txBody>
      </p:sp>
      <p:pic>
        <p:nvPicPr>
          <p:cNvPr id="4" name="Picture 3" descr="File:HashTable.tiff - Wikimedia Common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943" y="923925"/>
            <a:ext cx="8782212" cy="57230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11414" y="5056310"/>
            <a:ext cx="2250832" cy="1590675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0215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Hash Tables:</a:t>
            </a:r>
            <a:br>
              <a:rPr lang="en-US" dirty="0"/>
            </a:br>
            <a:r>
              <a:rPr lang="en-US" dirty="0"/>
              <a:t>in a nutshell</a:t>
            </a:r>
          </a:p>
        </p:txBody>
      </p:sp>
      <p:pic>
        <p:nvPicPr>
          <p:cNvPr id="4" name="Picture 3" descr="File:HashTable.tiff - Wikimedia Common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943" y="923925"/>
            <a:ext cx="8782212" cy="57230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255475" y="976312"/>
            <a:ext cx="1740879" cy="1555873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82850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Hash Tables:</a:t>
            </a:r>
            <a:br>
              <a:rPr lang="en-US" dirty="0"/>
            </a:br>
            <a:r>
              <a:rPr lang="en-US" dirty="0"/>
              <a:t>in a nutshell</a:t>
            </a:r>
          </a:p>
        </p:txBody>
      </p:sp>
      <p:pic>
        <p:nvPicPr>
          <p:cNvPr id="4" name="Picture 3" descr="File:HashTable.tiff - Wikimedia Common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943" y="923925"/>
            <a:ext cx="8782212" cy="57230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861150" y="3219450"/>
            <a:ext cx="324804" cy="34671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25745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Hash Tables:</a:t>
            </a:r>
            <a:br>
              <a:rPr lang="en-US" dirty="0"/>
            </a:br>
            <a:r>
              <a:rPr lang="en-US" dirty="0"/>
              <a:t>in a nutshell</a:t>
            </a:r>
          </a:p>
        </p:txBody>
      </p:sp>
      <p:pic>
        <p:nvPicPr>
          <p:cNvPr id="4" name="Picture 3" descr="File:HashTable.tiff - Wikimedia Common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943" y="923925"/>
            <a:ext cx="8782212" cy="57230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167436" y="923925"/>
            <a:ext cx="2572118" cy="113201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48799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Hash Tables:</a:t>
            </a:r>
            <a:br>
              <a:rPr lang="en-US" dirty="0"/>
            </a:br>
            <a:r>
              <a:rPr lang="en-US" dirty="0"/>
              <a:t>in a nutshell</a:t>
            </a:r>
          </a:p>
        </p:txBody>
      </p:sp>
      <p:pic>
        <p:nvPicPr>
          <p:cNvPr id="4" name="Picture 3" descr="File:HashTable.tiff - Wikimedia Common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943" y="923925"/>
            <a:ext cx="8782212" cy="57230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185020" y="3587260"/>
            <a:ext cx="2536948" cy="367811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95220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87375" y="720969"/>
            <a:ext cx="7861300" cy="94956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Ideal Case: Searching = Indexing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382000" cy="5614988"/>
          </a:xfrm>
        </p:spPr>
        <p:txBody>
          <a:bodyPr/>
          <a:lstStyle/>
          <a:p>
            <a:r>
              <a:rPr lang="en-US" altLang="en-US" dirty="0"/>
              <a:t>The </a:t>
            </a:r>
            <a:r>
              <a:rPr lang="en-US" altLang="en-US" b="1" i="1" dirty="0">
                <a:solidFill>
                  <a:schemeClr val="tx1"/>
                </a:solidFill>
              </a:rPr>
              <a:t>optimal</a:t>
            </a:r>
            <a:r>
              <a:rPr lang="en-US" altLang="en-US" dirty="0"/>
              <a:t> search and insertion performance is achieved when we can treat the key as an </a:t>
            </a:r>
            <a:r>
              <a:rPr lang="en-US" altLang="en-US" dirty="0">
                <a:solidFill>
                  <a:srgbClr val="0000FF"/>
                </a:solidFill>
              </a:rPr>
              <a:t>index</a:t>
            </a:r>
            <a:r>
              <a:rPr lang="en-US" altLang="en-US" dirty="0"/>
              <a:t> into an array.</a:t>
            </a:r>
          </a:p>
          <a:p>
            <a:r>
              <a:rPr lang="en-US" altLang="en-US" dirty="0"/>
              <a:t>Example: storing data about members of a sports team</a:t>
            </a:r>
          </a:p>
          <a:p>
            <a:pPr lvl="1"/>
            <a:r>
              <a:rPr lang="en-US" altLang="en-US" dirty="0"/>
              <a:t>key = jersey number (some value from 0-99).</a:t>
            </a:r>
          </a:p>
          <a:p>
            <a:pPr lvl="1">
              <a:spcBef>
                <a:spcPts val="500"/>
              </a:spcBef>
            </a:pPr>
            <a:r>
              <a:rPr lang="en-US" altLang="en-US" dirty="0"/>
              <a:t>class for an individual player's record:</a:t>
            </a:r>
          </a:p>
          <a:p>
            <a:pPr lvl="1">
              <a:spcBef>
                <a:spcPts val="200"/>
              </a:spcBef>
              <a:buFontTx/>
              <a:buNone/>
            </a:pPr>
            <a:r>
              <a:rPr lang="en-US" altLang="en-US" sz="1800" dirty="0">
                <a:latin typeface="Lucida Console" panose="020B0609040504020204" pitchFamily="49" charset="0"/>
              </a:rPr>
              <a:t>		public class Player {</a:t>
            </a:r>
          </a:p>
          <a:p>
            <a:pPr lvl="1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Lucida Console" panose="020B0609040504020204" pitchFamily="49" charset="0"/>
              </a:rPr>
              <a:t>		    private </a:t>
            </a:r>
            <a:r>
              <a:rPr lang="en-US" altLang="en-US" sz="1800" dirty="0" err="1">
                <a:latin typeface="Lucida Console" panose="020B0609040504020204" pitchFamily="49" charset="0"/>
              </a:rPr>
              <a:t>int</a:t>
            </a:r>
            <a:r>
              <a:rPr lang="en-US" altLang="en-US" sz="1800" dirty="0">
                <a:latin typeface="Lucida Console" panose="020B0609040504020204" pitchFamily="49" charset="0"/>
              </a:rPr>
              <a:t> </a:t>
            </a:r>
            <a:r>
              <a:rPr lang="en-US" altLang="en-US" sz="1800" dirty="0" err="1">
                <a:latin typeface="Lucida Console" panose="020B0609040504020204" pitchFamily="49" charset="0"/>
              </a:rPr>
              <a:t>jerseyNum</a:t>
            </a:r>
            <a:r>
              <a:rPr lang="en-US" altLang="en-US" sz="1800" dirty="0">
                <a:latin typeface="Lucida Console" panose="020B0609040504020204" pitchFamily="49" charset="0"/>
              </a:rPr>
              <a:t>;</a:t>
            </a:r>
          </a:p>
          <a:p>
            <a:pPr lvl="1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Lucida Console" panose="020B0609040504020204" pitchFamily="49" charset="0"/>
              </a:rPr>
              <a:t>		    private String </a:t>
            </a:r>
            <a:r>
              <a:rPr lang="en-US" altLang="en-US" sz="1800" dirty="0" err="1">
                <a:latin typeface="Lucida Console" panose="020B0609040504020204" pitchFamily="49" charset="0"/>
              </a:rPr>
              <a:t>firstName</a:t>
            </a:r>
            <a:r>
              <a:rPr lang="en-US" altLang="en-US" sz="1800" dirty="0">
                <a:latin typeface="Lucida Console" panose="020B0609040504020204" pitchFamily="49" charset="0"/>
              </a:rPr>
              <a:t>;</a:t>
            </a:r>
          </a:p>
          <a:p>
            <a:pPr lvl="1">
              <a:lnSpc>
                <a:spcPct val="50000"/>
              </a:lnSpc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Lucida Console" panose="020B0609040504020204" pitchFamily="49" charset="0"/>
              </a:rPr>
              <a:t>		    …</a:t>
            </a:r>
          </a:p>
          <a:p>
            <a:pPr lvl="1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Lucida Console" panose="020B0609040504020204" pitchFamily="49" charset="0"/>
              </a:rPr>
              <a:t>		}</a:t>
            </a:r>
          </a:p>
          <a:p>
            <a:pPr lvl="1">
              <a:spcBef>
                <a:spcPts val="500"/>
              </a:spcBef>
            </a:pPr>
            <a:r>
              <a:rPr lang="en-US" altLang="en-US" dirty="0"/>
              <a:t>store the player records in an array:</a:t>
            </a:r>
          </a:p>
          <a:p>
            <a:pPr lvl="1">
              <a:spcBef>
                <a:spcPts val="500"/>
              </a:spcBef>
              <a:buFontTx/>
              <a:buNone/>
            </a:pPr>
            <a:r>
              <a:rPr lang="en-US" altLang="en-US" sz="1800" dirty="0">
                <a:latin typeface="Lucida Console" panose="020B0609040504020204" pitchFamily="49" charset="0"/>
              </a:rPr>
              <a:t>		Player[] </a:t>
            </a:r>
            <a:r>
              <a:rPr lang="en-US" altLang="en-US" sz="1800" dirty="0" err="1">
                <a:latin typeface="Lucida Console" panose="020B0609040504020204" pitchFamily="49" charset="0"/>
              </a:rPr>
              <a:t>teamRecords</a:t>
            </a:r>
            <a:r>
              <a:rPr lang="en-US" altLang="en-US" sz="1800" dirty="0">
                <a:latin typeface="Lucida Console" panose="020B0609040504020204" pitchFamily="49" charset="0"/>
              </a:rPr>
              <a:t> = new Player[100];</a:t>
            </a:r>
          </a:p>
        </p:txBody>
      </p:sp>
    </p:spTree>
    <p:extLst>
      <p:ext uri="{BB962C8B-B14F-4D97-AF65-F5344CB8AC3E}">
        <p14:creationId xmlns:p14="http://schemas.microsoft.com/office/powerpoint/2010/main" val="24096366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87375" y="720969"/>
            <a:ext cx="7861300" cy="94956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Ideal Case: Searching = Indexing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382000" cy="5614988"/>
          </a:xfrm>
        </p:spPr>
        <p:txBody>
          <a:bodyPr/>
          <a:lstStyle/>
          <a:p>
            <a:r>
              <a:rPr lang="en-US" altLang="en-US" dirty="0"/>
              <a:t>The optimal search and insertion performance is achieved when we can treat the key as an index into an array.</a:t>
            </a:r>
          </a:p>
          <a:p>
            <a:r>
              <a:rPr lang="en-US" altLang="en-US" dirty="0">
                <a:solidFill>
                  <a:srgbClr val="0000FF"/>
                </a:solidFill>
              </a:rPr>
              <a:t>Example: storing data about members of a sports team</a:t>
            </a:r>
          </a:p>
          <a:p>
            <a:pPr lvl="1"/>
            <a:r>
              <a:rPr lang="en-US" altLang="en-US" dirty="0"/>
              <a:t>key = jersey number (some value from 0-99).</a:t>
            </a:r>
          </a:p>
          <a:p>
            <a:pPr lvl="1">
              <a:spcBef>
                <a:spcPts val="500"/>
              </a:spcBef>
            </a:pPr>
            <a:r>
              <a:rPr lang="en-US" altLang="en-US" dirty="0"/>
              <a:t>class for an individual player's record:</a:t>
            </a:r>
          </a:p>
          <a:p>
            <a:pPr lvl="1">
              <a:spcBef>
                <a:spcPts val="200"/>
              </a:spcBef>
              <a:buFontTx/>
              <a:buNone/>
            </a:pPr>
            <a:r>
              <a:rPr lang="en-US" altLang="en-US" sz="1800" dirty="0">
                <a:latin typeface="Lucida Console" panose="020B0609040504020204" pitchFamily="49" charset="0"/>
              </a:rPr>
              <a:t>		public class Player {</a:t>
            </a:r>
          </a:p>
          <a:p>
            <a:pPr lvl="1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Lucida Console" panose="020B0609040504020204" pitchFamily="49" charset="0"/>
              </a:rPr>
              <a:t>		    private </a:t>
            </a:r>
            <a:r>
              <a:rPr lang="en-US" altLang="en-US" sz="1800" dirty="0" err="1">
                <a:latin typeface="Lucida Console" panose="020B0609040504020204" pitchFamily="49" charset="0"/>
              </a:rPr>
              <a:t>int</a:t>
            </a:r>
            <a:r>
              <a:rPr lang="en-US" altLang="en-US" sz="1800" dirty="0">
                <a:latin typeface="Lucida Console" panose="020B0609040504020204" pitchFamily="49" charset="0"/>
              </a:rPr>
              <a:t> </a:t>
            </a:r>
            <a:r>
              <a:rPr lang="en-US" altLang="en-US" sz="1800" dirty="0" err="1">
                <a:latin typeface="Lucida Console" panose="020B0609040504020204" pitchFamily="49" charset="0"/>
              </a:rPr>
              <a:t>jerseyNum</a:t>
            </a:r>
            <a:r>
              <a:rPr lang="en-US" altLang="en-US" sz="1800" dirty="0">
                <a:latin typeface="Lucida Console" panose="020B0609040504020204" pitchFamily="49" charset="0"/>
              </a:rPr>
              <a:t>;</a:t>
            </a:r>
          </a:p>
          <a:p>
            <a:pPr lvl="1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Lucida Console" panose="020B0609040504020204" pitchFamily="49" charset="0"/>
              </a:rPr>
              <a:t>		    private String </a:t>
            </a:r>
            <a:r>
              <a:rPr lang="en-US" altLang="en-US" sz="1800" dirty="0" err="1">
                <a:latin typeface="Lucida Console" panose="020B0609040504020204" pitchFamily="49" charset="0"/>
              </a:rPr>
              <a:t>firstName</a:t>
            </a:r>
            <a:r>
              <a:rPr lang="en-US" altLang="en-US" sz="1800" dirty="0">
                <a:latin typeface="Lucida Console" panose="020B0609040504020204" pitchFamily="49" charset="0"/>
              </a:rPr>
              <a:t>;</a:t>
            </a:r>
          </a:p>
          <a:p>
            <a:pPr lvl="1">
              <a:lnSpc>
                <a:spcPct val="50000"/>
              </a:lnSpc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Lucida Console" panose="020B0609040504020204" pitchFamily="49" charset="0"/>
              </a:rPr>
              <a:t>		    …</a:t>
            </a:r>
          </a:p>
          <a:p>
            <a:pPr lvl="1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Lucida Console" panose="020B0609040504020204" pitchFamily="49" charset="0"/>
              </a:rPr>
              <a:t>		}</a:t>
            </a:r>
          </a:p>
          <a:p>
            <a:pPr lvl="1">
              <a:spcBef>
                <a:spcPts val="500"/>
              </a:spcBef>
            </a:pPr>
            <a:r>
              <a:rPr lang="en-US" altLang="en-US" dirty="0"/>
              <a:t>store the player records in an array:</a:t>
            </a:r>
          </a:p>
          <a:p>
            <a:pPr lvl="1">
              <a:spcBef>
                <a:spcPts val="500"/>
              </a:spcBef>
              <a:buFontTx/>
              <a:buNone/>
            </a:pPr>
            <a:r>
              <a:rPr lang="en-US" altLang="en-US" sz="1800" dirty="0">
                <a:latin typeface="Lucida Console" panose="020B0609040504020204" pitchFamily="49" charset="0"/>
              </a:rPr>
              <a:t>		Player[] </a:t>
            </a:r>
            <a:r>
              <a:rPr lang="en-US" altLang="en-US" sz="1800" dirty="0" err="1">
                <a:latin typeface="Lucida Console" panose="020B0609040504020204" pitchFamily="49" charset="0"/>
              </a:rPr>
              <a:t>teamRecords</a:t>
            </a:r>
            <a:r>
              <a:rPr lang="en-US" altLang="en-US" sz="1800" dirty="0">
                <a:latin typeface="Lucida Console" panose="020B0609040504020204" pitchFamily="49" charset="0"/>
              </a:rPr>
              <a:t> = new Player[100];</a:t>
            </a:r>
          </a:p>
        </p:txBody>
      </p:sp>
    </p:spTree>
    <p:extLst>
      <p:ext uri="{BB962C8B-B14F-4D97-AF65-F5344CB8AC3E}">
        <p14:creationId xmlns:p14="http://schemas.microsoft.com/office/powerpoint/2010/main" val="21749973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87375" y="2057400"/>
            <a:ext cx="7624640" cy="51410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Ideal Case: Searching = Indexing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382000" cy="5614988"/>
          </a:xfrm>
        </p:spPr>
        <p:txBody>
          <a:bodyPr/>
          <a:lstStyle/>
          <a:p>
            <a:r>
              <a:rPr lang="en-US" altLang="en-US" dirty="0"/>
              <a:t>The optimal search and insertion performance is achieved when we can treat the key as an index into an array.</a:t>
            </a:r>
          </a:p>
          <a:p>
            <a:r>
              <a:rPr lang="en-US" altLang="en-US" dirty="0"/>
              <a:t>Example: storing data about members of a sports team</a:t>
            </a:r>
          </a:p>
          <a:p>
            <a:pPr lvl="1"/>
            <a:r>
              <a:rPr lang="en-US" altLang="en-US" dirty="0">
                <a:solidFill>
                  <a:srgbClr val="0000FF"/>
                </a:solidFill>
              </a:rPr>
              <a:t>key</a:t>
            </a:r>
            <a:r>
              <a:rPr lang="en-US" altLang="en-US" dirty="0"/>
              <a:t> = jersey number (some value from 0-99).</a:t>
            </a:r>
          </a:p>
          <a:p>
            <a:pPr lvl="1">
              <a:spcBef>
                <a:spcPts val="500"/>
              </a:spcBef>
            </a:pPr>
            <a:r>
              <a:rPr lang="en-US" altLang="en-US" dirty="0"/>
              <a:t>class for an individual player's record:</a:t>
            </a:r>
          </a:p>
          <a:p>
            <a:pPr lvl="1">
              <a:spcBef>
                <a:spcPts val="200"/>
              </a:spcBef>
              <a:buFontTx/>
              <a:buNone/>
            </a:pPr>
            <a:r>
              <a:rPr lang="en-US" altLang="en-US" sz="1800" dirty="0">
                <a:latin typeface="Lucida Console" panose="020B0609040504020204" pitchFamily="49" charset="0"/>
              </a:rPr>
              <a:t>		public class Player {</a:t>
            </a:r>
          </a:p>
          <a:p>
            <a:pPr lvl="1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Lucida Console" panose="020B0609040504020204" pitchFamily="49" charset="0"/>
              </a:rPr>
              <a:t>		    private </a:t>
            </a:r>
            <a:r>
              <a:rPr lang="en-US" altLang="en-US" sz="1800" dirty="0" err="1">
                <a:latin typeface="Lucida Console" panose="020B0609040504020204" pitchFamily="49" charset="0"/>
              </a:rPr>
              <a:t>int</a:t>
            </a:r>
            <a:r>
              <a:rPr lang="en-US" altLang="en-US" sz="1800" dirty="0">
                <a:latin typeface="Lucida Console" panose="020B0609040504020204" pitchFamily="49" charset="0"/>
              </a:rPr>
              <a:t> </a:t>
            </a:r>
            <a:r>
              <a:rPr lang="en-US" altLang="en-US" sz="1800" dirty="0" err="1">
                <a:latin typeface="Lucida Console" panose="020B0609040504020204" pitchFamily="49" charset="0"/>
              </a:rPr>
              <a:t>jerseyNum</a:t>
            </a:r>
            <a:r>
              <a:rPr lang="en-US" altLang="en-US" sz="1800" dirty="0">
                <a:latin typeface="Lucida Console" panose="020B0609040504020204" pitchFamily="49" charset="0"/>
              </a:rPr>
              <a:t>;</a:t>
            </a:r>
          </a:p>
          <a:p>
            <a:pPr lvl="1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Lucida Console" panose="020B0609040504020204" pitchFamily="49" charset="0"/>
              </a:rPr>
              <a:t>		    private String </a:t>
            </a:r>
            <a:r>
              <a:rPr lang="en-US" altLang="en-US" sz="1800" dirty="0" err="1">
                <a:latin typeface="Lucida Console" panose="020B0609040504020204" pitchFamily="49" charset="0"/>
              </a:rPr>
              <a:t>firstName</a:t>
            </a:r>
            <a:r>
              <a:rPr lang="en-US" altLang="en-US" sz="1800" dirty="0">
                <a:latin typeface="Lucida Console" panose="020B0609040504020204" pitchFamily="49" charset="0"/>
              </a:rPr>
              <a:t>;</a:t>
            </a:r>
          </a:p>
          <a:p>
            <a:pPr lvl="1">
              <a:lnSpc>
                <a:spcPct val="50000"/>
              </a:lnSpc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Lucida Console" panose="020B0609040504020204" pitchFamily="49" charset="0"/>
              </a:rPr>
              <a:t>		    …</a:t>
            </a:r>
          </a:p>
          <a:p>
            <a:pPr lvl="1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Lucida Console" panose="020B0609040504020204" pitchFamily="49" charset="0"/>
              </a:rPr>
              <a:t>		}</a:t>
            </a:r>
          </a:p>
          <a:p>
            <a:pPr lvl="1">
              <a:spcBef>
                <a:spcPts val="500"/>
              </a:spcBef>
            </a:pPr>
            <a:r>
              <a:rPr lang="en-US" altLang="en-US" dirty="0"/>
              <a:t>store the player records in an array:</a:t>
            </a:r>
          </a:p>
          <a:p>
            <a:pPr lvl="1">
              <a:spcBef>
                <a:spcPts val="500"/>
              </a:spcBef>
              <a:buFontTx/>
              <a:buNone/>
            </a:pPr>
            <a:r>
              <a:rPr lang="en-US" altLang="en-US" sz="1800" dirty="0">
                <a:latin typeface="Lucida Console" panose="020B0609040504020204" pitchFamily="49" charset="0"/>
              </a:rPr>
              <a:t>		Player[] </a:t>
            </a:r>
            <a:r>
              <a:rPr lang="en-US" altLang="en-US" sz="1800" dirty="0" err="1">
                <a:latin typeface="Lucida Console" panose="020B0609040504020204" pitchFamily="49" charset="0"/>
              </a:rPr>
              <a:t>teamRecords</a:t>
            </a:r>
            <a:r>
              <a:rPr lang="en-US" altLang="en-US" sz="1800" dirty="0">
                <a:latin typeface="Lucida Console" panose="020B0609040504020204" pitchFamily="49" charset="0"/>
              </a:rPr>
              <a:t> = new Player[100];</a:t>
            </a:r>
          </a:p>
        </p:txBody>
      </p:sp>
    </p:spTree>
    <p:extLst>
      <p:ext uri="{BB962C8B-B14F-4D97-AF65-F5344CB8AC3E}">
        <p14:creationId xmlns:p14="http://schemas.microsoft.com/office/powerpoint/2010/main" val="38283668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87375" y="2057400"/>
            <a:ext cx="7624640" cy="51410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Ideal Case: Searching = Indexing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382000" cy="5614988"/>
          </a:xfrm>
        </p:spPr>
        <p:txBody>
          <a:bodyPr/>
          <a:lstStyle/>
          <a:p>
            <a:r>
              <a:rPr lang="en-US" altLang="en-US" dirty="0"/>
              <a:t>The optimal search and insertion performance is achieved when we can treat the key as an index into an array.</a:t>
            </a:r>
          </a:p>
          <a:p>
            <a:r>
              <a:rPr lang="en-US" altLang="en-US" dirty="0"/>
              <a:t>Example: storing data about members of a sports team</a:t>
            </a:r>
          </a:p>
          <a:p>
            <a:pPr lvl="1"/>
            <a:r>
              <a:rPr lang="en-US" altLang="en-US" dirty="0"/>
              <a:t>key = jersey number (some value from 0-99).</a:t>
            </a:r>
          </a:p>
          <a:p>
            <a:pPr lvl="1">
              <a:spcBef>
                <a:spcPts val="500"/>
              </a:spcBef>
            </a:pPr>
            <a:r>
              <a:rPr lang="en-US" altLang="en-US" dirty="0">
                <a:solidFill>
                  <a:schemeClr val="tx1"/>
                </a:solidFill>
              </a:rPr>
              <a:t>class for an individual player's record:</a:t>
            </a:r>
          </a:p>
          <a:p>
            <a:pPr lvl="1">
              <a:spcBef>
                <a:spcPts val="200"/>
              </a:spcBef>
              <a:buFontTx/>
              <a:buNone/>
            </a:pPr>
            <a:r>
              <a:rPr lang="en-US" altLang="en-US" sz="1800" dirty="0">
                <a:solidFill>
                  <a:srgbClr val="0000FF"/>
                </a:solidFill>
                <a:latin typeface="Lucida Console" panose="020B0609040504020204" pitchFamily="49" charset="0"/>
              </a:rPr>
              <a:t>		public class Player {</a:t>
            </a:r>
          </a:p>
          <a:p>
            <a:pPr lvl="1">
              <a:spcBef>
                <a:spcPct val="0"/>
              </a:spcBef>
              <a:buFontTx/>
              <a:buNone/>
            </a:pPr>
            <a:r>
              <a:rPr lang="en-US" altLang="en-US" sz="1800" dirty="0">
                <a:solidFill>
                  <a:srgbClr val="0000FF"/>
                </a:solidFill>
                <a:latin typeface="Lucida Console" panose="020B0609040504020204" pitchFamily="49" charset="0"/>
              </a:rPr>
              <a:t>		    private </a:t>
            </a:r>
            <a:r>
              <a:rPr lang="en-US" altLang="en-US" sz="1800" dirty="0" err="1">
                <a:solidFill>
                  <a:srgbClr val="0000FF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sz="1800" dirty="0">
                <a:solidFill>
                  <a:srgbClr val="0000FF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1800" dirty="0" err="1">
                <a:solidFill>
                  <a:srgbClr val="0000FF"/>
                </a:solidFill>
                <a:latin typeface="Lucida Console" panose="020B0609040504020204" pitchFamily="49" charset="0"/>
              </a:rPr>
              <a:t>jerseyNum</a:t>
            </a:r>
            <a:r>
              <a:rPr lang="en-US" altLang="en-US" sz="1800" dirty="0">
                <a:solidFill>
                  <a:srgbClr val="0000FF"/>
                </a:solidFill>
                <a:latin typeface="Lucida Console" panose="020B0609040504020204" pitchFamily="49" charset="0"/>
              </a:rPr>
              <a:t>;</a:t>
            </a:r>
          </a:p>
          <a:p>
            <a:pPr lvl="1">
              <a:spcBef>
                <a:spcPct val="0"/>
              </a:spcBef>
              <a:buFontTx/>
              <a:buNone/>
            </a:pPr>
            <a:r>
              <a:rPr lang="en-US" altLang="en-US" sz="1800" dirty="0">
                <a:solidFill>
                  <a:srgbClr val="0000FF"/>
                </a:solidFill>
                <a:latin typeface="Lucida Console" panose="020B0609040504020204" pitchFamily="49" charset="0"/>
              </a:rPr>
              <a:t>		    private String </a:t>
            </a:r>
            <a:r>
              <a:rPr lang="en-US" altLang="en-US" sz="1800" dirty="0" err="1">
                <a:solidFill>
                  <a:srgbClr val="0000FF"/>
                </a:solidFill>
                <a:latin typeface="Lucida Console" panose="020B0609040504020204" pitchFamily="49" charset="0"/>
              </a:rPr>
              <a:t>firstName</a:t>
            </a:r>
            <a:r>
              <a:rPr lang="en-US" altLang="en-US" sz="1800" dirty="0">
                <a:solidFill>
                  <a:srgbClr val="0000FF"/>
                </a:solidFill>
                <a:latin typeface="Lucida Console" panose="020B0609040504020204" pitchFamily="49" charset="0"/>
              </a:rPr>
              <a:t>;</a:t>
            </a:r>
          </a:p>
          <a:p>
            <a:pPr lvl="1">
              <a:lnSpc>
                <a:spcPct val="50000"/>
              </a:lnSpc>
              <a:spcBef>
                <a:spcPct val="0"/>
              </a:spcBef>
              <a:buFontTx/>
              <a:buNone/>
            </a:pPr>
            <a:r>
              <a:rPr lang="en-US" altLang="en-US" sz="1800" dirty="0">
                <a:solidFill>
                  <a:srgbClr val="0000FF"/>
                </a:solidFill>
                <a:latin typeface="Lucida Console" panose="020B0609040504020204" pitchFamily="49" charset="0"/>
              </a:rPr>
              <a:t>		    …</a:t>
            </a:r>
          </a:p>
          <a:p>
            <a:pPr lvl="1">
              <a:spcBef>
                <a:spcPct val="0"/>
              </a:spcBef>
              <a:buFontTx/>
              <a:buNone/>
            </a:pPr>
            <a:r>
              <a:rPr lang="en-US" altLang="en-US" sz="1800" dirty="0">
                <a:solidFill>
                  <a:srgbClr val="0000FF"/>
                </a:solidFill>
                <a:latin typeface="Lucida Console" panose="020B0609040504020204" pitchFamily="49" charset="0"/>
              </a:rPr>
              <a:t>		}</a:t>
            </a:r>
          </a:p>
          <a:p>
            <a:pPr lvl="1">
              <a:spcBef>
                <a:spcPts val="500"/>
              </a:spcBef>
            </a:pPr>
            <a:r>
              <a:rPr lang="en-US" altLang="en-US" dirty="0"/>
              <a:t>store the player records in an array:</a:t>
            </a:r>
          </a:p>
          <a:p>
            <a:pPr lvl="1">
              <a:spcBef>
                <a:spcPts val="500"/>
              </a:spcBef>
              <a:buFontTx/>
              <a:buNone/>
            </a:pPr>
            <a:r>
              <a:rPr lang="en-US" altLang="en-US" sz="1800" dirty="0">
                <a:latin typeface="Lucida Console" panose="020B0609040504020204" pitchFamily="49" charset="0"/>
              </a:rPr>
              <a:t>		Player[] </a:t>
            </a:r>
            <a:r>
              <a:rPr lang="en-US" altLang="en-US" sz="1800" dirty="0" err="1">
                <a:latin typeface="Lucida Console" panose="020B0609040504020204" pitchFamily="49" charset="0"/>
              </a:rPr>
              <a:t>teamRecords</a:t>
            </a:r>
            <a:r>
              <a:rPr lang="en-US" altLang="en-US" sz="1800" dirty="0">
                <a:latin typeface="Lucida Console" panose="020B0609040504020204" pitchFamily="49" charset="0"/>
              </a:rPr>
              <a:t> = new Player[100];</a:t>
            </a:r>
          </a:p>
        </p:txBody>
      </p:sp>
    </p:spTree>
    <p:extLst>
      <p:ext uri="{BB962C8B-B14F-4D97-AF65-F5344CB8AC3E}">
        <p14:creationId xmlns:p14="http://schemas.microsoft.com/office/powerpoint/2010/main" val="35072514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87375" y="2057400"/>
            <a:ext cx="7624640" cy="51410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Ideal Case: Searching = Indexing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382000" cy="5614988"/>
          </a:xfrm>
        </p:spPr>
        <p:txBody>
          <a:bodyPr/>
          <a:lstStyle/>
          <a:p>
            <a:r>
              <a:rPr lang="en-US" altLang="en-US" dirty="0"/>
              <a:t>The optimal search and insertion performance is achieved when we can treat the key as an index into an array.</a:t>
            </a:r>
          </a:p>
          <a:p>
            <a:r>
              <a:rPr lang="en-US" altLang="en-US" dirty="0"/>
              <a:t>Example: storing data about members of a sports team</a:t>
            </a:r>
          </a:p>
          <a:p>
            <a:pPr lvl="1"/>
            <a:r>
              <a:rPr lang="en-US" altLang="en-US" dirty="0"/>
              <a:t>key = jersey number (some value from 0-99).</a:t>
            </a:r>
          </a:p>
          <a:p>
            <a:pPr lvl="1">
              <a:spcBef>
                <a:spcPts val="500"/>
              </a:spcBef>
            </a:pPr>
            <a:r>
              <a:rPr lang="en-US" altLang="en-US" dirty="0">
                <a:solidFill>
                  <a:schemeClr val="tx1"/>
                </a:solidFill>
              </a:rPr>
              <a:t>class for an individual player's record:</a:t>
            </a:r>
          </a:p>
          <a:p>
            <a:pPr lvl="1">
              <a:spcBef>
                <a:spcPts val="200"/>
              </a:spcBef>
              <a:buFontTx/>
              <a:buNone/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		public class Player {</a:t>
            </a:r>
          </a:p>
          <a:p>
            <a:pPr lvl="1">
              <a:spcBef>
                <a:spcPct val="0"/>
              </a:spcBef>
              <a:buFontTx/>
              <a:buNone/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		    private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jerseyNum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;</a:t>
            </a:r>
          </a:p>
          <a:p>
            <a:pPr lvl="1">
              <a:spcBef>
                <a:spcPct val="0"/>
              </a:spcBef>
              <a:buFontTx/>
              <a:buNone/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		    private String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firstName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;</a:t>
            </a:r>
          </a:p>
          <a:p>
            <a:pPr lvl="1">
              <a:lnSpc>
                <a:spcPct val="50000"/>
              </a:lnSpc>
              <a:spcBef>
                <a:spcPct val="0"/>
              </a:spcBef>
              <a:buFontTx/>
              <a:buNone/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		    …</a:t>
            </a:r>
          </a:p>
          <a:p>
            <a:pPr lvl="1">
              <a:spcBef>
                <a:spcPct val="0"/>
              </a:spcBef>
              <a:buFontTx/>
              <a:buNone/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		}</a:t>
            </a:r>
          </a:p>
          <a:p>
            <a:pPr lvl="1">
              <a:spcBef>
                <a:spcPts val="500"/>
              </a:spcBef>
            </a:pPr>
            <a:r>
              <a:rPr lang="en-US" altLang="en-US" dirty="0"/>
              <a:t>store the player records in an array:</a:t>
            </a:r>
          </a:p>
          <a:p>
            <a:pPr lvl="1">
              <a:spcBef>
                <a:spcPts val="500"/>
              </a:spcBef>
              <a:buFontTx/>
              <a:buNone/>
            </a:pPr>
            <a:r>
              <a:rPr lang="en-US" altLang="en-US" sz="1800" dirty="0">
                <a:latin typeface="Lucida Console" panose="020B0609040504020204" pitchFamily="49" charset="0"/>
              </a:rPr>
              <a:t>		</a:t>
            </a:r>
            <a:r>
              <a:rPr lang="en-US" altLang="en-US" sz="1800" dirty="0">
                <a:solidFill>
                  <a:srgbClr val="0000FF"/>
                </a:solidFill>
                <a:latin typeface="Lucida Console" panose="020B0609040504020204" pitchFamily="49" charset="0"/>
              </a:rPr>
              <a:t>Player[] </a:t>
            </a:r>
            <a:r>
              <a:rPr lang="en-US" altLang="en-US" sz="1800" dirty="0" err="1">
                <a:solidFill>
                  <a:srgbClr val="0000FF"/>
                </a:solidFill>
                <a:latin typeface="Lucida Console" panose="020B0609040504020204" pitchFamily="49" charset="0"/>
              </a:rPr>
              <a:t>teamRecords</a:t>
            </a:r>
            <a:r>
              <a:rPr lang="en-US" altLang="en-US" sz="1800" dirty="0">
                <a:solidFill>
                  <a:srgbClr val="0000FF"/>
                </a:solidFill>
                <a:latin typeface="Lucida Console" panose="020B0609040504020204" pitchFamily="49" charset="0"/>
              </a:rPr>
              <a:t> = new Player[100];</a:t>
            </a:r>
          </a:p>
        </p:txBody>
      </p:sp>
    </p:spTree>
    <p:extLst>
      <p:ext uri="{BB962C8B-B14F-4D97-AF65-F5344CB8AC3E}">
        <p14:creationId xmlns:p14="http://schemas.microsoft.com/office/powerpoint/2010/main" val="42323504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87376" y="4906108"/>
            <a:ext cx="8310440" cy="195189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Ideal Case: Searching = Indexing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382000" cy="5614988"/>
          </a:xfrm>
        </p:spPr>
        <p:txBody>
          <a:bodyPr/>
          <a:lstStyle/>
          <a:p>
            <a:r>
              <a:rPr lang="en-US" altLang="en-US" dirty="0"/>
              <a:t>The optimal search and insertion performance is achieved when we can treat the key as an index into an array.</a:t>
            </a:r>
          </a:p>
          <a:p>
            <a:r>
              <a:rPr lang="en-US" altLang="en-US" dirty="0"/>
              <a:t>Example: storing data about members of a sports team</a:t>
            </a:r>
          </a:p>
          <a:p>
            <a:pPr lvl="1"/>
            <a:r>
              <a:rPr lang="en-US" altLang="en-US" dirty="0"/>
              <a:t>key = jersey number (some value from 0-99).</a:t>
            </a:r>
          </a:p>
          <a:p>
            <a:pPr lvl="1">
              <a:spcBef>
                <a:spcPts val="500"/>
              </a:spcBef>
            </a:pPr>
            <a:r>
              <a:rPr lang="en-US" altLang="en-US" dirty="0"/>
              <a:t>class for an individual player's record:</a:t>
            </a:r>
          </a:p>
          <a:p>
            <a:pPr lvl="1">
              <a:spcBef>
                <a:spcPts val="200"/>
              </a:spcBef>
              <a:buFontTx/>
              <a:buNone/>
            </a:pPr>
            <a:r>
              <a:rPr lang="en-US" altLang="en-US" sz="1800" dirty="0">
                <a:latin typeface="Lucida Console" panose="020B0609040504020204" pitchFamily="49" charset="0"/>
              </a:rPr>
              <a:t>		public class Player {</a:t>
            </a:r>
          </a:p>
          <a:p>
            <a:pPr lvl="1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Lucida Console" panose="020B0609040504020204" pitchFamily="49" charset="0"/>
              </a:rPr>
              <a:t>		    private </a:t>
            </a:r>
            <a:r>
              <a:rPr lang="en-US" altLang="en-US" sz="1800" dirty="0" err="1">
                <a:latin typeface="Lucida Console" panose="020B0609040504020204" pitchFamily="49" charset="0"/>
              </a:rPr>
              <a:t>int</a:t>
            </a:r>
            <a:r>
              <a:rPr lang="en-US" altLang="en-US" sz="1800" dirty="0">
                <a:latin typeface="Lucida Console" panose="020B0609040504020204" pitchFamily="49" charset="0"/>
              </a:rPr>
              <a:t> </a:t>
            </a:r>
            <a:r>
              <a:rPr lang="en-US" altLang="en-US" sz="1800" dirty="0" err="1">
                <a:latin typeface="Lucida Console" panose="020B0609040504020204" pitchFamily="49" charset="0"/>
              </a:rPr>
              <a:t>jerseyNum</a:t>
            </a:r>
            <a:r>
              <a:rPr lang="en-US" altLang="en-US" sz="1800" dirty="0">
                <a:latin typeface="Lucida Console" panose="020B0609040504020204" pitchFamily="49" charset="0"/>
              </a:rPr>
              <a:t>;</a:t>
            </a:r>
          </a:p>
          <a:p>
            <a:pPr lvl="1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Lucida Console" panose="020B0609040504020204" pitchFamily="49" charset="0"/>
              </a:rPr>
              <a:t>		    private String </a:t>
            </a:r>
            <a:r>
              <a:rPr lang="en-US" altLang="en-US" sz="1800" dirty="0" err="1">
                <a:latin typeface="Lucida Console" panose="020B0609040504020204" pitchFamily="49" charset="0"/>
              </a:rPr>
              <a:t>firstName</a:t>
            </a:r>
            <a:r>
              <a:rPr lang="en-US" altLang="en-US" sz="1800" dirty="0">
                <a:latin typeface="Lucida Console" panose="020B0609040504020204" pitchFamily="49" charset="0"/>
              </a:rPr>
              <a:t>;</a:t>
            </a:r>
          </a:p>
          <a:p>
            <a:pPr lvl="1">
              <a:lnSpc>
                <a:spcPct val="50000"/>
              </a:lnSpc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Lucida Console" panose="020B0609040504020204" pitchFamily="49" charset="0"/>
              </a:rPr>
              <a:t>		    …</a:t>
            </a:r>
          </a:p>
          <a:p>
            <a:pPr lvl="1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Lucida Console" panose="020B0609040504020204" pitchFamily="49" charset="0"/>
              </a:rPr>
              <a:t>		}</a:t>
            </a:r>
          </a:p>
          <a:p>
            <a:pPr lvl="1">
              <a:spcBef>
                <a:spcPts val="500"/>
              </a:spcBef>
            </a:pPr>
            <a:r>
              <a:rPr lang="en-US" altLang="en-US" dirty="0"/>
              <a:t>store the player records in an array:</a:t>
            </a:r>
          </a:p>
          <a:p>
            <a:pPr lvl="1">
              <a:spcBef>
                <a:spcPts val="500"/>
              </a:spcBef>
              <a:buFontTx/>
              <a:buNone/>
            </a:pPr>
            <a:r>
              <a:rPr lang="en-US" altLang="en-US" sz="1800" dirty="0">
                <a:latin typeface="Lucida Console" panose="020B0609040504020204" pitchFamily="49" charset="0"/>
              </a:rPr>
              <a:t>		Player[] </a:t>
            </a:r>
            <a:r>
              <a:rPr lang="en-US" altLang="en-US" sz="1800" dirty="0" err="1">
                <a:latin typeface="Lucida Console" panose="020B0609040504020204" pitchFamily="49" charset="0"/>
              </a:rPr>
              <a:t>teamRecords</a:t>
            </a:r>
            <a:r>
              <a:rPr lang="en-US" altLang="en-US" sz="1800" dirty="0">
                <a:latin typeface="Lucida Console" panose="020B0609040504020204" pitchFamily="49" charset="0"/>
              </a:rPr>
              <a:t> = new Player[100];</a:t>
            </a:r>
          </a:p>
          <a:p>
            <a:pPr>
              <a:spcBef>
                <a:spcPts val="1400"/>
              </a:spcBef>
              <a:buFontTx/>
              <a:buChar char="•"/>
            </a:pPr>
            <a:r>
              <a:rPr lang="en-US" altLang="en-US" dirty="0"/>
              <a:t>In such cases, we can perform both search and insertion in </a:t>
            </a:r>
            <a:r>
              <a:rPr lang="en-US" altLang="en-US" i="1" dirty="0"/>
              <a:t>O</a:t>
            </a:r>
            <a:r>
              <a:rPr lang="en-US" altLang="en-US" dirty="0"/>
              <a:t>(1) time.  For example:</a:t>
            </a:r>
          </a:p>
          <a:p>
            <a:pPr>
              <a:spcBef>
                <a:spcPts val="1400"/>
              </a:spcBef>
              <a:buFontTx/>
              <a:buNone/>
            </a:pPr>
            <a:r>
              <a:rPr lang="en-US" altLang="en-US" sz="1800" dirty="0">
                <a:latin typeface="Lucida Console" panose="020B0609040504020204" pitchFamily="49" charset="0"/>
              </a:rPr>
              <a:t>			</a:t>
            </a:r>
            <a:r>
              <a:rPr lang="en-US" altLang="en-US" sz="1800" dirty="0">
                <a:solidFill>
                  <a:srgbClr val="0000FF"/>
                </a:solidFill>
                <a:latin typeface="Lucida Console" panose="020B0609040504020204" pitchFamily="49" charset="0"/>
              </a:rPr>
              <a:t>public Player search(</a:t>
            </a:r>
            <a:r>
              <a:rPr lang="en-US" altLang="en-US" sz="1800" dirty="0" err="1">
                <a:solidFill>
                  <a:srgbClr val="0000FF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sz="1800" dirty="0">
                <a:solidFill>
                  <a:srgbClr val="0000FF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1800" dirty="0" err="1">
                <a:solidFill>
                  <a:srgbClr val="0000FF"/>
                </a:solidFill>
                <a:latin typeface="Lucida Console" panose="020B0609040504020204" pitchFamily="49" charset="0"/>
              </a:rPr>
              <a:t>jerseyNum</a:t>
            </a:r>
            <a:r>
              <a:rPr lang="en-US" altLang="en-US" sz="1800" dirty="0">
                <a:solidFill>
                  <a:srgbClr val="0000FF"/>
                </a:solidFill>
                <a:latin typeface="Lucida Console" panose="020B0609040504020204" pitchFamily="49" charset="0"/>
              </a:rPr>
              <a:t>) 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dirty="0">
                <a:solidFill>
                  <a:srgbClr val="0000FF"/>
                </a:solidFill>
                <a:latin typeface="Lucida Console" panose="020B0609040504020204" pitchFamily="49" charset="0"/>
              </a:rPr>
              <a:t>			    return </a:t>
            </a:r>
            <a:r>
              <a:rPr lang="en-US" altLang="en-US" sz="1800" dirty="0" err="1">
                <a:solidFill>
                  <a:srgbClr val="0000FF"/>
                </a:solidFill>
                <a:latin typeface="Lucida Console" panose="020B0609040504020204" pitchFamily="49" charset="0"/>
              </a:rPr>
              <a:t>teamRecords</a:t>
            </a:r>
            <a:r>
              <a:rPr lang="en-US" altLang="en-US" sz="1800" dirty="0">
                <a:solidFill>
                  <a:srgbClr val="0000FF"/>
                </a:solidFill>
                <a:latin typeface="Lucida Console" panose="020B0609040504020204" pitchFamily="49" charset="0"/>
              </a:rPr>
              <a:t>[</a:t>
            </a:r>
            <a:r>
              <a:rPr lang="en-US" altLang="en-US" sz="1800" b="1" dirty="0" err="1">
                <a:solidFill>
                  <a:srgbClr val="0000FF"/>
                </a:solidFill>
                <a:latin typeface="Lucida Console" panose="020B0609040504020204" pitchFamily="49" charset="0"/>
              </a:rPr>
              <a:t>jerseyNum</a:t>
            </a:r>
            <a:r>
              <a:rPr lang="en-US" altLang="en-US" sz="1800" dirty="0">
                <a:solidFill>
                  <a:srgbClr val="0000FF"/>
                </a:solidFill>
                <a:latin typeface="Lucida Console" panose="020B0609040504020204" pitchFamily="49" charset="0"/>
              </a:rPr>
              <a:t>];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dirty="0">
                <a:solidFill>
                  <a:srgbClr val="0000FF"/>
                </a:solidFill>
                <a:latin typeface="Lucida Console" panose="020B0609040504020204" pitchFamily="49" charset="0"/>
              </a:rPr>
              <a:t>			}</a:t>
            </a:r>
          </a:p>
        </p:txBody>
      </p:sp>
    </p:spTree>
    <p:extLst>
      <p:ext uri="{BB962C8B-B14F-4D97-AF65-F5344CB8AC3E}">
        <p14:creationId xmlns:p14="http://schemas.microsoft.com/office/powerpoint/2010/main" val="31374718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Hashing: Turning Keys into Array Indices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488362" cy="5614988"/>
          </a:xfrm>
        </p:spPr>
        <p:txBody>
          <a:bodyPr/>
          <a:lstStyle/>
          <a:p>
            <a:pPr>
              <a:spcBef>
                <a:spcPts val="1400"/>
              </a:spcBef>
              <a:buFontTx/>
              <a:buChar char="•"/>
            </a:pPr>
            <a:r>
              <a:rPr lang="en-US" altLang="en-US"/>
              <a:t>In most real-world problems, indexing is not as simple as it is in the sports-team example. Why?</a:t>
            </a:r>
          </a:p>
          <a:p>
            <a:pPr lvl="1">
              <a:spcBef>
                <a:spcPts val="500"/>
              </a:spcBef>
            </a:pPr>
            <a:r>
              <a:rPr lang="en-US" altLang="en-US">
                <a:solidFill>
                  <a:srgbClr val="0000FF"/>
                </a:solidFill>
              </a:rPr>
              <a:t> </a:t>
            </a:r>
          </a:p>
          <a:p>
            <a:pPr lvl="1">
              <a:spcBef>
                <a:spcPts val="500"/>
              </a:spcBef>
            </a:pPr>
            <a:r>
              <a:rPr lang="en-US" altLang="en-US">
                <a:solidFill>
                  <a:srgbClr val="0000FF"/>
                </a:solidFill>
              </a:rPr>
              <a:t> </a:t>
            </a:r>
          </a:p>
          <a:p>
            <a:pPr lvl="1">
              <a:spcBef>
                <a:spcPts val="500"/>
              </a:spcBef>
            </a:pPr>
            <a:r>
              <a:rPr lang="en-US" altLang="en-US">
                <a:solidFill>
                  <a:srgbClr val="0000FF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977438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Hashing: Turning Keys into Array Indices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488362" cy="5614988"/>
          </a:xfrm>
        </p:spPr>
        <p:txBody>
          <a:bodyPr/>
          <a:lstStyle/>
          <a:p>
            <a:pPr>
              <a:spcBef>
                <a:spcPts val="1400"/>
              </a:spcBef>
              <a:buFontTx/>
              <a:buChar char="•"/>
            </a:pPr>
            <a:r>
              <a:rPr lang="en-US" altLang="en-US" dirty="0"/>
              <a:t>In most real-world problems, indexing is not as simple as it is in the sports-team example. Why?</a:t>
            </a:r>
          </a:p>
          <a:p>
            <a:pPr lvl="1">
              <a:spcBef>
                <a:spcPts val="500"/>
              </a:spcBef>
            </a:pPr>
            <a:r>
              <a:rPr lang="en-US" altLang="en-US" b="1" dirty="0">
                <a:solidFill>
                  <a:srgbClr val="0000FF"/>
                </a:solidFill>
              </a:rPr>
              <a:t>multiple data items may have the same key</a:t>
            </a:r>
          </a:p>
          <a:p>
            <a:pPr lvl="1">
              <a:spcBef>
                <a:spcPts val="500"/>
              </a:spcBef>
            </a:pPr>
            <a:r>
              <a:rPr lang="en-US" altLang="en-US" dirty="0">
                <a:solidFill>
                  <a:srgbClr val="0000FF"/>
                </a:solidFill>
              </a:rPr>
              <a:t>the key values may not work as array indices</a:t>
            </a:r>
          </a:p>
          <a:p>
            <a:pPr lvl="1">
              <a:spcBef>
                <a:spcPts val="500"/>
              </a:spcBef>
            </a:pPr>
            <a:r>
              <a:rPr lang="en-US" altLang="en-US" dirty="0">
                <a:solidFill>
                  <a:srgbClr val="0000FF"/>
                </a:solidFill>
              </a:rPr>
              <a:t>the range of possible key values may prevent us from </a:t>
            </a:r>
            <a:br>
              <a:rPr lang="en-US" altLang="en-US" dirty="0">
                <a:solidFill>
                  <a:srgbClr val="0000FF"/>
                </a:solidFill>
              </a:rPr>
            </a:br>
            <a:r>
              <a:rPr lang="en-US" altLang="en-US" dirty="0">
                <a:solidFill>
                  <a:srgbClr val="0000FF"/>
                </a:solidFill>
              </a:rPr>
              <a:t>giving each key value its own position in the array</a:t>
            </a:r>
          </a:p>
        </p:txBody>
      </p:sp>
    </p:spTree>
    <p:extLst>
      <p:ext uri="{BB962C8B-B14F-4D97-AF65-F5344CB8AC3E}">
        <p14:creationId xmlns:p14="http://schemas.microsoft.com/office/powerpoint/2010/main" val="4427854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Hashing: Turning Keys into Array Indices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488362" cy="5614988"/>
          </a:xfrm>
        </p:spPr>
        <p:txBody>
          <a:bodyPr/>
          <a:lstStyle/>
          <a:p>
            <a:pPr>
              <a:spcBef>
                <a:spcPts val="1400"/>
              </a:spcBef>
              <a:buFontTx/>
              <a:buChar char="•"/>
            </a:pPr>
            <a:r>
              <a:rPr lang="en-US" altLang="en-US" dirty="0"/>
              <a:t>In most real-world problems, indexing is not as simple as it is in the sports-team example. Why?</a:t>
            </a:r>
          </a:p>
          <a:p>
            <a:pPr lvl="1">
              <a:spcBef>
                <a:spcPts val="500"/>
              </a:spcBef>
            </a:pPr>
            <a:r>
              <a:rPr lang="en-US" altLang="en-US" dirty="0">
                <a:solidFill>
                  <a:srgbClr val="0000FF"/>
                </a:solidFill>
              </a:rPr>
              <a:t>multiple data items may have the same key</a:t>
            </a:r>
          </a:p>
          <a:p>
            <a:pPr lvl="1">
              <a:spcBef>
                <a:spcPts val="500"/>
              </a:spcBef>
            </a:pPr>
            <a:r>
              <a:rPr lang="en-US" altLang="en-US" b="1" dirty="0">
                <a:solidFill>
                  <a:srgbClr val="0000FF"/>
                </a:solidFill>
              </a:rPr>
              <a:t>the key values may not work as array indices</a:t>
            </a:r>
          </a:p>
          <a:p>
            <a:pPr lvl="1">
              <a:spcBef>
                <a:spcPts val="500"/>
              </a:spcBef>
            </a:pPr>
            <a:r>
              <a:rPr lang="en-US" altLang="en-US" dirty="0">
                <a:solidFill>
                  <a:srgbClr val="0000FF"/>
                </a:solidFill>
              </a:rPr>
              <a:t>the range of possible key values may prevent us from </a:t>
            </a:r>
            <a:br>
              <a:rPr lang="en-US" altLang="en-US" dirty="0">
                <a:solidFill>
                  <a:srgbClr val="0000FF"/>
                </a:solidFill>
              </a:rPr>
            </a:br>
            <a:r>
              <a:rPr lang="en-US" altLang="en-US" dirty="0">
                <a:solidFill>
                  <a:srgbClr val="0000FF"/>
                </a:solidFill>
              </a:rPr>
              <a:t>giving each key value its own position in the array</a:t>
            </a:r>
          </a:p>
        </p:txBody>
      </p:sp>
    </p:spTree>
    <p:extLst>
      <p:ext uri="{BB962C8B-B14F-4D97-AF65-F5344CB8AC3E}">
        <p14:creationId xmlns:p14="http://schemas.microsoft.com/office/powerpoint/2010/main" val="103413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Hashing: Turning Keys into Array Indices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488362" cy="5614988"/>
          </a:xfrm>
        </p:spPr>
        <p:txBody>
          <a:bodyPr/>
          <a:lstStyle/>
          <a:p>
            <a:pPr>
              <a:spcBef>
                <a:spcPts val="1400"/>
              </a:spcBef>
              <a:buFontTx/>
              <a:buChar char="•"/>
            </a:pPr>
            <a:r>
              <a:rPr lang="en-US" altLang="en-US" dirty="0"/>
              <a:t>In most real-world problems, indexing is not as simple as it is in the sports-team example. Why?</a:t>
            </a:r>
          </a:p>
          <a:p>
            <a:pPr lvl="1">
              <a:spcBef>
                <a:spcPts val="500"/>
              </a:spcBef>
            </a:pPr>
            <a:r>
              <a:rPr lang="en-US" altLang="en-US" dirty="0">
                <a:solidFill>
                  <a:srgbClr val="0000FF"/>
                </a:solidFill>
              </a:rPr>
              <a:t>multiple data items may have the same key</a:t>
            </a:r>
          </a:p>
          <a:p>
            <a:pPr lvl="1">
              <a:spcBef>
                <a:spcPts val="500"/>
              </a:spcBef>
            </a:pPr>
            <a:r>
              <a:rPr lang="en-US" altLang="en-US" dirty="0">
                <a:solidFill>
                  <a:srgbClr val="0000FF"/>
                </a:solidFill>
              </a:rPr>
              <a:t>the key values may not work as array indices</a:t>
            </a:r>
          </a:p>
          <a:p>
            <a:pPr lvl="1">
              <a:spcBef>
                <a:spcPts val="500"/>
              </a:spcBef>
            </a:pPr>
            <a:r>
              <a:rPr lang="en-US" altLang="en-US" b="1" dirty="0">
                <a:solidFill>
                  <a:srgbClr val="0000FF"/>
                </a:solidFill>
              </a:rPr>
              <a:t>the range of possible key values may prevent us from </a:t>
            </a:r>
            <a:br>
              <a:rPr lang="en-US" altLang="en-US" b="1" dirty="0">
                <a:solidFill>
                  <a:srgbClr val="0000FF"/>
                </a:solidFill>
              </a:rPr>
            </a:br>
            <a:r>
              <a:rPr lang="en-US" altLang="en-US" b="1" dirty="0">
                <a:solidFill>
                  <a:srgbClr val="0000FF"/>
                </a:solidFill>
              </a:rPr>
              <a:t>giving each key value its own position in the array</a:t>
            </a:r>
          </a:p>
        </p:txBody>
      </p:sp>
    </p:spTree>
    <p:extLst>
      <p:ext uri="{BB962C8B-B14F-4D97-AF65-F5344CB8AC3E}">
        <p14:creationId xmlns:p14="http://schemas.microsoft.com/office/powerpoint/2010/main" val="41869539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87375" y="3358662"/>
            <a:ext cx="8242300" cy="198706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Hashing: Turning Keys into Array Indices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488362" cy="5614988"/>
          </a:xfrm>
        </p:spPr>
        <p:txBody>
          <a:bodyPr/>
          <a:lstStyle/>
          <a:p>
            <a:pPr>
              <a:spcBef>
                <a:spcPts val="1400"/>
              </a:spcBef>
              <a:buFontTx/>
              <a:buChar char="•"/>
            </a:pPr>
            <a:r>
              <a:rPr lang="en-US" altLang="en-US" dirty="0"/>
              <a:t>In most real-world problems, indexing is not as simple as it is in the sports-team example. Why?</a:t>
            </a:r>
          </a:p>
          <a:p>
            <a:pPr lvl="1">
              <a:spcBef>
                <a:spcPts val="500"/>
              </a:spcBef>
            </a:pPr>
            <a:r>
              <a:rPr lang="en-US" altLang="en-US" dirty="0">
                <a:solidFill>
                  <a:schemeClr val="tx1"/>
                </a:solidFill>
              </a:rPr>
              <a:t>multiple data items may have the same key</a:t>
            </a:r>
          </a:p>
          <a:p>
            <a:pPr lvl="1">
              <a:spcBef>
                <a:spcPts val="500"/>
              </a:spcBef>
            </a:pPr>
            <a:r>
              <a:rPr lang="en-US" altLang="en-US" dirty="0">
                <a:solidFill>
                  <a:schemeClr val="tx1"/>
                </a:solidFill>
              </a:rPr>
              <a:t>the key values may not work as array indices</a:t>
            </a:r>
          </a:p>
          <a:p>
            <a:pPr lvl="1">
              <a:spcBef>
                <a:spcPts val="500"/>
              </a:spcBef>
            </a:pPr>
            <a:r>
              <a:rPr lang="en-US" altLang="en-US" dirty="0">
                <a:solidFill>
                  <a:schemeClr val="tx1"/>
                </a:solidFill>
              </a:rPr>
              <a:t>the range of possible key values may prevent us from </a:t>
            </a:r>
            <a:br>
              <a:rPr lang="en-US" altLang="en-US" dirty="0">
                <a:solidFill>
                  <a:schemeClr val="tx1"/>
                </a:solidFill>
              </a:rPr>
            </a:br>
            <a:r>
              <a:rPr lang="en-US" altLang="en-US" dirty="0">
                <a:solidFill>
                  <a:schemeClr val="tx1"/>
                </a:solidFill>
              </a:rPr>
              <a:t>giving each key value its own position in the array</a:t>
            </a:r>
          </a:p>
          <a:p>
            <a:pPr>
              <a:spcBef>
                <a:spcPts val="2400"/>
              </a:spcBef>
              <a:buFontTx/>
              <a:buChar char="•"/>
            </a:pPr>
            <a:r>
              <a:rPr lang="en-US" altLang="en-US" dirty="0"/>
              <a:t>To handle these problems, we perform a </a:t>
            </a:r>
            <a:r>
              <a:rPr lang="en-US" altLang="en-US" i="1" dirty="0">
                <a:solidFill>
                  <a:srgbClr val="0000FF"/>
                </a:solidFill>
              </a:rPr>
              <a:t>hashing</a:t>
            </a:r>
            <a:r>
              <a:rPr lang="en-US" altLang="en-US" dirty="0"/>
              <a:t> operation: </a:t>
            </a:r>
          </a:p>
          <a:p>
            <a:pPr lvl="1">
              <a:spcBef>
                <a:spcPts val="500"/>
              </a:spcBef>
            </a:pPr>
            <a:r>
              <a:rPr lang="en-US" altLang="en-US" dirty="0"/>
              <a:t>use a </a:t>
            </a:r>
            <a:r>
              <a:rPr lang="en-US" altLang="en-US" i="1" dirty="0">
                <a:solidFill>
                  <a:srgbClr val="0000FF"/>
                </a:solidFill>
              </a:rPr>
              <a:t>hash function</a:t>
            </a:r>
            <a:r>
              <a:rPr lang="en-US" altLang="en-US" dirty="0">
                <a:solidFill>
                  <a:srgbClr val="0000FF"/>
                </a:solidFill>
              </a:rPr>
              <a:t> </a:t>
            </a:r>
            <a:r>
              <a:rPr lang="en-US" altLang="en-US" dirty="0"/>
              <a:t>to convert the keys into array indices</a:t>
            </a:r>
          </a:p>
          <a:p>
            <a:pPr marL="914400" lvl="2" indent="0">
              <a:spcBef>
                <a:spcPts val="500"/>
              </a:spcBef>
              <a:buFont typeface="Times New Roman" panose="02020603050405020304" pitchFamily="18" charset="0"/>
              <a:buNone/>
            </a:pPr>
            <a:r>
              <a:rPr lang="en-US" altLang="en-US" dirty="0">
                <a:latin typeface="Lucida Console" panose="020B0609040504020204" pitchFamily="49" charset="0"/>
              </a:rPr>
              <a:t>“</a:t>
            </a:r>
            <a:r>
              <a:rPr lang="en-US" altLang="en-US" dirty="0" err="1">
                <a:latin typeface="Lucida Console" panose="020B0609040504020204" pitchFamily="49" charset="0"/>
              </a:rPr>
              <a:t>Papadakis</a:t>
            </a:r>
            <a:r>
              <a:rPr lang="en-US" altLang="en-US" dirty="0">
                <a:latin typeface="Lucida Console" panose="020B0609040504020204" pitchFamily="49" charset="0"/>
              </a:rPr>
              <a:t>" </a:t>
            </a:r>
            <a:r>
              <a:rPr lang="en-US" altLang="en-US" dirty="0">
                <a:latin typeface="Lucida Console" panose="020B0609040504020204" pitchFamily="49" charset="0"/>
                <a:sym typeface="Wingdings" panose="05000000000000000000" pitchFamily="2" charset="2"/>
              </a:rPr>
              <a:t> 15</a:t>
            </a:r>
            <a:endParaRPr lang="en-US" altLang="en-US" dirty="0">
              <a:latin typeface="Lucida Console" panose="020B0609040504020204" pitchFamily="49" charset="0"/>
            </a:endParaRPr>
          </a:p>
          <a:p>
            <a:pPr lvl="1">
              <a:spcBef>
                <a:spcPts val="500"/>
              </a:spcBef>
            </a:pPr>
            <a:r>
              <a:rPr lang="en-US" altLang="en-US" dirty="0"/>
              <a:t>use techniques to handle cases in which multiple keys </a:t>
            </a:r>
            <a:br>
              <a:rPr lang="en-US" altLang="en-US" dirty="0"/>
            </a:br>
            <a:r>
              <a:rPr lang="en-US" altLang="en-US" dirty="0"/>
              <a:t>are assigned the same hash value</a:t>
            </a:r>
          </a:p>
          <a:p>
            <a:pPr>
              <a:spcBef>
                <a:spcPts val="2400"/>
              </a:spcBef>
              <a:buFontTx/>
              <a:buChar char="•"/>
            </a:pPr>
            <a:r>
              <a:rPr lang="en-US" altLang="en-US" dirty="0"/>
              <a:t>The resulting data structure is known as a </a:t>
            </a:r>
            <a:r>
              <a:rPr lang="en-US" altLang="en-US" i="1" dirty="0">
                <a:solidFill>
                  <a:srgbClr val="0000FF"/>
                </a:solidFill>
              </a:rPr>
              <a:t>hash table</a:t>
            </a:r>
            <a:r>
              <a:rPr lang="en-US" alt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494553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87375" y="3358662"/>
            <a:ext cx="8242300" cy="198706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Hashing: Turning Keys into Array Indices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488362" cy="5614988"/>
          </a:xfrm>
        </p:spPr>
        <p:txBody>
          <a:bodyPr/>
          <a:lstStyle/>
          <a:p>
            <a:pPr>
              <a:spcBef>
                <a:spcPts val="1400"/>
              </a:spcBef>
              <a:buFontTx/>
              <a:buChar char="•"/>
            </a:pPr>
            <a:r>
              <a:rPr lang="en-US" altLang="en-US" dirty="0"/>
              <a:t>In most real-world problems, indexing is not as simple as it is in the sports-team example. Why?</a:t>
            </a:r>
          </a:p>
          <a:p>
            <a:pPr lvl="1">
              <a:spcBef>
                <a:spcPts val="500"/>
              </a:spcBef>
            </a:pPr>
            <a:r>
              <a:rPr lang="en-US" altLang="en-US" dirty="0">
                <a:solidFill>
                  <a:schemeClr val="tx1"/>
                </a:solidFill>
              </a:rPr>
              <a:t>multiple data items may have the same key</a:t>
            </a:r>
          </a:p>
          <a:p>
            <a:pPr lvl="1">
              <a:spcBef>
                <a:spcPts val="500"/>
              </a:spcBef>
            </a:pPr>
            <a:r>
              <a:rPr lang="en-US" altLang="en-US" dirty="0">
                <a:solidFill>
                  <a:schemeClr val="tx1"/>
                </a:solidFill>
              </a:rPr>
              <a:t>the key values may not work as array indices</a:t>
            </a:r>
          </a:p>
          <a:p>
            <a:pPr lvl="1">
              <a:spcBef>
                <a:spcPts val="500"/>
              </a:spcBef>
            </a:pPr>
            <a:r>
              <a:rPr lang="en-US" altLang="en-US" dirty="0">
                <a:solidFill>
                  <a:schemeClr val="tx1"/>
                </a:solidFill>
              </a:rPr>
              <a:t>the range of possible key values may prevent us from </a:t>
            </a:r>
            <a:br>
              <a:rPr lang="en-US" altLang="en-US" dirty="0">
                <a:solidFill>
                  <a:schemeClr val="tx1"/>
                </a:solidFill>
              </a:rPr>
            </a:br>
            <a:r>
              <a:rPr lang="en-US" altLang="en-US" dirty="0">
                <a:solidFill>
                  <a:schemeClr val="tx1"/>
                </a:solidFill>
              </a:rPr>
              <a:t>giving each key value its own position in the array</a:t>
            </a:r>
          </a:p>
          <a:p>
            <a:pPr>
              <a:spcBef>
                <a:spcPts val="2400"/>
              </a:spcBef>
              <a:buFontTx/>
              <a:buChar char="•"/>
            </a:pPr>
            <a:r>
              <a:rPr lang="en-US" altLang="en-US" dirty="0"/>
              <a:t>To handle these problems, we perform a </a:t>
            </a:r>
            <a:r>
              <a:rPr lang="en-US" altLang="en-US" i="1" dirty="0">
                <a:solidFill>
                  <a:srgbClr val="0000FF"/>
                </a:solidFill>
              </a:rPr>
              <a:t>hashing</a:t>
            </a:r>
            <a:r>
              <a:rPr lang="en-US" altLang="en-US" dirty="0"/>
              <a:t> operation: </a:t>
            </a:r>
          </a:p>
          <a:p>
            <a:pPr lvl="1">
              <a:spcBef>
                <a:spcPts val="500"/>
              </a:spcBef>
            </a:pPr>
            <a:r>
              <a:rPr lang="en-US" altLang="en-US" dirty="0"/>
              <a:t>use a </a:t>
            </a:r>
            <a:r>
              <a:rPr lang="en-US" altLang="en-US" i="1" dirty="0">
                <a:solidFill>
                  <a:schemeClr val="tx1"/>
                </a:solidFill>
              </a:rPr>
              <a:t>hash function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/>
              <a:t>to convert the keys into array indices</a:t>
            </a:r>
          </a:p>
          <a:p>
            <a:pPr marL="914400" lvl="2" indent="0">
              <a:spcBef>
                <a:spcPts val="500"/>
              </a:spcBef>
              <a:buFont typeface="Times New Roman" panose="02020603050405020304" pitchFamily="18" charset="0"/>
              <a:buNone/>
            </a:pPr>
            <a:r>
              <a:rPr lang="en-US" altLang="en-US" dirty="0">
                <a:latin typeface="Lucida Console" panose="020B0609040504020204" pitchFamily="49" charset="0"/>
              </a:rPr>
              <a:t>“</a:t>
            </a:r>
            <a:r>
              <a:rPr lang="en-US" altLang="en-US" dirty="0" err="1">
                <a:latin typeface="Lucida Console" panose="020B0609040504020204" pitchFamily="49" charset="0"/>
              </a:rPr>
              <a:t>Papadakis</a:t>
            </a:r>
            <a:r>
              <a:rPr lang="en-US" altLang="en-US" dirty="0">
                <a:latin typeface="Lucida Console" panose="020B0609040504020204" pitchFamily="49" charset="0"/>
              </a:rPr>
              <a:t>" </a:t>
            </a:r>
            <a:r>
              <a:rPr lang="en-US" altLang="en-US" dirty="0">
                <a:latin typeface="Lucida Console" panose="020B0609040504020204" pitchFamily="49" charset="0"/>
                <a:sym typeface="Wingdings" panose="05000000000000000000" pitchFamily="2" charset="2"/>
              </a:rPr>
              <a:t> 15</a:t>
            </a:r>
            <a:endParaRPr lang="en-US" altLang="en-US" dirty="0">
              <a:latin typeface="Lucida Console" panose="020B0609040504020204" pitchFamily="49" charset="0"/>
            </a:endParaRPr>
          </a:p>
          <a:p>
            <a:pPr lvl="1">
              <a:spcBef>
                <a:spcPts val="500"/>
              </a:spcBef>
            </a:pPr>
            <a:r>
              <a:rPr lang="en-US" altLang="en-US" dirty="0">
                <a:solidFill>
                  <a:srgbClr val="0000FF"/>
                </a:solidFill>
              </a:rPr>
              <a:t>use techniques to handle cases in which multiple keys </a:t>
            </a:r>
            <a:br>
              <a:rPr lang="en-US" altLang="en-US" dirty="0">
                <a:solidFill>
                  <a:srgbClr val="0000FF"/>
                </a:solidFill>
              </a:rPr>
            </a:br>
            <a:r>
              <a:rPr lang="en-US" altLang="en-US" dirty="0">
                <a:solidFill>
                  <a:srgbClr val="0000FF"/>
                </a:solidFill>
              </a:rPr>
              <a:t>are assigned the same </a:t>
            </a:r>
            <a:r>
              <a:rPr lang="en-US" altLang="en-US" i="1" dirty="0">
                <a:solidFill>
                  <a:srgbClr val="0000FF"/>
                </a:solidFill>
              </a:rPr>
              <a:t>hash</a:t>
            </a:r>
            <a:r>
              <a:rPr lang="en-US" altLang="en-US" dirty="0">
                <a:solidFill>
                  <a:srgbClr val="0000FF"/>
                </a:solidFill>
              </a:rPr>
              <a:t> index.</a:t>
            </a:r>
          </a:p>
          <a:p>
            <a:pPr>
              <a:spcBef>
                <a:spcPts val="2400"/>
              </a:spcBef>
              <a:buFontTx/>
              <a:buChar char="•"/>
            </a:pPr>
            <a:r>
              <a:rPr lang="en-US" altLang="en-US" dirty="0"/>
              <a:t>The resulting data structure is known as a </a:t>
            </a:r>
            <a:r>
              <a:rPr lang="en-US" altLang="en-US" i="1" dirty="0">
                <a:solidFill>
                  <a:srgbClr val="0000FF"/>
                </a:solidFill>
              </a:rPr>
              <a:t>hash table</a:t>
            </a:r>
            <a:r>
              <a:rPr lang="en-US" alt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544583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87375" y="720969"/>
            <a:ext cx="7861300" cy="117816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Hash Functions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802687" cy="5614988"/>
          </a:xfrm>
        </p:spPr>
        <p:txBody>
          <a:bodyPr/>
          <a:lstStyle/>
          <a:p>
            <a:pPr>
              <a:defRPr/>
            </a:pPr>
            <a:r>
              <a:rPr lang="en-US" altLang="en-US" dirty="0"/>
              <a:t>A hash function defines a </a:t>
            </a:r>
            <a:r>
              <a:rPr lang="en-US" altLang="en-US" dirty="0">
                <a:solidFill>
                  <a:srgbClr val="0000FF"/>
                </a:solidFill>
              </a:rPr>
              <a:t>mapping</a:t>
            </a:r>
            <a:r>
              <a:rPr lang="en-US" altLang="en-US" dirty="0"/>
              <a:t> from the set of possible </a:t>
            </a:r>
            <a:br>
              <a:rPr lang="en-US" altLang="en-US" dirty="0"/>
            </a:br>
            <a:r>
              <a:rPr lang="en-US" altLang="en-US" dirty="0"/>
              <a:t>keys to the set of integers.</a:t>
            </a:r>
          </a:p>
          <a:p>
            <a:pPr marL="0" indent="0">
              <a:buFont typeface="Times New Roman" panose="02020603050405020304" pitchFamily="18" charset="0"/>
              <a:buNone/>
              <a:defRPr/>
            </a:pPr>
            <a:endParaRPr lang="en-US" altLang="en-US" dirty="0"/>
          </a:p>
          <a:p>
            <a:pPr>
              <a:spcBef>
                <a:spcPts val="2400"/>
              </a:spcBef>
              <a:buFontTx/>
              <a:buNone/>
              <a:defRPr/>
            </a:pPr>
            <a:r>
              <a:rPr lang="en-US" altLang="en-US" dirty="0"/>
              <a:t>		   key value						integer         </a:t>
            </a:r>
            <a:br>
              <a:rPr lang="en-US" altLang="en-US" dirty="0"/>
            </a:br>
            <a:r>
              <a:rPr lang="en-US" altLang="en-US" dirty="0"/>
              <a:t>													   </a:t>
            </a:r>
          </a:p>
          <a:p>
            <a:pPr>
              <a:spcBef>
                <a:spcPts val="500"/>
              </a:spcBef>
              <a:buFontTx/>
              <a:buNone/>
              <a:defRPr/>
            </a:pPr>
            <a:endParaRPr lang="en-US" altLang="en-US" dirty="0"/>
          </a:p>
        </p:txBody>
      </p:sp>
      <p:graphicFrame>
        <p:nvGraphicFramePr>
          <p:cNvPr id="2413573" name="Group 5"/>
          <p:cNvGraphicFramePr>
            <a:graphicFrameLocks noGrp="1"/>
          </p:cNvGraphicFramePr>
          <p:nvPr/>
        </p:nvGraphicFramePr>
        <p:xfrm>
          <a:off x="2908300" y="2249488"/>
          <a:ext cx="1330325" cy="720725"/>
        </p:xfrm>
        <a:graphic>
          <a:graphicData uri="http://schemas.openxmlformats.org/drawingml/2006/table">
            <a:tbl>
              <a:tblPr/>
              <a:tblGrid>
                <a:gridCol w="1330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20725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lvetica" pitchFamily="34" charset="0"/>
                        </a:rPr>
                        <a:t>hash</a:t>
                      </a:r>
                      <a:b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lvetica" pitchFamily="34" charset="0"/>
                        </a:rPr>
                      </a:b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lvetica" pitchFamily="34" charset="0"/>
                        </a:rPr>
                        <a:t>function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274" name="AutoShape 11"/>
          <p:cNvSpPr>
            <a:spLocks noChangeArrowheads="1"/>
          </p:cNvSpPr>
          <p:nvPr/>
        </p:nvSpPr>
        <p:spPr bwMode="auto">
          <a:xfrm>
            <a:off x="2413000" y="2470150"/>
            <a:ext cx="314325" cy="195263"/>
          </a:xfrm>
          <a:prstGeom prst="rightArrow">
            <a:avLst>
              <a:gd name="adj1" fmla="val 50000"/>
              <a:gd name="adj2" fmla="val 40244"/>
            </a:avLst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 type="non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>
              <a:spcBef>
                <a:spcPts val="1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 algn="l">
              <a:spcBef>
                <a:spcPts val="525"/>
              </a:spcBef>
              <a:buClr>
                <a:srgbClr val="000000"/>
              </a:buClr>
              <a:buSzPct val="10000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Helvetica" panose="020B0604020202020204" pitchFamily="34" charset="0"/>
              <a:buChar char="–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 Narrow" panose="020B0606020202030204" pitchFamily="34" charset="0"/>
            </a:endParaRPr>
          </a:p>
        </p:txBody>
      </p:sp>
      <p:sp>
        <p:nvSpPr>
          <p:cNvPr id="11275" name="AutoShape 12"/>
          <p:cNvSpPr>
            <a:spLocks noChangeArrowheads="1"/>
          </p:cNvSpPr>
          <p:nvPr/>
        </p:nvSpPr>
        <p:spPr bwMode="auto">
          <a:xfrm>
            <a:off x="4395788" y="2470150"/>
            <a:ext cx="314325" cy="195263"/>
          </a:xfrm>
          <a:prstGeom prst="rightArrow">
            <a:avLst>
              <a:gd name="adj1" fmla="val 50000"/>
              <a:gd name="adj2" fmla="val 40244"/>
            </a:avLst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 type="non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>
              <a:spcBef>
                <a:spcPts val="1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 algn="l">
              <a:spcBef>
                <a:spcPts val="525"/>
              </a:spcBef>
              <a:buClr>
                <a:srgbClr val="000000"/>
              </a:buClr>
              <a:buSzPct val="10000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Helvetica" panose="020B0604020202020204" pitchFamily="34" charset="0"/>
              <a:buChar char="–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473903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587375" y="720969"/>
            <a:ext cx="7861300" cy="117816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Hash Functions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802687" cy="5614988"/>
          </a:xfrm>
        </p:spPr>
        <p:txBody>
          <a:bodyPr/>
          <a:lstStyle/>
          <a:p>
            <a:pPr>
              <a:defRPr/>
            </a:pPr>
            <a:r>
              <a:rPr lang="en-US" altLang="en-US" dirty="0"/>
              <a:t>A hash function defines a mapping from the set of possible </a:t>
            </a:r>
            <a:br>
              <a:rPr lang="en-US" altLang="en-US" dirty="0"/>
            </a:br>
            <a:r>
              <a:rPr lang="en-US" altLang="en-US" dirty="0"/>
              <a:t>keys to the set of integers.</a:t>
            </a:r>
          </a:p>
          <a:p>
            <a:pPr marL="0" indent="0">
              <a:buFont typeface="Times New Roman" panose="02020603050405020304" pitchFamily="18" charset="0"/>
              <a:buNone/>
              <a:defRPr/>
            </a:pPr>
            <a:endParaRPr lang="en-US" altLang="en-US" dirty="0"/>
          </a:p>
          <a:p>
            <a:pPr>
              <a:spcBef>
                <a:spcPts val="2400"/>
              </a:spcBef>
              <a:buFontTx/>
              <a:buNone/>
              <a:defRPr/>
            </a:pPr>
            <a:r>
              <a:rPr lang="en-US" altLang="en-US" dirty="0"/>
              <a:t>		   key value						</a:t>
            </a:r>
            <a:r>
              <a:rPr lang="en-US" altLang="en-US" dirty="0">
                <a:solidFill>
                  <a:srgbClr val="0000FF"/>
                </a:solidFill>
              </a:rPr>
              <a:t>integer</a:t>
            </a:r>
            <a:r>
              <a:rPr lang="en-US" altLang="en-US" dirty="0"/>
              <a:t>         </a:t>
            </a:r>
            <a:br>
              <a:rPr lang="en-US" altLang="en-US" dirty="0"/>
            </a:br>
            <a:r>
              <a:rPr lang="en-US" altLang="en-US" dirty="0"/>
              <a:t>													   </a:t>
            </a:r>
          </a:p>
          <a:p>
            <a:pPr>
              <a:spcBef>
                <a:spcPts val="500"/>
              </a:spcBef>
              <a:buFontTx/>
              <a:buNone/>
              <a:defRPr/>
            </a:pPr>
            <a:endParaRPr lang="en-US" altLang="en-US" dirty="0"/>
          </a:p>
        </p:txBody>
      </p:sp>
      <p:graphicFrame>
        <p:nvGraphicFramePr>
          <p:cNvPr id="2413573" name="Group 5"/>
          <p:cNvGraphicFramePr>
            <a:graphicFrameLocks noGrp="1"/>
          </p:cNvGraphicFramePr>
          <p:nvPr/>
        </p:nvGraphicFramePr>
        <p:xfrm>
          <a:off x="2908300" y="2249488"/>
          <a:ext cx="1330325" cy="720725"/>
        </p:xfrm>
        <a:graphic>
          <a:graphicData uri="http://schemas.openxmlformats.org/drawingml/2006/table">
            <a:tbl>
              <a:tblPr/>
              <a:tblGrid>
                <a:gridCol w="1330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20725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lvetica" pitchFamily="34" charset="0"/>
                        </a:rPr>
                        <a:t>hash</a:t>
                      </a:r>
                      <a:b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lvetica" pitchFamily="34" charset="0"/>
                        </a:rPr>
                      </a:b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lvetica" pitchFamily="34" charset="0"/>
                        </a:rPr>
                        <a:t>function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274" name="AutoShape 11"/>
          <p:cNvSpPr>
            <a:spLocks noChangeArrowheads="1"/>
          </p:cNvSpPr>
          <p:nvPr/>
        </p:nvSpPr>
        <p:spPr bwMode="auto">
          <a:xfrm>
            <a:off x="2413000" y="2470150"/>
            <a:ext cx="314325" cy="195263"/>
          </a:xfrm>
          <a:prstGeom prst="rightArrow">
            <a:avLst>
              <a:gd name="adj1" fmla="val 50000"/>
              <a:gd name="adj2" fmla="val 40244"/>
            </a:avLst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 type="non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>
              <a:spcBef>
                <a:spcPts val="1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 algn="l">
              <a:spcBef>
                <a:spcPts val="525"/>
              </a:spcBef>
              <a:buClr>
                <a:srgbClr val="000000"/>
              </a:buClr>
              <a:buSzPct val="10000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Helvetica" panose="020B0604020202020204" pitchFamily="34" charset="0"/>
              <a:buChar char="–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 Narrow" panose="020B0606020202030204" pitchFamily="34" charset="0"/>
            </a:endParaRPr>
          </a:p>
        </p:txBody>
      </p:sp>
      <p:sp>
        <p:nvSpPr>
          <p:cNvPr id="11275" name="AutoShape 12"/>
          <p:cNvSpPr>
            <a:spLocks noChangeArrowheads="1"/>
          </p:cNvSpPr>
          <p:nvPr/>
        </p:nvSpPr>
        <p:spPr bwMode="auto">
          <a:xfrm>
            <a:off x="4395788" y="2470150"/>
            <a:ext cx="314325" cy="195263"/>
          </a:xfrm>
          <a:prstGeom prst="rightArrow">
            <a:avLst>
              <a:gd name="adj1" fmla="val 50000"/>
              <a:gd name="adj2" fmla="val 40244"/>
            </a:avLst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 type="non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>
              <a:spcBef>
                <a:spcPts val="1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 algn="l">
              <a:spcBef>
                <a:spcPts val="525"/>
              </a:spcBef>
              <a:buClr>
                <a:srgbClr val="000000"/>
              </a:buClr>
              <a:buSzPct val="10000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Helvetica" panose="020B0604020202020204" pitchFamily="34" charset="0"/>
              <a:buChar char="–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 Narrow" panose="020B0606020202030204" pitchFamily="34" charset="0"/>
            </a:endParaRPr>
          </a:p>
        </p:txBody>
      </p:sp>
      <p:sp>
        <p:nvSpPr>
          <p:cNvPr id="2" name="Cloud Callout 1"/>
          <p:cNvSpPr/>
          <p:nvPr/>
        </p:nvSpPr>
        <p:spPr bwMode="auto">
          <a:xfrm>
            <a:off x="1371600" y="3669628"/>
            <a:ext cx="4502699" cy="3012525"/>
          </a:xfrm>
          <a:prstGeom prst="cloudCallout">
            <a:avLst>
              <a:gd name="adj1" fmla="val 35000"/>
              <a:gd name="adj2" fmla="val -74632"/>
            </a:avLst>
          </a:prstGeom>
          <a:solidFill>
            <a:schemeClr val="bg1">
              <a:lumMod val="85000"/>
            </a:schemeClr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200" i="1" dirty="0"/>
              <a:t>Note that </a:t>
            </a:r>
            <a:r>
              <a:rPr kumimoji="0" lang="en-US" sz="22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this</a:t>
            </a:r>
            <a:r>
              <a:rPr kumimoji="0" lang="en-US" sz="2200" b="0" i="1" u="none" strike="noStrike" cap="none" normalizeH="0" dirty="0">
                <a:ln>
                  <a:noFill/>
                </a:ln>
                <a:solidFill>
                  <a:srgbClr val="000000"/>
                </a:solidFill>
                <a:effectLst/>
              </a:rPr>
              <a:t> integer can be any arbitrary integer value… including a very large value. But our storage is </a:t>
            </a:r>
            <a:r>
              <a:rPr lang="en-US" sz="2200" i="1" dirty="0"/>
              <a:t>limited to a fixed sized array!</a:t>
            </a:r>
            <a:r>
              <a:rPr kumimoji="0" lang="en-US" sz="2200" b="0" i="1" u="none" strike="noStrike" cap="none" normalizeH="0" dirty="0">
                <a:ln>
                  <a:noFill/>
                </a:ln>
                <a:solidFill>
                  <a:srgbClr val="000000"/>
                </a:solidFill>
                <a:effectLst/>
              </a:rPr>
              <a:t> </a:t>
            </a:r>
            <a:endParaRPr kumimoji="0" lang="en-US" sz="2200" b="0" i="1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09484500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87376" y="1692275"/>
            <a:ext cx="7861299" cy="46037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Hash Functions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802687" cy="5614988"/>
          </a:xfrm>
        </p:spPr>
        <p:txBody>
          <a:bodyPr/>
          <a:lstStyle/>
          <a:p>
            <a:r>
              <a:rPr lang="en-US" altLang="en-US" dirty="0"/>
              <a:t>A hash function defines a mapping from the set of possible </a:t>
            </a:r>
            <a:br>
              <a:rPr lang="en-US" altLang="en-US" dirty="0"/>
            </a:br>
            <a:r>
              <a:rPr lang="en-US" altLang="en-US" dirty="0"/>
              <a:t>keys to the set of integers.</a:t>
            </a:r>
          </a:p>
          <a:p>
            <a:r>
              <a:rPr lang="en-US" altLang="en-US" dirty="0"/>
              <a:t>We then use the </a:t>
            </a:r>
            <a:r>
              <a:rPr lang="en-US" altLang="en-US" dirty="0">
                <a:solidFill>
                  <a:srgbClr val="0000FF"/>
                </a:solidFill>
              </a:rPr>
              <a:t>modulus</a:t>
            </a:r>
            <a:r>
              <a:rPr lang="en-US" altLang="en-US" dirty="0"/>
              <a:t> operator to get a valid array index.</a:t>
            </a:r>
          </a:p>
          <a:p>
            <a:pPr>
              <a:spcBef>
                <a:spcPts val="2400"/>
              </a:spcBef>
              <a:buFontTx/>
              <a:buNone/>
            </a:pPr>
            <a:r>
              <a:rPr lang="en-US" altLang="en-US" dirty="0"/>
              <a:t>		   key value						integer         </a:t>
            </a:r>
            <a:r>
              <a:rPr lang="en-US" altLang="en-US" dirty="0" err="1"/>
              <a:t>integer</a:t>
            </a:r>
            <a:r>
              <a:rPr lang="en-US" altLang="en-US" dirty="0"/>
              <a:t> in [0, n – 1]</a:t>
            </a:r>
            <a:br>
              <a:rPr lang="en-US" altLang="en-US" dirty="0"/>
            </a:br>
            <a:r>
              <a:rPr lang="en-US" altLang="en-US" dirty="0"/>
              <a:t>													   (</a:t>
            </a:r>
            <a:r>
              <a:rPr lang="en-US" altLang="en-US" b="1" dirty="0">
                <a:solidFill>
                  <a:srgbClr val="008000"/>
                </a:solidFill>
              </a:rPr>
              <a:t>n</a:t>
            </a:r>
            <a:r>
              <a:rPr lang="en-US" altLang="en-US" dirty="0"/>
              <a:t> = array length)</a:t>
            </a:r>
          </a:p>
          <a:p>
            <a:pPr>
              <a:spcBef>
                <a:spcPts val="500"/>
              </a:spcBef>
              <a:buFontTx/>
              <a:buChar char="•"/>
            </a:pPr>
            <a:endParaRPr lang="en-US" altLang="en-US" dirty="0"/>
          </a:p>
          <a:p>
            <a:pPr lvl="1">
              <a:spcBef>
                <a:spcPts val="200"/>
              </a:spcBef>
              <a:buFontTx/>
              <a:buNone/>
            </a:pPr>
            <a:r>
              <a:rPr lang="en-US" altLang="en-US" dirty="0"/>
              <a:t>		</a:t>
            </a:r>
          </a:p>
        </p:txBody>
      </p:sp>
      <p:graphicFrame>
        <p:nvGraphicFramePr>
          <p:cNvPr id="2413573" name="Group 5"/>
          <p:cNvGraphicFramePr>
            <a:graphicFrameLocks noGrp="1"/>
          </p:cNvGraphicFramePr>
          <p:nvPr/>
        </p:nvGraphicFramePr>
        <p:xfrm>
          <a:off x="2908300" y="2249488"/>
          <a:ext cx="1330325" cy="720725"/>
        </p:xfrm>
        <a:graphic>
          <a:graphicData uri="http://schemas.openxmlformats.org/drawingml/2006/table">
            <a:tbl>
              <a:tblPr/>
              <a:tblGrid>
                <a:gridCol w="1330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20725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lvetica" pitchFamily="34" charset="0"/>
                        </a:rPr>
                        <a:t>hash</a:t>
                      </a:r>
                      <a:b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lvetica" pitchFamily="34" charset="0"/>
                        </a:rPr>
                      </a:b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lvetica" pitchFamily="34" charset="0"/>
                        </a:rPr>
                        <a:t>function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2298" name="AutoShape 11"/>
          <p:cNvSpPr>
            <a:spLocks noChangeArrowheads="1"/>
          </p:cNvSpPr>
          <p:nvPr/>
        </p:nvSpPr>
        <p:spPr bwMode="auto">
          <a:xfrm>
            <a:off x="2413000" y="2470150"/>
            <a:ext cx="314325" cy="195263"/>
          </a:xfrm>
          <a:prstGeom prst="rightArrow">
            <a:avLst>
              <a:gd name="adj1" fmla="val 50000"/>
              <a:gd name="adj2" fmla="val 40244"/>
            </a:avLst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 type="non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>
              <a:spcBef>
                <a:spcPts val="1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 algn="l">
              <a:spcBef>
                <a:spcPts val="525"/>
              </a:spcBef>
              <a:buClr>
                <a:srgbClr val="000000"/>
              </a:buClr>
              <a:buSzPct val="10000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Helvetica" panose="020B0604020202020204" pitchFamily="34" charset="0"/>
              <a:buChar char="–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 Narrow" panose="020B0606020202030204" pitchFamily="34" charset="0"/>
            </a:endParaRPr>
          </a:p>
        </p:txBody>
      </p:sp>
      <p:sp>
        <p:nvSpPr>
          <p:cNvPr id="12299" name="AutoShape 12"/>
          <p:cNvSpPr>
            <a:spLocks noChangeArrowheads="1"/>
          </p:cNvSpPr>
          <p:nvPr/>
        </p:nvSpPr>
        <p:spPr bwMode="auto">
          <a:xfrm>
            <a:off x="4395788" y="2470150"/>
            <a:ext cx="314325" cy="195263"/>
          </a:xfrm>
          <a:prstGeom prst="rightArrow">
            <a:avLst>
              <a:gd name="adj1" fmla="val 50000"/>
              <a:gd name="adj2" fmla="val 40244"/>
            </a:avLst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 type="non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>
              <a:spcBef>
                <a:spcPts val="1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 algn="l">
              <a:spcBef>
                <a:spcPts val="525"/>
              </a:spcBef>
              <a:buClr>
                <a:srgbClr val="000000"/>
              </a:buClr>
              <a:buSzPct val="10000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Helvetica" panose="020B0604020202020204" pitchFamily="34" charset="0"/>
              <a:buChar char="–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 Narrow" panose="020B0606020202030204" pitchFamily="34" charset="0"/>
            </a:endParaRPr>
          </a:p>
        </p:txBody>
      </p:sp>
      <p:sp>
        <p:nvSpPr>
          <p:cNvPr id="12300" name="AutoShape 12"/>
          <p:cNvSpPr>
            <a:spLocks noChangeArrowheads="1"/>
          </p:cNvSpPr>
          <p:nvPr/>
        </p:nvSpPr>
        <p:spPr bwMode="auto">
          <a:xfrm>
            <a:off x="5926138" y="2470150"/>
            <a:ext cx="314325" cy="195263"/>
          </a:xfrm>
          <a:prstGeom prst="rightArrow">
            <a:avLst>
              <a:gd name="adj1" fmla="val 50000"/>
              <a:gd name="adj2" fmla="val 40244"/>
            </a:avLst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 type="non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>
              <a:spcBef>
                <a:spcPts val="1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 algn="l">
              <a:spcBef>
                <a:spcPts val="525"/>
              </a:spcBef>
              <a:buClr>
                <a:srgbClr val="000000"/>
              </a:buClr>
              <a:buSzPct val="10000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Helvetica" panose="020B0604020202020204" pitchFamily="34" charset="0"/>
              <a:buChar char="–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 Narrow" panose="020B0606020202030204" pitchFamily="34" charset="0"/>
            </a:endParaRPr>
          </a:p>
        </p:txBody>
      </p:sp>
      <p:sp>
        <p:nvSpPr>
          <p:cNvPr id="12301" name="TextBox 1"/>
          <p:cNvSpPr txBox="1">
            <a:spLocks noChangeArrowheads="1"/>
          </p:cNvSpPr>
          <p:nvPr/>
        </p:nvSpPr>
        <p:spPr bwMode="auto">
          <a:xfrm>
            <a:off x="5913438" y="2152650"/>
            <a:ext cx="33813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>
              <a:spcBef>
                <a:spcPts val="1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 algn="l">
              <a:spcBef>
                <a:spcPts val="525"/>
              </a:spcBef>
              <a:buClr>
                <a:srgbClr val="000000"/>
              </a:buClr>
              <a:buSzPct val="10000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Helvetica" panose="020B0604020202020204" pitchFamily="34" charset="0"/>
              <a:buChar char="–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latin typeface="Lucida Console" panose="020B0609040504020204" pitchFamily="49" charset="0"/>
              </a:rPr>
              <a:t>%</a:t>
            </a:r>
          </a:p>
        </p:txBody>
      </p:sp>
    </p:spTree>
    <p:extLst>
      <p:ext uri="{BB962C8B-B14F-4D97-AF65-F5344CB8AC3E}">
        <p14:creationId xmlns:p14="http://schemas.microsoft.com/office/powerpoint/2010/main" val="252222513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60585" y="3798277"/>
            <a:ext cx="7288090" cy="43961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Hash Functions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802687" cy="5614988"/>
          </a:xfrm>
        </p:spPr>
        <p:txBody>
          <a:bodyPr/>
          <a:lstStyle/>
          <a:p>
            <a:r>
              <a:rPr lang="en-US" altLang="en-US" dirty="0"/>
              <a:t>A hash function defines a mapping from the set of possible </a:t>
            </a:r>
            <a:br>
              <a:rPr lang="en-US" altLang="en-US" dirty="0"/>
            </a:br>
            <a:r>
              <a:rPr lang="en-US" altLang="en-US" dirty="0"/>
              <a:t>keys to the set of integers.</a:t>
            </a:r>
          </a:p>
          <a:p>
            <a:r>
              <a:rPr lang="en-US" altLang="en-US" dirty="0"/>
              <a:t>We then use the modulus operator to get a valid array index.</a:t>
            </a:r>
          </a:p>
          <a:p>
            <a:pPr>
              <a:spcBef>
                <a:spcPts val="2400"/>
              </a:spcBef>
              <a:buFontTx/>
              <a:buNone/>
            </a:pPr>
            <a:r>
              <a:rPr lang="en-US" altLang="en-US" dirty="0"/>
              <a:t>		   key value						integer         </a:t>
            </a:r>
            <a:r>
              <a:rPr lang="en-US" altLang="en-US" dirty="0" err="1"/>
              <a:t>integer</a:t>
            </a:r>
            <a:r>
              <a:rPr lang="en-US" altLang="en-US" dirty="0"/>
              <a:t> in [0, n – 1]</a:t>
            </a:r>
            <a:br>
              <a:rPr lang="en-US" altLang="en-US" dirty="0"/>
            </a:br>
            <a:r>
              <a:rPr lang="en-US" altLang="en-US" dirty="0"/>
              <a:t>													   (n = array length)</a:t>
            </a:r>
          </a:p>
          <a:p>
            <a:pPr>
              <a:spcBef>
                <a:spcPts val="500"/>
              </a:spcBef>
              <a:buFontTx/>
              <a:buChar char="•"/>
            </a:pPr>
            <a:endParaRPr lang="en-US" altLang="en-US" dirty="0"/>
          </a:p>
          <a:p>
            <a:pPr>
              <a:spcBef>
                <a:spcPct val="0"/>
              </a:spcBef>
              <a:buFontTx/>
              <a:buChar char="•"/>
            </a:pPr>
            <a:r>
              <a:rPr lang="en-US" altLang="en-US" dirty="0"/>
              <a:t>Here's a very simple hash function for keys of lower-case letters:</a:t>
            </a:r>
          </a:p>
          <a:p>
            <a:pPr lvl="1">
              <a:spcBef>
                <a:spcPts val="200"/>
              </a:spcBef>
              <a:buFontTx/>
              <a:buNone/>
            </a:pPr>
            <a:r>
              <a:rPr lang="en-US" altLang="en-US" dirty="0"/>
              <a:t>		h(key) = </a:t>
            </a:r>
            <a:r>
              <a:rPr lang="en-US" altLang="en-US" b="1" dirty="0"/>
              <a:t>ASCII value of first char </a:t>
            </a:r>
            <a:r>
              <a:rPr lang="en-US" altLang="en-US" b="1" dirty="0">
                <a:solidFill>
                  <a:srgbClr val="0000FF"/>
                </a:solidFill>
              </a:rPr>
              <a:t>–</a:t>
            </a:r>
            <a:r>
              <a:rPr lang="en-US" altLang="en-US" dirty="0"/>
              <a:t> </a:t>
            </a:r>
            <a:r>
              <a:rPr lang="en-US" altLang="en-US" b="1" dirty="0"/>
              <a:t>ASCII value of 'a'</a:t>
            </a:r>
          </a:p>
          <a:p>
            <a:pPr lvl="1">
              <a:spcBef>
                <a:spcPts val="500"/>
              </a:spcBef>
            </a:pPr>
            <a:r>
              <a:rPr lang="en-US" altLang="en-US" dirty="0"/>
              <a:t>examples:</a:t>
            </a:r>
          </a:p>
          <a:p>
            <a:pPr lvl="1">
              <a:spcBef>
                <a:spcPts val="200"/>
              </a:spcBef>
              <a:buFontTx/>
              <a:buNone/>
            </a:pPr>
            <a:r>
              <a:rPr lang="en-US" altLang="en-US" dirty="0"/>
              <a:t>		h("</a:t>
            </a:r>
            <a:r>
              <a:rPr lang="en-US" altLang="en-US" dirty="0">
                <a:solidFill>
                  <a:schemeClr val="accent2"/>
                </a:solidFill>
              </a:rPr>
              <a:t>a</a:t>
            </a:r>
            <a:r>
              <a:rPr lang="en-US" altLang="en-US" dirty="0"/>
              <a:t>nt") = ASCII for '</a:t>
            </a:r>
            <a:r>
              <a:rPr lang="en-US" altLang="en-US" dirty="0">
                <a:solidFill>
                  <a:schemeClr val="accent2"/>
                </a:solidFill>
              </a:rPr>
              <a:t>a</a:t>
            </a:r>
            <a:r>
              <a:rPr lang="en-US" altLang="en-US" dirty="0"/>
              <a:t>' – ASCII for 'a' = 0</a:t>
            </a:r>
          </a:p>
          <a:p>
            <a:pPr lvl="1">
              <a:spcBef>
                <a:spcPts val="200"/>
              </a:spcBef>
              <a:buFontTx/>
              <a:buNone/>
            </a:pPr>
            <a:r>
              <a:rPr lang="en-US" altLang="en-US" dirty="0"/>
              <a:t>		</a:t>
            </a:r>
          </a:p>
        </p:txBody>
      </p:sp>
      <p:graphicFrame>
        <p:nvGraphicFramePr>
          <p:cNvPr id="2413573" name="Group 5"/>
          <p:cNvGraphicFramePr>
            <a:graphicFrameLocks noGrp="1"/>
          </p:cNvGraphicFramePr>
          <p:nvPr/>
        </p:nvGraphicFramePr>
        <p:xfrm>
          <a:off x="2908300" y="2249488"/>
          <a:ext cx="1330325" cy="720725"/>
        </p:xfrm>
        <a:graphic>
          <a:graphicData uri="http://schemas.openxmlformats.org/drawingml/2006/table">
            <a:tbl>
              <a:tblPr/>
              <a:tblGrid>
                <a:gridCol w="1330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20725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lvetica" pitchFamily="34" charset="0"/>
                        </a:rPr>
                        <a:t>hash</a:t>
                      </a:r>
                      <a:b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lvetica" pitchFamily="34" charset="0"/>
                        </a:rPr>
                      </a:b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lvetica" pitchFamily="34" charset="0"/>
                        </a:rPr>
                        <a:t>function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322" name="AutoShape 11"/>
          <p:cNvSpPr>
            <a:spLocks noChangeArrowheads="1"/>
          </p:cNvSpPr>
          <p:nvPr/>
        </p:nvSpPr>
        <p:spPr bwMode="auto">
          <a:xfrm>
            <a:off x="2413000" y="2470150"/>
            <a:ext cx="314325" cy="195263"/>
          </a:xfrm>
          <a:prstGeom prst="rightArrow">
            <a:avLst>
              <a:gd name="adj1" fmla="val 50000"/>
              <a:gd name="adj2" fmla="val 40244"/>
            </a:avLst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 type="non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>
              <a:spcBef>
                <a:spcPts val="1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 algn="l">
              <a:spcBef>
                <a:spcPts val="525"/>
              </a:spcBef>
              <a:buClr>
                <a:srgbClr val="000000"/>
              </a:buClr>
              <a:buSzPct val="10000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Helvetica" panose="020B0604020202020204" pitchFamily="34" charset="0"/>
              <a:buChar char="–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 Narrow" panose="020B0606020202030204" pitchFamily="34" charset="0"/>
            </a:endParaRPr>
          </a:p>
        </p:txBody>
      </p:sp>
      <p:sp>
        <p:nvSpPr>
          <p:cNvPr id="13323" name="AutoShape 12"/>
          <p:cNvSpPr>
            <a:spLocks noChangeArrowheads="1"/>
          </p:cNvSpPr>
          <p:nvPr/>
        </p:nvSpPr>
        <p:spPr bwMode="auto">
          <a:xfrm>
            <a:off x="4395788" y="2470150"/>
            <a:ext cx="314325" cy="195263"/>
          </a:xfrm>
          <a:prstGeom prst="rightArrow">
            <a:avLst>
              <a:gd name="adj1" fmla="val 50000"/>
              <a:gd name="adj2" fmla="val 40244"/>
            </a:avLst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 type="non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>
              <a:spcBef>
                <a:spcPts val="1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 algn="l">
              <a:spcBef>
                <a:spcPts val="525"/>
              </a:spcBef>
              <a:buClr>
                <a:srgbClr val="000000"/>
              </a:buClr>
              <a:buSzPct val="10000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Helvetica" panose="020B0604020202020204" pitchFamily="34" charset="0"/>
              <a:buChar char="–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 Narrow" panose="020B0606020202030204" pitchFamily="34" charset="0"/>
            </a:endParaRPr>
          </a:p>
        </p:txBody>
      </p:sp>
      <p:sp>
        <p:nvSpPr>
          <p:cNvPr id="13324" name="AutoShape 12"/>
          <p:cNvSpPr>
            <a:spLocks noChangeArrowheads="1"/>
          </p:cNvSpPr>
          <p:nvPr/>
        </p:nvSpPr>
        <p:spPr bwMode="auto">
          <a:xfrm>
            <a:off x="5926138" y="2470150"/>
            <a:ext cx="314325" cy="195263"/>
          </a:xfrm>
          <a:prstGeom prst="rightArrow">
            <a:avLst>
              <a:gd name="adj1" fmla="val 50000"/>
              <a:gd name="adj2" fmla="val 40244"/>
            </a:avLst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 type="non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>
              <a:spcBef>
                <a:spcPts val="1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 algn="l">
              <a:spcBef>
                <a:spcPts val="525"/>
              </a:spcBef>
              <a:buClr>
                <a:srgbClr val="000000"/>
              </a:buClr>
              <a:buSzPct val="10000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Helvetica" panose="020B0604020202020204" pitchFamily="34" charset="0"/>
              <a:buChar char="–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 Narrow" panose="020B0606020202030204" pitchFamily="34" charset="0"/>
            </a:endParaRPr>
          </a:p>
        </p:txBody>
      </p:sp>
      <p:sp>
        <p:nvSpPr>
          <p:cNvPr id="13325" name="TextBox 1"/>
          <p:cNvSpPr txBox="1">
            <a:spLocks noChangeArrowheads="1"/>
          </p:cNvSpPr>
          <p:nvPr/>
        </p:nvSpPr>
        <p:spPr bwMode="auto">
          <a:xfrm>
            <a:off x="5913438" y="2152650"/>
            <a:ext cx="33813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>
              <a:spcBef>
                <a:spcPts val="1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 algn="l">
              <a:spcBef>
                <a:spcPts val="525"/>
              </a:spcBef>
              <a:buClr>
                <a:srgbClr val="000000"/>
              </a:buClr>
              <a:buSzPct val="10000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Helvetica" panose="020B0604020202020204" pitchFamily="34" charset="0"/>
              <a:buChar char="–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latin typeface="Lucida Console" panose="020B0609040504020204" pitchFamily="49" charset="0"/>
              </a:rPr>
              <a:t>%</a:t>
            </a:r>
          </a:p>
        </p:txBody>
      </p:sp>
    </p:spTree>
    <p:extLst>
      <p:ext uri="{BB962C8B-B14F-4D97-AF65-F5344CB8AC3E}">
        <p14:creationId xmlns:p14="http://schemas.microsoft.com/office/powerpoint/2010/main" val="181351946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Hash Functions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802687" cy="5614988"/>
          </a:xfrm>
        </p:spPr>
        <p:txBody>
          <a:bodyPr/>
          <a:lstStyle/>
          <a:p>
            <a:r>
              <a:rPr lang="en-US" altLang="en-US" dirty="0"/>
              <a:t>A hash function defines a mapping from the set of possible </a:t>
            </a:r>
            <a:br>
              <a:rPr lang="en-US" altLang="en-US" dirty="0"/>
            </a:br>
            <a:r>
              <a:rPr lang="en-US" altLang="en-US" dirty="0"/>
              <a:t>keys to the set of integers.</a:t>
            </a:r>
          </a:p>
          <a:p>
            <a:r>
              <a:rPr lang="en-US" altLang="en-US" dirty="0"/>
              <a:t>We then use the modulus operator to get a valid array index.</a:t>
            </a:r>
          </a:p>
          <a:p>
            <a:pPr>
              <a:spcBef>
                <a:spcPts val="2400"/>
              </a:spcBef>
              <a:buFontTx/>
              <a:buNone/>
            </a:pPr>
            <a:r>
              <a:rPr lang="en-US" altLang="en-US" dirty="0"/>
              <a:t>		   key value						integer         </a:t>
            </a:r>
            <a:r>
              <a:rPr lang="en-US" altLang="en-US" dirty="0" err="1"/>
              <a:t>integer</a:t>
            </a:r>
            <a:r>
              <a:rPr lang="en-US" altLang="en-US" dirty="0"/>
              <a:t> in [0, n – 1]</a:t>
            </a:r>
            <a:br>
              <a:rPr lang="en-US" altLang="en-US" dirty="0"/>
            </a:br>
            <a:r>
              <a:rPr lang="en-US" altLang="en-US" dirty="0"/>
              <a:t>													   (n = array length)</a:t>
            </a:r>
          </a:p>
          <a:p>
            <a:pPr>
              <a:spcBef>
                <a:spcPts val="500"/>
              </a:spcBef>
              <a:buFontTx/>
              <a:buChar char="•"/>
            </a:pPr>
            <a:endParaRPr lang="en-US" altLang="en-US" dirty="0"/>
          </a:p>
          <a:p>
            <a:pPr>
              <a:spcBef>
                <a:spcPct val="0"/>
              </a:spcBef>
              <a:buFontTx/>
              <a:buChar char="•"/>
            </a:pPr>
            <a:r>
              <a:rPr lang="en-US" altLang="en-US" dirty="0"/>
              <a:t>Here's a very simple hash function for keys of lower-case letters:</a:t>
            </a:r>
          </a:p>
          <a:p>
            <a:pPr lvl="1">
              <a:spcBef>
                <a:spcPts val="200"/>
              </a:spcBef>
              <a:buFontTx/>
              <a:buNone/>
            </a:pPr>
            <a:r>
              <a:rPr lang="en-US" altLang="en-US" dirty="0"/>
              <a:t>		h(key) = ASCII value of first char – ASCII value of 'a'</a:t>
            </a:r>
          </a:p>
          <a:p>
            <a:pPr lvl="1">
              <a:spcBef>
                <a:spcPts val="500"/>
              </a:spcBef>
            </a:pPr>
            <a:r>
              <a:rPr lang="en-US" altLang="en-US" dirty="0"/>
              <a:t>examples:</a:t>
            </a:r>
          </a:p>
          <a:p>
            <a:pPr lvl="1">
              <a:spcBef>
                <a:spcPts val="200"/>
              </a:spcBef>
              <a:buFontTx/>
              <a:buNone/>
            </a:pPr>
            <a:r>
              <a:rPr lang="en-US" altLang="en-US" dirty="0"/>
              <a:t>		h("</a:t>
            </a:r>
            <a:r>
              <a:rPr lang="en-US" altLang="en-US" dirty="0">
                <a:solidFill>
                  <a:schemeClr val="accent2"/>
                </a:solidFill>
              </a:rPr>
              <a:t>a</a:t>
            </a:r>
            <a:r>
              <a:rPr lang="en-US" altLang="en-US" dirty="0"/>
              <a:t>nt") = ASCII for '</a:t>
            </a:r>
            <a:r>
              <a:rPr lang="en-US" altLang="en-US" dirty="0">
                <a:solidFill>
                  <a:schemeClr val="accent2"/>
                </a:solidFill>
              </a:rPr>
              <a:t>a</a:t>
            </a:r>
            <a:r>
              <a:rPr lang="en-US" altLang="en-US" dirty="0"/>
              <a:t>' – ASCII for 'a' = 0</a:t>
            </a:r>
          </a:p>
          <a:p>
            <a:pPr lvl="1">
              <a:spcBef>
                <a:spcPts val="200"/>
              </a:spcBef>
              <a:buFontTx/>
              <a:buNone/>
            </a:pPr>
            <a:r>
              <a:rPr lang="en-US" altLang="en-US" dirty="0"/>
              <a:t>		h("</a:t>
            </a:r>
            <a:r>
              <a:rPr lang="en-US" altLang="en-US" dirty="0">
                <a:solidFill>
                  <a:schemeClr val="accent2"/>
                </a:solidFill>
              </a:rPr>
              <a:t>c</a:t>
            </a:r>
            <a:r>
              <a:rPr lang="en-US" altLang="en-US" dirty="0"/>
              <a:t>at") = ASCII for '</a:t>
            </a:r>
            <a:r>
              <a:rPr lang="en-US" altLang="en-US" dirty="0">
                <a:solidFill>
                  <a:schemeClr val="accent2"/>
                </a:solidFill>
              </a:rPr>
              <a:t>c</a:t>
            </a:r>
            <a:r>
              <a:rPr lang="en-US" altLang="en-US" dirty="0"/>
              <a:t>' – ASCII for 'a' = 2</a:t>
            </a:r>
          </a:p>
          <a:p>
            <a:pPr>
              <a:spcBef>
                <a:spcPts val="500"/>
              </a:spcBef>
              <a:buFontTx/>
              <a:buNone/>
            </a:pPr>
            <a:endParaRPr lang="en-US" altLang="en-US" dirty="0"/>
          </a:p>
        </p:txBody>
      </p:sp>
      <p:graphicFrame>
        <p:nvGraphicFramePr>
          <p:cNvPr id="2413573" name="Group 5"/>
          <p:cNvGraphicFramePr>
            <a:graphicFrameLocks noGrp="1"/>
          </p:cNvGraphicFramePr>
          <p:nvPr/>
        </p:nvGraphicFramePr>
        <p:xfrm>
          <a:off x="2908300" y="2249488"/>
          <a:ext cx="1330325" cy="720725"/>
        </p:xfrm>
        <a:graphic>
          <a:graphicData uri="http://schemas.openxmlformats.org/drawingml/2006/table">
            <a:tbl>
              <a:tblPr/>
              <a:tblGrid>
                <a:gridCol w="1330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20725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lvetica" pitchFamily="34" charset="0"/>
                        </a:rPr>
                        <a:t>hash</a:t>
                      </a:r>
                      <a:b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lvetica" pitchFamily="34" charset="0"/>
                        </a:rPr>
                      </a:b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lvetica" pitchFamily="34" charset="0"/>
                        </a:rPr>
                        <a:t>function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346" name="AutoShape 11"/>
          <p:cNvSpPr>
            <a:spLocks noChangeArrowheads="1"/>
          </p:cNvSpPr>
          <p:nvPr/>
        </p:nvSpPr>
        <p:spPr bwMode="auto">
          <a:xfrm>
            <a:off x="2413000" y="2470150"/>
            <a:ext cx="314325" cy="195263"/>
          </a:xfrm>
          <a:prstGeom prst="rightArrow">
            <a:avLst>
              <a:gd name="adj1" fmla="val 50000"/>
              <a:gd name="adj2" fmla="val 40244"/>
            </a:avLst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 type="non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>
              <a:spcBef>
                <a:spcPts val="1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 algn="l">
              <a:spcBef>
                <a:spcPts val="525"/>
              </a:spcBef>
              <a:buClr>
                <a:srgbClr val="000000"/>
              </a:buClr>
              <a:buSzPct val="10000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Helvetica" panose="020B0604020202020204" pitchFamily="34" charset="0"/>
              <a:buChar char="–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 Narrow" panose="020B0606020202030204" pitchFamily="34" charset="0"/>
            </a:endParaRPr>
          </a:p>
        </p:txBody>
      </p:sp>
      <p:sp>
        <p:nvSpPr>
          <p:cNvPr id="14347" name="AutoShape 12"/>
          <p:cNvSpPr>
            <a:spLocks noChangeArrowheads="1"/>
          </p:cNvSpPr>
          <p:nvPr/>
        </p:nvSpPr>
        <p:spPr bwMode="auto">
          <a:xfrm>
            <a:off x="4395788" y="2470150"/>
            <a:ext cx="314325" cy="195263"/>
          </a:xfrm>
          <a:prstGeom prst="rightArrow">
            <a:avLst>
              <a:gd name="adj1" fmla="val 50000"/>
              <a:gd name="adj2" fmla="val 40244"/>
            </a:avLst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 type="non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>
              <a:spcBef>
                <a:spcPts val="1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 algn="l">
              <a:spcBef>
                <a:spcPts val="525"/>
              </a:spcBef>
              <a:buClr>
                <a:srgbClr val="000000"/>
              </a:buClr>
              <a:buSzPct val="10000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Helvetica" panose="020B0604020202020204" pitchFamily="34" charset="0"/>
              <a:buChar char="–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 Narrow" panose="020B0606020202030204" pitchFamily="34" charset="0"/>
            </a:endParaRPr>
          </a:p>
        </p:txBody>
      </p:sp>
      <p:sp>
        <p:nvSpPr>
          <p:cNvPr id="14348" name="AutoShape 12"/>
          <p:cNvSpPr>
            <a:spLocks noChangeArrowheads="1"/>
          </p:cNvSpPr>
          <p:nvPr/>
        </p:nvSpPr>
        <p:spPr bwMode="auto">
          <a:xfrm>
            <a:off x="5926138" y="2470150"/>
            <a:ext cx="314325" cy="195263"/>
          </a:xfrm>
          <a:prstGeom prst="rightArrow">
            <a:avLst>
              <a:gd name="adj1" fmla="val 50000"/>
              <a:gd name="adj2" fmla="val 40244"/>
            </a:avLst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 type="non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>
              <a:spcBef>
                <a:spcPts val="1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 algn="l">
              <a:spcBef>
                <a:spcPts val="525"/>
              </a:spcBef>
              <a:buClr>
                <a:srgbClr val="000000"/>
              </a:buClr>
              <a:buSzPct val="10000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Helvetica" panose="020B0604020202020204" pitchFamily="34" charset="0"/>
              <a:buChar char="–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 Narrow" panose="020B0606020202030204" pitchFamily="34" charset="0"/>
            </a:endParaRPr>
          </a:p>
        </p:txBody>
      </p:sp>
      <p:sp>
        <p:nvSpPr>
          <p:cNvPr id="14349" name="TextBox 1"/>
          <p:cNvSpPr txBox="1">
            <a:spLocks noChangeArrowheads="1"/>
          </p:cNvSpPr>
          <p:nvPr/>
        </p:nvSpPr>
        <p:spPr bwMode="auto">
          <a:xfrm>
            <a:off x="5913438" y="2152650"/>
            <a:ext cx="33813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>
              <a:spcBef>
                <a:spcPts val="1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 algn="l">
              <a:spcBef>
                <a:spcPts val="525"/>
              </a:spcBef>
              <a:buClr>
                <a:srgbClr val="000000"/>
              </a:buClr>
              <a:buSzPct val="10000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Helvetica" panose="020B0604020202020204" pitchFamily="34" charset="0"/>
              <a:buChar char="–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latin typeface="Lucida Console" panose="020B0609040504020204" pitchFamily="49" charset="0"/>
              </a:rPr>
              <a:t>%</a:t>
            </a:r>
          </a:p>
        </p:txBody>
      </p:sp>
    </p:spTree>
    <p:extLst>
      <p:ext uri="{BB962C8B-B14F-4D97-AF65-F5344CB8AC3E}">
        <p14:creationId xmlns:p14="http://schemas.microsoft.com/office/powerpoint/2010/main" val="71703031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87375" y="5398477"/>
            <a:ext cx="6798163" cy="47478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Hash Functions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802687" cy="5614988"/>
          </a:xfrm>
        </p:spPr>
        <p:txBody>
          <a:bodyPr/>
          <a:lstStyle/>
          <a:p>
            <a:r>
              <a:rPr lang="en-US" altLang="en-US" dirty="0"/>
              <a:t>A hash function defines a mapping from the set of possible </a:t>
            </a:r>
            <a:br>
              <a:rPr lang="en-US" altLang="en-US" dirty="0"/>
            </a:br>
            <a:r>
              <a:rPr lang="en-US" altLang="en-US" dirty="0"/>
              <a:t>keys to the set of integers.</a:t>
            </a:r>
          </a:p>
          <a:p>
            <a:r>
              <a:rPr lang="en-US" altLang="en-US" dirty="0"/>
              <a:t>We then use the modulus operator to get a valid array index.</a:t>
            </a:r>
          </a:p>
          <a:p>
            <a:pPr>
              <a:spcBef>
                <a:spcPts val="2400"/>
              </a:spcBef>
              <a:buFontTx/>
              <a:buNone/>
            </a:pPr>
            <a:r>
              <a:rPr lang="en-US" altLang="en-US" dirty="0"/>
              <a:t>		   key value						integer         </a:t>
            </a:r>
            <a:r>
              <a:rPr lang="en-US" altLang="en-US" dirty="0" err="1"/>
              <a:t>integer</a:t>
            </a:r>
            <a:r>
              <a:rPr lang="en-US" altLang="en-US" dirty="0"/>
              <a:t> in [0, n – 1]</a:t>
            </a:r>
            <a:br>
              <a:rPr lang="en-US" altLang="en-US" dirty="0"/>
            </a:br>
            <a:r>
              <a:rPr lang="en-US" altLang="en-US" dirty="0"/>
              <a:t>													   (n = array length)</a:t>
            </a:r>
          </a:p>
          <a:p>
            <a:pPr>
              <a:spcBef>
                <a:spcPts val="500"/>
              </a:spcBef>
              <a:buFontTx/>
              <a:buChar char="•"/>
            </a:pPr>
            <a:endParaRPr lang="en-US" altLang="en-US" dirty="0"/>
          </a:p>
          <a:p>
            <a:pPr>
              <a:spcBef>
                <a:spcPct val="0"/>
              </a:spcBef>
              <a:buFontTx/>
              <a:buChar char="•"/>
            </a:pPr>
            <a:r>
              <a:rPr lang="en-US" altLang="en-US" dirty="0"/>
              <a:t>Here's a very simple hash function for keys of lower-case letters:</a:t>
            </a:r>
          </a:p>
          <a:p>
            <a:pPr lvl="1">
              <a:spcBef>
                <a:spcPts val="200"/>
              </a:spcBef>
              <a:buFontTx/>
              <a:buNone/>
            </a:pPr>
            <a:r>
              <a:rPr lang="en-US" altLang="en-US" dirty="0"/>
              <a:t>		h(key) = ASCII value of first char – ASCII value of 'a'</a:t>
            </a:r>
          </a:p>
          <a:p>
            <a:pPr lvl="1">
              <a:spcBef>
                <a:spcPts val="500"/>
              </a:spcBef>
            </a:pPr>
            <a:r>
              <a:rPr lang="en-US" altLang="en-US" dirty="0"/>
              <a:t>examples:</a:t>
            </a:r>
          </a:p>
          <a:p>
            <a:pPr lvl="1">
              <a:spcBef>
                <a:spcPts val="200"/>
              </a:spcBef>
              <a:buFontTx/>
              <a:buNone/>
            </a:pPr>
            <a:r>
              <a:rPr lang="en-US" altLang="en-US" dirty="0"/>
              <a:t>		h("</a:t>
            </a:r>
            <a:r>
              <a:rPr lang="en-US" altLang="en-US" dirty="0">
                <a:solidFill>
                  <a:schemeClr val="accent2"/>
                </a:solidFill>
              </a:rPr>
              <a:t>a</a:t>
            </a:r>
            <a:r>
              <a:rPr lang="en-US" altLang="en-US" dirty="0"/>
              <a:t>nt") = ASCII for '</a:t>
            </a:r>
            <a:r>
              <a:rPr lang="en-US" altLang="en-US" dirty="0">
                <a:solidFill>
                  <a:schemeClr val="accent2"/>
                </a:solidFill>
              </a:rPr>
              <a:t>a</a:t>
            </a:r>
            <a:r>
              <a:rPr lang="en-US" altLang="en-US" dirty="0"/>
              <a:t>' – ASCII for 'a' = 0</a:t>
            </a:r>
          </a:p>
          <a:p>
            <a:pPr lvl="1">
              <a:spcBef>
                <a:spcPts val="200"/>
              </a:spcBef>
              <a:buFontTx/>
              <a:buNone/>
            </a:pPr>
            <a:r>
              <a:rPr lang="en-US" altLang="en-US" dirty="0"/>
              <a:t>		h("</a:t>
            </a:r>
            <a:r>
              <a:rPr lang="en-US" altLang="en-US" dirty="0">
                <a:solidFill>
                  <a:schemeClr val="accent2"/>
                </a:solidFill>
              </a:rPr>
              <a:t>c</a:t>
            </a:r>
            <a:r>
              <a:rPr lang="en-US" altLang="en-US" dirty="0"/>
              <a:t>at") = ASCII for '</a:t>
            </a:r>
            <a:r>
              <a:rPr lang="en-US" altLang="en-US" dirty="0">
                <a:solidFill>
                  <a:schemeClr val="accent2"/>
                </a:solidFill>
              </a:rPr>
              <a:t>c</a:t>
            </a:r>
            <a:r>
              <a:rPr lang="en-US" altLang="en-US" dirty="0"/>
              <a:t>' – ASCII for 'a' = 2</a:t>
            </a:r>
          </a:p>
          <a:p>
            <a:pPr>
              <a:spcBef>
                <a:spcPts val="1400"/>
              </a:spcBef>
              <a:buFontTx/>
              <a:buChar char="•"/>
            </a:pPr>
            <a:r>
              <a:rPr lang="en-US" altLang="en-US" dirty="0"/>
              <a:t>h(key) is known as the key's </a:t>
            </a:r>
            <a:r>
              <a:rPr lang="en-US" altLang="en-US" i="1" dirty="0">
                <a:solidFill>
                  <a:srgbClr val="0000FF"/>
                </a:solidFill>
              </a:rPr>
              <a:t>hash code</a:t>
            </a:r>
            <a:r>
              <a:rPr lang="en-US" altLang="en-US" i="1" dirty="0"/>
              <a:t>.</a:t>
            </a:r>
            <a:r>
              <a:rPr lang="en-US" altLang="en-US" dirty="0"/>
              <a:t> </a:t>
            </a:r>
          </a:p>
          <a:p>
            <a:pPr>
              <a:spcBef>
                <a:spcPts val="500"/>
              </a:spcBef>
              <a:buFontTx/>
              <a:buNone/>
            </a:pPr>
            <a:endParaRPr lang="en-US" altLang="en-US" dirty="0"/>
          </a:p>
        </p:txBody>
      </p:sp>
      <p:graphicFrame>
        <p:nvGraphicFramePr>
          <p:cNvPr id="2413573" name="Group 5"/>
          <p:cNvGraphicFramePr>
            <a:graphicFrameLocks noGrp="1"/>
          </p:cNvGraphicFramePr>
          <p:nvPr/>
        </p:nvGraphicFramePr>
        <p:xfrm>
          <a:off x="2908300" y="2249488"/>
          <a:ext cx="1330325" cy="720725"/>
        </p:xfrm>
        <a:graphic>
          <a:graphicData uri="http://schemas.openxmlformats.org/drawingml/2006/table">
            <a:tbl>
              <a:tblPr/>
              <a:tblGrid>
                <a:gridCol w="1330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20725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lvetica" pitchFamily="34" charset="0"/>
                        </a:rPr>
                        <a:t>hash</a:t>
                      </a:r>
                      <a:b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lvetica" pitchFamily="34" charset="0"/>
                        </a:rPr>
                      </a:b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lvetica" pitchFamily="34" charset="0"/>
                        </a:rPr>
                        <a:t>function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370" name="AutoShape 11"/>
          <p:cNvSpPr>
            <a:spLocks noChangeArrowheads="1"/>
          </p:cNvSpPr>
          <p:nvPr/>
        </p:nvSpPr>
        <p:spPr bwMode="auto">
          <a:xfrm>
            <a:off x="2413000" y="2470150"/>
            <a:ext cx="314325" cy="195263"/>
          </a:xfrm>
          <a:prstGeom prst="rightArrow">
            <a:avLst>
              <a:gd name="adj1" fmla="val 50000"/>
              <a:gd name="adj2" fmla="val 40244"/>
            </a:avLst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 type="non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>
              <a:spcBef>
                <a:spcPts val="1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 algn="l">
              <a:spcBef>
                <a:spcPts val="525"/>
              </a:spcBef>
              <a:buClr>
                <a:srgbClr val="000000"/>
              </a:buClr>
              <a:buSzPct val="10000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Helvetica" panose="020B0604020202020204" pitchFamily="34" charset="0"/>
              <a:buChar char="–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 Narrow" panose="020B0606020202030204" pitchFamily="34" charset="0"/>
            </a:endParaRPr>
          </a:p>
        </p:txBody>
      </p:sp>
      <p:sp>
        <p:nvSpPr>
          <p:cNvPr id="15371" name="AutoShape 12"/>
          <p:cNvSpPr>
            <a:spLocks noChangeArrowheads="1"/>
          </p:cNvSpPr>
          <p:nvPr/>
        </p:nvSpPr>
        <p:spPr bwMode="auto">
          <a:xfrm>
            <a:off x="4395788" y="2470150"/>
            <a:ext cx="314325" cy="195263"/>
          </a:xfrm>
          <a:prstGeom prst="rightArrow">
            <a:avLst>
              <a:gd name="adj1" fmla="val 50000"/>
              <a:gd name="adj2" fmla="val 40244"/>
            </a:avLst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 type="non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>
              <a:spcBef>
                <a:spcPts val="1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 algn="l">
              <a:spcBef>
                <a:spcPts val="525"/>
              </a:spcBef>
              <a:buClr>
                <a:srgbClr val="000000"/>
              </a:buClr>
              <a:buSzPct val="10000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Helvetica" panose="020B0604020202020204" pitchFamily="34" charset="0"/>
              <a:buChar char="–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 Narrow" panose="020B0606020202030204" pitchFamily="34" charset="0"/>
            </a:endParaRPr>
          </a:p>
        </p:txBody>
      </p:sp>
      <p:sp>
        <p:nvSpPr>
          <p:cNvPr id="15372" name="AutoShape 12"/>
          <p:cNvSpPr>
            <a:spLocks noChangeArrowheads="1"/>
          </p:cNvSpPr>
          <p:nvPr/>
        </p:nvSpPr>
        <p:spPr bwMode="auto">
          <a:xfrm>
            <a:off x="5926138" y="2470150"/>
            <a:ext cx="314325" cy="195263"/>
          </a:xfrm>
          <a:prstGeom prst="rightArrow">
            <a:avLst>
              <a:gd name="adj1" fmla="val 50000"/>
              <a:gd name="adj2" fmla="val 40244"/>
            </a:avLst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 type="non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>
              <a:spcBef>
                <a:spcPts val="1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 algn="l">
              <a:spcBef>
                <a:spcPts val="525"/>
              </a:spcBef>
              <a:buClr>
                <a:srgbClr val="000000"/>
              </a:buClr>
              <a:buSzPct val="10000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Helvetica" panose="020B0604020202020204" pitchFamily="34" charset="0"/>
              <a:buChar char="–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 Narrow" panose="020B0606020202030204" pitchFamily="34" charset="0"/>
            </a:endParaRPr>
          </a:p>
        </p:txBody>
      </p:sp>
      <p:sp>
        <p:nvSpPr>
          <p:cNvPr id="15373" name="TextBox 1"/>
          <p:cNvSpPr txBox="1">
            <a:spLocks noChangeArrowheads="1"/>
          </p:cNvSpPr>
          <p:nvPr/>
        </p:nvSpPr>
        <p:spPr bwMode="auto">
          <a:xfrm>
            <a:off x="5913438" y="2152650"/>
            <a:ext cx="33813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>
              <a:spcBef>
                <a:spcPts val="1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 algn="l">
              <a:spcBef>
                <a:spcPts val="525"/>
              </a:spcBef>
              <a:buClr>
                <a:srgbClr val="000000"/>
              </a:buClr>
              <a:buSzPct val="10000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Helvetica" panose="020B0604020202020204" pitchFamily="34" charset="0"/>
              <a:buChar char="–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latin typeface="Lucida Console" panose="020B0609040504020204" pitchFamily="49" charset="0"/>
              </a:rPr>
              <a:t>%</a:t>
            </a:r>
          </a:p>
        </p:txBody>
      </p:sp>
    </p:spTree>
    <p:extLst>
      <p:ext uri="{BB962C8B-B14F-4D97-AF65-F5344CB8AC3E}">
        <p14:creationId xmlns:p14="http://schemas.microsoft.com/office/powerpoint/2010/main" val="308595861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87375" y="5398477"/>
            <a:ext cx="6798163" cy="47478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Hash Functions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802687" cy="5614988"/>
          </a:xfrm>
        </p:spPr>
        <p:txBody>
          <a:bodyPr/>
          <a:lstStyle/>
          <a:p>
            <a:r>
              <a:rPr lang="en-US" altLang="en-US" dirty="0"/>
              <a:t>A hash function defines a mapping from the set of possible </a:t>
            </a:r>
            <a:br>
              <a:rPr lang="en-US" altLang="en-US" dirty="0"/>
            </a:br>
            <a:r>
              <a:rPr lang="en-US" altLang="en-US" dirty="0"/>
              <a:t>keys to the set of integers.</a:t>
            </a:r>
          </a:p>
          <a:p>
            <a:r>
              <a:rPr lang="en-US" altLang="en-US" dirty="0"/>
              <a:t>We then use the modulus operator to get a valid array index.</a:t>
            </a:r>
          </a:p>
          <a:p>
            <a:pPr>
              <a:spcBef>
                <a:spcPts val="2400"/>
              </a:spcBef>
              <a:buFontTx/>
              <a:buNone/>
            </a:pPr>
            <a:r>
              <a:rPr lang="en-US" altLang="en-US" dirty="0"/>
              <a:t>		   key value						integer         </a:t>
            </a:r>
            <a:r>
              <a:rPr lang="en-US" altLang="en-US" dirty="0" err="1"/>
              <a:t>integer</a:t>
            </a:r>
            <a:r>
              <a:rPr lang="en-US" altLang="en-US" dirty="0"/>
              <a:t> in [0, n – 1]</a:t>
            </a:r>
            <a:br>
              <a:rPr lang="en-US" altLang="en-US" dirty="0"/>
            </a:br>
            <a:r>
              <a:rPr lang="en-US" altLang="en-US" dirty="0"/>
              <a:t>													   (n = array length)</a:t>
            </a:r>
          </a:p>
          <a:p>
            <a:pPr>
              <a:spcBef>
                <a:spcPts val="500"/>
              </a:spcBef>
              <a:buFontTx/>
              <a:buChar char="•"/>
            </a:pPr>
            <a:endParaRPr lang="en-US" altLang="en-US" dirty="0"/>
          </a:p>
          <a:p>
            <a:pPr>
              <a:spcBef>
                <a:spcPct val="0"/>
              </a:spcBef>
              <a:buFontTx/>
              <a:buChar char="•"/>
            </a:pPr>
            <a:r>
              <a:rPr lang="en-US" altLang="en-US" dirty="0"/>
              <a:t>Here's a very simple hash function for keys of lower-case letters:</a:t>
            </a:r>
          </a:p>
          <a:p>
            <a:pPr lvl="1">
              <a:spcBef>
                <a:spcPts val="200"/>
              </a:spcBef>
              <a:buFontTx/>
              <a:buNone/>
            </a:pPr>
            <a:r>
              <a:rPr lang="en-US" altLang="en-US" dirty="0"/>
              <a:t>		h(key) = ASCII value of first char – ASCII value of 'a'</a:t>
            </a:r>
          </a:p>
          <a:p>
            <a:pPr lvl="1">
              <a:spcBef>
                <a:spcPts val="500"/>
              </a:spcBef>
            </a:pPr>
            <a:r>
              <a:rPr lang="en-US" altLang="en-US" dirty="0"/>
              <a:t>examples:</a:t>
            </a:r>
          </a:p>
          <a:p>
            <a:pPr lvl="1">
              <a:spcBef>
                <a:spcPts val="200"/>
              </a:spcBef>
              <a:buFontTx/>
              <a:buNone/>
            </a:pPr>
            <a:r>
              <a:rPr lang="en-US" altLang="en-US" dirty="0"/>
              <a:t>		h("</a:t>
            </a:r>
            <a:r>
              <a:rPr lang="en-US" altLang="en-US" dirty="0">
                <a:solidFill>
                  <a:schemeClr val="accent2"/>
                </a:solidFill>
              </a:rPr>
              <a:t>a</a:t>
            </a:r>
            <a:r>
              <a:rPr lang="en-US" altLang="en-US" dirty="0"/>
              <a:t>nt") = ASCII for '</a:t>
            </a:r>
            <a:r>
              <a:rPr lang="en-US" altLang="en-US" dirty="0">
                <a:solidFill>
                  <a:schemeClr val="accent2"/>
                </a:solidFill>
              </a:rPr>
              <a:t>a</a:t>
            </a:r>
            <a:r>
              <a:rPr lang="en-US" altLang="en-US" dirty="0"/>
              <a:t>' – ASCII for 'a' = 0</a:t>
            </a:r>
          </a:p>
          <a:p>
            <a:pPr lvl="1">
              <a:spcBef>
                <a:spcPts val="200"/>
              </a:spcBef>
              <a:buFontTx/>
              <a:buNone/>
            </a:pPr>
            <a:r>
              <a:rPr lang="en-US" altLang="en-US" dirty="0"/>
              <a:t>		h("</a:t>
            </a:r>
            <a:r>
              <a:rPr lang="en-US" altLang="en-US" dirty="0">
                <a:solidFill>
                  <a:schemeClr val="accent2"/>
                </a:solidFill>
              </a:rPr>
              <a:t>c</a:t>
            </a:r>
            <a:r>
              <a:rPr lang="en-US" altLang="en-US" dirty="0"/>
              <a:t>at") = ASCII for '</a:t>
            </a:r>
            <a:r>
              <a:rPr lang="en-US" altLang="en-US" dirty="0">
                <a:solidFill>
                  <a:schemeClr val="accent2"/>
                </a:solidFill>
              </a:rPr>
              <a:t>c</a:t>
            </a:r>
            <a:r>
              <a:rPr lang="en-US" altLang="en-US" dirty="0"/>
              <a:t>' – ASCII for 'a' = 2</a:t>
            </a:r>
          </a:p>
          <a:p>
            <a:pPr>
              <a:spcBef>
                <a:spcPts val="1400"/>
              </a:spcBef>
              <a:buFontTx/>
              <a:buChar char="•"/>
            </a:pPr>
            <a:r>
              <a:rPr lang="en-US" altLang="en-US" dirty="0"/>
              <a:t>h(key) is known as the key's </a:t>
            </a:r>
            <a:r>
              <a:rPr lang="en-US" altLang="en-US" i="1" dirty="0">
                <a:solidFill>
                  <a:srgbClr val="0000FF"/>
                </a:solidFill>
              </a:rPr>
              <a:t>hash code</a:t>
            </a:r>
            <a:r>
              <a:rPr lang="en-US" altLang="en-US" i="1" dirty="0"/>
              <a:t>.</a:t>
            </a:r>
            <a:r>
              <a:rPr lang="en-US" altLang="en-US" dirty="0"/>
              <a:t> </a:t>
            </a:r>
          </a:p>
          <a:p>
            <a:pPr>
              <a:spcBef>
                <a:spcPts val="500"/>
              </a:spcBef>
              <a:buFontTx/>
              <a:buNone/>
            </a:pPr>
            <a:endParaRPr lang="en-US" altLang="en-US" dirty="0"/>
          </a:p>
        </p:txBody>
      </p:sp>
      <p:graphicFrame>
        <p:nvGraphicFramePr>
          <p:cNvPr id="2413573" name="Group 5"/>
          <p:cNvGraphicFramePr>
            <a:graphicFrameLocks noGrp="1"/>
          </p:cNvGraphicFramePr>
          <p:nvPr/>
        </p:nvGraphicFramePr>
        <p:xfrm>
          <a:off x="2908300" y="2249488"/>
          <a:ext cx="1330325" cy="720725"/>
        </p:xfrm>
        <a:graphic>
          <a:graphicData uri="http://schemas.openxmlformats.org/drawingml/2006/table">
            <a:tbl>
              <a:tblPr/>
              <a:tblGrid>
                <a:gridCol w="1330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20725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lvetica" pitchFamily="34" charset="0"/>
                        </a:rPr>
                        <a:t>hash</a:t>
                      </a:r>
                      <a:b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lvetica" pitchFamily="34" charset="0"/>
                        </a:rPr>
                      </a:b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lvetica" pitchFamily="34" charset="0"/>
                        </a:rPr>
                        <a:t>function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370" name="AutoShape 11"/>
          <p:cNvSpPr>
            <a:spLocks noChangeArrowheads="1"/>
          </p:cNvSpPr>
          <p:nvPr/>
        </p:nvSpPr>
        <p:spPr bwMode="auto">
          <a:xfrm>
            <a:off x="2413000" y="2470150"/>
            <a:ext cx="314325" cy="195263"/>
          </a:xfrm>
          <a:prstGeom prst="rightArrow">
            <a:avLst>
              <a:gd name="adj1" fmla="val 50000"/>
              <a:gd name="adj2" fmla="val 40244"/>
            </a:avLst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 type="non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>
              <a:spcBef>
                <a:spcPts val="1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 algn="l">
              <a:spcBef>
                <a:spcPts val="525"/>
              </a:spcBef>
              <a:buClr>
                <a:srgbClr val="000000"/>
              </a:buClr>
              <a:buSzPct val="10000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Helvetica" panose="020B0604020202020204" pitchFamily="34" charset="0"/>
              <a:buChar char="–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 Narrow" panose="020B0606020202030204" pitchFamily="34" charset="0"/>
            </a:endParaRPr>
          </a:p>
        </p:txBody>
      </p:sp>
      <p:sp>
        <p:nvSpPr>
          <p:cNvPr id="15371" name="AutoShape 12"/>
          <p:cNvSpPr>
            <a:spLocks noChangeArrowheads="1"/>
          </p:cNvSpPr>
          <p:nvPr/>
        </p:nvSpPr>
        <p:spPr bwMode="auto">
          <a:xfrm>
            <a:off x="4395788" y="2470150"/>
            <a:ext cx="314325" cy="195263"/>
          </a:xfrm>
          <a:prstGeom prst="rightArrow">
            <a:avLst>
              <a:gd name="adj1" fmla="val 50000"/>
              <a:gd name="adj2" fmla="val 40244"/>
            </a:avLst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 type="non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>
              <a:spcBef>
                <a:spcPts val="1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 algn="l">
              <a:spcBef>
                <a:spcPts val="525"/>
              </a:spcBef>
              <a:buClr>
                <a:srgbClr val="000000"/>
              </a:buClr>
              <a:buSzPct val="10000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Helvetica" panose="020B0604020202020204" pitchFamily="34" charset="0"/>
              <a:buChar char="–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 Narrow" panose="020B0606020202030204" pitchFamily="34" charset="0"/>
            </a:endParaRPr>
          </a:p>
        </p:txBody>
      </p:sp>
      <p:sp>
        <p:nvSpPr>
          <p:cNvPr id="15372" name="AutoShape 12"/>
          <p:cNvSpPr>
            <a:spLocks noChangeArrowheads="1"/>
          </p:cNvSpPr>
          <p:nvPr/>
        </p:nvSpPr>
        <p:spPr bwMode="auto">
          <a:xfrm>
            <a:off x="5926138" y="2470150"/>
            <a:ext cx="314325" cy="195263"/>
          </a:xfrm>
          <a:prstGeom prst="rightArrow">
            <a:avLst>
              <a:gd name="adj1" fmla="val 50000"/>
              <a:gd name="adj2" fmla="val 40244"/>
            </a:avLst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 type="non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>
              <a:spcBef>
                <a:spcPts val="1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 algn="l">
              <a:spcBef>
                <a:spcPts val="525"/>
              </a:spcBef>
              <a:buClr>
                <a:srgbClr val="000000"/>
              </a:buClr>
              <a:buSzPct val="10000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Helvetica" panose="020B0604020202020204" pitchFamily="34" charset="0"/>
              <a:buChar char="–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 Narrow" panose="020B0606020202030204" pitchFamily="34" charset="0"/>
            </a:endParaRPr>
          </a:p>
        </p:txBody>
      </p:sp>
      <p:sp>
        <p:nvSpPr>
          <p:cNvPr id="15373" name="TextBox 1"/>
          <p:cNvSpPr txBox="1">
            <a:spLocks noChangeArrowheads="1"/>
          </p:cNvSpPr>
          <p:nvPr/>
        </p:nvSpPr>
        <p:spPr bwMode="auto">
          <a:xfrm>
            <a:off x="5913438" y="2152650"/>
            <a:ext cx="33813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>
              <a:spcBef>
                <a:spcPts val="1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 algn="l">
              <a:spcBef>
                <a:spcPts val="525"/>
              </a:spcBef>
              <a:buClr>
                <a:srgbClr val="000000"/>
              </a:buClr>
              <a:buSzPct val="10000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Helvetica" panose="020B0604020202020204" pitchFamily="34" charset="0"/>
              <a:buChar char="–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latin typeface="Lucida Console" panose="020B0609040504020204" pitchFamily="49" charset="0"/>
              </a:rPr>
              <a:t>%</a:t>
            </a:r>
          </a:p>
        </p:txBody>
      </p:sp>
      <p:sp>
        <p:nvSpPr>
          <p:cNvPr id="3" name="Cloud Callout 2"/>
          <p:cNvSpPr/>
          <p:nvPr/>
        </p:nvSpPr>
        <p:spPr bwMode="auto">
          <a:xfrm>
            <a:off x="1797171" y="697523"/>
            <a:ext cx="4378569" cy="3710353"/>
          </a:xfrm>
          <a:prstGeom prst="cloudCallout">
            <a:avLst>
              <a:gd name="adj1" fmla="val 19328"/>
              <a:gd name="adj2" fmla="val 72927"/>
            </a:avLst>
          </a:prstGeom>
          <a:solidFill>
            <a:schemeClr val="bg1">
              <a:lumMod val="95000"/>
            </a:schemeClr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But what happens when multiple keys produc</a:t>
            </a:r>
            <a:r>
              <a:rPr lang="en-US" sz="2400" dirty="0"/>
              <a:t>e the same 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400" dirty="0"/>
              <a:t>hash code?</a:t>
            </a:r>
          </a:p>
          <a:p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rPr>
              <a:t>Example:</a:t>
            </a:r>
            <a:r>
              <a:rPr kumimoji="0" lang="en-US" sz="2400" b="0" i="0" u="none" strike="noStrike" cap="none" normalizeH="0" dirty="0">
                <a:ln>
                  <a:noFill/>
                </a:ln>
                <a:solidFill>
                  <a:srgbClr val="000000"/>
                </a:solidFill>
                <a:effectLst/>
              </a:rPr>
              <a:t> h</a:t>
            </a:r>
            <a:r>
              <a:rPr lang="en-US" altLang="en-US" sz="2400" dirty="0"/>
              <a:t>("</a:t>
            </a:r>
            <a:r>
              <a:rPr lang="en-US" altLang="en-US" sz="2400" dirty="0">
                <a:solidFill>
                  <a:schemeClr val="accent2"/>
                </a:solidFill>
              </a:rPr>
              <a:t>c</a:t>
            </a:r>
            <a:r>
              <a:rPr lang="en-US" altLang="en-US" sz="2400" dirty="0"/>
              <a:t>ar") 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28528190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87375" y="5855677"/>
            <a:ext cx="8169763" cy="92136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802687" cy="5614988"/>
          </a:xfrm>
        </p:spPr>
        <p:txBody>
          <a:bodyPr/>
          <a:lstStyle/>
          <a:p>
            <a:r>
              <a:rPr lang="en-US" altLang="en-US" dirty="0"/>
              <a:t>A hash function defines a mapping from the set of possible </a:t>
            </a:r>
            <a:br>
              <a:rPr lang="en-US" altLang="en-US" dirty="0"/>
            </a:br>
            <a:r>
              <a:rPr lang="en-US" altLang="en-US" dirty="0"/>
              <a:t>keys to the set of integers.</a:t>
            </a:r>
          </a:p>
          <a:p>
            <a:r>
              <a:rPr lang="en-US" altLang="en-US" dirty="0"/>
              <a:t>We then use the modulus operator to get a valid array index.</a:t>
            </a:r>
          </a:p>
          <a:p>
            <a:pPr>
              <a:spcBef>
                <a:spcPts val="2400"/>
              </a:spcBef>
              <a:buFontTx/>
              <a:buNone/>
            </a:pPr>
            <a:r>
              <a:rPr lang="en-US" altLang="en-US" dirty="0"/>
              <a:t>		   key value						integer         </a:t>
            </a:r>
            <a:r>
              <a:rPr lang="en-US" altLang="en-US" dirty="0" err="1"/>
              <a:t>integer</a:t>
            </a:r>
            <a:r>
              <a:rPr lang="en-US" altLang="en-US" dirty="0"/>
              <a:t> in [0, n – 1]</a:t>
            </a:r>
            <a:br>
              <a:rPr lang="en-US" altLang="en-US" dirty="0"/>
            </a:br>
            <a:r>
              <a:rPr lang="en-US" altLang="en-US" dirty="0"/>
              <a:t>													   (n = array length)</a:t>
            </a:r>
          </a:p>
          <a:p>
            <a:pPr>
              <a:spcBef>
                <a:spcPts val="500"/>
              </a:spcBef>
              <a:buFontTx/>
              <a:buChar char="•"/>
            </a:pPr>
            <a:endParaRPr lang="en-US" altLang="en-US" dirty="0"/>
          </a:p>
          <a:p>
            <a:pPr>
              <a:spcBef>
                <a:spcPct val="0"/>
              </a:spcBef>
              <a:buFontTx/>
              <a:buChar char="•"/>
            </a:pPr>
            <a:r>
              <a:rPr lang="en-US" altLang="en-US" dirty="0"/>
              <a:t>Here's a very simple hash function for keys of lower-case letters:</a:t>
            </a:r>
          </a:p>
          <a:p>
            <a:pPr lvl="1">
              <a:spcBef>
                <a:spcPts val="200"/>
              </a:spcBef>
              <a:buFontTx/>
              <a:buNone/>
            </a:pPr>
            <a:r>
              <a:rPr lang="en-US" altLang="en-US" dirty="0"/>
              <a:t>		h(key) = ASCII value of first char – ASCII value of 'a'</a:t>
            </a:r>
          </a:p>
          <a:p>
            <a:pPr lvl="1">
              <a:spcBef>
                <a:spcPts val="500"/>
              </a:spcBef>
            </a:pPr>
            <a:r>
              <a:rPr lang="en-US" altLang="en-US" dirty="0"/>
              <a:t>examples:</a:t>
            </a:r>
          </a:p>
          <a:p>
            <a:pPr lvl="1">
              <a:spcBef>
                <a:spcPts val="200"/>
              </a:spcBef>
              <a:buFontTx/>
              <a:buNone/>
            </a:pPr>
            <a:r>
              <a:rPr lang="en-US" altLang="en-US" dirty="0"/>
              <a:t>		h("</a:t>
            </a:r>
            <a:r>
              <a:rPr lang="en-US" altLang="en-US" dirty="0">
                <a:solidFill>
                  <a:schemeClr val="accent2"/>
                </a:solidFill>
              </a:rPr>
              <a:t>a</a:t>
            </a:r>
            <a:r>
              <a:rPr lang="en-US" altLang="en-US" dirty="0"/>
              <a:t>nt") = ASCII for '</a:t>
            </a:r>
            <a:r>
              <a:rPr lang="en-US" altLang="en-US" dirty="0">
                <a:solidFill>
                  <a:schemeClr val="accent2"/>
                </a:solidFill>
              </a:rPr>
              <a:t>a</a:t>
            </a:r>
            <a:r>
              <a:rPr lang="en-US" altLang="en-US" dirty="0"/>
              <a:t>' – ASCII for 'a' = 0</a:t>
            </a:r>
          </a:p>
          <a:p>
            <a:pPr lvl="1">
              <a:spcBef>
                <a:spcPts val="200"/>
              </a:spcBef>
              <a:buFontTx/>
              <a:buNone/>
            </a:pPr>
            <a:r>
              <a:rPr lang="en-US" altLang="en-US" dirty="0"/>
              <a:t>		h("</a:t>
            </a:r>
            <a:r>
              <a:rPr lang="en-US" altLang="en-US" dirty="0">
                <a:solidFill>
                  <a:schemeClr val="accent2"/>
                </a:solidFill>
              </a:rPr>
              <a:t>c</a:t>
            </a:r>
            <a:r>
              <a:rPr lang="en-US" altLang="en-US" dirty="0"/>
              <a:t>at") = ASCII for '</a:t>
            </a:r>
            <a:r>
              <a:rPr lang="en-US" altLang="en-US" dirty="0">
                <a:solidFill>
                  <a:schemeClr val="accent2"/>
                </a:solidFill>
              </a:rPr>
              <a:t>c</a:t>
            </a:r>
            <a:r>
              <a:rPr lang="en-US" altLang="en-US" dirty="0"/>
              <a:t>' – ASCII for 'a' = 2</a:t>
            </a:r>
          </a:p>
          <a:p>
            <a:pPr>
              <a:spcBef>
                <a:spcPts val="1400"/>
              </a:spcBef>
              <a:buFontTx/>
              <a:buChar char="•"/>
            </a:pPr>
            <a:r>
              <a:rPr lang="en-US" altLang="en-US" dirty="0"/>
              <a:t>h(key) is known as the key's </a:t>
            </a:r>
            <a:r>
              <a:rPr lang="en-US" altLang="en-US" i="1" dirty="0">
                <a:solidFill>
                  <a:schemeClr val="tx1"/>
                </a:solidFill>
              </a:rPr>
              <a:t>hash code.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</a:p>
          <a:p>
            <a:pPr>
              <a:spcBef>
                <a:spcPts val="1400"/>
              </a:spcBef>
              <a:buFontTx/>
              <a:buChar char="•"/>
            </a:pPr>
            <a:r>
              <a:rPr lang="en-US" altLang="en-US" dirty="0"/>
              <a:t>A </a:t>
            </a:r>
            <a:r>
              <a:rPr lang="en-US" altLang="en-US" i="1" dirty="0">
                <a:solidFill>
                  <a:srgbClr val="0000FF"/>
                </a:solidFill>
              </a:rPr>
              <a:t>collision</a:t>
            </a:r>
            <a:r>
              <a:rPr lang="en-US" altLang="en-US" dirty="0"/>
              <a:t> occurs when items with different keys are assigned </a:t>
            </a:r>
            <a:br>
              <a:rPr lang="en-US" altLang="en-US" dirty="0"/>
            </a:br>
            <a:r>
              <a:rPr lang="en-US" altLang="en-US" dirty="0"/>
              <a:t>the same hash code.</a:t>
            </a:r>
          </a:p>
          <a:p>
            <a:pPr>
              <a:spcBef>
                <a:spcPts val="500"/>
              </a:spcBef>
              <a:buFontTx/>
              <a:buNone/>
            </a:pPr>
            <a:endParaRPr lang="en-US" altLang="en-US" dirty="0"/>
          </a:p>
        </p:txBody>
      </p:sp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Hash Functions</a:t>
            </a:r>
          </a:p>
        </p:txBody>
      </p:sp>
      <p:graphicFrame>
        <p:nvGraphicFramePr>
          <p:cNvPr id="2413573" name="Group 5"/>
          <p:cNvGraphicFramePr>
            <a:graphicFrameLocks noGrp="1"/>
          </p:cNvGraphicFramePr>
          <p:nvPr/>
        </p:nvGraphicFramePr>
        <p:xfrm>
          <a:off x="2908300" y="2249488"/>
          <a:ext cx="1330325" cy="720725"/>
        </p:xfrm>
        <a:graphic>
          <a:graphicData uri="http://schemas.openxmlformats.org/drawingml/2006/table">
            <a:tbl>
              <a:tblPr/>
              <a:tblGrid>
                <a:gridCol w="1330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20725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lvetica" pitchFamily="34" charset="0"/>
                        </a:rPr>
                        <a:t>hash</a:t>
                      </a:r>
                      <a:b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lvetica" pitchFamily="34" charset="0"/>
                        </a:rPr>
                      </a:b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lvetica" pitchFamily="34" charset="0"/>
                        </a:rPr>
                        <a:t>function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370" name="AutoShape 11"/>
          <p:cNvSpPr>
            <a:spLocks noChangeArrowheads="1"/>
          </p:cNvSpPr>
          <p:nvPr/>
        </p:nvSpPr>
        <p:spPr bwMode="auto">
          <a:xfrm>
            <a:off x="2413000" y="2470150"/>
            <a:ext cx="314325" cy="195263"/>
          </a:xfrm>
          <a:prstGeom prst="rightArrow">
            <a:avLst>
              <a:gd name="adj1" fmla="val 50000"/>
              <a:gd name="adj2" fmla="val 40244"/>
            </a:avLst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 type="non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>
              <a:spcBef>
                <a:spcPts val="1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 algn="l">
              <a:spcBef>
                <a:spcPts val="525"/>
              </a:spcBef>
              <a:buClr>
                <a:srgbClr val="000000"/>
              </a:buClr>
              <a:buSzPct val="10000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Helvetica" panose="020B0604020202020204" pitchFamily="34" charset="0"/>
              <a:buChar char="–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 Narrow" panose="020B0606020202030204" pitchFamily="34" charset="0"/>
            </a:endParaRPr>
          </a:p>
        </p:txBody>
      </p:sp>
      <p:sp>
        <p:nvSpPr>
          <p:cNvPr id="15371" name="AutoShape 12"/>
          <p:cNvSpPr>
            <a:spLocks noChangeArrowheads="1"/>
          </p:cNvSpPr>
          <p:nvPr/>
        </p:nvSpPr>
        <p:spPr bwMode="auto">
          <a:xfrm>
            <a:off x="4395788" y="2470150"/>
            <a:ext cx="314325" cy="195263"/>
          </a:xfrm>
          <a:prstGeom prst="rightArrow">
            <a:avLst>
              <a:gd name="adj1" fmla="val 50000"/>
              <a:gd name="adj2" fmla="val 40244"/>
            </a:avLst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 type="non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>
              <a:spcBef>
                <a:spcPts val="1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 algn="l">
              <a:spcBef>
                <a:spcPts val="525"/>
              </a:spcBef>
              <a:buClr>
                <a:srgbClr val="000000"/>
              </a:buClr>
              <a:buSzPct val="10000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Helvetica" panose="020B0604020202020204" pitchFamily="34" charset="0"/>
              <a:buChar char="–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 Narrow" panose="020B0606020202030204" pitchFamily="34" charset="0"/>
            </a:endParaRPr>
          </a:p>
        </p:txBody>
      </p:sp>
      <p:sp>
        <p:nvSpPr>
          <p:cNvPr id="15372" name="AutoShape 12"/>
          <p:cNvSpPr>
            <a:spLocks noChangeArrowheads="1"/>
          </p:cNvSpPr>
          <p:nvPr/>
        </p:nvSpPr>
        <p:spPr bwMode="auto">
          <a:xfrm>
            <a:off x="5926138" y="2470150"/>
            <a:ext cx="314325" cy="195263"/>
          </a:xfrm>
          <a:prstGeom prst="rightArrow">
            <a:avLst>
              <a:gd name="adj1" fmla="val 50000"/>
              <a:gd name="adj2" fmla="val 40244"/>
            </a:avLst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 type="non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>
              <a:spcBef>
                <a:spcPts val="1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 algn="l">
              <a:spcBef>
                <a:spcPts val="525"/>
              </a:spcBef>
              <a:buClr>
                <a:srgbClr val="000000"/>
              </a:buClr>
              <a:buSzPct val="10000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Helvetica" panose="020B0604020202020204" pitchFamily="34" charset="0"/>
              <a:buChar char="–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 Narrow" panose="020B0606020202030204" pitchFamily="34" charset="0"/>
            </a:endParaRPr>
          </a:p>
        </p:txBody>
      </p:sp>
      <p:sp>
        <p:nvSpPr>
          <p:cNvPr id="15373" name="TextBox 1"/>
          <p:cNvSpPr txBox="1">
            <a:spLocks noChangeArrowheads="1"/>
          </p:cNvSpPr>
          <p:nvPr/>
        </p:nvSpPr>
        <p:spPr bwMode="auto">
          <a:xfrm>
            <a:off x="5913438" y="2152650"/>
            <a:ext cx="33813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>
              <a:spcBef>
                <a:spcPts val="1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 algn="l">
              <a:spcBef>
                <a:spcPts val="525"/>
              </a:spcBef>
              <a:buClr>
                <a:srgbClr val="000000"/>
              </a:buClr>
              <a:buSzPct val="10000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Helvetica" panose="020B0604020202020204" pitchFamily="34" charset="0"/>
              <a:buChar char="–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latin typeface="Lucida Console" panose="020B0609040504020204" pitchFamily="49" charset="0"/>
              </a:rPr>
              <a:t>%</a:t>
            </a:r>
          </a:p>
        </p:txBody>
      </p:sp>
    </p:spTree>
    <p:extLst>
      <p:ext uri="{BB962C8B-B14F-4D97-AF65-F5344CB8AC3E}">
        <p14:creationId xmlns:p14="http://schemas.microsoft.com/office/powerpoint/2010/main" val="130141172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87375" y="1692275"/>
            <a:ext cx="8345610" cy="87923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 dirty="0"/>
              <a:t>Dealing with Collisions I: </a:t>
            </a:r>
            <a:br>
              <a:rPr lang="en-US" altLang="en-US" dirty="0"/>
            </a:br>
            <a:r>
              <a:rPr lang="en-US" altLang="en-US" sz="2200" b="1" i="1" dirty="0"/>
              <a:t>Separate Chaining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458200" cy="5614988"/>
          </a:xfrm>
        </p:spPr>
        <p:txBody>
          <a:bodyPr/>
          <a:lstStyle/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If multiple items are assigned the same hash code, we "chain" them together.</a:t>
            </a:r>
          </a:p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Each position in the hash table serves as a </a:t>
            </a:r>
            <a:r>
              <a:rPr lang="en-US" altLang="en-US" i="1" dirty="0">
                <a:solidFill>
                  <a:srgbClr val="0000FF"/>
                </a:solidFill>
              </a:rPr>
              <a:t>bucket</a:t>
            </a:r>
            <a:r>
              <a:rPr lang="en-US" altLang="en-US" dirty="0"/>
              <a:t> that is able to store multiple data items. </a:t>
            </a:r>
          </a:p>
          <a:p>
            <a:pPr>
              <a:spcBef>
                <a:spcPts val="1400"/>
              </a:spcBef>
              <a:buFontTx/>
              <a:buNone/>
              <a:tabLst>
                <a:tab pos="569913" algn="l"/>
                <a:tab pos="793750" algn="l"/>
              </a:tabLst>
            </a:pPr>
            <a:r>
              <a:rPr lang="en-US" altLang="en-US" dirty="0"/>
              <a:t>	</a:t>
            </a:r>
          </a:p>
        </p:txBody>
      </p:sp>
      <p:pic>
        <p:nvPicPr>
          <p:cNvPr id="5" name="Picture 4" descr="&lt;strong&gt;bucket&lt;/strong&gt;_green — The People Equation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8630" y="3186249"/>
            <a:ext cx="2433610" cy="2583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97902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96834" y="2939143"/>
            <a:ext cx="8002679" cy="214230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458200" cy="5614988"/>
          </a:xfrm>
        </p:spPr>
        <p:txBody>
          <a:bodyPr/>
          <a:lstStyle/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If multiple items are assigned the same hash code, we "chain" them together.</a:t>
            </a:r>
          </a:p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Each position in the hash table serves as a </a:t>
            </a:r>
            <a:r>
              <a:rPr lang="en-US" altLang="en-US" i="1" dirty="0"/>
              <a:t>bucket</a:t>
            </a:r>
            <a:r>
              <a:rPr lang="en-US" altLang="en-US" dirty="0"/>
              <a:t> that is able to store multiple data items. </a:t>
            </a:r>
          </a:p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Two implementations:</a:t>
            </a:r>
          </a:p>
          <a:p>
            <a:pPr>
              <a:spcBef>
                <a:spcPts val="200"/>
              </a:spcBef>
              <a:buFontTx/>
              <a:buNone/>
              <a:tabLst>
                <a:tab pos="569913" algn="l"/>
                <a:tab pos="793750" algn="l"/>
              </a:tabLst>
            </a:pPr>
            <a:r>
              <a:rPr lang="en-US" altLang="en-US" dirty="0"/>
              <a:t>		</a:t>
            </a:r>
            <a:r>
              <a:rPr lang="en-US" altLang="en-US" dirty="0">
                <a:solidFill>
                  <a:srgbClr val="0000FF"/>
                </a:solidFill>
              </a:rPr>
              <a:t>1.	each bucket is itself an array</a:t>
            </a:r>
          </a:p>
          <a:p>
            <a:pPr marL="914400" lvl="2" indent="0">
              <a:spcBef>
                <a:spcPts val="200"/>
              </a:spcBef>
              <a:buNone/>
              <a:tabLst>
                <a:tab pos="569913" algn="l"/>
                <a:tab pos="793750" algn="l"/>
              </a:tabLst>
            </a:pPr>
            <a:endParaRPr lang="en-US" altLang="en-US" dirty="0"/>
          </a:p>
          <a:p>
            <a:pPr>
              <a:spcBef>
                <a:spcPts val="500"/>
              </a:spcBef>
              <a:buFontTx/>
              <a:buNone/>
              <a:tabLst>
                <a:tab pos="569913" algn="l"/>
                <a:tab pos="793750" algn="l"/>
              </a:tabLst>
            </a:pPr>
            <a:r>
              <a:rPr lang="en-US" altLang="en-US" dirty="0"/>
              <a:t>		</a:t>
            </a:r>
          </a:p>
        </p:txBody>
      </p:sp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 dirty="0"/>
              <a:t>Dealing with Collisions I: </a:t>
            </a:r>
            <a:br>
              <a:rPr lang="en-US" altLang="en-US" dirty="0"/>
            </a:br>
            <a:r>
              <a:rPr lang="en-US" altLang="en-US" sz="2200" i="1" dirty="0"/>
              <a:t>Separate Chaining</a:t>
            </a:r>
          </a:p>
        </p:txBody>
      </p:sp>
    </p:spTree>
    <p:extLst>
      <p:ext uri="{BB962C8B-B14F-4D97-AF65-F5344CB8AC3E}">
        <p14:creationId xmlns:p14="http://schemas.microsoft.com/office/powerpoint/2010/main" val="330550191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96834" y="2939143"/>
            <a:ext cx="8002679" cy="214230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 dirty="0"/>
              <a:t>Dealing with Collisions I: </a:t>
            </a:r>
            <a:br>
              <a:rPr lang="en-US" altLang="en-US" dirty="0"/>
            </a:br>
            <a:r>
              <a:rPr lang="en-US" altLang="en-US" sz="2200" i="1" dirty="0"/>
              <a:t>Separate Chaining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458200" cy="5614988"/>
          </a:xfrm>
        </p:spPr>
        <p:txBody>
          <a:bodyPr/>
          <a:lstStyle/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If multiple items are assigned the same hash code, we "chain" them together.</a:t>
            </a:r>
          </a:p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Each position in the hash table serves as a </a:t>
            </a:r>
            <a:r>
              <a:rPr lang="en-US" altLang="en-US" i="1" dirty="0"/>
              <a:t>bucket</a:t>
            </a:r>
            <a:r>
              <a:rPr lang="en-US" altLang="en-US" dirty="0"/>
              <a:t> that is able to store multiple data items. </a:t>
            </a:r>
          </a:p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Two implementations:</a:t>
            </a:r>
          </a:p>
          <a:p>
            <a:pPr>
              <a:spcBef>
                <a:spcPts val="200"/>
              </a:spcBef>
              <a:buFontTx/>
              <a:buNone/>
              <a:tabLst>
                <a:tab pos="569913" algn="l"/>
                <a:tab pos="793750" algn="l"/>
              </a:tabLst>
            </a:pPr>
            <a:r>
              <a:rPr lang="en-US" altLang="en-US" dirty="0"/>
              <a:t>		</a:t>
            </a:r>
            <a:r>
              <a:rPr lang="en-US" altLang="en-US" dirty="0">
                <a:solidFill>
                  <a:srgbClr val="0000FF"/>
                </a:solidFill>
              </a:rPr>
              <a:t>1.	each bucket is itself an array</a:t>
            </a:r>
          </a:p>
          <a:p>
            <a:pPr lvl="2">
              <a:spcBef>
                <a:spcPts val="2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sz="2200" dirty="0"/>
              <a:t> disadvantages:</a:t>
            </a:r>
            <a:r>
              <a:rPr lang="en-US" altLang="en-US" dirty="0"/>
              <a:t> </a:t>
            </a:r>
          </a:p>
          <a:p>
            <a:pPr lvl="3">
              <a:spcBef>
                <a:spcPts val="2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large buckets can waste memory</a:t>
            </a:r>
          </a:p>
          <a:p>
            <a:pPr lvl="3">
              <a:spcBef>
                <a:spcPts val="2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a bucket may become full; </a:t>
            </a:r>
            <a:r>
              <a:rPr lang="en-US" altLang="en-US" i="1" dirty="0"/>
              <a:t>overflow</a:t>
            </a:r>
            <a:r>
              <a:rPr lang="en-US" altLang="en-US" dirty="0"/>
              <a:t> occurs</a:t>
            </a:r>
            <a:r>
              <a:rPr lang="en-US" altLang="en-US" i="1" dirty="0"/>
              <a:t> </a:t>
            </a:r>
            <a:r>
              <a:rPr lang="en-US" altLang="en-US" dirty="0"/>
              <a:t>when we try to add an item to a full bucket</a:t>
            </a:r>
          </a:p>
          <a:p>
            <a:pPr>
              <a:spcBef>
                <a:spcPts val="500"/>
              </a:spcBef>
              <a:buFontTx/>
              <a:buNone/>
              <a:tabLst>
                <a:tab pos="569913" algn="l"/>
                <a:tab pos="793750" algn="l"/>
              </a:tabLst>
            </a:pPr>
            <a:r>
              <a:rPr lang="en-US" altLang="en-US" dirty="0"/>
              <a:t>		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4476" y="1110458"/>
            <a:ext cx="6657114" cy="5629975"/>
          </a:xfrm>
          <a:prstGeom prst="rect">
            <a:avLst/>
          </a:prstGeom>
          <a:solidFill>
            <a:schemeClr val="bg1">
              <a:lumMod val="95000"/>
            </a:schemeClr>
          </a:solidFill>
          <a:ln w="38100">
            <a:solidFill>
              <a:srgbClr val="008000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1384663" y="1677074"/>
            <a:ext cx="339634" cy="370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graphicFrame>
        <p:nvGraphicFramePr>
          <p:cNvPr id="18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1950672"/>
              </p:ext>
            </p:extLst>
          </p:nvPr>
        </p:nvGraphicFramePr>
        <p:xfrm>
          <a:off x="796834" y="1534051"/>
          <a:ext cx="2100059" cy="4109103"/>
        </p:xfrm>
        <a:graphic>
          <a:graphicData uri="http://schemas.openxmlformats.org/drawingml/2006/table">
            <a:tbl>
              <a:tblPr/>
              <a:tblGrid>
                <a:gridCol w="1051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89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7518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0</a:t>
                      </a:r>
                    </a:p>
                  </a:txBody>
                  <a:tcPr marT="45705" marB="45705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lvetica" pitchFamily="34" charset="0"/>
                        </a:rPr>
                        <a:t>   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null</a:t>
                      </a:r>
                    </a:p>
                  </a:txBody>
                  <a:tcPr marT="45705" marB="457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072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</a:t>
                      </a:r>
                    </a:p>
                  </a:txBody>
                  <a:tcPr marT="45705" marB="45705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null</a:t>
                      </a:r>
                    </a:p>
                  </a:txBody>
                  <a:tcPr marT="45705" marB="457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7518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</a:t>
                      </a:r>
                    </a:p>
                  </a:txBody>
                  <a:tcPr marT="45705" marB="45705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lvetica" pitchFamily="34" charset="0"/>
                        </a:rPr>
                        <a:t>   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null</a:t>
                      </a:r>
                    </a:p>
                  </a:txBody>
                  <a:tcPr marT="45705" marB="457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199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…</a:t>
                      </a:r>
                    </a:p>
                  </a:txBody>
                  <a:tcPr marT="45705" marB="45705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...</a:t>
                      </a:r>
                    </a:p>
                  </a:txBody>
                  <a:tcPr marT="45705" marB="457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199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5" marB="45705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null</a:t>
                      </a:r>
                    </a:p>
                  </a:txBody>
                  <a:tcPr marT="45705" marB="457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7201477"/>
                  </a:ext>
                </a:extLst>
              </a:tr>
              <a:tr h="51199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5" marB="45705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null</a:t>
                      </a:r>
                    </a:p>
                  </a:txBody>
                  <a:tcPr marT="45705" marB="457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9146709"/>
                  </a:ext>
                </a:extLst>
              </a:tr>
              <a:tr h="51199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5" marB="45705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null</a:t>
                      </a:r>
                    </a:p>
                  </a:txBody>
                  <a:tcPr marT="45705" marB="457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3097528"/>
                  </a:ext>
                </a:extLst>
              </a:tr>
              <a:tr h="51199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5" marB="45705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null</a:t>
                      </a:r>
                    </a:p>
                  </a:txBody>
                  <a:tcPr marT="45705" marB="457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828648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590186" y="5837109"/>
            <a:ext cx="1755058" cy="36933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hash table</a:t>
            </a:r>
          </a:p>
        </p:txBody>
      </p:sp>
    </p:spTree>
    <p:extLst>
      <p:ext uri="{BB962C8B-B14F-4D97-AF65-F5344CB8AC3E}">
        <p14:creationId xmlns:p14="http://schemas.microsoft.com/office/powerpoint/2010/main" val="264478403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96834" y="2939143"/>
            <a:ext cx="8002679" cy="214230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 dirty="0"/>
              <a:t>Dealing with Collisions I: </a:t>
            </a:r>
            <a:br>
              <a:rPr lang="en-US" altLang="en-US" dirty="0"/>
            </a:br>
            <a:r>
              <a:rPr lang="en-US" altLang="en-US" sz="2200" i="1" dirty="0"/>
              <a:t>Separate Chaining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458200" cy="5614988"/>
          </a:xfrm>
        </p:spPr>
        <p:txBody>
          <a:bodyPr/>
          <a:lstStyle/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If multiple items are assigned the same hash code, we "chain" them together.</a:t>
            </a:r>
          </a:p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Each position in the hash table serves as a </a:t>
            </a:r>
            <a:r>
              <a:rPr lang="en-US" altLang="en-US" i="1" dirty="0"/>
              <a:t>bucket</a:t>
            </a:r>
            <a:r>
              <a:rPr lang="en-US" altLang="en-US" dirty="0"/>
              <a:t> that is able to store multiple data items. </a:t>
            </a:r>
          </a:p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Two implementations:</a:t>
            </a:r>
          </a:p>
          <a:p>
            <a:pPr>
              <a:spcBef>
                <a:spcPts val="200"/>
              </a:spcBef>
              <a:buFontTx/>
              <a:buNone/>
              <a:tabLst>
                <a:tab pos="569913" algn="l"/>
                <a:tab pos="793750" algn="l"/>
              </a:tabLst>
            </a:pPr>
            <a:r>
              <a:rPr lang="en-US" altLang="en-US" dirty="0"/>
              <a:t>		</a:t>
            </a:r>
            <a:r>
              <a:rPr lang="en-US" altLang="en-US" dirty="0">
                <a:solidFill>
                  <a:srgbClr val="0000FF"/>
                </a:solidFill>
              </a:rPr>
              <a:t>1.	each bucket is itself an array</a:t>
            </a:r>
          </a:p>
          <a:p>
            <a:pPr lvl="2">
              <a:spcBef>
                <a:spcPts val="2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sz="2200" dirty="0"/>
              <a:t> disadvantages:</a:t>
            </a:r>
            <a:r>
              <a:rPr lang="en-US" altLang="en-US" dirty="0"/>
              <a:t> </a:t>
            </a:r>
          </a:p>
          <a:p>
            <a:pPr lvl="3">
              <a:spcBef>
                <a:spcPts val="2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large buckets can waste memory</a:t>
            </a:r>
          </a:p>
          <a:p>
            <a:pPr lvl="3">
              <a:spcBef>
                <a:spcPts val="2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a bucket may become full; </a:t>
            </a:r>
            <a:r>
              <a:rPr lang="en-US" altLang="en-US" i="1" dirty="0"/>
              <a:t>overflow</a:t>
            </a:r>
            <a:r>
              <a:rPr lang="en-US" altLang="en-US" dirty="0"/>
              <a:t> occurs</a:t>
            </a:r>
            <a:r>
              <a:rPr lang="en-US" altLang="en-US" i="1" dirty="0"/>
              <a:t> </a:t>
            </a:r>
            <a:r>
              <a:rPr lang="en-US" altLang="en-US" dirty="0"/>
              <a:t>when we try to add an item to a full bucket</a:t>
            </a:r>
          </a:p>
          <a:p>
            <a:pPr>
              <a:spcBef>
                <a:spcPts val="500"/>
              </a:spcBef>
              <a:buFontTx/>
              <a:buNone/>
              <a:tabLst>
                <a:tab pos="569913" algn="l"/>
                <a:tab pos="793750" algn="l"/>
              </a:tabLst>
            </a:pPr>
            <a:r>
              <a:rPr lang="en-US" altLang="en-US" dirty="0"/>
              <a:t>		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4476" y="1110458"/>
            <a:ext cx="6657114" cy="5629975"/>
          </a:xfrm>
          <a:prstGeom prst="rect">
            <a:avLst/>
          </a:prstGeom>
          <a:solidFill>
            <a:schemeClr val="bg1">
              <a:lumMod val="95000"/>
            </a:schemeClr>
          </a:solidFill>
          <a:ln w="38100">
            <a:solidFill>
              <a:srgbClr val="008000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5793506"/>
              </p:ext>
            </p:extLst>
          </p:nvPr>
        </p:nvGraphicFramePr>
        <p:xfrm>
          <a:off x="3812675" y="1677074"/>
          <a:ext cx="3701145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0229">
                  <a:extLst>
                    <a:ext uri="{9D8B030D-6E8A-4147-A177-3AD203B41FA5}">
                      <a16:colId xmlns:a16="http://schemas.microsoft.com/office/drawing/2014/main" val="1146721605"/>
                    </a:ext>
                  </a:extLst>
                </a:gridCol>
                <a:gridCol w="740229">
                  <a:extLst>
                    <a:ext uri="{9D8B030D-6E8A-4147-A177-3AD203B41FA5}">
                      <a16:colId xmlns:a16="http://schemas.microsoft.com/office/drawing/2014/main" val="312671825"/>
                    </a:ext>
                  </a:extLst>
                </a:gridCol>
                <a:gridCol w="740229">
                  <a:extLst>
                    <a:ext uri="{9D8B030D-6E8A-4147-A177-3AD203B41FA5}">
                      <a16:colId xmlns:a16="http://schemas.microsoft.com/office/drawing/2014/main" val="3554448185"/>
                    </a:ext>
                  </a:extLst>
                </a:gridCol>
                <a:gridCol w="740229">
                  <a:extLst>
                    <a:ext uri="{9D8B030D-6E8A-4147-A177-3AD203B41FA5}">
                      <a16:colId xmlns:a16="http://schemas.microsoft.com/office/drawing/2014/main" val="2410084345"/>
                    </a:ext>
                  </a:extLst>
                </a:gridCol>
                <a:gridCol w="740229">
                  <a:extLst>
                    <a:ext uri="{9D8B030D-6E8A-4147-A177-3AD203B41FA5}">
                      <a16:colId xmlns:a16="http://schemas.microsoft.com/office/drawing/2014/main" val="38725351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5499884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384663" y="1677074"/>
            <a:ext cx="339634" cy="370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graphicFrame>
        <p:nvGraphicFramePr>
          <p:cNvPr id="18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8631746"/>
              </p:ext>
            </p:extLst>
          </p:nvPr>
        </p:nvGraphicFramePr>
        <p:xfrm>
          <a:off x="796834" y="1534051"/>
          <a:ext cx="2100059" cy="4109103"/>
        </p:xfrm>
        <a:graphic>
          <a:graphicData uri="http://schemas.openxmlformats.org/drawingml/2006/table">
            <a:tbl>
              <a:tblPr/>
              <a:tblGrid>
                <a:gridCol w="1051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89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7518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0</a:t>
                      </a:r>
                    </a:p>
                  </a:txBody>
                  <a:tcPr marT="45705" marB="45705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Helvetica" pitchFamily="34" charset="0"/>
                      </a:endParaRPr>
                    </a:p>
                  </a:txBody>
                  <a:tcPr marT="45705" marB="457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072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</a:t>
                      </a:r>
                    </a:p>
                  </a:txBody>
                  <a:tcPr marT="45705" marB="45705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null</a:t>
                      </a:r>
                    </a:p>
                  </a:txBody>
                  <a:tcPr marT="45705" marB="457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7518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</a:t>
                      </a:r>
                    </a:p>
                  </a:txBody>
                  <a:tcPr marT="45705" marB="45705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lvetica" pitchFamily="34" charset="0"/>
                        </a:rPr>
                        <a:t>   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null</a:t>
                      </a:r>
                    </a:p>
                  </a:txBody>
                  <a:tcPr marT="45705" marB="457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199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…</a:t>
                      </a:r>
                    </a:p>
                  </a:txBody>
                  <a:tcPr marT="45705" marB="45705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...</a:t>
                      </a:r>
                    </a:p>
                  </a:txBody>
                  <a:tcPr marT="45705" marB="457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199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5" marB="45705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null</a:t>
                      </a:r>
                    </a:p>
                  </a:txBody>
                  <a:tcPr marT="45705" marB="457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7201477"/>
                  </a:ext>
                </a:extLst>
              </a:tr>
              <a:tr h="51199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5" marB="45705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null</a:t>
                      </a:r>
                    </a:p>
                  </a:txBody>
                  <a:tcPr marT="45705" marB="457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9146709"/>
                  </a:ext>
                </a:extLst>
              </a:tr>
              <a:tr h="51199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5" marB="45705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null</a:t>
                      </a:r>
                    </a:p>
                  </a:txBody>
                  <a:tcPr marT="45705" marB="457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3097528"/>
                  </a:ext>
                </a:extLst>
              </a:tr>
              <a:tr h="51199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5" marB="45705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null</a:t>
                      </a:r>
                    </a:p>
                  </a:txBody>
                  <a:tcPr marT="45705" marB="457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828648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590186" y="5837109"/>
            <a:ext cx="1755058" cy="36933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hash table</a:t>
            </a:r>
          </a:p>
        </p:txBody>
      </p:sp>
      <p:cxnSp>
        <p:nvCxnSpPr>
          <p:cNvPr id="13" name="Straight Arrow Connector 12"/>
          <p:cNvCxnSpPr/>
          <p:nvPr/>
        </p:nvCxnSpPr>
        <p:spPr bwMode="auto">
          <a:xfrm>
            <a:off x="2585653" y="1798535"/>
            <a:ext cx="1189218" cy="13063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966157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96834" y="2939143"/>
            <a:ext cx="8002679" cy="214230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 dirty="0"/>
              <a:t>Dealing with Collisions I: </a:t>
            </a:r>
            <a:br>
              <a:rPr lang="en-US" altLang="en-US" dirty="0"/>
            </a:br>
            <a:r>
              <a:rPr lang="en-US" altLang="en-US" sz="2200" i="1" dirty="0"/>
              <a:t>Separate Chaining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458200" cy="5614988"/>
          </a:xfrm>
        </p:spPr>
        <p:txBody>
          <a:bodyPr/>
          <a:lstStyle/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If multiple items are assigned the same hash code, we "chain" them together.</a:t>
            </a:r>
          </a:p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Each position in the hash table serves as a </a:t>
            </a:r>
            <a:r>
              <a:rPr lang="en-US" altLang="en-US" i="1" dirty="0"/>
              <a:t>bucket</a:t>
            </a:r>
            <a:r>
              <a:rPr lang="en-US" altLang="en-US" dirty="0"/>
              <a:t> that is able to store multiple data items. </a:t>
            </a:r>
          </a:p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Two implementations:</a:t>
            </a:r>
          </a:p>
          <a:p>
            <a:pPr>
              <a:spcBef>
                <a:spcPts val="200"/>
              </a:spcBef>
              <a:buFontTx/>
              <a:buNone/>
              <a:tabLst>
                <a:tab pos="569913" algn="l"/>
                <a:tab pos="793750" algn="l"/>
              </a:tabLst>
            </a:pPr>
            <a:r>
              <a:rPr lang="en-US" altLang="en-US" dirty="0"/>
              <a:t>		</a:t>
            </a:r>
            <a:r>
              <a:rPr lang="en-US" altLang="en-US" dirty="0">
                <a:solidFill>
                  <a:srgbClr val="0000FF"/>
                </a:solidFill>
              </a:rPr>
              <a:t>1.	each bucket is itself an array</a:t>
            </a:r>
          </a:p>
          <a:p>
            <a:pPr lvl="2">
              <a:spcBef>
                <a:spcPts val="2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sz="2200" dirty="0"/>
              <a:t> disadvantages:</a:t>
            </a:r>
            <a:r>
              <a:rPr lang="en-US" altLang="en-US" dirty="0"/>
              <a:t> </a:t>
            </a:r>
          </a:p>
          <a:p>
            <a:pPr lvl="3">
              <a:spcBef>
                <a:spcPts val="2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large buckets can waste memory</a:t>
            </a:r>
          </a:p>
          <a:p>
            <a:pPr lvl="3">
              <a:spcBef>
                <a:spcPts val="2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a bucket may become full; </a:t>
            </a:r>
            <a:r>
              <a:rPr lang="en-US" altLang="en-US" i="1" dirty="0"/>
              <a:t>overflow</a:t>
            </a:r>
            <a:r>
              <a:rPr lang="en-US" altLang="en-US" dirty="0"/>
              <a:t> occurs</a:t>
            </a:r>
            <a:r>
              <a:rPr lang="en-US" altLang="en-US" i="1" dirty="0"/>
              <a:t> </a:t>
            </a:r>
            <a:r>
              <a:rPr lang="en-US" altLang="en-US" dirty="0"/>
              <a:t>when we try to add an item to a full bucket</a:t>
            </a:r>
          </a:p>
          <a:p>
            <a:pPr>
              <a:spcBef>
                <a:spcPts val="500"/>
              </a:spcBef>
              <a:buFontTx/>
              <a:buNone/>
              <a:tabLst>
                <a:tab pos="569913" algn="l"/>
                <a:tab pos="793750" algn="l"/>
              </a:tabLst>
            </a:pPr>
            <a:r>
              <a:rPr lang="en-US" altLang="en-US" dirty="0"/>
              <a:t>		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4476" y="1110458"/>
            <a:ext cx="6657114" cy="5629975"/>
          </a:xfrm>
          <a:prstGeom prst="rect">
            <a:avLst/>
          </a:prstGeom>
          <a:solidFill>
            <a:schemeClr val="bg1">
              <a:lumMod val="95000"/>
            </a:schemeClr>
          </a:solidFill>
          <a:ln w="38100">
            <a:solidFill>
              <a:srgbClr val="008000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2687563"/>
              </p:ext>
            </p:extLst>
          </p:nvPr>
        </p:nvGraphicFramePr>
        <p:xfrm>
          <a:off x="3812675" y="1677074"/>
          <a:ext cx="3701145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0229">
                  <a:extLst>
                    <a:ext uri="{9D8B030D-6E8A-4147-A177-3AD203B41FA5}">
                      <a16:colId xmlns:a16="http://schemas.microsoft.com/office/drawing/2014/main" val="1146721605"/>
                    </a:ext>
                  </a:extLst>
                </a:gridCol>
                <a:gridCol w="740229">
                  <a:extLst>
                    <a:ext uri="{9D8B030D-6E8A-4147-A177-3AD203B41FA5}">
                      <a16:colId xmlns:a16="http://schemas.microsoft.com/office/drawing/2014/main" val="312671825"/>
                    </a:ext>
                  </a:extLst>
                </a:gridCol>
                <a:gridCol w="740229">
                  <a:extLst>
                    <a:ext uri="{9D8B030D-6E8A-4147-A177-3AD203B41FA5}">
                      <a16:colId xmlns:a16="http://schemas.microsoft.com/office/drawing/2014/main" val="3554448185"/>
                    </a:ext>
                  </a:extLst>
                </a:gridCol>
                <a:gridCol w="740229">
                  <a:extLst>
                    <a:ext uri="{9D8B030D-6E8A-4147-A177-3AD203B41FA5}">
                      <a16:colId xmlns:a16="http://schemas.microsoft.com/office/drawing/2014/main" val="2410084345"/>
                    </a:ext>
                  </a:extLst>
                </a:gridCol>
                <a:gridCol w="740229">
                  <a:extLst>
                    <a:ext uri="{9D8B030D-6E8A-4147-A177-3AD203B41FA5}">
                      <a16:colId xmlns:a16="http://schemas.microsoft.com/office/drawing/2014/main" val="38725351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008000"/>
                        </a:solidFill>
                      </a:endParaRPr>
                    </a:p>
                  </a:txBody>
                  <a:tcPr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5499884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384663" y="1677074"/>
            <a:ext cx="339634" cy="370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graphicFrame>
        <p:nvGraphicFramePr>
          <p:cNvPr id="18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8631746"/>
              </p:ext>
            </p:extLst>
          </p:nvPr>
        </p:nvGraphicFramePr>
        <p:xfrm>
          <a:off x="796834" y="1534051"/>
          <a:ext cx="2100059" cy="4109103"/>
        </p:xfrm>
        <a:graphic>
          <a:graphicData uri="http://schemas.openxmlformats.org/drawingml/2006/table">
            <a:tbl>
              <a:tblPr/>
              <a:tblGrid>
                <a:gridCol w="1051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89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7518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0</a:t>
                      </a:r>
                    </a:p>
                  </a:txBody>
                  <a:tcPr marT="45705" marB="45705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Helvetica" pitchFamily="34" charset="0"/>
                      </a:endParaRPr>
                    </a:p>
                  </a:txBody>
                  <a:tcPr marT="45705" marB="457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072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</a:t>
                      </a:r>
                    </a:p>
                  </a:txBody>
                  <a:tcPr marT="45705" marB="45705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null</a:t>
                      </a:r>
                    </a:p>
                  </a:txBody>
                  <a:tcPr marT="45705" marB="457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7518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</a:t>
                      </a:r>
                    </a:p>
                  </a:txBody>
                  <a:tcPr marT="45705" marB="45705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lvetica" pitchFamily="34" charset="0"/>
                        </a:rPr>
                        <a:t>   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null</a:t>
                      </a:r>
                    </a:p>
                  </a:txBody>
                  <a:tcPr marT="45705" marB="457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199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…</a:t>
                      </a:r>
                    </a:p>
                  </a:txBody>
                  <a:tcPr marT="45705" marB="45705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...</a:t>
                      </a:r>
                    </a:p>
                  </a:txBody>
                  <a:tcPr marT="45705" marB="457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199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5" marB="45705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null</a:t>
                      </a:r>
                    </a:p>
                  </a:txBody>
                  <a:tcPr marT="45705" marB="457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7201477"/>
                  </a:ext>
                </a:extLst>
              </a:tr>
              <a:tr h="51199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5" marB="45705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null</a:t>
                      </a:r>
                    </a:p>
                  </a:txBody>
                  <a:tcPr marT="45705" marB="457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9146709"/>
                  </a:ext>
                </a:extLst>
              </a:tr>
              <a:tr h="51199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5" marB="45705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null</a:t>
                      </a:r>
                    </a:p>
                  </a:txBody>
                  <a:tcPr marT="45705" marB="457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3097528"/>
                  </a:ext>
                </a:extLst>
              </a:tr>
              <a:tr h="51199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5" marB="45705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null</a:t>
                      </a:r>
                    </a:p>
                  </a:txBody>
                  <a:tcPr marT="45705" marB="457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828648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590186" y="5837109"/>
            <a:ext cx="1755058" cy="36933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hash table</a:t>
            </a:r>
          </a:p>
        </p:txBody>
      </p:sp>
      <p:cxnSp>
        <p:nvCxnSpPr>
          <p:cNvPr id="13" name="Straight Arrow Connector 12"/>
          <p:cNvCxnSpPr/>
          <p:nvPr/>
        </p:nvCxnSpPr>
        <p:spPr bwMode="auto">
          <a:xfrm>
            <a:off x="2585653" y="1798535"/>
            <a:ext cx="1189218" cy="13063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785782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96834" y="2939143"/>
            <a:ext cx="8002679" cy="214230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 dirty="0"/>
              <a:t>Dealing with Collisions I: </a:t>
            </a:r>
            <a:br>
              <a:rPr lang="en-US" altLang="en-US" dirty="0"/>
            </a:br>
            <a:r>
              <a:rPr lang="en-US" altLang="en-US" sz="2200" i="1" dirty="0"/>
              <a:t>Separate Chaining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458200" cy="5614988"/>
          </a:xfrm>
        </p:spPr>
        <p:txBody>
          <a:bodyPr/>
          <a:lstStyle/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If multiple items are assigned the same hash code, we "chain" them together.</a:t>
            </a:r>
          </a:p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Each position in the hash table serves as a </a:t>
            </a:r>
            <a:r>
              <a:rPr lang="en-US" altLang="en-US" i="1" dirty="0"/>
              <a:t>bucket</a:t>
            </a:r>
            <a:r>
              <a:rPr lang="en-US" altLang="en-US" dirty="0"/>
              <a:t> that is able to store multiple data items. </a:t>
            </a:r>
          </a:p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Two implementations:</a:t>
            </a:r>
          </a:p>
          <a:p>
            <a:pPr>
              <a:spcBef>
                <a:spcPts val="200"/>
              </a:spcBef>
              <a:buFontTx/>
              <a:buNone/>
              <a:tabLst>
                <a:tab pos="569913" algn="l"/>
                <a:tab pos="793750" algn="l"/>
              </a:tabLst>
            </a:pPr>
            <a:r>
              <a:rPr lang="en-US" altLang="en-US" dirty="0"/>
              <a:t>		</a:t>
            </a:r>
            <a:r>
              <a:rPr lang="en-US" altLang="en-US" dirty="0">
                <a:solidFill>
                  <a:srgbClr val="0000FF"/>
                </a:solidFill>
              </a:rPr>
              <a:t>1.	each bucket is itself an array</a:t>
            </a:r>
          </a:p>
          <a:p>
            <a:pPr lvl="2">
              <a:spcBef>
                <a:spcPts val="2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sz="2200" dirty="0"/>
              <a:t> disadvantages:</a:t>
            </a:r>
            <a:r>
              <a:rPr lang="en-US" altLang="en-US" dirty="0"/>
              <a:t> </a:t>
            </a:r>
          </a:p>
          <a:p>
            <a:pPr lvl="3">
              <a:spcBef>
                <a:spcPts val="2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large buckets can waste memory</a:t>
            </a:r>
          </a:p>
          <a:p>
            <a:pPr lvl="3">
              <a:spcBef>
                <a:spcPts val="2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a bucket may become full; </a:t>
            </a:r>
            <a:r>
              <a:rPr lang="en-US" altLang="en-US" i="1" dirty="0"/>
              <a:t>overflow</a:t>
            </a:r>
            <a:r>
              <a:rPr lang="en-US" altLang="en-US" dirty="0"/>
              <a:t> occurs</a:t>
            </a:r>
            <a:r>
              <a:rPr lang="en-US" altLang="en-US" i="1" dirty="0"/>
              <a:t> </a:t>
            </a:r>
            <a:r>
              <a:rPr lang="en-US" altLang="en-US" dirty="0"/>
              <a:t>when we try to add an item to a full bucket</a:t>
            </a:r>
          </a:p>
          <a:p>
            <a:pPr>
              <a:spcBef>
                <a:spcPts val="500"/>
              </a:spcBef>
              <a:buFontTx/>
              <a:buNone/>
              <a:tabLst>
                <a:tab pos="569913" algn="l"/>
                <a:tab pos="793750" algn="l"/>
              </a:tabLst>
            </a:pPr>
            <a:r>
              <a:rPr lang="en-US" altLang="en-US" dirty="0"/>
              <a:t>		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4476" y="1110458"/>
            <a:ext cx="6657114" cy="5629975"/>
          </a:xfrm>
          <a:prstGeom prst="rect">
            <a:avLst/>
          </a:prstGeom>
          <a:solidFill>
            <a:schemeClr val="bg1">
              <a:lumMod val="95000"/>
            </a:schemeClr>
          </a:solidFill>
          <a:ln w="38100">
            <a:solidFill>
              <a:srgbClr val="008000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5921988"/>
              </p:ext>
            </p:extLst>
          </p:nvPr>
        </p:nvGraphicFramePr>
        <p:xfrm>
          <a:off x="3829050" y="2652758"/>
          <a:ext cx="370114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0229">
                  <a:extLst>
                    <a:ext uri="{9D8B030D-6E8A-4147-A177-3AD203B41FA5}">
                      <a16:colId xmlns:a16="http://schemas.microsoft.com/office/drawing/2014/main" val="1146721605"/>
                    </a:ext>
                  </a:extLst>
                </a:gridCol>
                <a:gridCol w="740229">
                  <a:extLst>
                    <a:ext uri="{9D8B030D-6E8A-4147-A177-3AD203B41FA5}">
                      <a16:colId xmlns:a16="http://schemas.microsoft.com/office/drawing/2014/main" val="312671825"/>
                    </a:ext>
                  </a:extLst>
                </a:gridCol>
                <a:gridCol w="740229">
                  <a:extLst>
                    <a:ext uri="{9D8B030D-6E8A-4147-A177-3AD203B41FA5}">
                      <a16:colId xmlns:a16="http://schemas.microsoft.com/office/drawing/2014/main" val="3554448185"/>
                    </a:ext>
                  </a:extLst>
                </a:gridCol>
                <a:gridCol w="740229">
                  <a:extLst>
                    <a:ext uri="{9D8B030D-6E8A-4147-A177-3AD203B41FA5}">
                      <a16:colId xmlns:a16="http://schemas.microsoft.com/office/drawing/2014/main" val="2410084345"/>
                    </a:ext>
                  </a:extLst>
                </a:gridCol>
                <a:gridCol w="740229">
                  <a:extLst>
                    <a:ext uri="{9D8B030D-6E8A-4147-A177-3AD203B41FA5}">
                      <a16:colId xmlns:a16="http://schemas.microsoft.com/office/drawing/2014/main" val="3872535177"/>
                    </a:ext>
                  </a:extLst>
                </a:gridCol>
              </a:tblGrid>
              <a:tr h="357777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5499884"/>
                  </a:ext>
                </a:extLst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074139"/>
              </p:ext>
            </p:extLst>
          </p:nvPr>
        </p:nvGraphicFramePr>
        <p:xfrm>
          <a:off x="3812675" y="1677074"/>
          <a:ext cx="3701145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0229">
                  <a:extLst>
                    <a:ext uri="{9D8B030D-6E8A-4147-A177-3AD203B41FA5}">
                      <a16:colId xmlns:a16="http://schemas.microsoft.com/office/drawing/2014/main" val="1146721605"/>
                    </a:ext>
                  </a:extLst>
                </a:gridCol>
                <a:gridCol w="740229">
                  <a:extLst>
                    <a:ext uri="{9D8B030D-6E8A-4147-A177-3AD203B41FA5}">
                      <a16:colId xmlns:a16="http://schemas.microsoft.com/office/drawing/2014/main" val="312671825"/>
                    </a:ext>
                  </a:extLst>
                </a:gridCol>
                <a:gridCol w="740229">
                  <a:extLst>
                    <a:ext uri="{9D8B030D-6E8A-4147-A177-3AD203B41FA5}">
                      <a16:colId xmlns:a16="http://schemas.microsoft.com/office/drawing/2014/main" val="3554448185"/>
                    </a:ext>
                  </a:extLst>
                </a:gridCol>
                <a:gridCol w="740229">
                  <a:extLst>
                    <a:ext uri="{9D8B030D-6E8A-4147-A177-3AD203B41FA5}">
                      <a16:colId xmlns:a16="http://schemas.microsoft.com/office/drawing/2014/main" val="2410084345"/>
                    </a:ext>
                  </a:extLst>
                </a:gridCol>
                <a:gridCol w="740229">
                  <a:extLst>
                    <a:ext uri="{9D8B030D-6E8A-4147-A177-3AD203B41FA5}">
                      <a16:colId xmlns:a16="http://schemas.microsoft.com/office/drawing/2014/main" val="38725351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5499884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384663" y="1677074"/>
            <a:ext cx="339634" cy="370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graphicFrame>
        <p:nvGraphicFramePr>
          <p:cNvPr id="18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9669737"/>
              </p:ext>
            </p:extLst>
          </p:nvPr>
        </p:nvGraphicFramePr>
        <p:xfrm>
          <a:off x="796834" y="1534051"/>
          <a:ext cx="2100059" cy="4109103"/>
        </p:xfrm>
        <a:graphic>
          <a:graphicData uri="http://schemas.openxmlformats.org/drawingml/2006/table">
            <a:tbl>
              <a:tblPr/>
              <a:tblGrid>
                <a:gridCol w="1051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89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7518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0</a:t>
                      </a:r>
                    </a:p>
                  </a:txBody>
                  <a:tcPr marT="45705" marB="45705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Helvetica" pitchFamily="34" charset="0"/>
                      </a:endParaRPr>
                    </a:p>
                  </a:txBody>
                  <a:tcPr marT="45705" marB="457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072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</a:t>
                      </a:r>
                    </a:p>
                  </a:txBody>
                  <a:tcPr marT="45705" marB="45705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null</a:t>
                      </a:r>
                    </a:p>
                  </a:txBody>
                  <a:tcPr marT="45705" marB="457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7518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</a:t>
                      </a:r>
                    </a:p>
                  </a:txBody>
                  <a:tcPr marT="45705" marB="45705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Helvetica" pitchFamily="34" charset="0"/>
                      </a:endParaRPr>
                    </a:p>
                  </a:txBody>
                  <a:tcPr marT="45705" marB="457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199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…</a:t>
                      </a:r>
                    </a:p>
                  </a:txBody>
                  <a:tcPr marT="45705" marB="45705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...</a:t>
                      </a:r>
                    </a:p>
                  </a:txBody>
                  <a:tcPr marT="45705" marB="457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199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5" marB="45705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null</a:t>
                      </a:r>
                    </a:p>
                  </a:txBody>
                  <a:tcPr marT="45705" marB="457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7201477"/>
                  </a:ext>
                </a:extLst>
              </a:tr>
              <a:tr h="51199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5" marB="45705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null</a:t>
                      </a:r>
                    </a:p>
                  </a:txBody>
                  <a:tcPr marT="45705" marB="457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9146709"/>
                  </a:ext>
                </a:extLst>
              </a:tr>
              <a:tr h="51199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5" marB="45705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null</a:t>
                      </a:r>
                    </a:p>
                  </a:txBody>
                  <a:tcPr marT="45705" marB="457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3097528"/>
                  </a:ext>
                </a:extLst>
              </a:tr>
              <a:tr h="51199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5" marB="45705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null</a:t>
                      </a:r>
                    </a:p>
                  </a:txBody>
                  <a:tcPr marT="45705" marB="457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828648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590186" y="5837109"/>
            <a:ext cx="1755058" cy="36933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hash table</a:t>
            </a:r>
          </a:p>
        </p:txBody>
      </p:sp>
      <p:cxnSp>
        <p:nvCxnSpPr>
          <p:cNvPr id="13" name="Straight Arrow Connector 12"/>
          <p:cNvCxnSpPr/>
          <p:nvPr/>
        </p:nvCxnSpPr>
        <p:spPr bwMode="auto">
          <a:xfrm>
            <a:off x="2585653" y="1798535"/>
            <a:ext cx="1189218" cy="13063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 bwMode="auto">
          <a:xfrm>
            <a:off x="2623457" y="2839345"/>
            <a:ext cx="1189218" cy="13063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478201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96834" y="2939143"/>
            <a:ext cx="8002679" cy="214230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 dirty="0"/>
              <a:t>Dealing with Collisions I: </a:t>
            </a:r>
            <a:br>
              <a:rPr lang="en-US" altLang="en-US" dirty="0"/>
            </a:br>
            <a:r>
              <a:rPr lang="en-US" altLang="en-US" sz="2200" i="1" dirty="0"/>
              <a:t>Separate Chaining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458200" cy="5614988"/>
          </a:xfrm>
        </p:spPr>
        <p:txBody>
          <a:bodyPr/>
          <a:lstStyle/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If multiple items are assigned the same hash code, we "chain" them together.</a:t>
            </a:r>
          </a:p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Each position in the hash table serves as a </a:t>
            </a:r>
            <a:r>
              <a:rPr lang="en-US" altLang="en-US" i="1" dirty="0"/>
              <a:t>bucket</a:t>
            </a:r>
            <a:r>
              <a:rPr lang="en-US" altLang="en-US" dirty="0"/>
              <a:t> that is able to store multiple data items. </a:t>
            </a:r>
          </a:p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Two implementations:</a:t>
            </a:r>
          </a:p>
          <a:p>
            <a:pPr>
              <a:spcBef>
                <a:spcPts val="200"/>
              </a:spcBef>
              <a:buFontTx/>
              <a:buNone/>
              <a:tabLst>
                <a:tab pos="569913" algn="l"/>
                <a:tab pos="793750" algn="l"/>
              </a:tabLst>
            </a:pPr>
            <a:r>
              <a:rPr lang="en-US" altLang="en-US" dirty="0"/>
              <a:t>		</a:t>
            </a:r>
            <a:r>
              <a:rPr lang="en-US" altLang="en-US" dirty="0">
                <a:solidFill>
                  <a:srgbClr val="0000FF"/>
                </a:solidFill>
              </a:rPr>
              <a:t>1.	each bucket is itself an array</a:t>
            </a:r>
          </a:p>
          <a:p>
            <a:pPr lvl="2">
              <a:spcBef>
                <a:spcPts val="2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sz="2200" dirty="0"/>
              <a:t> disadvantages:</a:t>
            </a:r>
            <a:r>
              <a:rPr lang="en-US" altLang="en-US" dirty="0"/>
              <a:t> </a:t>
            </a:r>
          </a:p>
          <a:p>
            <a:pPr lvl="3">
              <a:spcBef>
                <a:spcPts val="2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large buckets can waste memory</a:t>
            </a:r>
          </a:p>
          <a:p>
            <a:pPr lvl="3">
              <a:spcBef>
                <a:spcPts val="2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a bucket may become full; </a:t>
            </a:r>
            <a:r>
              <a:rPr lang="en-US" altLang="en-US" i="1" dirty="0"/>
              <a:t>overflow</a:t>
            </a:r>
            <a:r>
              <a:rPr lang="en-US" altLang="en-US" dirty="0"/>
              <a:t> occurs</a:t>
            </a:r>
            <a:r>
              <a:rPr lang="en-US" altLang="en-US" i="1" dirty="0"/>
              <a:t> </a:t>
            </a:r>
            <a:r>
              <a:rPr lang="en-US" altLang="en-US" dirty="0"/>
              <a:t>when we try to add an item to a full bucket</a:t>
            </a:r>
          </a:p>
          <a:p>
            <a:pPr>
              <a:spcBef>
                <a:spcPts val="500"/>
              </a:spcBef>
              <a:buFontTx/>
              <a:buNone/>
              <a:tabLst>
                <a:tab pos="569913" algn="l"/>
                <a:tab pos="793750" algn="l"/>
              </a:tabLst>
            </a:pPr>
            <a:r>
              <a:rPr lang="en-US" altLang="en-US" dirty="0"/>
              <a:t>		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4476" y="1110458"/>
            <a:ext cx="6657114" cy="5629975"/>
          </a:xfrm>
          <a:prstGeom prst="rect">
            <a:avLst/>
          </a:prstGeom>
          <a:solidFill>
            <a:schemeClr val="bg1">
              <a:lumMod val="95000"/>
            </a:schemeClr>
          </a:solidFill>
          <a:ln w="38100">
            <a:solidFill>
              <a:srgbClr val="008000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5921988"/>
              </p:ext>
            </p:extLst>
          </p:nvPr>
        </p:nvGraphicFramePr>
        <p:xfrm>
          <a:off x="3829050" y="2652758"/>
          <a:ext cx="370114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0229">
                  <a:extLst>
                    <a:ext uri="{9D8B030D-6E8A-4147-A177-3AD203B41FA5}">
                      <a16:colId xmlns:a16="http://schemas.microsoft.com/office/drawing/2014/main" val="1146721605"/>
                    </a:ext>
                  </a:extLst>
                </a:gridCol>
                <a:gridCol w="740229">
                  <a:extLst>
                    <a:ext uri="{9D8B030D-6E8A-4147-A177-3AD203B41FA5}">
                      <a16:colId xmlns:a16="http://schemas.microsoft.com/office/drawing/2014/main" val="312671825"/>
                    </a:ext>
                  </a:extLst>
                </a:gridCol>
                <a:gridCol w="740229">
                  <a:extLst>
                    <a:ext uri="{9D8B030D-6E8A-4147-A177-3AD203B41FA5}">
                      <a16:colId xmlns:a16="http://schemas.microsoft.com/office/drawing/2014/main" val="3554448185"/>
                    </a:ext>
                  </a:extLst>
                </a:gridCol>
                <a:gridCol w="740229">
                  <a:extLst>
                    <a:ext uri="{9D8B030D-6E8A-4147-A177-3AD203B41FA5}">
                      <a16:colId xmlns:a16="http://schemas.microsoft.com/office/drawing/2014/main" val="2410084345"/>
                    </a:ext>
                  </a:extLst>
                </a:gridCol>
                <a:gridCol w="740229">
                  <a:extLst>
                    <a:ext uri="{9D8B030D-6E8A-4147-A177-3AD203B41FA5}">
                      <a16:colId xmlns:a16="http://schemas.microsoft.com/office/drawing/2014/main" val="3872535177"/>
                    </a:ext>
                  </a:extLst>
                </a:gridCol>
              </a:tblGrid>
              <a:tr h="357777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5499884"/>
                  </a:ext>
                </a:extLst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1116717"/>
              </p:ext>
            </p:extLst>
          </p:nvPr>
        </p:nvGraphicFramePr>
        <p:xfrm>
          <a:off x="3812675" y="1677074"/>
          <a:ext cx="3701145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0229">
                  <a:extLst>
                    <a:ext uri="{9D8B030D-6E8A-4147-A177-3AD203B41FA5}">
                      <a16:colId xmlns:a16="http://schemas.microsoft.com/office/drawing/2014/main" val="1146721605"/>
                    </a:ext>
                  </a:extLst>
                </a:gridCol>
                <a:gridCol w="740229">
                  <a:extLst>
                    <a:ext uri="{9D8B030D-6E8A-4147-A177-3AD203B41FA5}">
                      <a16:colId xmlns:a16="http://schemas.microsoft.com/office/drawing/2014/main" val="312671825"/>
                    </a:ext>
                  </a:extLst>
                </a:gridCol>
                <a:gridCol w="740229">
                  <a:extLst>
                    <a:ext uri="{9D8B030D-6E8A-4147-A177-3AD203B41FA5}">
                      <a16:colId xmlns:a16="http://schemas.microsoft.com/office/drawing/2014/main" val="3554448185"/>
                    </a:ext>
                  </a:extLst>
                </a:gridCol>
                <a:gridCol w="740229">
                  <a:extLst>
                    <a:ext uri="{9D8B030D-6E8A-4147-A177-3AD203B41FA5}">
                      <a16:colId xmlns:a16="http://schemas.microsoft.com/office/drawing/2014/main" val="2410084345"/>
                    </a:ext>
                  </a:extLst>
                </a:gridCol>
                <a:gridCol w="740229">
                  <a:extLst>
                    <a:ext uri="{9D8B030D-6E8A-4147-A177-3AD203B41FA5}">
                      <a16:colId xmlns:a16="http://schemas.microsoft.com/office/drawing/2014/main" val="38725351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5499884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384663" y="1677074"/>
            <a:ext cx="339634" cy="370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graphicFrame>
        <p:nvGraphicFramePr>
          <p:cNvPr id="18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9669737"/>
              </p:ext>
            </p:extLst>
          </p:nvPr>
        </p:nvGraphicFramePr>
        <p:xfrm>
          <a:off x="796834" y="1534051"/>
          <a:ext cx="2100059" cy="4109103"/>
        </p:xfrm>
        <a:graphic>
          <a:graphicData uri="http://schemas.openxmlformats.org/drawingml/2006/table">
            <a:tbl>
              <a:tblPr/>
              <a:tblGrid>
                <a:gridCol w="1051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89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7518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0</a:t>
                      </a:r>
                    </a:p>
                  </a:txBody>
                  <a:tcPr marT="45705" marB="45705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Helvetica" pitchFamily="34" charset="0"/>
                      </a:endParaRPr>
                    </a:p>
                  </a:txBody>
                  <a:tcPr marT="45705" marB="457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072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</a:t>
                      </a:r>
                    </a:p>
                  </a:txBody>
                  <a:tcPr marT="45705" marB="45705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null</a:t>
                      </a:r>
                    </a:p>
                  </a:txBody>
                  <a:tcPr marT="45705" marB="457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7518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</a:t>
                      </a:r>
                    </a:p>
                  </a:txBody>
                  <a:tcPr marT="45705" marB="45705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Helvetica" pitchFamily="34" charset="0"/>
                      </a:endParaRPr>
                    </a:p>
                  </a:txBody>
                  <a:tcPr marT="45705" marB="457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199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…</a:t>
                      </a:r>
                    </a:p>
                  </a:txBody>
                  <a:tcPr marT="45705" marB="45705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...</a:t>
                      </a:r>
                    </a:p>
                  </a:txBody>
                  <a:tcPr marT="45705" marB="457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199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5" marB="45705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null</a:t>
                      </a:r>
                    </a:p>
                  </a:txBody>
                  <a:tcPr marT="45705" marB="457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7201477"/>
                  </a:ext>
                </a:extLst>
              </a:tr>
              <a:tr h="51199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5" marB="45705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null</a:t>
                      </a:r>
                    </a:p>
                  </a:txBody>
                  <a:tcPr marT="45705" marB="457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9146709"/>
                  </a:ext>
                </a:extLst>
              </a:tr>
              <a:tr h="51199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5" marB="45705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null</a:t>
                      </a:r>
                    </a:p>
                  </a:txBody>
                  <a:tcPr marT="45705" marB="457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3097528"/>
                  </a:ext>
                </a:extLst>
              </a:tr>
              <a:tr h="51199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5" marB="45705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null</a:t>
                      </a:r>
                    </a:p>
                  </a:txBody>
                  <a:tcPr marT="45705" marB="457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828648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590186" y="5837109"/>
            <a:ext cx="1755058" cy="36933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hash table</a:t>
            </a:r>
          </a:p>
        </p:txBody>
      </p:sp>
      <p:cxnSp>
        <p:nvCxnSpPr>
          <p:cNvPr id="13" name="Straight Arrow Connector 12"/>
          <p:cNvCxnSpPr/>
          <p:nvPr/>
        </p:nvCxnSpPr>
        <p:spPr bwMode="auto">
          <a:xfrm>
            <a:off x="2585653" y="1798535"/>
            <a:ext cx="1189218" cy="13063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 bwMode="auto">
          <a:xfrm>
            <a:off x="2623457" y="2839345"/>
            <a:ext cx="1189218" cy="13063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503759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96834" y="2939143"/>
            <a:ext cx="8002679" cy="214230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 dirty="0"/>
              <a:t>Dealing with Collisions I: </a:t>
            </a:r>
            <a:br>
              <a:rPr lang="en-US" altLang="en-US" dirty="0"/>
            </a:br>
            <a:r>
              <a:rPr lang="en-US" altLang="en-US" sz="2200" i="1" dirty="0"/>
              <a:t>Separate Chaining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458200" cy="5614988"/>
          </a:xfrm>
        </p:spPr>
        <p:txBody>
          <a:bodyPr/>
          <a:lstStyle/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If multiple items are assigned the same hash code, we "chain" them together.</a:t>
            </a:r>
          </a:p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Each position in the hash table serves as a </a:t>
            </a:r>
            <a:r>
              <a:rPr lang="en-US" altLang="en-US" i="1" dirty="0"/>
              <a:t>bucket</a:t>
            </a:r>
            <a:r>
              <a:rPr lang="en-US" altLang="en-US" dirty="0"/>
              <a:t> that is able to store multiple data items. </a:t>
            </a:r>
          </a:p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Two implementations:</a:t>
            </a:r>
          </a:p>
          <a:p>
            <a:pPr>
              <a:spcBef>
                <a:spcPts val="200"/>
              </a:spcBef>
              <a:buFontTx/>
              <a:buNone/>
              <a:tabLst>
                <a:tab pos="569913" algn="l"/>
                <a:tab pos="793750" algn="l"/>
              </a:tabLst>
            </a:pPr>
            <a:r>
              <a:rPr lang="en-US" altLang="en-US" dirty="0"/>
              <a:t>		</a:t>
            </a:r>
            <a:r>
              <a:rPr lang="en-US" altLang="en-US" dirty="0">
                <a:solidFill>
                  <a:srgbClr val="0000FF"/>
                </a:solidFill>
              </a:rPr>
              <a:t>1.	each bucket is itself an array</a:t>
            </a:r>
          </a:p>
          <a:p>
            <a:pPr lvl="2">
              <a:spcBef>
                <a:spcPts val="2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sz="2200" dirty="0"/>
              <a:t> disadvantages:</a:t>
            </a:r>
            <a:r>
              <a:rPr lang="en-US" altLang="en-US" dirty="0"/>
              <a:t> </a:t>
            </a:r>
          </a:p>
          <a:p>
            <a:pPr lvl="3">
              <a:spcBef>
                <a:spcPts val="2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large buckets can waste memory</a:t>
            </a:r>
          </a:p>
          <a:p>
            <a:pPr lvl="3">
              <a:spcBef>
                <a:spcPts val="2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a bucket may become full; </a:t>
            </a:r>
            <a:r>
              <a:rPr lang="en-US" altLang="en-US" i="1" dirty="0"/>
              <a:t>overflow</a:t>
            </a:r>
            <a:r>
              <a:rPr lang="en-US" altLang="en-US" dirty="0"/>
              <a:t> occurs</a:t>
            </a:r>
            <a:r>
              <a:rPr lang="en-US" altLang="en-US" i="1" dirty="0"/>
              <a:t> </a:t>
            </a:r>
            <a:r>
              <a:rPr lang="en-US" altLang="en-US" dirty="0"/>
              <a:t>when we try to add an item to a full bucket</a:t>
            </a:r>
          </a:p>
          <a:p>
            <a:pPr>
              <a:spcBef>
                <a:spcPts val="500"/>
              </a:spcBef>
              <a:buFontTx/>
              <a:buNone/>
              <a:tabLst>
                <a:tab pos="569913" algn="l"/>
                <a:tab pos="793750" algn="l"/>
              </a:tabLst>
            </a:pPr>
            <a:r>
              <a:rPr lang="en-US" altLang="en-US" dirty="0"/>
              <a:t>		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4476" y="1110458"/>
            <a:ext cx="6657114" cy="5629975"/>
          </a:xfrm>
          <a:prstGeom prst="rect">
            <a:avLst/>
          </a:prstGeom>
          <a:solidFill>
            <a:schemeClr val="bg1">
              <a:lumMod val="95000"/>
            </a:schemeClr>
          </a:solidFill>
          <a:ln w="38100">
            <a:solidFill>
              <a:srgbClr val="008000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6805456"/>
              </p:ext>
            </p:extLst>
          </p:nvPr>
        </p:nvGraphicFramePr>
        <p:xfrm>
          <a:off x="3829050" y="2652758"/>
          <a:ext cx="370114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0229">
                  <a:extLst>
                    <a:ext uri="{9D8B030D-6E8A-4147-A177-3AD203B41FA5}">
                      <a16:colId xmlns:a16="http://schemas.microsoft.com/office/drawing/2014/main" val="1146721605"/>
                    </a:ext>
                  </a:extLst>
                </a:gridCol>
                <a:gridCol w="740229">
                  <a:extLst>
                    <a:ext uri="{9D8B030D-6E8A-4147-A177-3AD203B41FA5}">
                      <a16:colId xmlns:a16="http://schemas.microsoft.com/office/drawing/2014/main" val="312671825"/>
                    </a:ext>
                  </a:extLst>
                </a:gridCol>
                <a:gridCol w="740229">
                  <a:extLst>
                    <a:ext uri="{9D8B030D-6E8A-4147-A177-3AD203B41FA5}">
                      <a16:colId xmlns:a16="http://schemas.microsoft.com/office/drawing/2014/main" val="3554448185"/>
                    </a:ext>
                  </a:extLst>
                </a:gridCol>
                <a:gridCol w="740229">
                  <a:extLst>
                    <a:ext uri="{9D8B030D-6E8A-4147-A177-3AD203B41FA5}">
                      <a16:colId xmlns:a16="http://schemas.microsoft.com/office/drawing/2014/main" val="2410084345"/>
                    </a:ext>
                  </a:extLst>
                </a:gridCol>
                <a:gridCol w="740229">
                  <a:extLst>
                    <a:ext uri="{9D8B030D-6E8A-4147-A177-3AD203B41FA5}">
                      <a16:colId xmlns:a16="http://schemas.microsoft.com/office/drawing/2014/main" val="3872535177"/>
                    </a:ext>
                  </a:extLst>
                </a:gridCol>
              </a:tblGrid>
              <a:tr h="357777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5499884"/>
                  </a:ext>
                </a:extLst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5793506"/>
              </p:ext>
            </p:extLst>
          </p:nvPr>
        </p:nvGraphicFramePr>
        <p:xfrm>
          <a:off x="3812675" y="1677074"/>
          <a:ext cx="3701145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0229">
                  <a:extLst>
                    <a:ext uri="{9D8B030D-6E8A-4147-A177-3AD203B41FA5}">
                      <a16:colId xmlns:a16="http://schemas.microsoft.com/office/drawing/2014/main" val="1146721605"/>
                    </a:ext>
                  </a:extLst>
                </a:gridCol>
                <a:gridCol w="740229">
                  <a:extLst>
                    <a:ext uri="{9D8B030D-6E8A-4147-A177-3AD203B41FA5}">
                      <a16:colId xmlns:a16="http://schemas.microsoft.com/office/drawing/2014/main" val="312671825"/>
                    </a:ext>
                  </a:extLst>
                </a:gridCol>
                <a:gridCol w="740229">
                  <a:extLst>
                    <a:ext uri="{9D8B030D-6E8A-4147-A177-3AD203B41FA5}">
                      <a16:colId xmlns:a16="http://schemas.microsoft.com/office/drawing/2014/main" val="3554448185"/>
                    </a:ext>
                  </a:extLst>
                </a:gridCol>
                <a:gridCol w="740229">
                  <a:extLst>
                    <a:ext uri="{9D8B030D-6E8A-4147-A177-3AD203B41FA5}">
                      <a16:colId xmlns:a16="http://schemas.microsoft.com/office/drawing/2014/main" val="2410084345"/>
                    </a:ext>
                  </a:extLst>
                </a:gridCol>
                <a:gridCol w="740229">
                  <a:extLst>
                    <a:ext uri="{9D8B030D-6E8A-4147-A177-3AD203B41FA5}">
                      <a16:colId xmlns:a16="http://schemas.microsoft.com/office/drawing/2014/main" val="38725351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5499884"/>
                  </a:ext>
                </a:extLst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6941825"/>
              </p:ext>
            </p:extLst>
          </p:nvPr>
        </p:nvGraphicFramePr>
        <p:xfrm>
          <a:off x="3829050" y="4189978"/>
          <a:ext cx="3701145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0229">
                  <a:extLst>
                    <a:ext uri="{9D8B030D-6E8A-4147-A177-3AD203B41FA5}">
                      <a16:colId xmlns:a16="http://schemas.microsoft.com/office/drawing/2014/main" val="1146721605"/>
                    </a:ext>
                  </a:extLst>
                </a:gridCol>
                <a:gridCol w="740229">
                  <a:extLst>
                    <a:ext uri="{9D8B030D-6E8A-4147-A177-3AD203B41FA5}">
                      <a16:colId xmlns:a16="http://schemas.microsoft.com/office/drawing/2014/main" val="312671825"/>
                    </a:ext>
                  </a:extLst>
                </a:gridCol>
                <a:gridCol w="740229">
                  <a:extLst>
                    <a:ext uri="{9D8B030D-6E8A-4147-A177-3AD203B41FA5}">
                      <a16:colId xmlns:a16="http://schemas.microsoft.com/office/drawing/2014/main" val="3554448185"/>
                    </a:ext>
                  </a:extLst>
                </a:gridCol>
                <a:gridCol w="740229">
                  <a:extLst>
                    <a:ext uri="{9D8B030D-6E8A-4147-A177-3AD203B41FA5}">
                      <a16:colId xmlns:a16="http://schemas.microsoft.com/office/drawing/2014/main" val="2410084345"/>
                    </a:ext>
                  </a:extLst>
                </a:gridCol>
                <a:gridCol w="740229">
                  <a:extLst>
                    <a:ext uri="{9D8B030D-6E8A-4147-A177-3AD203B41FA5}">
                      <a16:colId xmlns:a16="http://schemas.microsoft.com/office/drawing/2014/main" val="38725351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5499884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384663" y="1677074"/>
            <a:ext cx="339634" cy="370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graphicFrame>
        <p:nvGraphicFramePr>
          <p:cNvPr id="18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0829391"/>
              </p:ext>
            </p:extLst>
          </p:nvPr>
        </p:nvGraphicFramePr>
        <p:xfrm>
          <a:off x="796834" y="1534051"/>
          <a:ext cx="2100059" cy="4109103"/>
        </p:xfrm>
        <a:graphic>
          <a:graphicData uri="http://schemas.openxmlformats.org/drawingml/2006/table">
            <a:tbl>
              <a:tblPr/>
              <a:tblGrid>
                <a:gridCol w="1051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89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7518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0</a:t>
                      </a:r>
                    </a:p>
                  </a:txBody>
                  <a:tcPr marT="45705" marB="45705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Helvetica" pitchFamily="34" charset="0"/>
                      </a:endParaRPr>
                    </a:p>
                  </a:txBody>
                  <a:tcPr marT="45705" marB="457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072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</a:t>
                      </a:r>
                    </a:p>
                  </a:txBody>
                  <a:tcPr marT="45705" marB="45705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null</a:t>
                      </a:r>
                    </a:p>
                  </a:txBody>
                  <a:tcPr marT="45705" marB="457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7518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</a:t>
                      </a:r>
                    </a:p>
                  </a:txBody>
                  <a:tcPr marT="45705" marB="45705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Helvetica" pitchFamily="34" charset="0"/>
                      </a:endParaRPr>
                    </a:p>
                  </a:txBody>
                  <a:tcPr marT="45705" marB="457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199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…</a:t>
                      </a:r>
                    </a:p>
                  </a:txBody>
                  <a:tcPr marT="45705" marB="45705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...</a:t>
                      </a:r>
                    </a:p>
                  </a:txBody>
                  <a:tcPr marT="45705" marB="457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199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5" marB="45705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null</a:t>
                      </a:r>
                    </a:p>
                  </a:txBody>
                  <a:tcPr marT="45705" marB="457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7201477"/>
                  </a:ext>
                </a:extLst>
              </a:tr>
              <a:tr h="51199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5" marB="45705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5" marB="457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9146709"/>
                  </a:ext>
                </a:extLst>
              </a:tr>
              <a:tr h="51199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5" marB="45705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null</a:t>
                      </a:r>
                    </a:p>
                  </a:txBody>
                  <a:tcPr marT="45705" marB="457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3097528"/>
                  </a:ext>
                </a:extLst>
              </a:tr>
              <a:tr h="51199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5" marB="45705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null</a:t>
                      </a:r>
                    </a:p>
                  </a:txBody>
                  <a:tcPr marT="45705" marB="457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828648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590186" y="5837109"/>
            <a:ext cx="1755058" cy="36933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hash table</a:t>
            </a:r>
          </a:p>
        </p:txBody>
      </p:sp>
      <p:cxnSp>
        <p:nvCxnSpPr>
          <p:cNvPr id="13" name="Straight Arrow Connector 12"/>
          <p:cNvCxnSpPr/>
          <p:nvPr/>
        </p:nvCxnSpPr>
        <p:spPr bwMode="auto">
          <a:xfrm>
            <a:off x="2585653" y="1798535"/>
            <a:ext cx="1189218" cy="13063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 bwMode="auto">
          <a:xfrm>
            <a:off x="2623457" y="2839345"/>
            <a:ext cx="1189218" cy="13063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 bwMode="auto">
          <a:xfrm>
            <a:off x="2585653" y="4350762"/>
            <a:ext cx="1189218" cy="13063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Left Brace 5"/>
          <p:cNvSpPr/>
          <p:nvPr/>
        </p:nvSpPr>
        <p:spPr bwMode="auto">
          <a:xfrm rot="16200000">
            <a:off x="5346039" y="3813306"/>
            <a:ext cx="634417" cy="2712210"/>
          </a:xfrm>
          <a:prstGeom prst="leftBrace">
            <a:avLst>
              <a:gd name="adj1" fmla="val 8333"/>
              <a:gd name="adj2" fmla="val 48958"/>
            </a:avLst>
          </a:prstGeom>
          <a:solidFill>
            <a:schemeClr val="bg1"/>
          </a:solidFill>
          <a:ln w="19050" cap="flat" cmpd="sng" algn="ctr">
            <a:solidFill>
              <a:srgbClr val="008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475063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96834" y="2939143"/>
            <a:ext cx="8002679" cy="214230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 dirty="0"/>
              <a:t>Dealing with Collisions I: </a:t>
            </a:r>
            <a:br>
              <a:rPr lang="en-US" altLang="en-US" dirty="0"/>
            </a:br>
            <a:r>
              <a:rPr lang="en-US" altLang="en-US" sz="2200" i="1" dirty="0"/>
              <a:t>Separate Chaining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458200" cy="5614988"/>
          </a:xfrm>
        </p:spPr>
        <p:txBody>
          <a:bodyPr/>
          <a:lstStyle/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If multiple items are assigned the same hash code, we "chain" them together.</a:t>
            </a:r>
          </a:p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Each position in the hash table serves as a </a:t>
            </a:r>
            <a:r>
              <a:rPr lang="en-US" altLang="en-US" i="1" dirty="0"/>
              <a:t>bucket</a:t>
            </a:r>
            <a:r>
              <a:rPr lang="en-US" altLang="en-US" dirty="0"/>
              <a:t> that is able to store multiple data items. </a:t>
            </a:r>
          </a:p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Two implementations:</a:t>
            </a:r>
          </a:p>
          <a:p>
            <a:pPr>
              <a:spcBef>
                <a:spcPts val="200"/>
              </a:spcBef>
              <a:buFontTx/>
              <a:buNone/>
              <a:tabLst>
                <a:tab pos="569913" algn="l"/>
                <a:tab pos="793750" algn="l"/>
              </a:tabLst>
            </a:pPr>
            <a:r>
              <a:rPr lang="en-US" altLang="en-US" dirty="0"/>
              <a:t>		</a:t>
            </a:r>
            <a:r>
              <a:rPr lang="en-US" altLang="en-US" dirty="0">
                <a:solidFill>
                  <a:srgbClr val="0000FF"/>
                </a:solidFill>
              </a:rPr>
              <a:t>1.	each bucket is itself an array</a:t>
            </a:r>
          </a:p>
          <a:p>
            <a:pPr lvl="2">
              <a:spcBef>
                <a:spcPts val="2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sz="2200" dirty="0"/>
              <a:t> disadvantages:</a:t>
            </a:r>
            <a:r>
              <a:rPr lang="en-US" altLang="en-US" dirty="0"/>
              <a:t> </a:t>
            </a:r>
          </a:p>
          <a:p>
            <a:pPr lvl="3">
              <a:spcBef>
                <a:spcPts val="2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large buckets can waste memory</a:t>
            </a:r>
          </a:p>
          <a:p>
            <a:pPr lvl="3">
              <a:spcBef>
                <a:spcPts val="2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a bucket may become full; </a:t>
            </a:r>
            <a:r>
              <a:rPr lang="en-US" altLang="en-US" i="1" dirty="0"/>
              <a:t>overflow</a:t>
            </a:r>
            <a:r>
              <a:rPr lang="en-US" altLang="en-US" dirty="0"/>
              <a:t> occurs</a:t>
            </a:r>
            <a:r>
              <a:rPr lang="en-US" altLang="en-US" i="1" dirty="0"/>
              <a:t> </a:t>
            </a:r>
            <a:r>
              <a:rPr lang="en-US" altLang="en-US" dirty="0"/>
              <a:t>when we try to add an item to a full bucket</a:t>
            </a:r>
          </a:p>
          <a:p>
            <a:pPr>
              <a:spcBef>
                <a:spcPts val="500"/>
              </a:spcBef>
              <a:buFontTx/>
              <a:buNone/>
              <a:tabLst>
                <a:tab pos="569913" algn="l"/>
                <a:tab pos="793750" algn="l"/>
              </a:tabLst>
            </a:pPr>
            <a:r>
              <a:rPr lang="en-US" altLang="en-US" dirty="0"/>
              <a:t>		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4476" y="1110458"/>
            <a:ext cx="6657114" cy="5629975"/>
          </a:xfrm>
          <a:prstGeom prst="rect">
            <a:avLst/>
          </a:prstGeom>
          <a:solidFill>
            <a:schemeClr val="bg1">
              <a:lumMod val="95000"/>
            </a:schemeClr>
          </a:solidFill>
          <a:ln w="38100">
            <a:solidFill>
              <a:srgbClr val="008000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6805456"/>
              </p:ext>
            </p:extLst>
          </p:nvPr>
        </p:nvGraphicFramePr>
        <p:xfrm>
          <a:off x="3829050" y="2652758"/>
          <a:ext cx="370114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0229">
                  <a:extLst>
                    <a:ext uri="{9D8B030D-6E8A-4147-A177-3AD203B41FA5}">
                      <a16:colId xmlns:a16="http://schemas.microsoft.com/office/drawing/2014/main" val="1146721605"/>
                    </a:ext>
                  </a:extLst>
                </a:gridCol>
                <a:gridCol w="740229">
                  <a:extLst>
                    <a:ext uri="{9D8B030D-6E8A-4147-A177-3AD203B41FA5}">
                      <a16:colId xmlns:a16="http://schemas.microsoft.com/office/drawing/2014/main" val="312671825"/>
                    </a:ext>
                  </a:extLst>
                </a:gridCol>
                <a:gridCol w="740229">
                  <a:extLst>
                    <a:ext uri="{9D8B030D-6E8A-4147-A177-3AD203B41FA5}">
                      <a16:colId xmlns:a16="http://schemas.microsoft.com/office/drawing/2014/main" val="3554448185"/>
                    </a:ext>
                  </a:extLst>
                </a:gridCol>
                <a:gridCol w="740229">
                  <a:extLst>
                    <a:ext uri="{9D8B030D-6E8A-4147-A177-3AD203B41FA5}">
                      <a16:colId xmlns:a16="http://schemas.microsoft.com/office/drawing/2014/main" val="2410084345"/>
                    </a:ext>
                  </a:extLst>
                </a:gridCol>
                <a:gridCol w="740229">
                  <a:extLst>
                    <a:ext uri="{9D8B030D-6E8A-4147-A177-3AD203B41FA5}">
                      <a16:colId xmlns:a16="http://schemas.microsoft.com/office/drawing/2014/main" val="3872535177"/>
                    </a:ext>
                  </a:extLst>
                </a:gridCol>
              </a:tblGrid>
              <a:tr h="357777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5499884"/>
                  </a:ext>
                </a:extLst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5793506"/>
              </p:ext>
            </p:extLst>
          </p:nvPr>
        </p:nvGraphicFramePr>
        <p:xfrm>
          <a:off x="3812675" y="1677074"/>
          <a:ext cx="3701145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0229">
                  <a:extLst>
                    <a:ext uri="{9D8B030D-6E8A-4147-A177-3AD203B41FA5}">
                      <a16:colId xmlns:a16="http://schemas.microsoft.com/office/drawing/2014/main" val="1146721605"/>
                    </a:ext>
                  </a:extLst>
                </a:gridCol>
                <a:gridCol w="740229">
                  <a:extLst>
                    <a:ext uri="{9D8B030D-6E8A-4147-A177-3AD203B41FA5}">
                      <a16:colId xmlns:a16="http://schemas.microsoft.com/office/drawing/2014/main" val="312671825"/>
                    </a:ext>
                  </a:extLst>
                </a:gridCol>
                <a:gridCol w="740229">
                  <a:extLst>
                    <a:ext uri="{9D8B030D-6E8A-4147-A177-3AD203B41FA5}">
                      <a16:colId xmlns:a16="http://schemas.microsoft.com/office/drawing/2014/main" val="3554448185"/>
                    </a:ext>
                  </a:extLst>
                </a:gridCol>
                <a:gridCol w="740229">
                  <a:extLst>
                    <a:ext uri="{9D8B030D-6E8A-4147-A177-3AD203B41FA5}">
                      <a16:colId xmlns:a16="http://schemas.microsoft.com/office/drawing/2014/main" val="2410084345"/>
                    </a:ext>
                  </a:extLst>
                </a:gridCol>
                <a:gridCol w="740229">
                  <a:extLst>
                    <a:ext uri="{9D8B030D-6E8A-4147-A177-3AD203B41FA5}">
                      <a16:colId xmlns:a16="http://schemas.microsoft.com/office/drawing/2014/main" val="38725351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5499884"/>
                  </a:ext>
                </a:extLst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6941825"/>
              </p:ext>
            </p:extLst>
          </p:nvPr>
        </p:nvGraphicFramePr>
        <p:xfrm>
          <a:off x="3829050" y="4189978"/>
          <a:ext cx="3701145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0229">
                  <a:extLst>
                    <a:ext uri="{9D8B030D-6E8A-4147-A177-3AD203B41FA5}">
                      <a16:colId xmlns:a16="http://schemas.microsoft.com/office/drawing/2014/main" val="1146721605"/>
                    </a:ext>
                  </a:extLst>
                </a:gridCol>
                <a:gridCol w="740229">
                  <a:extLst>
                    <a:ext uri="{9D8B030D-6E8A-4147-A177-3AD203B41FA5}">
                      <a16:colId xmlns:a16="http://schemas.microsoft.com/office/drawing/2014/main" val="312671825"/>
                    </a:ext>
                  </a:extLst>
                </a:gridCol>
                <a:gridCol w="740229">
                  <a:extLst>
                    <a:ext uri="{9D8B030D-6E8A-4147-A177-3AD203B41FA5}">
                      <a16:colId xmlns:a16="http://schemas.microsoft.com/office/drawing/2014/main" val="3554448185"/>
                    </a:ext>
                  </a:extLst>
                </a:gridCol>
                <a:gridCol w="740229">
                  <a:extLst>
                    <a:ext uri="{9D8B030D-6E8A-4147-A177-3AD203B41FA5}">
                      <a16:colId xmlns:a16="http://schemas.microsoft.com/office/drawing/2014/main" val="2410084345"/>
                    </a:ext>
                  </a:extLst>
                </a:gridCol>
                <a:gridCol w="740229">
                  <a:extLst>
                    <a:ext uri="{9D8B030D-6E8A-4147-A177-3AD203B41FA5}">
                      <a16:colId xmlns:a16="http://schemas.microsoft.com/office/drawing/2014/main" val="38725351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5499884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384663" y="1677074"/>
            <a:ext cx="339634" cy="370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graphicFrame>
        <p:nvGraphicFramePr>
          <p:cNvPr id="18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0829391"/>
              </p:ext>
            </p:extLst>
          </p:nvPr>
        </p:nvGraphicFramePr>
        <p:xfrm>
          <a:off x="796834" y="1534051"/>
          <a:ext cx="2100059" cy="4109103"/>
        </p:xfrm>
        <a:graphic>
          <a:graphicData uri="http://schemas.openxmlformats.org/drawingml/2006/table">
            <a:tbl>
              <a:tblPr/>
              <a:tblGrid>
                <a:gridCol w="1051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89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7518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0</a:t>
                      </a:r>
                    </a:p>
                  </a:txBody>
                  <a:tcPr marT="45705" marB="45705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Helvetica" pitchFamily="34" charset="0"/>
                      </a:endParaRPr>
                    </a:p>
                  </a:txBody>
                  <a:tcPr marT="45705" marB="457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072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</a:t>
                      </a:r>
                    </a:p>
                  </a:txBody>
                  <a:tcPr marT="45705" marB="45705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null</a:t>
                      </a:r>
                    </a:p>
                  </a:txBody>
                  <a:tcPr marT="45705" marB="457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7518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</a:t>
                      </a:r>
                    </a:p>
                  </a:txBody>
                  <a:tcPr marT="45705" marB="45705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Helvetica" pitchFamily="34" charset="0"/>
                      </a:endParaRPr>
                    </a:p>
                  </a:txBody>
                  <a:tcPr marT="45705" marB="457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199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…</a:t>
                      </a:r>
                    </a:p>
                  </a:txBody>
                  <a:tcPr marT="45705" marB="45705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...</a:t>
                      </a:r>
                    </a:p>
                  </a:txBody>
                  <a:tcPr marT="45705" marB="457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199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5" marB="45705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null</a:t>
                      </a:r>
                    </a:p>
                  </a:txBody>
                  <a:tcPr marT="45705" marB="457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7201477"/>
                  </a:ext>
                </a:extLst>
              </a:tr>
              <a:tr h="51199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5" marB="45705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5" marB="457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9146709"/>
                  </a:ext>
                </a:extLst>
              </a:tr>
              <a:tr h="51199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5" marB="45705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null</a:t>
                      </a:r>
                    </a:p>
                  </a:txBody>
                  <a:tcPr marT="45705" marB="457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3097528"/>
                  </a:ext>
                </a:extLst>
              </a:tr>
              <a:tr h="51199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5" marB="45705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null</a:t>
                      </a:r>
                    </a:p>
                  </a:txBody>
                  <a:tcPr marT="45705" marB="457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828648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590186" y="5837109"/>
            <a:ext cx="1755058" cy="36933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hash table</a:t>
            </a:r>
          </a:p>
        </p:txBody>
      </p:sp>
      <p:cxnSp>
        <p:nvCxnSpPr>
          <p:cNvPr id="13" name="Straight Arrow Connector 12"/>
          <p:cNvCxnSpPr/>
          <p:nvPr/>
        </p:nvCxnSpPr>
        <p:spPr bwMode="auto">
          <a:xfrm>
            <a:off x="2585653" y="1798535"/>
            <a:ext cx="1189218" cy="13063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 bwMode="auto">
          <a:xfrm>
            <a:off x="2623457" y="2839345"/>
            <a:ext cx="1189218" cy="13063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 bwMode="auto">
          <a:xfrm>
            <a:off x="2585653" y="4350762"/>
            <a:ext cx="1189218" cy="13063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Left Brace 5"/>
          <p:cNvSpPr/>
          <p:nvPr/>
        </p:nvSpPr>
        <p:spPr bwMode="auto">
          <a:xfrm rot="16200000">
            <a:off x="5346039" y="3813306"/>
            <a:ext cx="634417" cy="2712210"/>
          </a:xfrm>
          <a:prstGeom prst="leftBrace">
            <a:avLst>
              <a:gd name="adj1" fmla="val 8333"/>
              <a:gd name="adj2" fmla="val 48958"/>
            </a:avLst>
          </a:prstGeom>
          <a:solidFill>
            <a:schemeClr val="bg1"/>
          </a:solidFill>
          <a:ln w="19050" cap="flat" cmpd="sng" algn="ctr">
            <a:solidFill>
              <a:srgbClr val="008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 Narrow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322046" y="5622943"/>
            <a:ext cx="2715151" cy="92333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8000"/>
                </a:solidFill>
              </a:rPr>
              <a:t>Each </a:t>
            </a:r>
            <a:r>
              <a:rPr lang="en-US" b="1" i="1" dirty="0">
                <a:solidFill>
                  <a:srgbClr val="008000"/>
                </a:solidFill>
              </a:rPr>
              <a:t>filled</a:t>
            </a:r>
            <a:r>
              <a:rPr lang="en-US" dirty="0">
                <a:solidFill>
                  <a:srgbClr val="008000"/>
                </a:solidFill>
              </a:rPr>
              <a:t> entry of the array represents another </a:t>
            </a:r>
            <a:r>
              <a:rPr lang="en-US" b="1" dirty="0" err="1">
                <a:solidFill>
                  <a:srgbClr val="008000"/>
                </a:solidFill>
              </a:rPr>
              <a:t>key..value</a:t>
            </a:r>
            <a:r>
              <a:rPr lang="en-US" b="1" dirty="0">
                <a:solidFill>
                  <a:srgbClr val="008000"/>
                </a:solidFill>
              </a:rPr>
              <a:t> </a:t>
            </a:r>
            <a:r>
              <a:rPr lang="en-US" dirty="0">
                <a:solidFill>
                  <a:srgbClr val="008000"/>
                </a:solidFill>
              </a:rPr>
              <a:t>pair in that bucket!</a:t>
            </a:r>
          </a:p>
        </p:txBody>
      </p:sp>
    </p:spTree>
    <p:extLst>
      <p:ext uri="{BB962C8B-B14F-4D97-AF65-F5344CB8AC3E}">
        <p14:creationId xmlns:p14="http://schemas.microsoft.com/office/powerpoint/2010/main" val="422340018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96834" y="2939143"/>
            <a:ext cx="8002679" cy="214230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 dirty="0"/>
              <a:t>Dealing with Collisions I: </a:t>
            </a:r>
            <a:br>
              <a:rPr lang="en-US" altLang="en-US" dirty="0"/>
            </a:br>
            <a:r>
              <a:rPr lang="en-US" altLang="en-US" sz="2200" i="1" dirty="0"/>
              <a:t>Separate Chaining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458200" cy="5614988"/>
          </a:xfrm>
        </p:spPr>
        <p:txBody>
          <a:bodyPr/>
          <a:lstStyle/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If multiple items are assigned the same hash code, we "chain" them together.</a:t>
            </a:r>
          </a:p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Each position in the hash table serves as a </a:t>
            </a:r>
            <a:r>
              <a:rPr lang="en-US" altLang="en-US" i="1" dirty="0"/>
              <a:t>bucket</a:t>
            </a:r>
            <a:r>
              <a:rPr lang="en-US" altLang="en-US" dirty="0"/>
              <a:t> that is able to store multiple data items. </a:t>
            </a:r>
          </a:p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Two implementations:</a:t>
            </a:r>
          </a:p>
          <a:p>
            <a:pPr>
              <a:spcBef>
                <a:spcPts val="200"/>
              </a:spcBef>
              <a:buFontTx/>
              <a:buNone/>
              <a:tabLst>
                <a:tab pos="569913" algn="l"/>
                <a:tab pos="793750" algn="l"/>
              </a:tabLst>
            </a:pPr>
            <a:r>
              <a:rPr lang="en-US" altLang="en-US" dirty="0"/>
              <a:t>		</a:t>
            </a:r>
            <a:r>
              <a:rPr lang="en-US" altLang="en-US" dirty="0">
                <a:solidFill>
                  <a:srgbClr val="0000FF"/>
                </a:solidFill>
              </a:rPr>
              <a:t>1.	each bucket is itself an array</a:t>
            </a:r>
          </a:p>
          <a:p>
            <a:pPr lvl="2">
              <a:spcBef>
                <a:spcPts val="2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sz="2200" dirty="0"/>
              <a:t> disadvantages:</a:t>
            </a:r>
            <a:r>
              <a:rPr lang="en-US" altLang="en-US" dirty="0"/>
              <a:t> </a:t>
            </a:r>
          </a:p>
          <a:p>
            <a:pPr lvl="3">
              <a:spcBef>
                <a:spcPts val="2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large buckets can waste memory</a:t>
            </a:r>
          </a:p>
          <a:p>
            <a:pPr lvl="3">
              <a:spcBef>
                <a:spcPts val="2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a bucket may become full; </a:t>
            </a:r>
            <a:r>
              <a:rPr lang="en-US" altLang="en-US" i="1" dirty="0"/>
              <a:t>overflow</a:t>
            </a:r>
            <a:r>
              <a:rPr lang="en-US" altLang="en-US" dirty="0"/>
              <a:t> occurs</a:t>
            </a:r>
            <a:r>
              <a:rPr lang="en-US" altLang="en-US" i="1" dirty="0"/>
              <a:t> </a:t>
            </a:r>
            <a:r>
              <a:rPr lang="en-US" altLang="en-US" dirty="0"/>
              <a:t>when we try to add an item to a full bucket</a:t>
            </a:r>
          </a:p>
          <a:p>
            <a:pPr>
              <a:spcBef>
                <a:spcPts val="500"/>
              </a:spcBef>
              <a:buFontTx/>
              <a:buNone/>
              <a:tabLst>
                <a:tab pos="569913" algn="l"/>
                <a:tab pos="793750" algn="l"/>
              </a:tabLst>
            </a:pPr>
            <a:r>
              <a:rPr lang="en-US" altLang="en-US" dirty="0"/>
              <a:t>		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4476" y="1110458"/>
            <a:ext cx="6657114" cy="5629975"/>
          </a:xfrm>
          <a:prstGeom prst="rect">
            <a:avLst/>
          </a:prstGeom>
          <a:solidFill>
            <a:schemeClr val="bg1">
              <a:lumMod val="95000"/>
            </a:schemeClr>
          </a:solidFill>
          <a:ln w="38100">
            <a:solidFill>
              <a:srgbClr val="008000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6805456"/>
              </p:ext>
            </p:extLst>
          </p:nvPr>
        </p:nvGraphicFramePr>
        <p:xfrm>
          <a:off x="3829050" y="2652758"/>
          <a:ext cx="370114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0229">
                  <a:extLst>
                    <a:ext uri="{9D8B030D-6E8A-4147-A177-3AD203B41FA5}">
                      <a16:colId xmlns:a16="http://schemas.microsoft.com/office/drawing/2014/main" val="1146721605"/>
                    </a:ext>
                  </a:extLst>
                </a:gridCol>
                <a:gridCol w="740229">
                  <a:extLst>
                    <a:ext uri="{9D8B030D-6E8A-4147-A177-3AD203B41FA5}">
                      <a16:colId xmlns:a16="http://schemas.microsoft.com/office/drawing/2014/main" val="312671825"/>
                    </a:ext>
                  </a:extLst>
                </a:gridCol>
                <a:gridCol w="740229">
                  <a:extLst>
                    <a:ext uri="{9D8B030D-6E8A-4147-A177-3AD203B41FA5}">
                      <a16:colId xmlns:a16="http://schemas.microsoft.com/office/drawing/2014/main" val="3554448185"/>
                    </a:ext>
                  </a:extLst>
                </a:gridCol>
                <a:gridCol w="740229">
                  <a:extLst>
                    <a:ext uri="{9D8B030D-6E8A-4147-A177-3AD203B41FA5}">
                      <a16:colId xmlns:a16="http://schemas.microsoft.com/office/drawing/2014/main" val="2410084345"/>
                    </a:ext>
                  </a:extLst>
                </a:gridCol>
                <a:gridCol w="740229">
                  <a:extLst>
                    <a:ext uri="{9D8B030D-6E8A-4147-A177-3AD203B41FA5}">
                      <a16:colId xmlns:a16="http://schemas.microsoft.com/office/drawing/2014/main" val="3872535177"/>
                    </a:ext>
                  </a:extLst>
                </a:gridCol>
              </a:tblGrid>
              <a:tr h="357777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5499884"/>
                  </a:ext>
                </a:extLst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5793506"/>
              </p:ext>
            </p:extLst>
          </p:nvPr>
        </p:nvGraphicFramePr>
        <p:xfrm>
          <a:off x="3812675" y="1677074"/>
          <a:ext cx="3701145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0229">
                  <a:extLst>
                    <a:ext uri="{9D8B030D-6E8A-4147-A177-3AD203B41FA5}">
                      <a16:colId xmlns:a16="http://schemas.microsoft.com/office/drawing/2014/main" val="1146721605"/>
                    </a:ext>
                  </a:extLst>
                </a:gridCol>
                <a:gridCol w="740229">
                  <a:extLst>
                    <a:ext uri="{9D8B030D-6E8A-4147-A177-3AD203B41FA5}">
                      <a16:colId xmlns:a16="http://schemas.microsoft.com/office/drawing/2014/main" val="312671825"/>
                    </a:ext>
                  </a:extLst>
                </a:gridCol>
                <a:gridCol w="740229">
                  <a:extLst>
                    <a:ext uri="{9D8B030D-6E8A-4147-A177-3AD203B41FA5}">
                      <a16:colId xmlns:a16="http://schemas.microsoft.com/office/drawing/2014/main" val="3554448185"/>
                    </a:ext>
                  </a:extLst>
                </a:gridCol>
                <a:gridCol w="740229">
                  <a:extLst>
                    <a:ext uri="{9D8B030D-6E8A-4147-A177-3AD203B41FA5}">
                      <a16:colId xmlns:a16="http://schemas.microsoft.com/office/drawing/2014/main" val="2410084345"/>
                    </a:ext>
                  </a:extLst>
                </a:gridCol>
                <a:gridCol w="740229">
                  <a:extLst>
                    <a:ext uri="{9D8B030D-6E8A-4147-A177-3AD203B41FA5}">
                      <a16:colId xmlns:a16="http://schemas.microsoft.com/office/drawing/2014/main" val="38725351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5499884"/>
                  </a:ext>
                </a:extLst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342666"/>
              </p:ext>
            </p:extLst>
          </p:nvPr>
        </p:nvGraphicFramePr>
        <p:xfrm>
          <a:off x="3829050" y="4189978"/>
          <a:ext cx="3701145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0229">
                  <a:extLst>
                    <a:ext uri="{9D8B030D-6E8A-4147-A177-3AD203B41FA5}">
                      <a16:colId xmlns:a16="http://schemas.microsoft.com/office/drawing/2014/main" val="1146721605"/>
                    </a:ext>
                  </a:extLst>
                </a:gridCol>
                <a:gridCol w="740229">
                  <a:extLst>
                    <a:ext uri="{9D8B030D-6E8A-4147-A177-3AD203B41FA5}">
                      <a16:colId xmlns:a16="http://schemas.microsoft.com/office/drawing/2014/main" val="312671825"/>
                    </a:ext>
                  </a:extLst>
                </a:gridCol>
                <a:gridCol w="740229">
                  <a:extLst>
                    <a:ext uri="{9D8B030D-6E8A-4147-A177-3AD203B41FA5}">
                      <a16:colId xmlns:a16="http://schemas.microsoft.com/office/drawing/2014/main" val="3554448185"/>
                    </a:ext>
                  </a:extLst>
                </a:gridCol>
                <a:gridCol w="740229">
                  <a:extLst>
                    <a:ext uri="{9D8B030D-6E8A-4147-A177-3AD203B41FA5}">
                      <a16:colId xmlns:a16="http://schemas.microsoft.com/office/drawing/2014/main" val="2410084345"/>
                    </a:ext>
                  </a:extLst>
                </a:gridCol>
                <a:gridCol w="740229">
                  <a:extLst>
                    <a:ext uri="{9D8B030D-6E8A-4147-A177-3AD203B41FA5}">
                      <a16:colId xmlns:a16="http://schemas.microsoft.com/office/drawing/2014/main" val="38725351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008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5499884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384663" y="1677074"/>
            <a:ext cx="339634" cy="370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graphicFrame>
        <p:nvGraphicFramePr>
          <p:cNvPr id="18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0829391"/>
              </p:ext>
            </p:extLst>
          </p:nvPr>
        </p:nvGraphicFramePr>
        <p:xfrm>
          <a:off x="796834" y="1534051"/>
          <a:ext cx="2100059" cy="4109103"/>
        </p:xfrm>
        <a:graphic>
          <a:graphicData uri="http://schemas.openxmlformats.org/drawingml/2006/table">
            <a:tbl>
              <a:tblPr/>
              <a:tblGrid>
                <a:gridCol w="1051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89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7518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0</a:t>
                      </a:r>
                    </a:p>
                  </a:txBody>
                  <a:tcPr marT="45705" marB="45705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Helvetica" pitchFamily="34" charset="0"/>
                      </a:endParaRPr>
                    </a:p>
                  </a:txBody>
                  <a:tcPr marT="45705" marB="457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072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</a:t>
                      </a:r>
                    </a:p>
                  </a:txBody>
                  <a:tcPr marT="45705" marB="45705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null</a:t>
                      </a:r>
                    </a:p>
                  </a:txBody>
                  <a:tcPr marT="45705" marB="457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7518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</a:t>
                      </a:r>
                    </a:p>
                  </a:txBody>
                  <a:tcPr marT="45705" marB="45705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Helvetica" pitchFamily="34" charset="0"/>
                      </a:endParaRPr>
                    </a:p>
                  </a:txBody>
                  <a:tcPr marT="45705" marB="457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199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…</a:t>
                      </a:r>
                    </a:p>
                  </a:txBody>
                  <a:tcPr marT="45705" marB="45705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...</a:t>
                      </a:r>
                    </a:p>
                  </a:txBody>
                  <a:tcPr marT="45705" marB="457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199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5" marB="45705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null</a:t>
                      </a:r>
                    </a:p>
                  </a:txBody>
                  <a:tcPr marT="45705" marB="457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7201477"/>
                  </a:ext>
                </a:extLst>
              </a:tr>
              <a:tr h="51199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5" marB="45705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5" marB="457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9146709"/>
                  </a:ext>
                </a:extLst>
              </a:tr>
              <a:tr h="51199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5" marB="45705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null</a:t>
                      </a:r>
                    </a:p>
                  </a:txBody>
                  <a:tcPr marT="45705" marB="457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3097528"/>
                  </a:ext>
                </a:extLst>
              </a:tr>
              <a:tr h="51199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5" marB="45705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null</a:t>
                      </a:r>
                    </a:p>
                  </a:txBody>
                  <a:tcPr marT="45705" marB="457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828648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590186" y="5837109"/>
            <a:ext cx="1755058" cy="36933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hash table</a:t>
            </a:r>
          </a:p>
        </p:txBody>
      </p:sp>
      <p:cxnSp>
        <p:nvCxnSpPr>
          <p:cNvPr id="13" name="Straight Arrow Connector 12"/>
          <p:cNvCxnSpPr/>
          <p:nvPr/>
        </p:nvCxnSpPr>
        <p:spPr bwMode="auto">
          <a:xfrm>
            <a:off x="2585653" y="1798535"/>
            <a:ext cx="1189218" cy="13063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 bwMode="auto">
          <a:xfrm>
            <a:off x="2623457" y="2839345"/>
            <a:ext cx="1189218" cy="13063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 bwMode="auto">
          <a:xfrm>
            <a:off x="2585653" y="4350762"/>
            <a:ext cx="1189218" cy="13063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791585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96834" y="2939143"/>
            <a:ext cx="8002679" cy="214230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 dirty="0"/>
              <a:t>Dealing with Collisions I: </a:t>
            </a:r>
            <a:br>
              <a:rPr lang="en-US" altLang="en-US" dirty="0"/>
            </a:br>
            <a:r>
              <a:rPr lang="en-US" altLang="en-US" sz="2200" i="1" dirty="0"/>
              <a:t>Separate Chaining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458200" cy="5614988"/>
          </a:xfrm>
        </p:spPr>
        <p:txBody>
          <a:bodyPr/>
          <a:lstStyle/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If multiple items are assigned the same hash code, we "chain" them together.</a:t>
            </a:r>
          </a:p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Each position in the hash table serves as a </a:t>
            </a:r>
            <a:r>
              <a:rPr lang="en-US" altLang="en-US" i="1" dirty="0"/>
              <a:t>bucket</a:t>
            </a:r>
            <a:r>
              <a:rPr lang="en-US" altLang="en-US" dirty="0"/>
              <a:t> that is able to store multiple data items. </a:t>
            </a:r>
          </a:p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Two implementations:</a:t>
            </a:r>
          </a:p>
          <a:p>
            <a:pPr>
              <a:spcBef>
                <a:spcPts val="200"/>
              </a:spcBef>
              <a:buFontTx/>
              <a:buNone/>
              <a:tabLst>
                <a:tab pos="569913" algn="l"/>
                <a:tab pos="793750" algn="l"/>
              </a:tabLst>
            </a:pPr>
            <a:r>
              <a:rPr lang="en-US" altLang="en-US" dirty="0"/>
              <a:t>		</a:t>
            </a:r>
            <a:r>
              <a:rPr lang="en-US" altLang="en-US" dirty="0">
                <a:solidFill>
                  <a:srgbClr val="0000FF"/>
                </a:solidFill>
              </a:rPr>
              <a:t>1.	each bucket is itself an array</a:t>
            </a:r>
          </a:p>
          <a:p>
            <a:pPr lvl="2">
              <a:spcBef>
                <a:spcPts val="2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sz="2200" dirty="0"/>
              <a:t> disadvantages:</a:t>
            </a:r>
            <a:r>
              <a:rPr lang="en-US" altLang="en-US" dirty="0"/>
              <a:t> </a:t>
            </a:r>
          </a:p>
          <a:p>
            <a:pPr lvl="3">
              <a:spcBef>
                <a:spcPts val="2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large buckets can waste memory</a:t>
            </a:r>
          </a:p>
          <a:p>
            <a:pPr lvl="3">
              <a:spcBef>
                <a:spcPts val="2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a bucket may become full; </a:t>
            </a:r>
            <a:r>
              <a:rPr lang="en-US" altLang="en-US" i="1" dirty="0"/>
              <a:t>overflow</a:t>
            </a:r>
            <a:r>
              <a:rPr lang="en-US" altLang="en-US" dirty="0"/>
              <a:t> occurs</a:t>
            </a:r>
            <a:r>
              <a:rPr lang="en-US" altLang="en-US" i="1" dirty="0"/>
              <a:t> </a:t>
            </a:r>
            <a:r>
              <a:rPr lang="en-US" altLang="en-US" dirty="0"/>
              <a:t>when we try to add an item to a full bucket</a:t>
            </a:r>
          </a:p>
          <a:p>
            <a:pPr>
              <a:spcBef>
                <a:spcPts val="500"/>
              </a:spcBef>
              <a:buFontTx/>
              <a:buNone/>
              <a:tabLst>
                <a:tab pos="569913" algn="l"/>
                <a:tab pos="793750" algn="l"/>
              </a:tabLst>
            </a:pPr>
            <a:r>
              <a:rPr lang="en-US" altLang="en-US" dirty="0"/>
              <a:t>		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4476" y="1110458"/>
            <a:ext cx="6657114" cy="5629975"/>
          </a:xfrm>
          <a:prstGeom prst="rect">
            <a:avLst/>
          </a:prstGeom>
          <a:solidFill>
            <a:schemeClr val="bg1">
              <a:lumMod val="95000"/>
            </a:schemeClr>
          </a:solidFill>
          <a:ln w="38100">
            <a:solidFill>
              <a:srgbClr val="008000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6805456"/>
              </p:ext>
            </p:extLst>
          </p:nvPr>
        </p:nvGraphicFramePr>
        <p:xfrm>
          <a:off x="3829050" y="2652758"/>
          <a:ext cx="370114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0229">
                  <a:extLst>
                    <a:ext uri="{9D8B030D-6E8A-4147-A177-3AD203B41FA5}">
                      <a16:colId xmlns:a16="http://schemas.microsoft.com/office/drawing/2014/main" val="1146721605"/>
                    </a:ext>
                  </a:extLst>
                </a:gridCol>
                <a:gridCol w="740229">
                  <a:extLst>
                    <a:ext uri="{9D8B030D-6E8A-4147-A177-3AD203B41FA5}">
                      <a16:colId xmlns:a16="http://schemas.microsoft.com/office/drawing/2014/main" val="312671825"/>
                    </a:ext>
                  </a:extLst>
                </a:gridCol>
                <a:gridCol w="740229">
                  <a:extLst>
                    <a:ext uri="{9D8B030D-6E8A-4147-A177-3AD203B41FA5}">
                      <a16:colId xmlns:a16="http://schemas.microsoft.com/office/drawing/2014/main" val="3554448185"/>
                    </a:ext>
                  </a:extLst>
                </a:gridCol>
                <a:gridCol w="740229">
                  <a:extLst>
                    <a:ext uri="{9D8B030D-6E8A-4147-A177-3AD203B41FA5}">
                      <a16:colId xmlns:a16="http://schemas.microsoft.com/office/drawing/2014/main" val="2410084345"/>
                    </a:ext>
                  </a:extLst>
                </a:gridCol>
                <a:gridCol w="740229">
                  <a:extLst>
                    <a:ext uri="{9D8B030D-6E8A-4147-A177-3AD203B41FA5}">
                      <a16:colId xmlns:a16="http://schemas.microsoft.com/office/drawing/2014/main" val="3872535177"/>
                    </a:ext>
                  </a:extLst>
                </a:gridCol>
              </a:tblGrid>
              <a:tr h="357777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5499884"/>
                  </a:ext>
                </a:extLst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5793506"/>
              </p:ext>
            </p:extLst>
          </p:nvPr>
        </p:nvGraphicFramePr>
        <p:xfrm>
          <a:off x="3812675" y="1677074"/>
          <a:ext cx="3701145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0229">
                  <a:extLst>
                    <a:ext uri="{9D8B030D-6E8A-4147-A177-3AD203B41FA5}">
                      <a16:colId xmlns:a16="http://schemas.microsoft.com/office/drawing/2014/main" val="1146721605"/>
                    </a:ext>
                  </a:extLst>
                </a:gridCol>
                <a:gridCol w="740229">
                  <a:extLst>
                    <a:ext uri="{9D8B030D-6E8A-4147-A177-3AD203B41FA5}">
                      <a16:colId xmlns:a16="http://schemas.microsoft.com/office/drawing/2014/main" val="312671825"/>
                    </a:ext>
                  </a:extLst>
                </a:gridCol>
                <a:gridCol w="740229">
                  <a:extLst>
                    <a:ext uri="{9D8B030D-6E8A-4147-A177-3AD203B41FA5}">
                      <a16:colId xmlns:a16="http://schemas.microsoft.com/office/drawing/2014/main" val="3554448185"/>
                    </a:ext>
                  </a:extLst>
                </a:gridCol>
                <a:gridCol w="740229">
                  <a:extLst>
                    <a:ext uri="{9D8B030D-6E8A-4147-A177-3AD203B41FA5}">
                      <a16:colId xmlns:a16="http://schemas.microsoft.com/office/drawing/2014/main" val="2410084345"/>
                    </a:ext>
                  </a:extLst>
                </a:gridCol>
                <a:gridCol w="740229">
                  <a:extLst>
                    <a:ext uri="{9D8B030D-6E8A-4147-A177-3AD203B41FA5}">
                      <a16:colId xmlns:a16="http://schemas.microsoft.com/office/drawing/2014/main" val="38725351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5499884"/>
                  </a:ext>
                </a:extLst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342666"/>
              </p:ext>
            </p:extLst>
          </p:nvPr>
        </p:nvGraphicFramePr>
        <p:xfrm>
          <a:off x="3829050" y="4189978"/>
          <a:ext cx="3701145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0229">
                  <a:extLst>
                    <a:ext uri="{9D8B030D-6E8A-4147-A177-3AD203B41FA5}">
                      <a16:colId xmlns:a16="http://schemas.microsoft.com/office/drawing/2014/main" val="1146721605"/>
                    </a:ext>
                  </a:extLst>
                </a:gridCol>
                <a:gridCol w="740229">
                  <a:extLst>
                    <a:ext uri="{9D8B030D-6E8A-4147-A177-3AD203B41FA5}">
                      <a16:colId xmlns:a16="http://schemas.microsoft.com/office/drawing/2014/main" val="312671825"/>
                    </a:ext>
                  </a:extLst>
                </a:gridCol>
                <a:gridCol w="740229">
                  <a:extLst>
                    <a:ext uri="{9D8B030D-6E8A-4147-A177-3AD203B41FA5}">
                      <a16:colId xmlns:a16="http://schemas.microsoft.com/office/drawing/2014/main" val="3554448185"/>
                    </a:ext>
                  </a:extLst>
                </a:gridCol>
                <a:gridCol w="740229">
                  <a:extLst>
                    <a:ext uri="{9D8B030D-6E8A-4147-A177-3AD203B41FA5}">
                      <a16:colId xmlns:a16="http://schemas.microsoft.com/office/drawing/2014/main" val="2410084345"/>
                    </a:ext>
                  </a:extLst>
                </a:gridCol>
                <a:gridCol w="740229">
                  <a:extLst>
                    <a:ext uri="{9D8B030D-6E8A-4147-A177-3AD203B41FA5}">
                      <a16:colId xmlns:a16="http://schemas.microsoft.com/office/drawing/2014/main" val="38725351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008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5499884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384663" y="1677074"/>
            <a:ext cx="339634" cy="370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graphicFrame>
        <p:nvGraphicFramePr>
          <p:cNvPr id="18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0829391"/>
              </p:ext>
            </p:extLst>
          </p:nvPr>
        </p:nvGraphicFramePr>
        <p:xfrm>
          <a:off x="796834" y="1534051"/>
          <a:ext cx="2100059" cy="4109103"/>
        </p:xfrm>
        <a:graphic>
          <a:graphicData uri="http://schemas.openxmlformats.org/drawingml/2006/table">
            <a:tbl>
              <a:tblPr/>
              <a:tblGrid>
                <a:gridCol w="1051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89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7518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0</a:t>
                      </a:r>
                    </a:p>
                  </a:txBody>
                  <a:tcPr marT="45705" marB="45705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Helvetica" pitchFamily="34" charset="0"/>
                      </a:endParaRPr>
                    </a:p>
                  </a:txBody>
                  <a:tcPr marT="45705" marB="457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072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</a:t>
                      </a:r>
                    </a:p>
                  </a:txBody>
                  <a:tcPr marT="45705" marB="45705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null</a:t>
                      </a:r>
                    </a:p>
                  </a:txBody>
                  <a:tcPr marT="45705" marB="457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7518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</a:t>
                      </a:r>
                    </a:p>
                  </a:txBody>
                  <a:tcPr marT="45705" marB="45705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Helvetica" pitchFamily="34" charset="0"/>
                      </a:endParaRPr>
                    </a:p>
                  </a:txBody>
                  <a:tcPr marT="45705" marB="457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199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…</a:t>
                      </a:r>
                    </a:p>
                  </a:txBody>
                  <a:tcPr marT="45705" marB="45705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...</a:t>
                      </a:r>
                    </a:p>
                  </a:txBody>
                  <a:tcPr marT="45705" marB="457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199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5" marB="45705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null</a:t>
                      </a:r>
                    </a:p>
                  </a:txBody>
                  <a:tcPr marT="45705" marB="457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7201477"/>
                  </a:ext>
                </a:extLst>
              </a:tr>
              <a:tr h="51199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5" marB="45705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5" marB="457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9146709"/>
                  </a:ext>
                </a:extLst>
              </a:tr>
              <a:tr h="51199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5" marB="45705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null</a:t>
                      </a:r>
                    </a:p>
                  </a:txBody>
                  <a:tcPr marT="45705" marB="457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3097528"/>
                  </a:ext>
                </a:extLst>
              </a:tr>
              <a:tr h="51199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5" marB="45705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null</a:t>
                      </a:r>
                    </a:p>
                  </a:txBody>
                  <a:tcPr marT="45705" marB="457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828648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590186" y="5837109"/>
            <a:ext cx="1755058" cy="36933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hash table</a:t>
            </a:r>
          </a:p>
        </p:txBody>
      </p:sp>
      <p:cxnSp>
        <p:nvCxnSpPr>
          <p:cNvPr id="13" name="Straight Arrow Connector 12"/>
          <p:cNvCxnSpPr/>
          <p:nvPr/>
        </p:nvCxnSpPr>
        <p:spPr bwMode="auto">
          <a:xfrm>
            <a:off x="2585653" y="1798535"/>
            <a:ext cx="1189218" cy="13063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 bwMode="auto">
          <a:xfrm>
            <a:off x="2623457" y="2839345"/>
            <a:ext cx="1189218" cy="13063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 bwMode="auto">
          <a:xfrm>
            <a:off x="2585653" y="4350762"/>
            <a:ext cx="1189218" cy="13063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Cloud Callout 5"/>
          <p:cNvSpPr/>
          <p:nvPr/>
        </p:nvSpPr>
        <p:spPr bwMode="auto">
          <a:xfrm>
            <a:off x="4454013" y="5081451"/>
            <a:ext cx="3059807" cy="1464822"/>
          </a:xfrm>
          <a:prstGeom prst="cloudCallout">
            <a:avLst>
              <a:gd name="adj1" fmla="val 37143"/>
              <a:gd name="adj2" fmla="val -77586"/>
            </a:avLst>
          </a:prstGeom>
          <a:solidFill>
            <a:schemeClr val="bg1">
              <a:lumMod val="75000"/>
            </a:schemeClr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Narrow" pitchFamily="34" charset="0"/>
              </a:rPr>
              <a:t>Array is full, so have</a:t>
            </a:r>
            <a:r>
              <a:rPr kumimoji="0" lang="en-US" sz="1800" b="0" i="0" u="none" strike="noStrike" cap="none" normalizeH="0" dirty="0">
                <a:ln>
                  <a:noFill/>
                </a:ln>
                <a:solidFill>
                  <a:srgbClr val="000000"/>
                </a:solidFill>
                <a:effectLst/>
                <a:latin typeface="Arial Narrow" pitchFamily="34" charset="0"/>
              </a:rPr>
              <a:t> to grow the array during run-time!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2404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96834" y="2939143"/>
            <a:ext cx="8002679" cy="214230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 dirty="0"/>
              <a:t>Dealing with Collisions I: </a:t>
            </a:r>
            <a:br>
              <a:rPr lang="en-US" altLang="en-US" dirty="0"/>
            </a:br>
            <a:r>
              <a:rPr lang="en-US" altLang="en-US" sz="2200" i="1" dirty="0"/>
              <a:t>Separate Chaining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458200" cy="5614988"/>
          </a:xfrm>
        </p:spPr>
        <p:txBody>
          <a:bodyPr/>
          <a:lstStyle/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If multiple items are assigned the same hash code, we "chain" them together.</a:t>
            </a:r>
          </a:p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Each position in the hash table serves as a </a:t>
            </a:r>
            <a:r>
              <a:rPr lang="en-US" altLang="en-US" i="1" dirty="0"/>
              <a:t>bucket</a:t>
            </a:r>
            <a:r>
              <a:rPr lang="en-US" altLang="en-US" dirty="0"/>
              <a:t> that is able to store multiple data items. </a:t>
            </a:r>
          </a:p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Two implementations:</a:t>
            </a:r>
          </a:p>
          <a:p>
            <a:pPr>
              <a:spcBef>
                <a:spcPts val="200"/>
              </a:spcBef>
              <a:buFontTx/>
              <a:buNone/>
              <a:tabLst>
                <a:tab pos="569913" algn="l"/>
                <a:tab pos="793750" algn="l"/>
              </a:tabLst>
            </a:pPr>
            <a:r>
              <a:rPr lang="en-US" altLang="en-US" dirty="0"/>
              <a:t>		</a:t>
            </a:r>
            <a:r>
              <a:rPr lang="en-US" altLang="en-US" dirty="0">
                <a:solidFill>
                  <a:srgbClr val="0000FF"/>
                </a:solidFill>
              </a:rPr>
              <a:t>1.	each bucket is itself an array</a:t>
            </a:r>
          </a:p>
          <a:p>
            <a:pPr lvl="2">
              <a:spcBef>
                <a:spcPts val="2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sz="2200" dirty="0"/>
              <a:t> disadvantages:</a:t>
            </a:r>
            <a:r>
              <a:rPr lang="en-US" altLang="en-US" dirty="0"/>
              <a:t> </a:t>
            </a:r>
          </a:p>
          <a:p>
            <a:pPr lvl="3">
              <a:spcBef>
                <a:spcPts val="2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>
                <a:solidFill>
                  <a:srgbClr val="0000FF"/>
                </a:solidFill>
              </a:rPr>
              <a:t>large buckets can waste memory</a:t>
            </a:r>
          </a:p>
          <a:p>
            <a:pPr lvl="3">
              <a:spcBef>
                <a:spcPts val="2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>
                <a:solidFill>
                  <a:srgbClr val="0000FF"/>
                </a:solidFill>
              </a:rPr>
              <a:t>a bucket may become full; </a:t>
            </a:r>
            <a:r>
              <a:rPr lang="en-US" altLang="en-US" i="1" dirty="0">
                <a:solidFill>
                  <a:srgbClr val="0000FF"/>
                </a:solidFill>
              </a:rPr>
              <a:t>overflow</a:t>
            </a:r>
            <a:r>
              <a:rPr lang="en-US" altLang="en-US" dirty="0">
                <a:solidFill>
                  <a:srgbClr val="0000FF"/>
                </a:solidFill>
              </a:rPr>
              <a:t> occurs</a:t>
            </a:r>
            <a:r>
              <a:rPr lang="en-US" altLang="en-US" i="1" dirty="0">
                <a:solidFill>
                  <a:srgbClr val="0000FF"/>
                </a:solidFill>
              </a:rPr>
              <a:t> </a:t>
            </a:r>
            <a:r>
              <a:rPr lang="en-US" altLang="en-US" dirty="0">
                <a:solidFill>
                  <a:srgbClr val="0000FF"/>
                </a:solidFill>
              </a:rPr>
              <a:t>when we try to add an item to a full bucket</a:t>
            </a:r>
          </a:p>
          <a:p>
            <a:pPr>
              <a:spcBef>
                <a:spcPts val="500"/>
              </a:spcBef>
              <a:buFontTx/>
              <a:buNone/>
              <a:tabLst>
                <a:tab pos="569913" algn="l"/>
                <a:tab pos="793750" algn="l"/>
              </a:tabLst>
            </a:pPr>
            <a:r>
              <a:rPr lang="en-US" altLang="en-US" dirty="0"/>
              <a:t>		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84663" y="1677074"/>
            <a:ext cx="339634" cy="370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779252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83771" y="4650377"/>
            <a:ext cx="8229600" cy="220762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 dirty="0"/>
              <a:t>Dealing with Collisions I: </a:t>
            </a:r>
            <a:br>
              <a:rPr lang="en-US" altLang="en-US" dirty="0"/>
            </a:br>
            <a:r>
              <a:rPr lang="en-US" altLang="en-US" sz="2200" i="1" dirty="0"/>
              <a:t>Separate Chaining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458200" cy="5614988"/>
          </a:xfrm>
        </p:spPr>
        <p:txBody>
          <a:bodyPr/>
          <a:lstStyle/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If multiple items are assigned the same hash code, we "chain" them together.</a:t>
            </a:r>
          </a:p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Each position in the hash table serves as a </a:t>
            </a:r>
            <a:r>
              <a:rPr lang="en-US" altLang="en-US" i="1" dirty="0"/>
              <a:t>bucket</a:t>
            </a:r>
            <a:r>
              <a:rPr lang="en-US" altLang="en-US" dirty="0"/>
              <a:t> that is able to store multiple data items. </a:t>
            </a:r>
          </a:p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Two implementations:</a:t>
            </a:r>
          </a:p>
          <a:p>
            <a:pPr>
              <a:spcBef>
                <a:spcPts val="200"/>
              </a:spcBef>
              <a:buFontTx/>
              <a:buNone/>
              <a:tabLst>
                <a:tab pos="569913" algn="l"/>
                <a:tab pos="793750" algn="l"/>
              </a:tabLst>
            </a:pPr>
            <a:r>
              <a:rPr lang="en-US" altLang="en-US" dirty="0"/>
              <a:t>		1.	each bucket is itself an array</a:t>
            </a:r>
          </a:p>
          <a:p>
            <a:pPr lvl="2">
              <a:spcBef>
                <a:spcPts val="2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sz="2200" dirty="0"/>
              <a:t> disadvantages:</a:t>
            </a:r>
            <a:r>
              <a:rPr lang="en-US" altLang="en-US" dirty="0"/>
              <a:t> </a:t>
            </a:r>
          </a:p>
          <a:p>
            <a:pPr lvl="3">
              <a:spcBef>
                <a:spcPts val="2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large buckets can waste memory</a:t>
            </a:r>
          </a:p>
          <a:p>
            <a:pPr lvl="3">
              <a:spcBef>
                <a:spcPts val="2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a bucket may become full; </a:t>
            </a:r>
            <a:r>
              <a:rPr lang="en-US" altLang="en-US" i="1" dirty="0"/>
              <a:t>overflow</a:t>
            </a:r>
            <a:r>
              <a:rPr lang="en-US" altLang="en-US" dirty="0"/>
              <a:t> occurs</a:t>
            </a:r>
            <a:r>
              <a:rPr lang="en-US" altLang="en-US" i="1" dirty="0"/>
              <a:t> </a:t>
            </a:r>
            <a:r>
              <a:rPr lang="en-US" altLang="en-US" dirty="0"/>
              <a:t>when we try to add an item to a full bucket</a:t>
            </a:r>
          </a:p>
          <a:p>
            <a:pPr>
              <a:spcBef>
                <a:spcPts val="500"/>
              </a:spcBef>
              <a:buFontTx/>
              <a:buNone/>
              <a:tabLst>
                <a:tab pos="569913" algn="l"/>
                <a:tab pos="793750" algn="l"/>
              </a:tabLst>
            </a:pPr>
            <a:r>
              <a:rPr lang="en-US" altLang="en-US" dirty="0"/>
              <a:t>		</a:t>
            </a:r>
            <a:r>
              <a:rPr lang="en-US" altLang="en-US" dirty="0">
                <a:solidFill>
                  <a:srgbClr val="0000FF"/>
                </a:solidFill>
              </a:rPr>
              <a:t>2.	each bucket is a linked list</a:t>
            </a:r>
            <a:endParaRPr lang="en-US" altLang="en-US" sz="2000" dirty="0">
              <a:solidFill>
                <a:srgbClr val="0000FF"/>
              </a:solidFill>
            </a:endParaRPr>
          </a:p>
          <a:p>
            <a:pPr lvl="2">
              <a:lnSpc>
                <a:spcPct val="90000"/>
              </a:lnSpc>
              <a:spcBef>
                <a:spcPts val="2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sz="2200" dirty="0"/>
              <a:t> disadvantage:</a:t>
            </a:r>
            <a:r>
              <a:rPr lang="en-US" altLang="en-US" dirty="0"/>
              <a:t> </a:t>
            </a:r>
          </a:p>
          <a:p>
            <a:pPr lvl="3">
              <a:spcBef>
                <a:spcPts val="2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the references in </a:t>
            </a:r>
            <a:br>
              <a:rPr lang="en-US" altLang="en-US" dirty="0"/>
            </a:br>
            <a:r>
              <a:rPr lang="en-US" altLang="en-US" dirty="0"/>
              <a:t>the nodes use </a:t>
            </a:r>
            <a:br>
              <a:rPr lang="en-US" altLang="en-US" dirty="0"/>
            </a:br>
            <a:r>
              <a:rPr lang="en-US" altLang="en-US" dirty="0"/>
              <a:t>additional memory</a:t>
            </a:r>
          </a:p>
        </p:txBody>
      </p:sp>
      <p:graphicFrame>
        <p:nvGraphicFramePr>
          <p:cNvPr id="3184644" name="Group 4"/>
          <p:cNvGraphicFramePr>
            <a:graphicFrameLocks noGrp="1"/>
          </p:cNvGraphicFramePr>
          <p:nvPr/>
        </p:nvGraphicFramePr>
        <p:xfrm>
          <a:off x="4391025" y="5130800"/>
          <a:ext cx="1585913" cy="1577977"/>
        </p:xfrm>
        <a:graphic>
          <a:graphicData uri="http://schemas.openxmlformats.org/drawingml/2006/table">
            <a:tbl>
              <a:tblPr/>
              <a:tblGrid>
                <a:gridCol w="793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21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20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0</a:t>
                      </a:r>
                    </a:p>
                  </a:txBody>
                  <a:tcPr marT="45705" marB="45705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Helvetica" pitchFamily="34" charset="0"/>
                      </a:endParaRPr>
                    </a:p>
                  </a:txBody>
                  <a:tcPr marT="45705" marB="457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572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</a:t>
                      </a:r>
                    </a:p>
                  </a:txBody>
                  <a:tcPr marT="45705" marB="45705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null</a:t>
                      </a:r>
                    </a:p>
                  </a:txBody>
                  <a:tcPr marT="45705" marB="457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0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</a:t>
                      </a:r>
                    </a:p>
                  </a:txBody>
                  <a:tcPr marT="45705" marB="45705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Helvetica" pitchFamily="34" charset="0"/>
                      </a:endParaRPr>
                    </a:p>
                  </a:txBody>
                  <a:tcPr marT="45705" marB="457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1985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…</a:t>
                      </a:r>
                    </a:p>
                  </a:txBody>
                  <a:tcPr marT="45705" marB="45705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...</a:t>
                      </a:r>
                    </a:p>
                  </a:txBody>
                  <a:tcPr marT="45705" marB="457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8452" name="Line 26"/>
          <p:cNvSpPr>
            <a:spLocks noChangeShapeType="1"/>
          </p:cNvSpPr>
          <p:nvPr/>
        </p:nvSpPr>
        <p:spPr bwMode="auto">
          <a:xfrm>
            <a:off x="7089775" y="5622925"/>
            <a:ext cx="78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3184667" name="Group 27"/>
          <p:cNvGraphicFramePr>
            <a:graphicFrameLocks noGrp="1"/>
          </p:cNvGraphicFramePr>
          <p:nvPr/>
        </p:nvGraphicFramePr>
        <p:xfrm>
          <a:off x="6665913" y="5132388"/>
          <a:ext cx="811212" cy="669972"/>
        </p:xfrm>
        <a:graphic>
          <a:graphicData uri="http://schemas.openxmlformats.org/drawingml/2006/table">
            <a:tbl>
              <a:tblPr/>
              <a:tblGrid>
                <a:gridCol w="8112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4963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"ant"</a:t>
                      </a:r>
                    </a:p>
                  </a:txBody>
                  <a:tcPr marT="45573" marB="455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573" marB="455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184675" name="Group 35"/>
          <p:cNvGraphicFramePr>
            <a:graphicFrameLocks noGrp="1"/>
          </p:cNvGraphicFramePr>
          <p:nvPr/>
        </p:nvGraphicFramePr>
        <p:xfrm>
          <a:off x="7881938" y="5129213"/>
          <a:ext cx="811212" cy="669972"/>
        </p:xfrm>
        <a:graphic>
          <a:graphicData uri="http://schemas.openxmlformats.org/drawingml/2006/table">
            <a:tbl>
              <a:tblPr/>
              <a:tblGrid>
                <a:gridCol w="8112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4963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"ape"</a:t>
                      </a:r>
                    </a:p>
                  </a:txBody>
                  <a:tcPr marT="45573" marB="455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null</a:t>
                      </a:r>
                    </a:p>
                  </a:txBody>
                  <a:tcPr marT="45573" marB="455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8469" name="Line 43"/>
          <p:cNvSpPr>
            <a:spLocks noChangeShapeType="1"/>
          </p:cNvSpPr>
          <p:nvPr/>
        </p:nvSpPr>
        <p:spPr bwMode="auto">
          <a:xfrm flipV="1">
            <a:off x="5592763" y="5343525"/>
            <a:ext cx="1079500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3184684" name="Group 44"/>
          <p:cNvGraphicFramePr>
            <a:graphicFrameLocks noGrp="1"/>
          </p:cNvGraphicFramePr>
          <p:nvPr/>
        </p:nvGraphicFramePr>
        <p:xfrm>
          <a:off x="6661150" y="5945188"/>
          <a:ext cx="811213" cy="669972"/>
        </p:xfrm>
        <a:graphic>
          <a:graphicData uri="http://schemas.openxmlformats.org/drawingml/2006/table">
            <a:tbl>
              <a:tblPr/>
              <a:tblGrid>
                <a:gridCol w="8112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4963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"cat"</a:t>
                      </a:r>
                    </a:p>
                  </a:txBody>
                  <a:tcPr marT="45573" marB="455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null</a:t>
                      </a:r>
                    </a:p>
                  </a:txBody>
                  <a:tcPr marT="45573" marB="455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8478" name="Line 52"/>
          <p:cNvSpPr>
            <a:spLocks noChangeShapeType="1"/>
          </p:cNvSpPr>
          <p:nvPr/>
        </p:nvSpPr>
        <p:spPr bwMode="auto">
          <a:xfrm flipV="1">
            <a:off x="5588000" y="6124575"/>
            <a:ext cx="1079500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06633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783771" y="4650377"/>
            <a:ext cx="8229600" cy="220762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1280196" y="5022802"/>
            <a:ext cx="7519317" cy="1835198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 dirty="0"/>
              <a:t>Dealing with Collisions I: </a:t>
            </a:r>
            <a:br>
              <a:rPr lang="en-US" altLang="en-US" dirty="0"/>
            </a:br>
            <a:r>
              <a:rPr lang="en-US" altLang="en-US" sz="2200" i="1" dirty="0"/>
              <a:t>Separate Chaining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458200" cy="5614988"/>
          </a:xfrm>
        </p:spPr>
        <p:txBody>
          <a:bodyPr/>
          <a:lstStyle/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If multiple items are assigned the same hash code, we "chain" them together.</a:t>
            </a:r>
          </a:p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Each position in the hash table serves as a </a:t>
            </a:r>
            <a:r>
              <a:rPr lang="en-US" altLang="en-US" i="1" dirty="0"/>
              <a:t>bucket</a:t>
            </a:r>
            <a:r>
              <a:rPr lang="en-US" altLang="en-US" dirty="0"/>
              <a:t> that is able to store multiple data items. </a:t>
            </a:r>
          </a:p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Two implementations:</a:t>
            </a:r>
          </a:p>
          <a:p>
            <a:pPr>
              <a:spcBef>
                <a:spcPts val="200"/>
              </a:spcBef>
              <a:buFontTx/>
              <a:buNone/>
              <a:tabLst>
                <a:tab pos="569913" algn="l"/>
                <a:tab pos="793750" algn="l"/>
              </a:tabLst>
            </a:pPr>
            <a:r>
              <a:rPr lang="en-US" altLang="en-US" dirty="0"/>
              <a:t>		1.	each bucket is itself an array</a:t>
            </a:r>
          </a:p>
          <a:p>
            <a:pPr lvl="2">
              <a:spcBef>
                <a:spcPts val="2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sz="2200" dirty="0"/>
              <a:t> disadvantages:</a:t>
            </a:r>
            <a:r>
              <a:rPr lang="en-US" altLang="en-US" dirty="0"/>
              <a:t> </a:t>
            </a:r>
          </a:p>
          <a:p>
            <a:pPr lvl="3">
              <a:spcBef>
                <a:spcPts val="2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large buckets can waste memory</a:t>
            </a:r>
          </a:p>
          <a:p>
            <a:pPr lvl="3">
              <a:spcBef>
                <a:spcPts val="2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a bucket may become full; </a:t>
            </a:r>
            <a:r>
              <a:rPr lang="en-US" altLang="en-US" i="1" dirty="0"/>
              <a:t>overflow</a:t>
            </a:r>
            <a:r>
              <a:rPr lang="en-US" altLang="en-US" dirty="0"/>
              <a:t> occurs</a:t>
            </a:r>
            <a:r>
              <a:rPr lang="en-US" altLang="en-US" i="1" dirty="0"/>
              <a:t> </a:t>
            </a:r>
            <a:r>
              <a:rPr lang="en-US" altLang="en-US" dirty="0"/>
              <a:t>when we try to add an item to a full bucket</a:t>
            </a:r>
          </a:p>
          <a:p>
            <a:pPr>
              <a:spcBef>
                <a:spcPts val="500"/>
              </a:spcBef>
              <a:buFontTx/>
              <a:buNone/>
              <a:tabLst>
                <a:tab pos="569913" algn="l"/>
                <a:tab pos="793750" algn="l"/>
              </a:tabLst>
            </a:pPr>
            <a:r>
              <a:rPr lang="en-US" altLang="en-US" dirty="0"/>
              <a:t>		</a:t>
            </a:r>
            <a:r>
              <a:rPr lang="en-US" altLang="en-US" dirty="0">
                <a:solidFill>
                  <a:srgbClr val="0000FF"/>
                </a:solidFill>
              </a:rPr>
              <a:t>2.	each bucket is a linked list</a:t>
            </a:r>
            <a:endParaRPr lang="en-US" altLang="en-US" sz="2000" dirty="0">
              <a:solidFill>
                <a:srgbClr val="0000FF"/>
              </a:solidFill>
            </a:endParaRPr>
          </a:p>
          <a:p>
            <a:pPr lvl="2">
              <a:lnSpc>
                <a:spcPct val="90000"/>
              </a:lnSpc>
              <a:spcBef>
                <a:spcPts val="2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sz="2200" dirty="0"/>
              <a:t> </a:t>
            </a:r>
            <a:r>
              <a:rPr lang="en-US" altLang="en-US" sz="2200" b="1" dirty="0"/>
              <a:t>disadvantage</a:t>
            </a:r>
            <a:r>
              <a:rPr lang="en-US" altLang="en-US" sz="2200" dirty="0"/>
              <a:t>:</a:t>
            </a:r>
            <a:r>
              <a:rPr lang="en-US" altLang="en-US" dirty="0"/>
              <a:t> </a:t>
            </a:r>
          </a:p>
          <a:p>
            <a:pPr lvl="3">
              <a:spcBef>
                <a:spcPts val="2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the references in </a:t>
            </a:r>
            <a:br>
              <a:rPr lang="en-US" altLang="en-US" dirty="0"/>
            </a:br>
            <a:r>
              <a:rPr lang="en-US" altLang="en-US" dirty="0"/>
              <a:t>the nodes use </a:t>
            </a:r>
            <a:br>
              <a:rPr lang="en-US" altLang="en-US" dirty="0"/>
            </a:br>
            <a:r>
              <a:rPr lang="en-US" altLang="en-US" dirty="0"/>
              <a:t>additional memory</a:t>
            </a:r>
          </a:p>
        </p:txBody>
      </p:sp>
      <p:graphicFrame>
        <p:nvGraphicFramePr>
          <p:cNvPr id="3184644" name="Group 4"/>
          <p:cNvGraphicFramePr>
            <a:graphicFrameLocks noGrp="1"/>
          </p:cNvGraphicFramePr>
          <p:nvPr/>
        </p:nvGraphicFramePr>
        <p:xfrm>
          <a:off x="4391025" y="5130800"/>
          <a:ext cx="1585913" cy="1577977"/>
        </p:xfrm>
        <a:graphic>
          <a:graphicData uri="http://schemas.openxmlformats.org/drawingml/2006/table">
            <a:tbl>
              <a:tblPr/>
              <a:tblGrid>
                <a:gridCol w="793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21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20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0</a:t>
                      </a:r>
                    </a:p>
                  </a:txBody>
                  <a:tcPr marT="45705" marB="45705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Helvetica" pitchFamily="34" charset="0"/>
                      </a:endParaRPr>
                    </a:p>
                  </a:txBody>
                  <a:tcPr marT="45705" marB="457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572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</a:t>
                      </a:r>
                    </a:p>
                  </a:txBody>
                  <a:tcPr marT="45705" marB="45705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null</a:t>
                      </a:r>
                    </a:p>
                  </a:txBody>
                  <a:tcPr marT="45705" marB="457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0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</a:t>
                      </a:r>
                    </a:p>
                  </a:txBody>
                  <a:tcPr marT="45705" marB="45705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Helvetica" pitchFamily="34" charset="0"/>
                      </a:endParaRPr>
                    </a:p>
                  </a:txBody>
                  <a:tcPr marT="45705" marB="457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1985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…</a:t>
                      </a:r>
                    </a:p>
                  </a:txBody>
                  <a:tcPr marT="45705" marB="45705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...</a:t>
                      </a:r>
                    </a:p>
                  </a:txBody>
                  <a:tcPr marT="45705" marB="457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8452" name="Line 26"/>
          <p:cNvSpPr>
            <a:spLocks noChangeShapeType="1"/>
          </p:cNvSpPr>
          <p:nvPr/>
        </p:nvSpPr>
        <p:spPr bwMode="auto">
          <a:xfrm>
            <a:off x="7089775" y="5622925"/>
            <a:ext cx="78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3184667" name="Group 27"/>
          <p:cNvGraphicFramePr>
            <a:graphicFrameLocks noGrp="1"/>
          </p:cNvGraphicFramePr>
          <p:nvPr/>
        </p:nvGraphicFramePr>
        <p:xfrm>
          <a:off x="6665913" y="5132388"/>
          <a:ext cx="811212" cy="669972"/>
        </p:xfrm>
        <a:graphic>
          <a:graphicData uri="http://schemas.openxmlformats.org/drawingml/2006/table">
            <a:tbl>
              <a:tblPr/>
              <a:tblGrid>
                <a:gridCol w="8112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4963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"ant"</a:t>
                      </a:r>
                    </a:p>
                  </a:txBody>
                  <a:tcPr marT="45573" marB="455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573" marB="455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184675" name="Group 35"/>
          <p:cNvGraphicFramePr>
            <a:graphicFrameLocks noGrp="1"/>
          </p:cNvGraphicFramePr>
          <p:nvPr/>
        </p:nvGraphicFramePr>
        <p:xfrm>
          <a:off x="7881938" y="5129213"/>
          <a:ext cx="811212" cy="669972"/>
        </p:xfrm>
        <a:graphic>
          <a:graphicData uri="http://schemas.openxmlformats.org/drawingml/2006/table">
            <a:tbl>
              <a:tblPr/>
              <a:tblGrid>
                <a:gridCol w="8112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4963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"ape"</a:t>
                      </a:r>
                    </a:p>
                  </a:txBody>
                  <a:tcPr marT="45573" marB="455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null</a:t>
                      </a:r>
                    </a:p>
                  </a:txBody>
                  <a:tcPr marT="45573" marB="455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8469" name="Line 43"/>
          <p:cNvSpPr>
            <a:spLocks noChangeShapeType="1"/>
          </p:cNvSpPr>
          <p:nvPr/>
        </p:nvSpPr>
        <p:spPr bwMode="auto">
          <a:xfrm flipV="1">
            <a:off x="5592763" y="5343525"/>
            <a:ext cx="1079500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3184684" name="Group 44"/>
          <p:cNvGraphicFramePr>
            <a:graphicFrameLocks noGrp="1"/>
          </p:cNvGraphicFramePr>
          <p:nvPr/>
        </p:nvGraphicFramePr>
        <p:xfrm>
          <a:off x="6661150" y="5945188"/>
          <a:ext cx="811213" cy="669972"/>
        </p:xfrm>
        <a:graphic>
          <a:graphicData uri="http://schemas.openxmlformats.org/drawingml/2006/table">
            <a:tbl>
              <a:tblPr/>
              <a:tblGrid>
                <a:gridCol w="8112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4963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"cat"</a:t>
                      </a:r>
                    </a:p>
                  </a:txBody>
                  <a:tcPr marT="45573" marB="455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null</a:t>
                      </a:r>
                    </a:p>
                  </a:txBody>
                  <a:tcPr marT="45573" marB="455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8478" name="Line 52"/>
          <p:cNvSpPr>
            <a:spLocks noChangeShapeType="1"/>
          </p:cNvSpPr>
          <p:nvPr/>
        </p:nvSpPr>
        <p:spPr bwMode="auto">
          <a:xfrm flipV="1">
            <a:off x="5588000" y="6124575"/>
            <a:ext cx="1079500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62734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87375" y="844550"/>
            <a:ext cx="8212138" cy="80840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 dirty="0"/>
              <a:t>Dealing with Collisions II:</a:t>
            </a:r>
            <a:br>
              <a:rPr lang="en-US" altLang="en-US" dirty="0"/>
            </a:br>
            <a:r>
              <a:rPr lang="en-US" altLang="en-US" sz="2200" b="1" i="1" dirty="0"/>
              <a:t>Open Addressing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458200" cy="5614988"/>
          </a:xfrm>
        </p:spPr>
        <p:txBody>
          <a:bodyPr/>
          <a:lstStyle/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When the position assigned by the hash function is occupied, </a:t>
            </a:r>
            <a:r>
              <a:rPr lang="en-US" altLang="en-US" i="1" dirty="0"/>
              <a:t>find another </a:t>
            </a:r>
            <a:r>
              <a:rPr lang="en-US" altLang="en-US" dirty="0"/>
              <a:t>open position.</a:t>
            </a:r>
          </a:p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Examp</a:t>
            </a:r>
            <a:r>
              <a:rPr lang="en-US" altLang="en-US" dirty="0">
                <a:solidFill>
                  <a:schemeClr val="tx1"/>
                </a:solidFill>
              </a:rPr>
              <a:t>le: "wasp" has a hash code of 22, </a:t>
            </a:r>
            <a:br>
              <a:rPr lang="en-US" altLang="en-US" dirty="0">
                <a:solidFill>
                  <a:schemeClr val="tx1"/>
                </a:solidFill>
              </a:rPr>
            </a:br>
            <a:r>
              <a:rPr lang="en-US" altLang="en-US" dirty="0">
                <a:solidFill>
                  <a:schemeClr val="tx1"/>
                </a:solidFill>
              </a:rPr>
              <a:t>but it ends up in position 23, because </a:t>
            </a:r>
            <a:br>
              <a:rPr lang="en-US" altLang="en-US" dirty="0">
                <a:solidFill>
                  <a:schemeClr val="tx1"/>
                </a:solidFill>
              </a:rPr>
            </a:br>
            <a:r>
              <a:rPr lang="en-US" altLang="en-US" dirty="0">
                <a:solidFill>
                  <a:schemeClr val="tx1"/>
                </a:solidFill>
              </a:rPr>
              <a:t>position 22 is occupied.</a:t>
            </a:r>
          </a:p>
        </p:txBody>
      </p:sp>
      <p:graphicFrame>
        <p:nvGraphicFramePr>
          <p:cNvPr id="2083845" name="Group 5"/>
          <p:cNvGraphicFramePr>
            <a:graphicFrameLocks noGrp="1"/>
          </p:cNvGraphicFramePr>
          <p:nvPr/>
        </p:nvGraphicFramePr>
        <p:xfrm>
          <a:off x="6427788" y="2278063"/>
          <a:ext cx="2097087" cy="4359277"/>
        </p:xfrm>
        <a:graphic>
          <a:graphicData uri="http://schemas.openxmlformats.org/drawingml/2006/table">
            <a:tbl>
              <a:tblPr/>
              <a:tblGrid>
                <a:gridCol w="105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6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0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"ant"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"cat"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3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4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"emu"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5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6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7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…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...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22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"wolf"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23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Console" pitchFamily="49" charset="0"/>
                        </a:rPr>
                        <a:t>"wasp"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24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"yak"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25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"zebra"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141929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87375" y="844550"/>
            <a:ext cx="8212138" cy="80840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 dirty="0"/>
              <a:t>Dealing with Collisions II:</a:t>
            </a:r>
            <a:br>
              <a:rPr lang="en-US" altLang="en-US" dirty="0"/>
            </a:br>
            <a:r>
              <a:rPr lang="en-US" altLang="en-US" sz="2200" i="1" dirty="0"/>
              <a:t>Open Addressing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458200" cy="5614988"/>
          </a:xfrm>
        </p:spPr>
        <p:txBody>
          <a:bodyPr/>
          <a:lstStyle/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When the position assigned by the hash function is occupied, </a:t>
            </a:r>
            <a:r>
              <a:rPr lang="en-US" altLang="en-US" i="1" dirty="0"/>
              <a:t>find another </a:t>
            </a:r>
            <a:r>
              <a:rPr lang="en-US" altLang="en-US" dirty="0"/>
              <a:t>open position.</a:t>
            </a:r>
          </a:p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>
                <a:solidFill>
                  <a:srgbClr val="0000FF"/>
                </a:solidFill>
              </a:rPr>
              <a:t>Example: "wasp" has a hash code of 22, </a:t>
            </a:r>
            <a:br>
              <a:rPr lang="en-US" altLang="en-US" dirty="0">
                <a:solidFill>
                  <a:srgbClr val="0000FF"/>
                </a:solidFill>
              </a:rPr>
            </a:br>
            <a:r>
              <a:rPr lang="en-US" altLang="en-US" dirty="0">
                <a:solidFill>
                  <a:srgbClr val="0000FF"/>
                </a:solidFill>
              </a:rPr>
              <a:t>but it ends up in position 23, because </a:t>
            </a:r>
            <a:br>
              <a:rPr lang="en-US" altLang="en-US" dirty="0">
                <a:solidFill>
                  <a:srgbClr val="0000FF"/>
                </a:solidFill>
              </a:rPr>
            </a:br>
            <a:r>
              <a:rPr lang="en-US" altLang="en-US" dirty="0">
                <a:solidFill>
                  <a:srgbClr val="0000FF"/>
                </a:solidFill>
              </a:rPr>
              <a:t>position 22 is occupied</a:t>
            </a:r>
            <a:r>
              <a:rPr lang="en-US" altLang="en-US" dirty="0">
                <a:solidFill>
                  <a:schemeClr val="tx1"/>
                </a:solidFill>
              </a:rPr>
              <a:t>.</a:t>
            </a:r>
          </a:p>
        </p:txBody>
      </p:sp>
      <p:graphicFrame>
        <p:nvGraphicFramePr>
          <p:cNvPr id="2083845" name="Group 5"/>
          <p:cNvGraphicFramePr>
            <a:graphicFrameLocks noGrp="1"/>
          </p:cNvGraphicFramePr>
          <p:nvPr/>
        </p:nvGraphicFramePr>
        <p:xfrm>
          <a:off x="6427788" y="2278063"/>
          <a:ext cx="2097087" cy="4359277"/>
        </p:xfrm>
        <a:graphic>
          <a:graphicData uri="http://schemas.openxmlformats.org/drawingml/2006/table">
            <a:tbl>
              <a:tblPr/>
              <a:tblGrid>
                <a:gridCol w="105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6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0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"ant"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"cat"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3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4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"emu"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5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6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7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…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...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22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"wolf"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23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Console" pitchFamily="49" charset="0"/>
                        </a:rPr>
                        <a:t>"wasp"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24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"yak"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25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"zebra"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71637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87375" y="844550"/>
            <a:ext cx="8212138" cy="80840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 dirty="0"/>
              <a:t>Dealing with Collisions II:</a:t>
            </a:r>
            <a:br>
              <a:rPr lang="en-US" altLang="en-US" dirty="0"/>
            </a:br>
            <a:r>
              <a:rPr lang="en-US" altLang="en-US" sz="2200" i="1" dirty="0"/>
              <a:t>Open Addressing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458200" cy="5614988"/>
          </a:xfrm>
        </p:spPr>
        <p:txBody>
          <a:bodyPr/>
          <a:lstStyle/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When the position assigned by the hash function is occupied, </a:t>
            </a:r>
            <a:r>
              <a:rPr lang="en-US" altLang="en-US" i="1" dirty="0"/>
              <a:t>find another </a:t>
            </a:r>
            <a:r>
              <a:rPr lang="en-US" altLang="en-US" dirty="0"/>
              <a:t>open position.</a:t>
            </a:r>
          </a:p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Examp</a:t>
            </a:r>
            <a:r>
              <a:rPr lang="en-US" altLang="en-US" dirty="0">
                <a:solidFill>
                  <a:schemeClr val="tx1"/>
                </a:solidFill>
              </a:rPr>
              <a:t>le: "wasp" has a hash code of 22, </a:t>
            </a:r>
            <a:br>
              <a:rPr lang="en-US" altLang="en-US" dirty="0">
                <a:solidFill>
                  <a:schemeClr val="tx1"/>
                </a:solidFill>
              </a:rPr>
            </a:br>
            <a:r>
              <a:rPr lang="en-US" altLang="en-US" dirty="0">
                <a:solidFill>
                  <a:schemeClr val="tx1"/>
                </a:solidFill>
              </a:rPr>
              <a:t>but it ends up in position 23, because </a:t>
            </a:r>
            <a:br>
              <a:rPr lang="en-US" altLang="en-US" dirty="0">
                <a:solidFill>
                  <a:schemeClr val="tx1"/>
                </a:solidFill>
              </a:rPr>
            </a:br>
            <a:r>
              <a:rPr lang="en-US" altLang="en-US" dirty="0">
                <a:solidFill>
                  <a:schemeClr val="tx1"/>
                </a:solidFill>
              </a:rPr>
              <a:t>position 22 is occupied.</a:t>
            </a:r>
          </a:p>
        </p:txBody>
      </p:sp>
      <p:graphicFrame>
        <p:nvGraphicFramePr>
          <p:cNvPr id="2083845" name="Group 5"/>
          <p:cNvGraphicFramePr>
            <a:graphicFrameLocks noGrp="1"/>
          </p:cNvGraphicFramePr>
          <p:nvPr/>
        </p:nvGraphicFramePr>
        <p:xfrm>
          <a:off x="6427788" y="2278063"/>
          <a:ext cx="2097087" cy="4359277"/>
        </p:xfrm>
        <a:graphic>
          <a:graphicData uri="http://schemas.openxmlformats.org/drawingml/2006/table">
            <a:tbl>
              <a:tblPr/>
              <a:tblGrid>
                <a:gridCol w="105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6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0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"ant"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"cat"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3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4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"emu"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5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6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7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…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...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22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"wolf"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23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Console" pitchFamily="49" charset="0"/>
                        </a:rPr>
                        <a:t>"wasp"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24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"yak"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25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"zebra"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3" name="Cloud Callout 2"/>
          <p:cNvSpPr/>
          <p:nvPr/>
        </p:nvSpPr>
        <p:spPr bwMode="auto">
          <a:xfrm>
            <a:off x="896816" y="3059724"/>
            <a:ext cx="4360984" cy="2795954"/>
          </a:xfrm>
          <a:prstGeom prst="cloudCallout">
            <a:avLst>
              <a:gd name="adj1" fmla="val 83199"/>
              <a:gd name="adj2" fmla="val 44261"/>
            </a:avLst>
          </a:prstGeom>
          <a:solidFill>
            <a:schemeClr val="bg1">
              <a:lumMod val="85000"/>
            </a:schemeClr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 Narrow" pitchFamily="34" charset="0"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Narrow" pitchFamily="34" charset="0"/>
              </a:rPr>
              <a:t>But how do we find an open position efficiently?</a:t>
            </a:r>
          </a:p>
        </p:txBody>
      </p:sp>
    </p:spTree>
    <p:extLst>
      <p:ext uri="{BB962C8B-B14F-4D97-AF65-F5344CB8AC3E}">
        <p14:creationId xmlns:p14="http://schemas.microsoft.com/office/powerpoint/2010/main" val="1678537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87375" y="2883876"/>
            <a:ext cx="5840413" cy="1143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 dirty="0"/>
              <a:t>Dealing with Collisions II:</a:t>
            </a:r>
            <a:br>
              <a:rPr lang="en-US" altLang="en-US" dirty="0"/>
            </a:br>
            <a:r>
              <a:rPr lang="en-US" altLang="en-US" sz="2200" i="1" dirty="0"/>
              <a:t>Open Addressing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458200" cy="5614988"/>
          </a:xfrm>
        </p:spPr>
        <p:txBody>
          <a:bodyPr/>
          <a:lstStyle/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When the position assigned by the hash function is occupied, find another open position.</a:t>
            </a:r>
          </a:p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Examp</a:t>
            </a:r>
            <a:r>
              <a:rPr lang="en-US" altLang="en-US" dirty="0">
                <a:solidFill>
                  <a:schemeClr val="tx1"/>
                </a:solidFill>
              </a:rPr>
              <a:t>le: "wasp" has a hash code of 22, </a:t>
            </a:r>
            <a:br>
              <a:rPr lang="en-US" altLang="en-US" dirty="0">
                <a:solidFill>
                  <a:schemeClr val="tx1"/>
                </a:solidFill>
              </a:rPr>
            </a:br>
            <a:r>
              <a:rPr lang="en-US" altLang="en-US" dirty="0">
                <a:solidFill>
                  <a:schemeClr val="tx1"/>
                </a:solidFill>
              </a:rPr>
              <a:t>but it ends up in position 23, because </a:t>
            </a:r>
            <a:br>
              <a:rPr lang="en-US" altLang="en-US" dirty="0">
                <a:solidFill>
                  <a:schemeClr val="tx1"/>
                </a:solidFill>
              </a:rPr>
            </a:br>
            <a:r>
              <a:rPr lang="en-US" altLang="en-US" dirty="0">
                <a:solidFill>
                  <a:schemeClr val="tx1"/>
                </a:solidFill>
              </a:rPr>
              <a:t>position 22 is occupied.</a:t>
            </a:r>
          </a:p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>
                <a:solidFill>
                  <a:schemeClr val="tx1"/>
                </a:solidFill>
              </a:rPr>
              <a:t>We will</a:t>
            </a:r>
            <a:r>
              <a:rPr lang="en-US" altLang="en-US" dirty="0"/>
              <a:t> consider three ways of finding </a:t>
            </a:r>
            <a:br>
              <a:rPr lang="en-US" altLang="en-US" dirty="0"/>
            </a:br>
            <a:r>
              <a:rPr lang="en-US" altLang="en-US" dirty="0"/>
              <a:t>an open position – a process known as </a:t>
            </a:r>
            <a:br>
              <a:rPr lang="en-US" altLang="en-US" dirty="0"/>
            </a:br>
            <a:r>
              <a:rPr lang="en-US" altLang="en-US" i="1" dirty="0">
                <a:solidFill>
                  <a:srgbClr val="0000FF"/>
                </a:solidFill>
              </a:rPr>
              <a:t>probing</a:t>
            </a:r>
            <a:r>
              <a:rPr lang="en-US" altLang="en-US" dirty="0"/>
              <a:t>.</a:t>
            </a:r>
          </a:p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The hash table also performs probing  </a:t>
            </a:r>
            <a:br>
              <a:rPr lang="en-US" altLang="en-US" dirty="0"/>
            </a:br>
            <a:r>
              <a:rPr lang="en-US" altLang="en-US" dirty="0"/>
              <a:t>to search for an item.</a:t>
            </a:r>
          </a:p>
          <a:p>
            <a:pPr lvl="1"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dirty="0"/>
              <a:t>example: when searching for "wasp",</a:t>
            </a:r>
            <a:br>
              <a:rPr lang="en-US" altLang="en-US" dirty="0"/>
            </a:br>
            <a:r>
              <a:rPr lang="en-US" altLang="en-US" dirty="0"/>
              <a:t>we look in position 22 and then look </a:t>
            </a:r>
            <a:br>
              <a:rPr lang="en-US" altLang="en-US" dirty="0"/>
            </a:br>
            <a:r>
              <a:rPr lang="en-US" altLang="en-US" dirty="0"/>
              <a:t>in position 23</a:t>
            </a:r>
          </a:p>
          <a:p>
            <a:pPr lvl="1"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dirty="0"/>
              <a:t>we can only stop a search when we </a:t>
            </a:r>
            <a:br>
              <a:rPr lang="en-US" altLang="en-US" dirty="0"/>
            </a:br>
            <a:r>
              <a:rPr lang="en-US" altLang="en-US" dirty="0"/>
              <a:t>reach an empty position</a:t>
            </a:r>
          </a:p>
        </p:txBody>
      </p:sp>
      <p:graphicFrame>
        <p:nvGraphicFramePr>
          <p:cNvPr id="3188740" name="Group 4"/>
          <p:cNvGraphicFramePr>
            <a:graphicFrameLocks noGrp="1"/>
          </p:cNvGraphicFramePr>
          <p:nvPr/>
        </p:nvGraphicFramePr>
        <p:xfrm>
          <a:off x="6427788" y="2278063"/>
          <a:ext cx="2097087" cy="4359277"/>
        </p:xfrm>
        <a:graphic>
          <a:graphicData uri="http://schemas.openxmlformats.org/drawingml/2006/table">
            <a:tbl>
              <a:tblPr/>
              <a:tblGrid>
                <a:gridCol w="105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6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0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"ant"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"cat"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3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4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"emu"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5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6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7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…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...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22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"wolf"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23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Console" pitchFamily="49" charset="0"/>
                        </a:rPr>
                        <a:t>"wasp"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24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"yak"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25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"zebra"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598498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87375" y="3974123"/>
            <a:ext cx="5840413" cy="266321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458200" cy="5614988"/>
          </a:xfrm>
        </p:spPr>
        <p:txBody>
          <a:bodyPr/>
          <a:lstStyle/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When the position assigned by the hash function is occupied, find another open position.</a:t>
            </a:r>
          </a:p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Examp</a:t>
            </a:r>
            <a:r>
              <a:rPr lang="en-US" altLang="en-US" dirty="0">
                <a:solidFill>
                  <a:schemeClr val="tx1"/>
                </a:solidFill>
              </a:rPr>
              <a:t>le: "wasp" has a hash code of 22, </a:t>
            </a:r>
            <a:br>
              <a:rPr lang="en-US" altLang="en-US" dirty="0">
                <a:solidFill>
                  <a:schemeClr val="tx1"/>
                </a:solidFill>
              </a:rPr>
            </a:br>
            <a:r>
              <a:rPr lang="en-US" altLang="en-US" dirty="0">
                <a:solidFill>
                  <a:schemeClr val="tx1"/>
                </a:solidFill>
              </a:rPr>
              <a:t>but it ends up in position 23, because </a:t>
            </a:r>
            <a:br>
              <a:rPr lang="en-US" altLang="en-US" dirty="0">
                <a:solidFill>
                  <a:schemeClr val="tx1"/>
                </a:solidFill>
              </a:rPr>
            </a:br>
            <a:r>
              <a:rPr lang="en-US" altLang="en-US" dirty="0">
                <a:solidFill>
                  <a:schemeClr val="tx1"/>
                </a:solidFill>
              </a:rPr>
              <a:t>position 22 is occupied.</a:t>
            </a:r>
          </a:p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>
                <a:solidFill>
                  <a:schemeClr val="tx1"/>
                </a:solidFill>
              </a:rPr>
              <a:t>We will</a:t>
            </a:r>
            <a:r>
              <a:rPr lang="en-US" altLang="en-US" dirty="0"/>
              <a:t> consider three ways of finding </a:t>
            </a:r>
            <a:br>
              <a:rPr lang="en-US" altLang="en-US" dirty="0"/>
            </a:br>
            <a:r>
              <a:rPr lang="en-US" altLang="en-US" dirty="0"/>
              <a:t>an open position – a process known as </a:t>
            </a:r>
            <a:br>
              <a:rPr lang="en-US" altLang="en-US" dirty="0"/>
            </a:br>
            <a:r>
              <a:rPr lang="en-US" altLang="en-US" i="1" dirty="0">
                <a:solidFill>
                  <a:schemeClr val="tx1"/>
                </a:solidFill>
              </a:rPr>
              <a:t>probing</a:t>
            </a:r>
            <a:r>
              <a:rPr lang="en-US" altLang="en-US" dirty="0">
                <a:solidFill>
                  <a:schemeClr val="tx1"/>
                </a:solidFill>
              </a:rPr>
              <a:t>.</a:t>
            </a:r>
          </a:p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>
                <a:solidFill>
                  <a:srgbClr val="0000FF"/>
                </a:solidFill>
              </a:rPr>
              <a:t>The hash table also performs probing  </a:t>
            </a:r>
            <a:br>
              <a:rPr lang="en-US" altLang="en-US" dirty="0">
                <a:solidFill>
                  <a:srgbClr val="0000FF"/>
                </a:solidFill>
              </a:rPr>
            </a:br>
            <a:r>
              <a:rPr lang="en-US" altLang="en-US" dirty="0">
                <a:solidFill>
                  <a:srgbClr val="0000FF"/>
                </a:solidFill>
              </a:rPr>
              <a:t>to </a:t>
            </a:r>
            <a:r>
              <a:rPr lang="en-US" altLang="en-US" b="1" i="1" dirty="0">
                <a:solidFill>
                  <a:srgbClr val="0000FF"/>
                </a:solidFill>
              </a:rPr>
              <a:t>search</a:t>
            </a:r>
            <a:r>
              <a:rPr lang="en-US" altLang="en-US" dirty="0">
                <a:solidFill>
                  <a:srgbClr val="0000FF"/>
                </a:solidFill>
              </a:rPr>
              <a:t> for an item.</a:t>
            </a:r>
          </a:p>
          <a:p>
            <a:pPr lvl="1"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dirty="0"/>
              <a:t>example: when searching for "wasp",</a:t>
            </a:r>
            <a:br>
              <a:rPr lang="en-US" altLang="en-US" dirty="0"/>
            </a:br>
            <a:r>
              <a:rPr lang="en-US" altLang="en-US" dirty="0"/>
              <a:t>we look in position 22 and then look </a:t>
            </a:r>
            <a:br>
              <a:rPr lang="en-US" altLang="en-US" dirty="0"/>
            </a:br>
            <a:r>
              <a:rPr lang="en-US" altLang="en-US" dirty="0"/>
              <a:t>in position 23</a:t>
            </a:r>
          </a:p>
          <a:p>
            <a:pPr lvl="1"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dirty="0"/>
              <a:t>we can only stop a search when we </a:t>
            </a:r>
            <a:br>
              <a:rPr lang="en-US" altLang="en-US" dirty="0"/>
            </a:br>
            <a:r>
              <a:rPr lang="en-US" altLang="en-US" dirty="0"/>
              <a:t>reach an </a:t>
            </a:r>
            <a:r>
              <a:rPr lang="en-US" altLang="en-US" i="1" dirty="0">
                <a:solidFill>
                  <a:srgbClr val="0000FF"/>
                </a:solidFill>
              </a:rPr>
              <a:t>empty</a:t>
            </a:r>
            <a:r>
              <a:rPr lang="en-US" altLang="en-US" dirty="0"/>
              <a:t> position</a:t>
            </a:r>
          </a:p>
        </p:txBody>
      </p:sp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 dirty="0"/>
              <a:t>Dealing with Collisions II:</a:t>
            </a:r>
            <a:br>
              <a:rPr lang="en-US" altLang="en-US" dirty="0"/>
            </a:br>
            <a:r>
              <a:rPr lang="en-US" altLang="en-US" sz="2200" i="1" dirty="0"/>
              <a:t>Open Addressing</a:t>
            </a:r>
          </a:p>
        </p:txBody>
      </p:sp>
      <p:graphicFrame>
        <p:nvGraphicFramePr>
          <p:cNvPr id="3188740" name="Group 4"/>
          <p:cNvGraphicFramePr>
            <a:graphicFrameLocks noGrp="1"/>
          </p:cNvGraphicFramePr>
          <p:nvPr/>
        </p:nvGraphicFramePr>
        <p:xfrm>
          <a:off x="6427788" y="2278063"/>
          <a:ext cx="2097087" cy="4359277"/>
        </p:xfrm>
        <a:graphic>
          <a:graphicData uri="http://schemas.openxmlformats.org/drawingml/2006/table">
            <a:tbl>
              <a:tblPr/>
              <a:tblGrid>
                <a:gridCol w="105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6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0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"ant"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"cat"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3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4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"emu"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5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6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7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…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...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22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"wolf"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23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Console" pitchFamily="49" charset="0"/>
                        </a:rPr>
                        <a:t>"wasp"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24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"yak"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25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"zebra"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081338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87375" y="844550"/>
            <a:ext cx="7472408" cy="82749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Linear Probing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458200" cy="5614988"/>
          </a:xfrm>
        </p:spPr>
        <p:txBody>
          <a:bodyPr/>
          <a:lstStyle/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Probe sequence:  </a:t>
            </a:r>
            <a:r>
              <a:rPr lang="en-US" altLang="en-US" dirty="0">
                <a:solidFill>
                  <a:srgbClr val="0000FF"/>
                </a:solidFill>
              </a:rPr>
              <a:t>h(key)</a:t>
            </a:r>
            <a:r>
              <a:rPr lang="en-US" altLang="en-US" dirty="0"/>
              <a:t>, h(key) + 1, h(key) + 2, …, </a:t>
            </a:r>
            <a:br>
              <a:rPr lang="en-US" altLang="en-US" dirty="0"/>
            </a:br>
            <a:r>
              <a:rPr lang="en-US" altLang="en-US" dirty="0"/>
              <a:t>wrapping around as necessary.</a:t>
            </a:r>
          </a:p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Examples: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"ape" (h = 0)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buFontTx/>
              <a:buNone/>
              <a:tabLst>
                <a:tab pos="569913" algn="l"/>
                <a:tab pos="793750" algn="l"/>
              </a:tabLst>
            </a:pPr>
            <a:endParaRPr lang="en-US" altLang="en-US" sz="2000" dirty="0"/>
          </a:p>
          <a:p>
            <a:pPr>
              <a:spcBef>
                <a:spcPts val="1400"/>
              </a:spcBef>
              <a:buFontTx/>
              <a:buNone/>
              <a:tabLst>
                <a:tab pos="569913" algn="l"/>
                <a:tab pos="793750" algn="l"/>
              </a:tabLst>
            </a:pPr>
            <a:endParaRPr lang="en-US" altLang="en-US" dirty="0"/>
          </a:p>
        </p:txBody>
      </p:sp>
      <p:graphicFrame>
        <p:nvGraphicFramePr>
          <p:cNvPr id="2087941" name="Group 5"/>
          <p:cNvGraphicFramePr>
            <a:graphicFrameLocks noGrp="1"/>
          </p:cNvGraphicFramePr>
          <p:nvPr/>
        </p:nvGraphicFramePr>
        <p:xfrm>
          <a:off x="6427788" y="2278063"/>
          <a:ext cx="2097087" cy="4359277"/>
        </p:xfrm>
        <a:graphic>
          <a:graphicData uri="http://schemas.openxmlformats.org/drawingml/2006/table">
            <a:tbl>
              <a:tblPr/>
              <a:tblGrid>
                <a:gridCol w="105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6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0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"ant"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"cat"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3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4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"emu"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5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6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7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…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...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22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"wolf"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23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"wasp"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24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"yak"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25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"zebra"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21551" name="Rectangle 54"/>
          <p:cNvSpPr>
            <a:spLocks noChangeArrowheads="1"/>
          </p:cNvSpPr>
          <p:nvPr/>
        </p:nvSpPr>
        <p:spPr bwMode="auto">
          <a:xfrm>
            <a:off x="7505700" y="2305050"/>
            <a:ext cx="995363" cy="280988"/>
          </a:xfrm>
          <a:prstGeom prst="rect">
            <a:avLst/>
          </a:prstGeom>
          <a:noFill/>
          <a:ln w="38100" algn="ctr">
            <a:solidFill>
              <a:srgbClr val="CC0099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>
              <a:spcBef>
                <a:spcPts val="1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 algn="l">
              <a:spcBef>
                <a:spcPts val="525"/>
              </a:spcBef>
              <a:buClr>
                <a:srgbClr val="000000"/>
              </a:buClr>
              <a:buSzPct val="10000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Helvetica" panose="020B0604020202020204" pitchFamily="34" charset="0"/>
              <a:buChar char="–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022390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87375" y="844550"/>
            <a:ext cx="7472408" cy="82749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Linear Probing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458200" cy="5614988"/>
          </a:xfrm>
        </p:spPr>
        <p:txBody>
          <a:bodyPr/>
          <a:lstStyle/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Probe sequence:  </a:t>
            </a:r>
            <a:r>
              <a:rPr lang="en-US" altLang="en-US" dirty="0">
                <a:solidFill>
                  <a:srgbClr val="0000FF"/>
                </a:solidFill>
              </a:rPr>
              <a:t>h(key)</a:t>
            </a:r>
            <a:r>
              <a:rPr lang="en-US" altLang="en-US" dirty="0"/>
              <a:t>, </a:t>
            </a:r>
            <a:r>
              <a:rPr lang="en-US" altLang="en-US" dirty="0">
                <a:solidFill>
                  <a:srgbClr val="0000FF"/>
                </a:solidFill>
              </a:rPr>
              <a:t>h(key) + 1</a:t>
            </a:r>
            <a:r>
              <a:rPr lang="en-US" altLang="en-US" dirty="0"/>
              <a:t>, h(key) + 2, …, </a:t>
            </a:r>
            <a:br>
              <a:rPr lang="en-US" altLang="en-US" dirty="0"/>
            </a:br>
            <a:r>
              <a:rPr lang="en-US" altLang="en-US" dirty="0"/>
              <a:t>wrapping around as necessary.</a:t>
            </a:r>
          </a:p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Examples: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"ape" (h = 0)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buFontTx/>
              <a:buNone/>
              <a:tabLst>
                <a:tab pos="569913" algn="l"/>
                <a:tab pos="793750" algn="l"/>
              </a:tabLst>
            </a:pPr>
            <a:endParaRPr lang="en-US" altLang="en-US" sz="2000" dirty="0"/>
          </a:p>
          <a:p>
            <a:pPr>
              <a:spcBef>
                <a:spcPts val="1400"/>
              </a:spcBef>
              <a:buFontTx/>
              <a:buNone/>
              <a:tabLst>
                <a:tab pos="569913" algn="l"/>
                <a:tab pos="793750" algn="l"/>
              </a:tabLst>
            </a:pPr>
            <a:endParaRPr lang="en-US" altLang="en-US" dirty="0"/>
          </a:p>
        </p:txBody>
      </p:sp>
      <p:graphicFrame>
        <p:nvGraphicFramePr>
          <p:cNvPr id="2087941" name="Group 5"/>
          <p:cNvGraphicFramePr>
            <a:graphicFrameLocks noGrp="1"/>
          </p:cNvGraphicFramePr>
          <p:nvPr/>
        </p:nvGraphicFramePr>
        <p:xfrm>
          <a:off x="6427788" y="2278063"/>
          <a:ext cx="2097087" cy="4359277"/>
        </p:xfrm>
        <a:graphic>
          <a:graphicData uri="http://schemas.openxmlformats.org/drawingml/2006/table">
            <a:tbl>
              <a:tblPr/>
              <a:tblGrid>
                <a:gridCol w="105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6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0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"ant"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"cat"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3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4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"emu"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5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6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7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…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...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22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"wolf"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23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"wasp"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24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"yak"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25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"zebra"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21551" name="Rectangle 54"/>
          <p:cNvSpPr>
            <a:spLocks noChangeArrowheads="1"/>
          </p:cNvSpPr>
          <p:nvPr/>
        </p:nvSpPr>
        <p:spPr bwMode="auto">
          <a:xfrm>
            <a:off x="7505700" y="2305050"/>
            <a:ext cx="995363" cy="280988"/>
          </a:xfrm>
          <a:prstGeom prst="rect">
            <a:avLst/>
          </a:prstGeom>
          <a:noFill/>
          <a:ln w="38100" algn="ctr">
            <a:solidFill>
              <a:srgbClr val="CC0099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>
              <a:spcBef>
                <a:spcPts val="1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 algn="l">
              <a:spcBef>
                <a:spcPts val="525"/>
              </a:spcBef>
              <a:buClr>
                <a:srgbClr val="000000"/>
              </a:buClr>
              <a:buSzPct val="10000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Helvetica" panose="020B0604020202020204" pitchFamily="34" charset="0"/>
              <a:buChar char="–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272493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87375" y="844550"/>
            <a:ext cx="7472408" cy="82749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Linear Probing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458200" cy="5614988"/>
          </a:xfrm>
        </p:spPr>
        <p:txBody>
          <a:bodyPr/>
          <a:lstStyle/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Probe sequence:  </a:t>
            </a:r>
            <a:r>
              <a:rPr lang="en-US" altLang="en-US" dirty="0">
                <a:solidFill>
                  <a:srgbClr val="0000FF"/>
                </a:solidFill>
              </a:rPr>
              <a:t>h(key)</a:t>
            </a:r>
            <a:r>
              <a:rPr lang="en-US" altLang="en-US" dirty="0"/>
              <a:t>, </a:t>
            </a:r>
            <a:r>
              <a:rPr lang="en-US" altLang="en-US" dirty="0">
                <a:solidFill>
                  <a:srgbClr val="0000FF"/>
                </a:solidFill>
              </a:rPr>
              <a:t>h(key) + 1</a:t>
            </a:r>
            <a:r>
              <a:rPr lang="en-US" altLang="en-US" dirty="0"/>
              <a:t>, </a:t>
            </a:r>
            <a:r>
              <a:rPr lang="en-US" altLang="en-US" dirty="0">
                <a:solidFill>
                  <a:srgbClr val="0000FF"/>
                </a:solidFill>
              </a:rPr>
              <a:t>h(key) + 2</a:t>
            </a:r>
            <a:r>
              <a:rPr lang="en-US" altLang="en-US" dirty="0"/>
              <a:t>, …, </a:t>
            </a:r>
            <a:br>
              <a:rPr lang="en-US" altLang="en-US" dirty="0"/>
            </a:br>
            <a:r>
              <a:rPr lang="en-US" altLang="en-US" dirty="0"/>
              <a:t>wrapping around as necessary.</a:t>
            </a:r>
          </a:p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Examples: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"ape" (h = 0)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buFontTx/>
              <a:buNone/>
              <a:tabLst>
                <a:tab pos="569913" algn="l"/>
                <a:tab pos="793750" algn="l"/>
              </a:tabLst>
            </a:pPr>
            <a:endParaRPr lang="en-US" altLang="en-US" sz="2000" dirty="0"/>
          </a:p>
          <a:p>
            <a:pPr>
              <a:spcBef>
                <a:spcPts val="1400"/>
              </a:spcBef>
              <a:buFontTx/>
              <a:buNone/>
              <a:tabLst>
                <a:tab pos="569913" algn="l"/>
                <a:tab pos="793750" algn="l"/>
              </a:tabLst>
            </a:pPr>
            <a:endParaRPr lang="en-US" altLang="en-US" dirty="0"/>
          </a:p>
        </p:txBody>
      </p:sp>
      <p:graphicFrame>
        <p:nvGraphicFramePr>
          <p:cNvPr id="2087941" name="Group 5"/>
          <p:cNvGraphicFramePr>
            <a:graphicFrameLocks noGrp="1"/>
          </p:cNvGraphicFramePr>
          <p:nvPr/>
        </p:nvGraphicFramePr>
        <p:xfrm>
          <a:off x="6427788" y="2278063"/>
          <a:ext cx="2097087" cy="4359277"/>
        </p:xfrm>
        <a:graphic>
          <a:graphicData uri="http://schemas.openxmlformats.org/drawingml/2006/table">
            <a:tbl>
              <a:tblPr/>
              <a:tblGrid>
                <a:gridCol w="105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6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0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"ant"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"cat"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3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4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"emu"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5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6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7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…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...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22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"wolf"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23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"wasp"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24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"yak"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25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"zebra"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21551" name="Rectangle 54"/>
          <p:cNvSpPr>
            <a:spLocks noChangeArrowheads="1"/>
          </p:cNvSpPr>
          <p:nvPr/>
        </p:nvSpPr>
        <p:spPr bwMode="auto">
          <a:xfrm>
            <a:off x="7505700" y="2305050"/>
            <a:ext cx="995363" cy="280988"/>
          </a:xfrm>
          <a:prstGeom prst="rect">
            <a:avLst/>
          </a:prstGeom>
          <a:noFill/>
          <a:ln w="38100" algn="ctr">
            <a:solidFill>
              <a:srgbClr val="CC0099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>
              <a:spcBef>
                <a:spcPts val="1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 algn="l">
              <a:spcBef>
                <a:spcPts val="525"/>
              </a:spcBef>
              <a:buClr>
                <a:srgbClr val="000000"/>
              </a:buClr>
              <a:buSzPct val="10000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Helvetica" panose="020B0604020202020204" pitchFamily="34" charset="0"/>
              <a:buChar char="–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927289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Linear Probing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458200" cy="5614988"/>
          </a:xfrm>
        </p:spPr>
        <p:txBody>
          <a:bodyPr/>
          <a:lstStyle/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Probe sequence:  h(key), h(key) + 1, h(key) + 2, …, </a:t>
            </a:r>
            <a:br>
              <a:rPr lang="en-US" altLang="en-US" dirty="0"/>
            </a:br>
            <a:r>
              <a:rPr lang="en-US" altLang="en-US" dirty="0"/>
              <a:t>wrapping around as necessary.</a:t>
            </a:r>
          </a:p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Examples: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"ape" (h = 0) would be placed in </a:t>
            </a:r>
            <a:r>
              <a:rPr lang="en-US" altLang="en-US" sz="2000" dirty="0">
                <a:solidFill>
                  <a:schemeClr val="accent2"/>
                </a:solidFill>
              </a:rPr>
              <a:t>position 1</a:t>
            </a:r>
            <a:r>
              <a:rPr lang="en-US" altLang="en-US" sz="2000" dirty="0"/>
              <a:t>, </a:t>
            </a:r>
            <a:br>
              <a:rPr lang="en-US" altLang="en-US" sz="2000" dirty="0"/>
            </a:br>
            <a:r>
              <a:rPr lang="en-US" altLang="en-US" sz="2000" dirty="0"/>
              <a:t>because position 0 is already full.</a:t>
            </a:r>
          </a:p>
          <a:p>
            <a:pPr marL="457200" lvl="1" indent="0">
              <a:lnSpc>
                <a:spcPct val="90000"/>
              </a:lnSpc>
              <a:spcBef>
                <a:spcPts val="500"/>
              </a:spcBef>
              <a:buNone/>
              <a:tabLst>
                <a:tab pos="569913" algn="l"/>
                <a:tab pos="793750" algn="l"/>
              </a:tabLst>
            </a:pPr>
            <a:endParaRPr lang="en-US" altLang="en-US" sz="2000" b="1" dirty="0">
              <a:solidFill>
                <a:schemeClr val="accent2"/>
              </a:solidFill>
            </a:endParaRPr>
          </a:p>
          <a:p>
            <a:pPr>
              <a:spcBef>
                <a:spcPts val="1400"/>
              </a:spcBef>
              <a:buFontTx/>
              <a:buNone/>
              <a:tabLst>
                <a:tab pos="569913" algn="l"/>
                <a:tab pos="793750" algn="l"/>
              </a:tabLst>
            </a:pPr>
            <a:endParaRPr lang="en-US" altLang="en-US" dirty="0"/>
          </a:p>
        </p:txBody>
      </p:sp>
      <p:graphicFrame>
        <p:nvGraphicFramePr>
          <p:cNvPr id="2094085" name="Group 5"/>
          <p:cNvGraphicFramePr>
            <a:graphicFrameLocks noGrp="1"/>
          </p:cNvGraphicFramePr>
          <p:nvPr/>
        </p:nvGraphicFramePr>
        <p:xfrm>
          <a:off x="6427788" y="2278063"/>
          <a:ext cx="2097087" cy="4359277"/>
        </p:xfrm>
        <a:graphic>
          <a:graphicData uri="http://schemas.openxmlformats.org/drawingml/2006/table">
            <a:tbl>
              <a:tblPr/>
              <a:tblGrid>
                <a:gridCol w="105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6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0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"ant"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Console" pitchFamily="49" charset="0"/>
                        </a:rPr>
                        <a:t>"ape"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"cat"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3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4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"emu"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5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6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7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…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...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22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"wolf"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23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"wasp"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24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"yak"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25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"zebra"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22575" name="Rectangle 54"/>
          <p:cNvSpPr>
            <a:spLocks noChangeArrowheads="1"/>
          </p:cNvSpPr>
          <p:nvPr/>
        </p:nvSpPr>
        <p:spPr bwMode="auto">
          <a:xfrm>
            <a:off x="7505700" y="2638425"/>
            <a:ext cx="995363" cy="280988"/>
          </a:xfrm>
          <a:prstGeom prst="rect">
            <a:avLst/>
          </a:prstGeom>
          <a:noFill/>
          <a:ln w="38100" algn="ctr">
            <a:solidFill>
              <a:srgbClr val="CC0099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>
              <a:spcBef>
                <a:spcPts val="1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 algn="l">
              <a:spcBef>
                <a:spcPts val="525"/>
              </a:spcBef>
              <a:buClr>
                <a:srgbClr val="000000"/>
              </a:buClr>
              <a:buSzPct val="10000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Helvetica" panose="020B0604020202020204" pitchFamily="34" charset="0"/>
              <a:buChar char="–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01696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Linear Probing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458200" cy="5614988"/>
          </a:xfrm>
        </p:spPr>
        <p:txBody>
          <a:bodyPr/>
          <a:lstStyle/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Probe sequence:  h(key), h(key) + 1, h(key) + 2, …, </a:t>
            </a:r>
            <a:br>
              <a:rPr lang="en-US" altLang="en-US" dirty="0"/>
            </a:br>
            <a:r>
              <a:rPr lang="en-US" altLang="en-US" dirty="0"/>
              <a:t>wrapping around as necessary.</a:t>
            </a:r>
          </a:p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Examples: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"ape" (h = 0) would be placed in position 1, </a:t>
            </a:r>
            <a:br>
              <a:rPr lang="en-US" altLang="en-US" sz="2000" dirty="0"/>
            </a:br>
            <a:r>
              <a:rPr lang="en-US" altLang="en-US" sz="2000" dirty="0"/>
              <a:t>because position 0 is already full.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"bear" (h = 1): try 1</a:t>
            </a:r>
            <a:endParaRPr lang="en-US" altLang="en-US" sz="2000" b="1" dirty="0">
              <a:solidFill>
                <a:schemeClr val="accent2"/>
              </a:solidFill>
            </a:endParaRPr>
          </a:p>
          <a:p>
            <a:pPr>
              <a:spcBef>
                <a:spcPts val="1400"/>
              </a:spcBef>
              <a:buFontTx/>
              <a:buNone/>
              <a:tabLst>
                <a:tab pos="569913" algn="l"/>
                <a:tab pos="793750" algn="l"/>
              </a:tabLst>
            </a:pPr>
            <a:endParaRPr lang="en-US" altLang="en-US" dirty="0"/>
          </a:p>
        </p:txBody>
      </p:sp>
      <p:graphicFrame>
        <p:nvGraphicFramePr>
          <p:cNvPr id="2094085" name="Group 5"/>
          <p:cNvGraphicFramePr>
            <a:graphicFrameLocks noGrp="1"/>
          </p:cNvGraphicFramePr>
          <p:nvPr/>
        </p:nvGraphicFramePr>
        <p:xfrm>
          <a:off x="6427788" y="2278063"/>
          <a:ext cx="2097087" cy="4359277"/>
        </p:xfrm>
        <a:graphic>
          <a:graphicData uri="http://schemas.openxmlformats.org/drawingml/2006/table">
            <a:tbl>
              <a:tblPr/>
              <a:tblGrid>
                <a:gridCol w="105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6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0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"ant"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Console" pitchFamily="49" charset="0"/>
                        </a:rPr>
                        <a:t>"ape"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"cat"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3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4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"emu"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5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6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7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…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...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22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"wolf"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23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"wasp"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24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"yak"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25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"zebra"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22575" name="Rectangle 54"/>
          <p:cNvSpPr>
            <a:spLocks noChangeArrowheads="1"/>
          </p:cNvSpPr>
          <p:nvPr/>
        </p:nvSpPr>
        <p:spPr bwMode="auto">
          <a:xfrm>
            <a:off x="7505700" y="2638425"/>
            <a:ext cx="995363" cy="280988"/>
          </a:xfrm>
          <a:prstGeom prst="rect">
            <a:avLst/>
          </a:prstGeom>
          <a:noFill/>
          <a:ln w="38100" algn="ctr">
            <a:solidFill>
              <a:srgbClr val="CC0099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>
              <a:spcBef>
                <a:spcPts val="1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 algn="l">
              <a:spcBef>
                <a:spcPts val="525"/>
              </a:spcBef>
              <a:buClr>
                <a:srgbClr val="000000"/>
              </a:buClr>
              <a:buSzPct val="10000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Helvetica" panose="020B0604020202020204" pitchFamily="34" charset="0"/>
              <a:buChar char="–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1460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Linear Probing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458200" cy="5614988"/>
          </a:xfrm>
        </p:spPr>
        <p:txBody>
          <a:bodyPr/>
          <a:lstStyle/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Probe sequence:  h(key), h(key) + 1, h(key) + 2, …, </a:t>
            </a:r>
            <a:br>
              <a:rPr lang="en-US" altLang="en-US" dirty="0"/>
            </a:br>
            <a:r>
              <a:rPr lang="en-US" altLang="en-US" dirty="0"/>
              <a:t>wrapping around as necessary.</a:t>
            </a:r>
          </a:p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Examples: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"ape" (h = 0) would be placed in position 1, </a:t>
            </a:r>
            <a:br>
              <a:rPr lang="en-US" altLang="en-US" sz="2000" dirty="0"/>
            </a:br>
            <a:r>
              <a:rPr lang="en-US" altLang="en-US" sz="2000" dirty="0"/>
              <a:t>because position 0 is already full.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"bear" (h = 1): try 1, </a:t>
            </a:r>
            <a:r>
              <a:rPr lang="en-US" altLang="en-US" sz="2000" b="1" dirty="0">
                <a:solidFill>
                  <a:schemeClr val="accent2"/>
                </a:solidFill>
              </a:rPr>
              <a:t>1 + 1</a:t>
            </a:r>
          </a:p>
          <a:p>
            <a:pPr>
              <a:spcBef>
                <a:spcPts val="1400"/>
              </a:spcBef>
              <a:buFontTx/>
              <a:buNone/>
              <a:tabLst>
                <a:tab pos="569913" algn="l"/>
                <a:tab pos="793750" algn="l"/>
              </a:tabLst>
            </a:pPr>
            <a:endParaRPr lang="en-US" altLang="en-US" dirty="0"/>
          </a:p>
        </p:txBody>
      </p:sp>
      <p:graphicFrame>
        <p:nvGraphicFramePr>
          <p:cNvPr id="3286020" name="Group 4"/>
          <p:cNvGraphicFramePr>
            <a:graphicFrameLocks noGrp="1"/>
          </p:cNvGraphicFramePr>
          <p:nvPr/>
        </p:nvGraphicFramePr>
        <p:xfrm>
          <a:off x="6427788" y="2278063"/>
          <a:ext cx="2097087" cy="4359277"/>
        </p:xfrm>
        <a:graphic>
          <a:graphicData uri="http://schemas.openxmlformats.org/drawingml/2006/table">
            <a:tbl>
              <a:tblPr/>
              <a:tblGrid>
                <a:gridCol w="105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6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0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"ant"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Console" pitchFamily="49" charset="0"/>
                        </a:rPr>
                        <a:t>"ape"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"cat"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3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4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"emu"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5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6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7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…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...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22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"wolf"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23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"wasp"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24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"yak"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25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"zebra"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23599" name="Rectangle 53"/>
          <p:cNvSpPr>
            <a:spLocks noChangeArrowheads="1"/>
          </p:cNvSpPr>
          <p:nvPr/>
        </p:nvSpPr>
        <p:spPr bwMode="auto">
          <a:xfrm>
            <a:off x="7505700" y="2976563"/>
            <a:ext cx="995363" cy="280987"/>
          </a:xfrm>
          <a:prstGeom prst="rect">
            <a:avLst/>
          </a:prstGeom>
          <a:noFill/>
          <a:ln w="38100" algn="ctr">
            <a:solidFill>
              <a:srgbClr val="CC0099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>
              <a:spcBef>
                <a:spcPts val="1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 algn="l">
              <a:spcBef>
                <a:spcPts val="525"/>
              </a:spcBef>
              <a:buClr>
                <a:srgbClr val="000000"/>
              </a:buClr>
              <a:buSzPct val="10000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Helvetica" panose="020B0604020202020204" pitchFamily="34" charset="0"/>
              <a:buChar char="–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829563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Linear Probing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458200" cy="5614988"/>
          </a:xfrm>
        </p:spPr>
        <p:txBody>
          <a:bodyPr/>
          <a:lstStyle/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Probe sequence:  h(key), h(key) + 1, h(key) + 2, …, </a:t>
            </a:r>
            <a:br>
              <a:rPr lang="en-US" altLang="en-US" dirty="0"/>
            </a:br>
            <a:r>
              <a:rPr lang="en-US" altLang="en-US" dirty="0"/>
              <a:t>wrapping around as necessary.</a:t>
            </a:r>
          </a:p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Examples: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"ape" (h = 0) would be placed in position 1, </a:t>
            </a:r>
            <a:br>
              <a:rPr lang="en-US" altLang="en-US" sz="2000" dirty="0"/>
            </a:br>
            <a:r>
              <a:rPr lang="en-US" altLang="en-US" sz="2000" dirty="0"/>
              <a:t>because position 0 is already full.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"bear" (h = 1): try 1, 1 + 1, </a:t>
            </a:r>
            <a:r>
              <a:rPr lang="en-US" altLang="en-US" sz="2000" b="1" dirty="0">
                <a:solidFill>
                  <a:schemeClr val="accent2"/>
                </a:solidFill>
              </a:rPr>
              <a:t>1 + 2 – open!</a:t>
            </a:r>
          </a:p>
          <a:p>
            <a:pPr>
              <a:spcBef>
                <a:spcPts val="1400"/>
              </a:spcBef>
              <a:buFontTx/>
              <a:buNone/>
              <a:tabLst>
                <a:tab pos="569913" algn="l"/>
                <a:tab pos="793750" algn="l"/>
              </a:tabLst>
            </a:pPr>
            <a:endParaRPr lang="en-US" altLang="en-US" dirty="0"/>
          </a:p>
        </p:txBody>
      </p:sp>
      <p:graphicFrame>
        <p:nvGraphicFramePr>
          <p:cNvPr id="2106373" name="Group 5"/>
          <p:cNvGraphicFramePr>
            <a:graphicFrameLocks noGrp="1"/>
          </p:cNvGraphicFramePr>
          <p:nvPr/>
        </p:nvGraphicFramePr>
        <p:xfrm>
          <a:off x="6427788" y="2278063"/>
          <a:ext cx="2097087" cy="4359277"/>
        </p:xfrm>
        <a:graphic>
          <a:graphicData uri="http://schemas.openxmlformats.org/drawingml/2006/table">
            <a:tbl>
              <a:tblPr/>
              <a:tblGrid>
                <a:gridCol w="105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6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0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"ant"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Console" pitchFamily="49" charset="0"/>
                        </a:rPr>
                        <a:t>"ape"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"cat"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3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Console" pitchFamily="49" charset="0"/>
                        </a:rPr>
                        <a:t>"bear"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4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"emu"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5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6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7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…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...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22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"wolf"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23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"wasp"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24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"yak"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25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"zebra"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24623" name="Rectangle 54"/>
          <p:cNvSpPr>
            <a:spLocks noChangeArrowheads="1"/>
          </p:cNvSpPr>
          <p:nvPr/>
        </p:nvSpPr>
        <p:spPr bwMode="auto">
          <a:xfrm>
            <a:off x="7505700" y="3309938"/>
            <a:ext cx="995363" cy="280987"/>
          </a:xfrm>
          <a:prstGeom prst="rect">
            <a:avLst/>
          </a:prstGeom>
          <a:noFill/>
          <a:ln w="38100" algn="ctr">
            <a:solidFill>
              <a:srgbClr val="CC0099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>
              <a:spcBef>
                <a:spcPts val="1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 algn="l">
              <a:spcBef>
                <a:spcPts val="525"/>
              </a:spcBef>
              <a:buClr>
                <a:srgbClr val="000000"/>
              </a:buClr>
              <a:buSzPct val="10000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Helvetica" panose="020B0604020202020204" pitchFamily="34" charset="0"/>
              <a:buChar char="–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292685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Linear Probing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458200" cy="5614988"/>
          </a:xfrm>
        </p:spPr>
        <p:txBody>
          <a:bodyPr/>
          <a:lstStyle/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Probe sequence:  h(key), h(key) + 1, h(key) + 2, …, </a:t>
            </a:r>
            <a:br>
              <a:rPr lang="en-US" altLang="en-US" dirty="0"/>
            </a:br>
            <a:r>
              <a:rPr lang="en-US" altLang="en-US" dirty="0"/>
              <a:t>wrapping around as necessary.</a:t>
            </a:r>
          </a:p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Examples: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"ape" (h = 0) would be placed in position 1, </a:t>
            </a:r>
            <a:br>
              <a:rPr lang="en-US" altLang="en-US" sz="2000" dirty="0"/>
            </a:br>
            <a:r>
              <a:rPr lang="en-US" altLang="en-US" sz="2000" dirty="0"/>
              <a:t>because position 0 is already full.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"bear" (h = 1): try 1, 1 + 1, </a:t>
            </a:r>
            <a:r>
              <a:rPr lang="en-US" altLang="en-US" sz="2000" dirty="0">
                <a:solidFill>
                  <a:schemeClr val="tx1"/>
                </a:solidFill>
              </a:rPr>
              <a:t>1 + 2 – open!</a:t>
            </a:r>
          </a:p>
          <a:p>
            <a:pPr lvl="1">
              <a:spcBef>
                <a:spcPts val="200"/>
              </a:spcBef>
              <a:tabLst>
                <a:tab pos="569913" algn="l"/>
                <a:tab pos="793750" algn="l"/>
              </a:tabLst>
            </a:pPr>
            <a:r>
              <a:rPr lang="en-US" altLang="en-US" sz="2000" b="1" dirty="0">
                <a:solidFill>
                  <a:srgbClr val="0000FF"/>
                </a:solidFill>
              </a:rPr>
              <a:t>where would "zebu" end up?</a:t>
            </a:r>
            <a:r>
              <a:rPr lang="en-US" altLang="en-US" sz="2000" dirty="0"/>
              <a:t> </a:t>
            </a:r>
            <a:endParaRPr lang="en-US" altLang="en-US" sz="2000" i="1" dirty="0"/>
          </a:p>
          <a:p>
            <a:pPr>
              <a:spcBef>
                <a:spcPts val="1400"/>
              </a:spcBef>
              <a:buFontTx/>
              <a:buNone/>
              <a:tabLst>
                <a:tab pos="569913" algn="l"/>
                <a:tab pos="793750" algn="l"/>
              </a:tabLst>
            </a:pPr>
            <a:endParaRPr lang="en-US" altLang="en-US" dirty="0"/>
          </a:p>
        </p:txBody>
      </p:sp>
      <p:graphicFrame>
        <p:nvGraphicFramePr>
          <p:cNvPr id="2106373" name="Group 5"/>
          <p:cNvGraphicFramePr>
            <a:graphicFrameLocks noGrp="1"/>
          </p:cNvGraphicFramePr>
          <p:nvPr/>
        </p:nvGraphicFramePr>
        <p:xfrm>
          <a:off x="6427788" y="2278063"/>
          <a:ext cx="2097087" cy="4359277"/>
        </p:xfrm>
        <a:graphic>
          <a:graphicData uri="http://schemas.openxmlformats.org/drawingml/2006/table">
            <a:tbl>
              <a:tblPr/>
              <a:tblGrid>
                <a:gridCol w="105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6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0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"ant"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Console" pitchFamily="49" charset="0"/>
                        </a:rPr>
                        <a:t>"ape"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"cat"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3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Console" pitchFamily="49" charset="0"/>
                        </a:rPr>
                        <a:t>"bear"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4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"emu"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5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6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7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…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...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22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"wolf"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23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"wasp"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24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"yak"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25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"zebra"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24623" name="Rectangle 54"/>
          <p:cNvSpPr>
            <a:spLocks noChangeArrowheads="1"/>
          </p:cNvSpPr>
          <p:nvPr/>
        </p:nvSpPr>
        <p:spPr bwMode="auto">
          <a:xfrm>
            <a:off x="7505700" y="3309938"/>
            <a:ext cx="995363" cy="280987"/>
          </a:xfrm>
          <a:prstGeom prst="rect">
            <a:avLst/>
          </a:prstGeom>
          <a:noFill/>
          <a:ln w="38100" algn="ctr">
            <a:solidFill>
              <a:srgbClr val="CC0099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>
              <a:spcBef>
                <a:spcPts val="1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 algn="l">
              <a:spcBef>
                <a:spcPts val="525"/>
              </a:spcBef>
              <a:buClr>
                <a:srgbClr val="000000"/>
              </a:buClr>
              <a:buSzPct val="10000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Helvetica" panose="020B0604020202020204" pitchFamily="34" charset="0"/>
              <a:buChar char="–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 Narrow" panose="020B0606020202030204" pitchFamily="34" charset="0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752804" y="4454646"/>
            <a:ext cx="3797929" cy="23469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marL="333375" indent="-333375" algn="l" defTabSz="447675" rtl="0" eaLnBrk="0" fontAlgn="base" hangingPunct="0">
              <a:spcBef>
                <a:spcPts val="1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733425" indent="-276225" algn="l" defTabSz="447675" rtl="0" eaLnBrk="0" fontAlgn="base" hangingPunct="0">
              <a:spcBef>
                <a:spcPts val="5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Helvetica" panose="020B0604020202020204" pitchFamily="34" charset="0"/>
              <a:buChar char="–"/>
              <a:defRPr sz="2200">
                <a:solidFill>
                  <a:srgbClr val="000000"/>
                </a:solidFill>
                <a:latin typeface="+mn-lt"/>
              </a:defRPr>
            </a:lvl2pPr>
            <a:lvl3pPr marL="1076325" indent="-161925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000">
                <a:solidFill>
                  <a:srgbClr val="000000"/>
                </a:solidFill>
                <a:latin typeface="+mn-lt"/>
              </a:defRPr>
            </a:lvl3pPr>
            <a:lvl4pPr marL="1600200" indent="-228600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Helvetica" panose="020B0604020202020204" pitchFamily="34" charset="0"/>
              <a:buChar char="–"/>
              <a:defRPr sz="2000">
                <a:solidFill>
                  <a:srgbClr val="000000"/>
                </a:solidFill>
                <a:latin typeface="+mn-lt"/>
              </a:defRPr>
            </a:lvl4pPr>
            <a:lvl5pPr marL="2057400" indent="-228600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+mn-lt"/>
              </a:defRPr>
            </a:lvl5pPr>
            <a:lvl6pPr marL="2514600" indent="-228600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Char char="»"/>
              <a:defRPr sz="2000">
                <a:solidFill>
                  <a:srgbClr val="000000"/>
                </a:solidFill>
                <a:latin typeface="+mn-lt"/>
              </a:defRPr>
            </a:lvl6pPr>
            <a:lvl7pPr marL="2971800" indent="-228600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Char char="»"/>
              <a:defRPr sz="2000">
                <a:solidFill>
                  <a:srgbClr val="000000"/>
                </a:solidFill>
                <a:latin typeface="+mn-lt"/>
              </a:defRPr>
            </a:lvl7pPr>
            <a:lvl8pPr marL="3429000" indent="-228600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Char char="»"/>
              <a:defRPr sz="2000">
                <a:solidFill>
                  <a:srgbClr val="000000"/>
                </a:solidFill>
                <a:latin typeface="+mn-lt"/>
              </a:defRPr>
            </a:lvl8pPr>
            <a:lvl9pPr marL="3886200" indent="-228600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Char char="»"/>
              <a:defRPr sz="2000">
                <a:solidFill>
                  <a:srgbClr val="000000"/>
                </a:solidFill>
                <a:latin typeface="+mn-lt"/>
              </a:defRPr>
            </a:lvl9pPr>
          </a:lstStyle>
          <a:p>
            <a:pPr marL="457200" indent="-457200">
              <a:spcBef>
                <a:spcPts val="800"/>
              </a:spcBef>
              <a:buFont typeface="+mj-lt"/>
              <a:buAutoNum type="alphaUcPeriod"/>
            </a:pPr>
            <a:r>
              <a:rPr lang="en-US" altLang="en-US" sz="2400" kern="0" dirty="0"/>
              <a:t> </a:t>
            </a:r>
            <a:r>
              <a:rPr lang="en-US" altLang="en-US" sz="2400" b="1" kern="0" dirty="0"/>
              <a:t>0</a:t>
            </a:r>
          </a:p>
          <a:p>
            <a:pPr marL="457200" indent="-457200">
              <a:spcBef>
                <a:spcPts val="800"/>
              </a:spcBef>
              <a:buFont typeface="+mj-lt"/>
              <a:buAutoNum type="alphaUcPeriod"/>
            </a:pPr>
            <a:r>
              <a:rPr lang="en-US" altLang="en-US" sz="2400" kern="0" dirty="0"/>
              <a:t> </a:t>
            </a:r>
            <a:r>
              <a:rPr lang="en-US" altLang="en-US" sz="2400" b="1" kern="0" dirty="0">
                <a:solidFill>
                  <a:schemeClr val="tx1"/>
                </a:solidFill>
              </a:rPr>
              <a:t>5</a:t>
            </a:r>
          </a:p>
          <a:p>
            <a:pPr marL="457200" indent="-457200">
              <a:spcBef>
                <a:spcPts val="800"/>
              </a:spcBef>
              <a:buFont typeface="+mj-lt"/>
              <a:buAutoNum type="alphaUcPeriod"/>
            </a:pPr>
            <a:r>
              <a:rPr lang="en-US" altLang="en-US" sz="2400" kern="0" dirty="0"/>
              <a:t> </a:t>
            </a:r>
            <a:r>
              <a:rPr lang="en-US" altLang="en-US" sz="2400" b="1" kern="0" dirty="0"/>
              <a:t>6</a:t>
            </a:r>
          </a:p>
          <a:p>
            <a:pPr marL="457200" indent="-457200">
              <a:spcBef>
                <a:spcPts val="800"/>
              </a:spcBef>
              <a:buFont typeface="+mj-lt"/>
              <a:buAutoNum type="alphaUcPeriod"/>
            </a:pPr>
            <a:r>
              <a:rPr lang="en-US" altLang="en-US" sz="2400" kern="0" dirty="0"/>
              <a:t> </a:t>
            </a:r>
            <a:r>
              <a:rPr lang="en-US" altLang="en-US" sz="2400" b="1" kern="0" dirty="0"/>
              <a:t>7</a:t>
            </a:r>
          </a:p>
          <a:p>
            <a:pPr marL="457200" indent="-457200">
              <a:spcBef>
                <a:spcPts val="800"/>
              </a:spcBef>
              <a:buFont typeface="+mj-lt"/>
              <a:buAutoNum type="alphaUcPeriod"/>
            </a:pPr>
            <a:r>
              <a:rPr lang="en-US" altLang="en-US" sz="2400" kern="0" dirty="0"/>
              <a:t> </a:t>
            </a:r>
            <a:r>
              <a:rPr lang="en-US" altLang="en-US" sz="2400" b="1" kern="0" dirty="0"/>
              <a:t>25</a:t>
            </a:r>
            <a:endParaRPr lang="en-US" altLang="en-US" sz="2400" kern="0" dirty="0"/>
          </a:p>
          <a:p>
            <a:pPr marL="457200" indent="-457200">
              <a:spcBef>
                <a:spcPts val="800"/>
              </a:spcBef>
              <a:buFont typeface="+mj-lt"/>
              <a:buAutoNum type="alphaUcPeriod"/>
            </a:pPr>
            <a:endParaRPr lang="en-US" altLang="en-US" sz="2400" kern="0" dirty="0"/>
          </a:p>
          <a:p>
            <a:pPr marL="0" indent="0">
              <a:spcBef>
                <a:spcPts val="1000"/>
              </a:spcBef>
              <a:buFont typeface="Times New Roman" panose="02020603050405020304" pitchFamily="18" charset="0"/>
              <a:buNone/>
            </a:pPr>
            <a:endParaRPr lang="en-US" altLang="en-US" sz="2400" kern="0" dirty="0"/>
          </a:p>
          <a:p>
            <a:pPr>
              <a:spcBef>
                <a:spcPts val="1000"/>
              </a:spcBef>
            </a:pPr>
            <a:endParaRPr lang="en-US" altLang="en-US" sz="2400" kern="0" dirty="0"/>
          </a:p>
          <a:p>
            <a:pPr>
              <a:spcBef>
                <a:spcPts val="1000"/>
              </a:spcBef>
            </a:pPr>
            <a:endParaRPr lang="en-US" altLang="en-US" sz="2400" kern="0" dirty="0"/>
          </a:p>
          <a:p>
            <a:pPr>
              <a:spcBef>
                <a:spcPts val="1000"/>
              </a:spcBef>
            </a:pPr>
            <a:endParaRPr lang="en-US" altLang="en-US" sz="2400" kern="0" dirty="0"/>
          </a:p>
          <a:p>
            <a:pPr>
              <a:spcBef>
                <a:spcPts val="1000"/>
              </a:spcBef>
            </a:pPr>
            <a:endParaRPr lang="en-US" altLang="en-US" sz="2400" kern="0" dirty="0"/>
          </a:p>
          <a:p>
            <a:pPr>
              <a:spcBef>
                <a:spcPts val="1000"/>
              </a:spcBef>
            </a:pPr>
            <a:endParaRPr lang="en-US" altLang="en-US" sz="2400" kern="0" dirty="0"/>
          </a:p>
          <a:p>
            <a:pPr>
              <a:spcBef>
                <a:spcPts val="2400"/>
              </a:spcBef>
              <a:buFont typeface="Times New Roman" panose="02020603050405020304" pitchFamily="18" charset="0"/>
              <a:buNone/>
            </a:pPr>
            <a:endParaRPr lang="en-US" altLang="en-US" sz="2400" kern="0" dirty="0"/>
          </a:p>
        </p:txBody>
      </p:sp>
    </p:spTree>
    <p:extLst>
      <p:ext uri="{BB962C8B-B14F-4D97-AF65-F5344CB8AC3E}">
        <p14:creationId xmlns:p14="http://schemas.microsoft.com/office/powerpoint/2010/main" val="14391114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Linear Probing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458200" cy="5614988"/>
          </a:xfrm>
        </p:spPr>
        <p:txBody>
          <a:bodyPr/>
          <a:lstStyle/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Probe sequence:  h(key), h(key) + 1, h(key) + 2, …, </a:t>
            </a:r>
            <a:br>
              <a:rPr lang="en-US" altLang="en-US" dirty="0"/>
            </a:br>
            <a:r>
              <a:rPr lang="en-US" altLang="en-US" dirty="0"/>
              <a:t>wrapping around as necessary.</a:t>
            </a:r>
          </a:p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Examples: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"ape" (h = 0) would be placed in position 1, </a:t>
            </a:r>
            <a:br>
              <a:rPr lang="en-US" altLang="en-US" sz="2000" dirty="0"/>
            </a:br>
            <a:r>
              <a:rPr lang="en-US" altLang="en-US" sz="2000" dirty="0"/>
              <a:t>because position 0 is already full.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"bear" (h = 1): try 1, 1 + 1, </a:t>
            </a:r>
            <a:r>
              <a:rPr lang="en-US" altLang="en-US" sz="2000" dirty="0">
                <a:solidFill>
                  <a:schemeClr val="tx1"/>
                </a:solidFill>
              </a:rPr>
              <a:t>1 + 2 – open!</a:t>
            </a:r>
          </a:p>
          <a:p>
            <a:pPr lvl="1">
              <a:spcBef>
                <a:spcPts val="200"/>
              </a:spcBef>
              <a:tabLst>
                <a:tab pos="569913" algn="l"/>
                <a:tab pos="793750" algn="l"/>
              </a:tabLst>
            </a:pPr>
            <a:r>
              <a:rPr lang="en-US" altLang="en-US" sz="2000" b="1" dirty="0">
                <a:solidFill>
                  <a:srgbClr val="0000FF"/>
                </a:solidFill>
              </a:rPr>
              <a:t>where would "zebu" end up?</a:t>
            </a:r>
            <a:r>
              <a:rPr lang="en-US" altLang="en-US" sz="2000" dirty="0"/>
              <a:t> </a:t>
            </a:r>
            <a:br>
              <a:rPr lang="en-US" altLang="en-US" sz="2000" dirty="0"/>
            </a:br>
            <a:r>
              <a:rPr lang="en-US" altLang="en-US" sz="2000" b="1" dirty="0">
                <a:solidFill>
                  <a:srgbClr val="FF0000"/>
                </a:solidFill>
              </a:rPr>
              <a:t>try 25</a:t>
            </a:r>
            <a:endParaRPr lang="en-US" altLang="en-US" sz="2000" i="1" dirty="0">
              <a:solidFill>
                <a:srgbClr val="FF0000"/>
              </a:solidFill>
            </a:endParaRPr>
          </a:p>
          <a:p>
            <a:pPr>
              <a:spcBef>
                <a:spcPts val="1400"/>
              </a:spcBef>
              <a:buFontTx/>
              <a:buNone/>
              <a:tabLst>
                <a:tab pos="569913" algn="l"/>
                <a:tab pos="793750" algn="l"/>
              </a:tabLst>
            </a:pPr>
            <a:endParaRPr lang="en-US" altLang="en-US" dirty="0"/>
          </a:p>
        </p:txBody>
      </p:sp>
      <p:graphicFrame>
        <p:nvGraphicFramePr>
          <p:cNvPr id="2106373" name="Group 5"/>
          <p:cNvGraphicFramePr>
            <a:graphicFrameLocks noGrp="1"/>
          </p:cNvGraphicFramePr>
          <p:nvPr/>
        </p:nvGraphicFramePr>
        <p:xfrm>
          <a:off x="6427788" y="2278063"/>
          <a:ext cx="2097087" cy="4359277"/>
        </p:xfrm>
        <a:graphic>
          <a:graphicData uri="http://schemas.openxmlformats.org/drawingml/2006/table">
            <a:tbl>
              <a:tblPr/>
              <a:tblGrid>
                <a:gridCol w="105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6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0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"ant"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Console" pitchFamily="49" charset="0"/>
                        </a:rPr>
                        <a:t>"ape"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"cat"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3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Console" pitchFamily="49" charset="0"/>
                        </a:rPr>
                        <a:t>"bear"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4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"emu"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5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6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7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…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...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22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"wolf"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23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"wasp"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24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"yak"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25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"zebra"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7" name="Rectangle 54"/>
          <p:cNvSpPr>
            <a:spLocks noChangeArrowheads="1"/>
          </p:cNvSpPr>
          <p:nvPr/>
        </p:nvSpPr>
        <p:spPr bwMode="auto">
          <a:xfrm>
            <a:off x="7505700" y="6330190"/>
            <a:ext cx="995363" cy="280987"/>
          </a:xfrm>
          <a:prstGeom prst="rect">
            <a:avLst/>
          </a:prstGeom>
          <a:noFill/>
          <a:ln w="38100" algn="ctr">
            <a:solidFill>
              <a:srgbClr val="CC0099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>
              <a:spcBef>
                <a:spcPts val="1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 algn="l">
              <a:spcBef>
                <a:spcPts val="525"/>
              </a:spcBef>
              <a:buClr>
                <a:srgbClr val="000000"/>
              </a:buClr>
              <a:buSzPct val="10000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Helvetica" panose="020B0604020202020204" pitchFamily="34" charset="0"/>
              <a:buChar char="–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+mn-cs"/>
            </a:endParaRP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752804" y="4454646"/>
            <a:ext cx="3797929" cy="23469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marL="333375" indent="-333375" algn="l" defTabSz="447675" rtl="0" eaLnBrk="0" fontAlgn="base" hangingPunct="0">
              <a:spcBef>
                <a:spcPts val="1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733425" indent="-276225" algn="l" defTabSz="447675" rtl="0" eaLnBrk="0" fontAlgn="base" hangingPunct="0">
              <a:spcBef>
                <a:spcPts val="5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Helvetica" panose="020B0604020202020204" pitchFamily="34" charset="0"/>
              <a:buChar char="–"/>
              <a:defRPr sz="2200">
                <a:solidFill>
                  <a:srgbClr val="000000"/>
                </a:solidFill>
                <a:latin typeface="+mn-lt"/>
              </a:defRPr>
            </a:lvl2pPr>
            <a:lvl3pPr marL="1076325" indent="-161925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000">
                <a:solidFill>
                  <a:srgbClr val="000000"/>
                </a:solidFill>
                <a:latin typeface="+mn-lt"/>
              </a:defRPr>
            </a:lvl3pPr>
            <a:lvl4pPr marL="1600200" indent="-228600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Helvetica" panose="020B0604020202020204" pitchFamily="34" charset="0"/>
              <a:buChar char="–"/>
              <a:defRPr sz="2000">
                <a:solidFill>
                  <a:srgbClr val="000000"/>
                </a:solidFill>
                <a:latin typeface="+mn-lt"/>
              </a:defRPr>
            </a:lvl4pPr>
            <a:lvl5pPr marL="2057400" indent="-228600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+mn-lt"/>
              </a:defRPr>
            </a:lvl5pPr>
            <a:lvl6pPr marL="2514600" indent="-228600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Char char="»"/>
              <a:defRPr sz="2000">
                <a:solidFill>
                  <a:srgbClr val="000000"/>
                </a:solidFill>
                <a:latin typeface="+mn-lt"/>
              </a:defRPr>
            </a:lvl6pPr>
            <a:lvl7pPr marL="2971800" indent="-228600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Char char="»"/>
              <a:defRPr sz="2000">
                <a:solidFill>
                  <a:srgbClr val="000000"/>
                </a:solidFill>
                <a:latin typeface="+mn-lt"/>
              </a:defRPr>
            </a:lvl7pPr>
            <a:lvl8pPr marL="3429000" indent="-228600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Char char="»"/>
              <a:defRPr sz="2000">
                <a:solidFill>
                  <a:srgbClr val="000000"/>
                </a:solidFill>
                <a:latin typeface="+mn-lt"/>
              </a:defRPr>
            </a:lvl8pPr>
            <a:lvl9pPr marL="3886200" indent="-228600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Char char="»"/>
              <a:defRPr sz="2000">
                <a:solidFill>
                  <a:srgbClr val="000000"/>
                </a:solidFill>
                <a:latin typeface="+mn-lt"/>
              </a:defRPr>
            </a:lvl9pPr>
          </a:lstStyle>
          <a:p>
            <a:pPr marL="457200" marR="0" lvl="0" indent="-457200" algn="l" defTabSz="447675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+mj-lt"/>
              <a:buAutoNum type="alphaUcPeriod"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 </a:t>
            </a: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0</a:t>
            </a:r>
          </a:p>
          <a:p>
            <a:pPr marL="457200" marR="0" lvl="0" indent="-457200" algn="l" defTabSz="447675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+mj-lt"/>
              <a:buAutoNum type="alphaUcPeriod"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 </a:t>
            </a: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5</a:t>
            </a:r>
          </a:p>
          <a:p>
            <a:pPr marL="457200" marR="0" lvl="0" indent="-457200" algn="l" defTabSz="447675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+mj-lt"/>
              <a:buAutoNum type="alphaUcPeriod"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 </a:t>
            </a: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6</a:t>
            </a:r>
          </a:p>
          <a:p>
            <a:pPr marL="457200" marR="0" lvl="0" indent="-457200" algn="l" defTabSz="447675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+mj-lt"/>
              <a:buAutoNum type="alphaUcPeriod"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 </a:t>
            </a: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7</a:t>
            </a:r>
          </a:p>
          <a:p>
            <a:pPr marL="457200" marR="0" lvl="0" indent="-457200" algn="l" defTabSz="447675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+mj-lt"/>
              <a:buAutoNum type="alphaUcPeriod"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 </a:t>
            </a: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25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  <a:p>
            <a:pPr marL="457200" marR="0" lvl="0" indent="-457200" algn="l" defTabSz="447675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+mj-lt"/>
              <a:buAutoNum type="alphaUcPeriod"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  <a:p>
            <a:pPr marL="0" marR="0" lvl="0" indent="0" algn="l" defTabSz="447675" rtl="0" eaLnBrk="0" fontAlgn="base" latinLnBrk="0" hangingPunct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  <a:p>
            <a:pPr marL="333375" marR="0" lvl="0" indent="-333375" algn="l" defTabSz="447675" rtl="0" eaLnBrk="0" fontAlgn="base" latinLnBrk="0" hangingPunct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  <a:p>
            <a:pPr marL="333375" marR="0" lvl="0" indent="-333375" algn="l" defTabSz="447675" rtl="0" eaLnBrk="0" fontAlgn="base" latinLnBrk="0" hangingPunct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  <a:p>
            <a:pPr marL="333375" marR="0" lvl="0" indent="-333375" algn="l" defTabSz="447675" rtl="0" eaLnBrk="0" fontAlgn="base" latinLnBrk="0" hangingPunct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  <a:p>
            <a:pPr marL="333375" marR="0" lvl="0" indent="-333375" algn="l" defTabSz="447675" rtl="0" eaLnBrk="0" fontAlgn="base" latinLnBrk="0" hangingPunct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  <a:p>
            <a:pPr marL="333375" marR="0" lvl="0" indent="-333375" algn="l" defTabSz="447675" rtl="0" eaLnBrk="0" fontAlgn="base" latinLnBrk="0" hangingPunct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  <a:p>
            <a:pPr marL="333375" marR="0" lvl="0" indent="-333375" algn="l" defTabSz="447675" rtl="0" eaLnBrk="0" fontAlgn="base" latinLnBrk="0" hangingPunct="0">
              <a:lnSpc>
                <a:spcPct val="100000"/>
              </a:lnSpc>
              <a:spcBef>
                <a:spcPts val="2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61618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Linear Probing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458200" cy="5614988"/>
          </a:xfrm>
        </p:spPr>
        <p:txBody>
          <a:bodyPr/>
          <a:lstStyle/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Probe sequence:  h(key), h(key) + 1, h(key) + 2, …, </a:t>
            </a:r>
            <a:br>
              <a:rPr lang="en-US" altLang="en-US" dirty="0"/>
            </a:br>
            <a:r>
              <a:rPr lang="en-US" altLang="en-US" dirty="0"/>
              <a:t>wrapping around as necessary.</a:t>
            </a:r>
          </a:p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Examples: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"ape" (h = 0) would be placed in position 1, </a:t>
            </a:r>
            <a:br>
              <a:rPr lang="en-US" altLang="en-US" sz="2000" dirty="0"/>
            </a:br>
            <a:r>
              <a:rPr lang="en-US" altLang="en-US" sz="2000" dirty="0"/>
              <a:t>because position 0 is already full.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"bear" (h = 1): try 1, 1 + 1, </a:t>
            </a:r>
            <a:r>
              <a:rPr lang="en-US" altLang="en-US" sz="2000" dirty="0">
                <a:solidFill>
                  <a:schemeClr val="tx1"/>
                </a:solidFill>
              </a:rPr>
              <a:t>1 + 2 – open!</a:t>
            </a:r>
          </a:p>
          <a:p>
            <a:pPr lvl="1">
              <a:spcBef>
                <a:spcPts val="200"/>
              </a:spcBef>
              <a:tabLst>
                <a:tab pos="569913" algn="l"/>
                <a:tab pos="793750" algn="l"/>
              </a:tabLst>
            </a:pPr>
            <a:r>
              <a:rPr lang="en-US" altLang="en-US" sz="2000" b="1" dirty="0">
                <a:solidFill>
                  <a:srgbClr val="0000FF"/>
                </a:solidFill>
              </a:rPr>
              <a:t>where would "zebu" end up?</a:t>
            </a:r>
            <a:r>
              <a:rPr lang="en-US" altLang="en-US" sz="2000" dirty="0"/>
              <a:t> </a:t>
            </a:r>
            <a:br>
              <a:rPr lang="en-US" altLang="en-US" sz="2000" dirty="0"/>
            </a:br>
            <a:r>
              <a:rPr lang="en-US" altLang="en-US" sz="2000" b="1" dirty="0">
                <a:solidFill>
                  <a:srgbClr val="FF0000"/>
                </a:solidFill>
              </a:rPr>
              <a:t>try 25, (25 + 1) % 26</a:t>
            </a:r>
            <a:endParaRPr lang="en-US" altLang="en-US" sz="2000" i="1" dirty="0">
              <a:solidFill>
                <a:srgbClr val="FF0000"/>
              </a:solidFill>
            </a:endParaRPr>
          </a:p>
          <a:p>
            <a:pPr>
              <a:spcBef>
                <a:spcPts val="1400"/>
              </a:spcBef>
              <a:buFontTx/>
              <a:buNone/>
              <a:tabLst>
                <a:tab pos="569913" algn="l"/>
                <a:tab pos="793750" algn="l"/>
              </a:tabLst>
            </a:pPr>
            <a:endParaRPr lang="en-US" altLang="en-US" dirty="0"/>
          </a:p>
        </p:txBody>
      </p:sp>
      <p:graphicFrame>
        <p:nvGraphicFramePr>
          <p:cNvPr id="2106373" name="Group 5"/>
          <p:cNvGraphicFramePr>
            <a:graphicFrameLocks noGrp="1"/>
          </p:cNvGraphicFramePr>
          <p:nvPr/>
        </p:nvGraphicFramePr>
        <p:xfrm>
          <a:off x="6427788" y="2278063"/>
          <a:ext cx="2097087" cy="4359277"/>
        </p:xfrm>
        <a:graphic>
          <a:graphicData uri="http://schemas.openxmlformats.org/drawingml/2006/table">
            <a:tbl>
              <a:tblPr/>
              <a:tblGrid>
                <a:gridCol w="105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6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0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"ant"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Console" pitchFamily="49" charset="0"/>
                        </a:rPr>
                        <a:t>"ape"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"cat"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3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Console" pitchFamily="49" charset="0"/>
                        </a:rPr>
                        <a:t>"bear"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4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"emu"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5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6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7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…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...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22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"wolf"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23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"wasp"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24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"yak"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25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"zebra"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7" name="Rectangle 54"/>
          <p:cNvSpPr>
            <a:spLocks noChangeArrowheads="1"/>
          </p:cNvSpPr>
          <p:nvPr/>
        </p:nvSpPr>
        <p:spPr bwMode="auto">
          <a:xfrm>
            <a:off x="7505700" y="2300439"/>
            <a:ext cx="995363" cy="280987"/>
          </a:xfrm>
          <a:prstGeom prst="rect">
            <a:avLst/>
          </a:prstGeom>
          <a:noFill/>
          <a:ln w="38100" algn="ctr">
            <a:solidFill>
              <a:srgbClr val="CC0099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>
              <a:spcBef>
                <a:spcPts val="1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 algn="l">
              <a:spcBef>
                <a:spcPts val="525"/>
              </a:spcBef>
              <a:buClr>
                <a:srgbClr val="000000"/>
              </a:buClr>
              <a:buSzPct val="10000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Helvetica" panose="020B0604020202020204" pitchFamily="34" charset="0"/>
              <a:buChar char="–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+mn-cs"/>
            </a:endParaRP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752804" y="4454646"/>
            <a:ext cx="3797929" cy="23469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marL="333375" indent="-333375" algn="l" defTabSz="447675" rtl="0" eaLnBrk="0" fontAlgn="base" hangingPunct="0">
              <a:spcBef>
                <a:spcPts val="1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733425" indent="-276225" algn="l" defTabSz="447675" rtl="0" eaLnBrk="0" fontAlgn="base" hangingPunct="0">
              <a:spcBef>
                <a:spcPts val="5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Helvetica" panose="020B0604020202020204" pitchFamily="34" charset="0"/>
              <a:buChar char="–"/>
              <a:defRPr sz="2200">
                <a:solidFill>
                  <a:srgbClr val="000000"/>
                </a:solidFill>
                <a:latin typeface="+mn-lt"/>
              </a:defRPr>
            </a:lvl2pPr>
            <a:lvl3pPr marL="1076325" indent="-161925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000">
                <a:solidFill>
                  <a:srgbClr val="000000"/>
                </a:solidFill>
                <a:latin typeface="+mn-lt"/>
              </a:defRPr>
            </a:lvl3pPr>
            <a:lvl4pPr marL="1600200" indent="-228600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Helvetica" panose="020B0604020202020204" pitchFamily="34" charset="0"/>
              <a:buChar char="–"/>
              <a:defRPr sz="2000">
                <a:solidFill>
                  <a:srgbClr val="000000"/>
                </a:solidFill>
                <a:latin typeface="+mn-lt"/>
              </a:defRPr>
            </a:lvl4pPr>
            <a:lvl5pPr marL="2057400" indent="-228600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+mn-lt"/>
              </a:defRPr>
            </a:lvl5pPr>
            <a:lvl6pPr marL="2514600" indent="-228600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Char char="»"/>
              <a:defRPr sz="2000">
                <a:solidFill>
                  <a:srgbClr val="000000"/>
                </a:solidFill>
                <a:latin typeface="+mn-lt"/>
              </a:defRPr>
            </a:lvl6pPr>
            <a:lvl7pPr marL="2971800" indent="-228600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Char char="»"/>
              <a:defRPr sz="2000">
                <a:solidFill>
                  <a:srgbClr val="000000"/>
                </a:solidFill>
                <a:latin typeface="+mn-lt"/>
              </a:defRPr>
            </a:lvl7pPr>
            <a:lvl8pPr marL="3429000" indent="-228600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Char char="»"/>
              <a:defRPr sz="2000">
                <a:solidFill>
                  <a:srgbClr val="000000"/>
                </a:solidFill>
                <a:latin typeface="+mn-lt"/>
              </a:defRPr>
            </a:lvl8pPr>
            <a:lvl9pPr marL="3886200" indent="-228600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Char char="»"/>
              <a:defRPr sz="2000">
                <a:solidFill>
                  <a:srgbClr val="000000"/>
                </a:solidFill>
                <a:latin typeface="+mn-lt"/>
              </a:defRPr>
            </a:lvl9pPr>
          </a:lstStyle>
          <a:p>
            <a:pPr marL="457200" marR="0" lvl="0" indent="-457200" algn="l" defTabSz="447675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+mj-lt"/>
              <a:buAutoNum type="alphaUcPeriod"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 </a:t>
            </a: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0</a:t>
            </a:r>
          </a:p>
          <a:p>
            <a:pPr marL="457200" marR="0" lvl="0" indent="-457200" algn="l" defTabSz="447675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+mj-lt"/>
              <a:buAutoNum type="alphaUcPeriod"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 </a:t>
            </a: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5</a:t>
            </a:r>
          </a:p>
          <a:p>
            <a:pPr marL="457200" marR="0" lvl="0" indent="-457200" algn="l" defTabSz="447675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+mj-lt"/>
              <a:buAutoNum type="alphaUcPeriod"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 </a:t>
            </a: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6</a:t>
            </a:r>
          </a:p>
          <a:p>
            <a:pPr marL="457200" marR="0" lvl="0" indent="-457200" algn="l" defTabSz="447675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+mj-lt"/>
              <a:buAutoNum type="alphaUcPeriod"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 </a:t>
            </a: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7</a:t>
            </a:r>
          </a:p>
          <a:p>
            <a:pPr marL="457200" marR="0" lvl="0" indent="-457200" algn="l" defTabSz="447675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+mj-lt"/>
              <a:buAutoNum type="alphaUcPeriod"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 </a:t>
            </a: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25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  <a:p>
            <a:pPr marL="457200" marR="0" lvl="0" indent="-457200" algn="l" defTabSz="447675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+mj-lt"/>
              <a:buAutoNum type="alphaUcPeriod"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  <a:p>
            <a:pPr marL="0" marR="0" lvl="0" indent="0" algn="l" defTabSz="447675" rtl="0" eaLnBrk="0" fontAlgn="base" latinLnBrk="0" hangingPunct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  <a:p>
            <a:pPr marL="333375" marR="0" lvl="0" indent="-333375" algn="l" defTabSz="447675" rtl="0" eaLnBrk="0" fontAlgn="base" latinLnBrk="0" hangingPunct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  <a:p>
            <a:pPr marL="333375" marR="0" lvl="0" indent="-333375" algn="l" defTabSz="447675" rtl="0" eaLnBrk="0" fontAlgn="base" latinLnBrk="0" hangingPunct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  <a:p>
            <a:pPr marL="333375" marR="0" lvl="0" indent="-333375" algn="l" defTabSz="447675" rtl="0" eaLnBrk="0" fontAlgn="base" latinLnBrk="0" hangingPunct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  <a:p>
            <a:pPr marL="333375" marR="0" lvl="0" indent="-333375" algn="l" defTabSz="447675" rtl="0" eaLnBrk="0" fontAlgn="base" latinLnBrk="0" hangingPunct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  <a:p>
            <a:pPr marL="333375" marR="0" lvl="0" indent="-333375" algn="l" defTabSz="447675" rtl="0" eaLnBrk="0" fontAlgn="base" latinLnBrk="0" hangingPunct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  <a:p>
            <a:pPr marL="333375" marR="0" lvl="0" indent="-333375" algn="l" defTabSz="447675" rtl="0" eaLnBrk="0" fontAlgn="base" latinLnBrk="0" hangingPunct="0">
              <a:lnSpc>
                <a:spcPct val="100000"/>
              </a:lnSpc>
              <a:spcBef>
                <a:spcPts val="2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3457153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Linear Probing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458200" cy="5614988"/>
          </a:xfrm>
        </p:spPr>
        <p:txBody>
          <a:bodyPr/>
          <a:lstStyle/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Probe sequence:  h(key), h(key) + 1, h(key) + 2, …, </a:t>
            </a:r>
            <a:br>
              <a:rPr lang="en-US" altLang="en-US" dirty="0"/>
            </a:br>
            <a:r>
              <a:rPr lang="en-US" altLang="en-US" dirty="0"/>
              <a:t>wrapping around as necessary.</a:t>
            </a:r>
          </a:p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Examples: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"ape" (h = 0) would be placed in position 1, </a:t>
            </a:r>
            <a:br>
              <a:rPr lang="en-US" altLang="en-US" sz="2000" dirty="0"/>
            </a:br>
            <a:r>
              <a:rPr lang="en-US" altLang="en-US" sz="2000" dirty="0"/>
              <a:t>because position 0 is already full.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"bear" (h = 1): try 1, 1 + 1, </a:t>
            </a:r>
            <a:r>
              <a:rPr lang="en-US" altLang="en-US" sz="2000" dirty="0">
                <a:solidFill>
                  <a:schemeClr val="tx1"/>
                </a:solidFill>
              </a:rPr>
              <a:t>1 + 2 – open!</a:t>
            </a:r>
          </a:p>
          <a:p>
            <a:pPr lvl="1">
              <a:spcBef>
                <a:spcPts val="200"/>
              </a:spcBef>
              <a:tabLst>
                <a:tab pos="569913" algn="l"/>
                <a:tab pos="793750" algn="l"/>
              </a:tabLst>
            </a:pPr>
            <a:r>
              <a:rPr lang="en-US" altLang="en-US" sz="2000" b="1" dirty="0">
                <a:solidFill>
                  <a:srgbClr val="0000FF"/>
                </a:solidFill>
              </a:rPr>
              <a:t>where would "zebu" end up?</a:t>
            </a:r>
            <a:r>
              <a:rPr lang="en-US" altLang="en-US" sz="2000" dirty="0"/>
              <a:t> </a:t>
            </a:r>
            <a:br>
              <a:rPr lang="en-US" altLang="en-US" sz="2000" dirty="0"/>
            </a:br>
            <a:r>
              <a:rPr lang="en-US" altLang="en-US" sz="2000" b="1" dirty="0">
                <a:solidFill>
                  <a:srgbClr val="FF0000"/>
                </a:solidFill>
              </a:rPr>
              <a:t>try 25, (25 + 1) % 26, (25 + 2) % 26</a:t>
            </a:r>
            <a:endParaRPr lang="en-US" altLang="en-US" sz="2000" i="1" dirty="0">
              <a:solidFill>
                <a:srgbClr val="FF0000"/>
              </a:solidFill>
            </a:endParaRPr>
          </a:p>
          <a:p>
            <a:pPr>
              <a:spcBef>
                <a:spcPts val="1400"/>
              </a:spcBef>
              <a:buFontTx/>
              <a:buNone/>
              <a:tabLst>
                <a:tab pos="569913" algn="l"/>
                <a:tab pos="793750" algn="l"/>
              </a:tabLst>
            </a:pPr>
            <a:endParaRPr lang="en-US" altLang="en-US" dirty="0"/>
          </a:p>
        </p:txBody>
      </p:sp>
      <p:graphicFrame>
        <p:nvGraphicFramePr>
          <p:cNvPr id="2106373" name="Group 5"/>
          <p:cNvGraphicFramePr>
            <a:graphicFrameLocks noGrp="1"/>
          </p:cNvGraphicFramePr>
          <p:nvPr/>
        </p:nvGraphicFramePr>
        <p:xfrm>
          <a:off x="6427788" y="2278063"/>
          <a:ext cx="2097087" cy="4359277"/>
        </p:xfrm>
        <a:graphic>
          <a:graphicData uri="http://schemas.openxmlformats.org/drawingml/2006/table">
            <a:tbl>
              <a:tblPr/>
              <a:tblGrid>
                <a:gridCol w="105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6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0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"ant"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Console" pitchFamily="49" charset="0"/>
                        </a:rPr>
                        <a:t>"ape"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"cat"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3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Console" pitchFamily="49" charset="0"/>
                        </a:rPr>
                        <a:t>"bear"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4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"emu"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5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6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7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…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...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22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"wolf"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23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"wasp"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24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"yak"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25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"zebra"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7" name="Rectangle 54"/>
          <p:cNvSpPr>
            <a:spLocks noChangeArrowheads="1"/>
          </p:cNvSpPr>
          <p:nvPr/>
        </p:nvSpPr>
        <p:spPr bwMode="auto">
          <a:xfrm>
            <a:off x="7505700" y="2640686"/>
            <a:ext cx="995363" cy="280987"/>
          </a:xfrm>
          <a:prstGeom prst="rect">
            <a:avLst/>
          </a:prstGeom>
          <a:noFill/>
          <a:ln w="38100" algn="ctr">
            <a:solidFill>
              <a:srgbClr val="CC0099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>
              <a:spcBef>
                <a:spcPts val="1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 algn="l">
              <a:spcBef>
                <a:spcPts val="525"/>
              </a:spcBef>
              <a:buClr>
                <a:srgbClr val="000000"/>
              </a:buClr>
              <a:buSzPct val="10000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Helvetica" panose="020B0604020202020204" pitchFamily="34" charset="0"/>
              <a:buChar char="–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+mn-cs"/>
            </a:endParaRP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752804" y="4454646"/>
            <a:ext cx="3797929" cy="23469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marL="333375" indent="-333375" algn="l" defTabSz="447675" rtl="0" eaLnBrk="0" fontAlgn="base" hangingPunct="0">
              <a:spcBef>
                <a:spcPts val="1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733425" indent="-276225" algn="l" defTabSz="447675" rtl="0" eaLnBrk="0" fontAlgn="base" hangingPunct="0">
              <a:spcBef>
                <a:spcPts val="5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Helvetica" panose="020B0604020202020204" pitchFamily="34" charset="0"/>
              <a:buChar char="–"/>
              <a:defRPr sz="2200">
                <a:solidFill>
                  <a:srgbClr val="000000"/>
                </a:solidFill>
                <a:latin typeface="+mn-lt"/>
              </a:defRPr>
            </a:lvl2pPr>
            <a:lvl3pPr marL="1076325" indent="-161925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000">
                <a:solidFill>
                  <a:srgbClr val="000000"/>
                </a:solidFill>
                <a:latin typeface="+mn-lt"/>
              </a:defRPr>
            </a:lvl3pPr>
            <a:lvl4pPr marL="1600200" indent="-228600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Helvetica" panose="020B0604020202020204" pitchFamily="34" charset="0"/>
              <a:buChar char="–"/>
              <a:defRPr sz="2000">
                <a:solidFill>
                  <a:srgbClr val="000000"/>
                </a:solidFill>
                <a:latin typeface="+mn-lt"/>
              </a:defRPr>
            </a:lvl4pPr>
            <a:lvl5pPr marL="2057400" indent="-228600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+mn-lt"/>
              </a:defRPr>
            </a:lvl5pPr>
            <a:lvl6pPr marL="2514600" indent="-228600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Char char="»"/>
              <a:defRPr sz="2000">
                <a:solidFill>
                  <a:srgbClr val="000000"/>
                </a:solidFill>
                <a:latin typeface="+mn-lt"/>
              </a:defRPr>
            </a:lvl6pPr>
            <a:lvl7pPr marL="2971800" indent="-228600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Char char="»"/>
              <a:defRPr sz="2000">
                <a:solidFill>
                  <a:srgbClr val="000000"/>
                </a:solidFill>
                <a:latin typeface="+mn-lt"/>
              </a:defRPr>
            </a:lvl7pPr>
            <a:lvl8pPr marL="3429000" indent="-228600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Char char="»"/>
              <a:defRPr sz="2000">
                <a:solidFill>
                  <a:srgbClr val="000000"/>
                </a:solidFill>
                <a:latin typeface="+mn-lt"/>
              </a:defRPr>
            </a:lvl8pPr>
            <a:lvl9pPr marL="3886200" indent="-228600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Char char="»"/>
              <a:defRPr sz="2000">
                <a:solidFill>
                  <a:srgbClr val="000000"/>
                </a:solidFill>
                <a:latin typeface="+mn-lt"/>
              </a:defRPr>
            </a:lvl9pPr>
          </a:lstStyle>
          <a:p>
            <a:pPr marL="457200" marR="0" lvl="0" indent="-457200" algn="l" defTabSz="447675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+mj-lt"/>
              <a:buAutoNum type="alphaUcPeriod"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 </a:t>
            </a: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0</a:t>
            </a:r>
          </a:p>
          <a:p>
            <a:pPr marL="457200" marR="0" lvl="0" indent="-457200" algn="l" defTabSz="447675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+mj-lt"/>
              <a:buAutoNum type="alphaUcPeriod"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 </a:t>
            </a: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5</a:t>
            </a:r>
          </a:p>
          <a:p>
            <a:pPr marL="457200" marR="0" lvl="0" indent="-457200" algn="l" defTabSz="447675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+mj-lt"/>
              <a:buAutoNum type="alphaUcPeriod"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 </a:t>
            </a: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6</a:t>
            </a:r>
          </a:p>
          <a:p>
            <a:pPr marL="457200" marR="0" lvl="0" indent="-457200" algn="l" defTabSz="447675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+mj-lt"/>
              <a:buAutoNum type="alphaUcPeriod"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 </a:t>
            </a: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7</a:t>
            </a:r>
          </a:p>
          <a:p>
            <a:pPr marL="457200" marR="0" lvl="0" indent="-457200" algn="l" defTabSz="447675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+mj-lt"/>
              <a:buAutoNum type="alphaUcPeriod"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 </a:t>
            </a: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25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  <a:p>
            <a:pPr marL="457200" marR="0" lvl="0" indent="-457200" algn="l" defTabSz="447675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+mj-lt"/>
              <a:buAutoNum type="alphaUcPeriod"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  <a:p>
            <a:pPr marL="0" marR="0" lvl="0" indent="0" algn="l" defTabSz="447675" rtl="0" eaLnBrk="0" fontAlgn="base" latinLnBrk="0" hangingPunct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  <a:p>
            <a:pPr marL="333375" marR="0" lvl="0" indent="-333375" algn="l" defTabSz="447675" rtl="0" eaLnBrk="0" fontAlgn="base" latinLnBrk="0" hangingPunct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  <a:p>
            <a:pPr marL="333375" marR="0" lvl="0" indent="-333375" algn="l" defTabSz="447675" rtl="0" eaLnBrk="0" fontAlgn="base" latinLnBrk="0" hangingPunct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  <a:p>
            <a:pPr marL="333375" marR="0" lvl="0" indent="-333375" algn="l" defTabSz="447675" rtl="0" eaLnBrk="0" fontAlgn="base" latinLnBrk="0" hangingPunct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  <a:p>
            <a:pPr marL="333375" marR="0" lvl="0" indent="-333375" algn="l" defTabSz="447675" rtl="0" eaLnBrk="0" fontAlgn="base" latinLnBrk="0" hangingPunct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  <a:p>
            <a:pPr marL="333375" marR="0" lvl="0" indent="-333375" algn="l" defTabSz="447675" rtl="0" eaLnBrk="0" fontAlgn="base" latinLnBrk="0" hangingPunct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  <a:p>
            <a:pPr marL="333375" marR="0" lvl="0" indent="-333375" algn="l" defTabSz="447675" rtl="0" eaLnBrk="0" fontAlgn="base" latinLnBrk="0" hangingPunct="0">
              <a:lnSpc>
                <a:spcPct val="100000"/>
              </a:lnSpc>
              <a:spcBef>
                <a:spcPts val="2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8228691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Linear Probing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458200" cy="5614988"/>
          </a:xfrm>
        </p:spPr>
        <p:txBody>
          <a:bodyPr/>
          <a:lstStyle/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Probe sequence:  h(key), h(key) + 1, h(key) + 2, …, </a:t>
            </a:r>
            <a:br>
              <a:rPr lang="en-US" altLang="en-US" dirty="0"/>
            </a:br>
            <a:r>
              <a:rPr lang="en-US" altLang="en-US" dirty="0"/>
              <a:t>wrapping around as necessary.</a:t>
            </a:r>
          </a:p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Examples: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"ape" (h = 0) would be placed in position 1, </a:t>
            </a:r>
            <a:br>
              <a:rPr lang="en-US" altLang="en-US" sz="2000" dirty="0"/>
            </a:br>
            <a:r>
              <a:rPr lang="en-US" altLang="en-US" sz="2000" dirty="0"/>
              <a:t>because position 0 is already full.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"bear" (h = 1): try 1, 1 + 1, </a:t>
            </a:r>
            <a:r>
              <a:rPr lang="en-US" altLang="en-US" sz="2000" dirty="0">
                <a:solidFill>
                  <a:schemeClr val="tx1"/>
                </a:solidFill>
              </a:rPr>
              <a:t>1 + 2 – open!</a:t>
            </a:r>
          </a:p>
          <a:p>
            <a:pPr lvl="1">
              <a:spcBef>
                <a:spcPts val="200"/>
              </a:spcBef>
              <a:tabLst>
                <a:tab pos="569913" algn="l"/>
                <a:tab pos="793750" algn="l"/>
              </a:tabLst>
            </a:pPr>
            <a:r>
              <a:rPr lang="en-US" altLang="en-US" sz="2000" b="1" dirty="0">
                <a:solidFill>
                  <a:srgbClr val="0000FF"/>
                </a:solidFill>
              </a:rPr>
              <a:t>where would "zebu" end up?</a:t>
            </a:r>
            <a:r>
              <a:rPr lang="en-US" altLang="en-US" sz="2000" dirty="0"/>
              <a:t> </a:t>
            </a:r>
            <a:br>
              <a:rPr lang="en-US" altLang="en-US" sz="2000" dirty="0"/>
            </a:br>
            <a:r>
              <a:rPr lang="en-US" altLang="en-US" sz="2000" b="1" dirty="0">
                <a:solidFill>
                  <a:srgbClr val="FF0000"/>
                </a:solidFill>
              </a:rPr>
              <a:t>try 25, (25 + 1) % 26, (25 + 2) % 26, …</a:t>
            </a:r>
            <a:endParaRPr lang="en-US" altLang="en-US" sz="2000" i="1" dirty="0">
              <a:solidFill>
                <a:srgbClr val="FF0000"/>
              </a:solidFill>
            </a:endParaRPr>
          </a:p>
          <a:p>
            <a:pPr>
              <a:spcBef>
                <a:spcPts val="1400"/>
              </a:spcBef>
              <a:buFontTx/>
              <a:buNone/>
              <a:tabLst>
                <a:tab pos="569913" algn="l"/>
                <a:tab pos="793750" algn="l"/>
              </a:tabLst>
            </a:pPr>
            <a:endParaRPr lang="en-US" altLang="en-US" dirty="0"/>
          </a:p>
        </p:txBody>
      </p:sp>
      <p:graphicFrame>
        <p:nvGraphicFramePr>
          <p:cNvPr id="2106373" name="Group 5"/>
          <p:cNvGraphicFramePr>
            <a:graphicFrameLocks noGrp="1"/>
          </p:cNvGraphicFramePr>
          <p:nvPr/>
        </p:nvGraphicFramePr>
        <p:xfrm>
          <a:off x="6427788" y="2278063"/>
          <a:ext cx="2097087" cy="4359277"/>
        </p:xfrm>
        <a:graphic>
          <a:graphicData uri="http://schemas.openxmlformats.org/drawingml/2006/table">
            <a:tbl>
              <a:tblPr/>
              <a:tblGrid>
                <a:gridCol w="105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6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0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"ant"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Console" pitchFamily="49" charset="0"/>
                        </a:rPr>
                        <a:t>"ape"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"cat"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3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Console" pitchFamily="49" charset="0"/>
                        </a:rPr>
                        <a:t>"bear"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4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"emu"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5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6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7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…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...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22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"wolf"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23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"wasp"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24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"yak"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25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"zebra"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7" name="Rectangle 54"/>
          <p:cNvSpPr>
            <a:spLocks noChangeArrowheads="1"/>
          </p:cNvSpPr>
          <p:nvPr/>
        </p:nvSpPr>
        <p:spPr bwMode="auto">
          <a:xfrm>
            <a:off x="7505700" y="2970301"/>
            <a:ext cx="995363" cy="280987"/>
          </a:xfrm>
          <a:prstGeom prst="rect">
            <a:avLst/>
          </a:prstGeom>
          <a:noFill/>
          <a:ln w="38100" algn="ctr">
            <a:solidFill>
              <a:srgbClr val="CC0099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>
              <a:spcBef>
                <a:spcPts val="1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 algn="l">
              <a:spcBef>
                <a:spcPts val="525"/>
              </a:spcBef>
              <a:buClr>
                <a:srgbClr val="000000"/>
              </a:buClr>
              <a:buSzPct val="10000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Helvetica" panose="020B0604020202020204" pitchFamily="34" charset="0"/>
              <a:buChar char="–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+mn-cs"/>
            </a:endParaRP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752804" y="4454646"/>
            <a:ext cx="3797929" cy="23469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marL="333375" indent="-333375" algn="l" defTabSz="447675" rtl="0" eaLnBrk="0" fontAlgn="base" hangingPunct="0">
              <a:spcBef>
                <a:spcPts val="1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733425" indent="-276225" algn="l" defTabSz="447675" rtl="0" eaLnBrk="0" fontAlgn="base" hangingPunct="0">
              <a:spcBef>
                <a:spcPts val="5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Helvetica" panose="020B0604020202020204" pitchFamily="34" charset="0"/>
              <a:buChar char="–"/>
              <a:defRPr sz="2200">
                <a:solidFill>
                  <a:srgbClr val="000000"/>
                </a:solidFill>
                <a:latin typeface="+mn-lt"/>
              </a:defRPr>
            </a:lvl2pPr>
            <a:lvl3pPr marL="1076325" indent="-161925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000">
                <a:solidFill>
                  <a:srgbClr val="000000"/>
                </a:solidFill>
                <a:latin typeface="+mn-lt"/>
              </a:defRPr>
            </a:lvl3pPr>
            <a:lvl4pPr marL="1600200" indent="-228600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Helvetica" panose="020B0604020202020204" pitchFamily="34" charset="0"/>
              <a:buChar char="–"/>
              <a:defRPr sz="2000">
                <a:solidFill>
                  <a:srgbClr val="000000"/>
                </a:solidFill>
                <a:latin typeface="+mn-lt"/>
              </a:defRPr>
            </a:lvl4pPr>
            <a:lvl5pPr marL="2057400" indent="-228600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+mn-lt"/>
              </a:defRPr>
            </a:lvl5pPr>
            <a:lvl6pPr marL="2514600" indent="-228600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Char char="»"/>
              <a:defRPr sz="2000">
                <a:solidFill>
                  <a:srgbClr val="000000"/>
                </a:solidFill>
                <a:latin typeface="+mn-lt"/>
              </a:defRPr>
            </a:lvl6pPr>
            <a:lvl7pPr marL="2971800" indent="-228600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Char char="»"/>
              <a:defRPr sz="2000">
                <a:solidFill>
                  <a:srgbClr val="000000"/>
                </a:solidFill>
                <a:latin typeface="+mn-lt"/>
              </a:defRPr>
            </a:lvl7pPr>
            <a:lvl8pPr marL="3429000" indent="-228600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Char char="»"/>
              <a:defRPr sz="2000">
                <a:solidFill>
                  <a:srgbClr val="000000"/>
                </a:solidFill>
                <a:latin typeface="+mn-lt"/>
              </a:defRPr>
            </a:lvl8pPr>
            <a:lvl9pPr marL="3886200" indent="-228600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Char char="»"/>
              <a:defRPr sz="2000">
                <a:solidFill>
                  <a:srgbClr val="000000"/>
                </a:solidFill>
                <a:latin typeface="+mn-lt"/>
              </a:defRPr>
            </a:lvl9pPr>
          </a:lstStyle>
          <a:p>
            <a:pPr marL="457200" marR="0" lvl="0" indent="-457200" algn="l" defTabSz="447675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+mj-lt"/>
              <a:buAutoNum type="alphaUcPeriod"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 </a:t>
            </a: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0</a:t>
            </a:r>
          </a:p>
          <a:p>
            <a:pPr marL="457200" marR="0" lvl="0" indent="-457200" algn="l" defTabSz="447675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+mj-lt"/>
              <a:buAutoNum type="alphaUcPeriod"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 </a:t>
            </a: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5</a:t>
            </a:r>
          </a:p>
          <a:p>
            <a:pPr marL="457200" marR="0" lvl="0" indent="-457200" algn="l" defTabSz="447675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+mj-lt"/>
              <a:buAutoNum type="alphaUcPeriod"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 </a:t>
            </a: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6</a:t>
            </a:r>
          </a:p>
          <a:p>
            <a:pPr marL="457200" marR="0" lvl="0" indent="-457200" algn="l" defTabSz="447675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+mj-lt"/>
              <a:buAutoNum type="alphaUcPeriod"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 </a:t>
            </a: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7</a:t>
            </a:r>
          </a:p>
          <a:p>
            <a:pPr marL="457200" marR="0" lvl="0" indent="-457200" algn="l" defTabSz="447675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+mj-lt"/>
              <a:buAutoNum type="alphaUcPeriod"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 </a:t>
            </a: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25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  <a:p>
            <a:pPr marL="457200" marR="0" lvl="0" indent="-457200" algn="l" defTabSz="447675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+mj-lt"/>
              <a:buAutoNum type="alphaUcPeriod"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  <a:p>
            <a:pPr marL="0" marR="0" lvl="0" indent="0" algn="l" defTabSz="447675" rtl="0" eaLnBrk="0" fontAlgn="base" latinLnBrk="0" hangingPunct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  <a:p>
            <a:pPr marL="333375" marR="0" lvl="0" indent="-333375" algn="l" defTabSz="447675" rtl="0" eaLnBrk="0" fontAlgn="base" latinLnBrk="0" hangingPunct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  <a:p>
            <a:pPr marL="333375" marR="0" lvl="0" indent="-333375" algn="l" defTabSz="447675" rtl="0" eaLnBrk="0" fontAlgn="base" latinLnBrk="0" hangingPunct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  <a:p>
            <a:pPr marL="333375" marR="0" lvl="0" indent="-333375" algn="l" defTabSz="447675" rtl="0" eaLnBrk="0" fontAlgn="base" latinLnBrk="0" hangingPunct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  <a:p>
            <a:pPr marL="333375" marR="0" lvl="0" indent="-333375" algn="l" defTabSz="447675" rtl="0" eaLnBrk="0" fontAlgn="base" latinLnBrk="0" hangingPunct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  <a:p>
            <a:pPr marL="333375" marR="0" lvl="0" indent="-333375" algn="l" defTabSz="447675" rtl="0" eaLnBrk="0" fontAlgn="base" latinLnBrk="0" hangingPunct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  <a:p>
            <a:pPr marL="333375" marR="0" lvl="0" indent="-333375" algn="l" defTabSz="447675" rtl="0" eaLnBrk="0" fontAlgn="base" latinLnBrk="0" hangingPunct="0">
              <a:lnSpc>
                <a:spcPct val="100000"/>
              </a:lnSpc>
              <a:spcBef>
                <a:spcPts val="2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451998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Linear Probing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458200" cy="5614988"/>
          </a:xfrm>
        </p:spPr>
        <p:txBody>
          <a:bodyPr/>
          <a:lstStyle/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Probe sequence:  h(key), h(key) + 1, h(key) + 2, …, </a:t>
            </a:r>
            <a:br>
              <a:rPr lang="en-US" altLang="en-US" dirty="0"/>
            </a:br>
            <a:r>
              <a:rPr lang="en-US" altLang="en-US" dirty="0"/>
              <a:t>wrapping around as necessary.</a:t>
            </a:r>
          </a:p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Examples: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"ape" (h = 0) would be placed in position 1, </a:t>
            </a:r>
            <a:br>
              <a:rPr lang="en-US" altLang="en-US" sz="2000" dirty="0"/>
            </a:br>
            <a:r>
              <a:rPr lang="en-US" altLang="en-US" sz="2000" dirty="0"/>
              <a:t>because position 0 is already full.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"bear" (h = 1): try 1, 1 + 1, </a:t>
            </a:r>
            <a:r>
              <a:rPr lang="en-US" altLang="en-US" sz="2000" dirty="0">
                <a:solidFill>
                  <a:schemeClr val="tx1"/>
                </a:solidFill>
              </a:rPr>
              <a:t>1 + 2 – open!</a:t>
            </a:r>
          </a:p>
          <a:p>
            <a:pPr lvl="1">
              <a:spcBef>
                <a:spcPts val="200"/>
              </a:spcBef>
              <a:tabLst>
                <a:tab pos="569913" algn="l"/>
                <a:tab pos="793750" algn="l"/>
              </a:tabLst>
            </a:pPr>
            <a:r>
              <a:rPr lang="en-US" altLang="en-US" sz="2000" b="1" dirty="0">
                <a:solidFill>
                  <a:srgbClr val="0000FF"/>
                </a:solidFill>
              </a:rPr>
              <a:t>where would "zebu" end up?</a:t>
            </a:r>
            <a:r>
              <a:rPr lang="en-US" altLang="en-US" sz="2000" dirty="0"/>
              <a:t> </a:t>
            </a:r>
            <a:br>
              <a:rPr lang="en-US" altLang="en-US" sz="2000" dirty="0"/>
            </a:br>
            <a:r>
              <a:rPr lang="en-US" altLang="en-US" sz="2000" b="1" dirty="0">
                <a:solidFill>
                  <a:srgbClr val="FF0000"/>
                </a:solidFill>
              </a:rPr>
              <a:t>try 25, (25 + 1) % 26, (25 + 2) % 26, …</a:t>
            </a:r>
            <a:endParaRPr lang="en-US" altLang="en-US" sz="2000" i="1" dirty="0">
              <a:solidFill>
                <a:srgbClr val="FF0000"/>
              </a:solidFill>
            </a:endParaRPr>
          </a:p>
          <a:p>
            <a:pPr>
              <a:spcBef>
                <a:spcPts val="1400"/>
              </a:spcBef>
              <a:buFontTx/>
              <a:buNone/>
              <a:tabLst>
                <a:tab pos="569913" algn="l"/>
                <a:tab pos="793750" algn="l"/>
              </a:tabLst>
            </a:pPr>
            <a:endParaRPr lang="en-US" altLang="en-US" dirty="0"/>
          </a:p>
        </p:txBody>
      </p:sp>
      <p:graphicFrame>
        <p:nvGraphicFramePr>
          <p:cNvPr id="2106373" name="Group 5"/>
          <p:cNvGraphicFramePr>
            <a:graphicFrameLocks noGrp="1"/>
          </p:cNvGraphicFramePr>
          <p:nvPr/>
        </p:nvGraphicFramePr>
        <p:xfrm>
          <a:off x="6427788" y="2278063"/>
          <a:ext cx="2097087" cy="4359277"/>
        </p:xfrm>
        <a:graphic>
          <a:graphicData uri="http://schemas.openxmlformats.org/drawingml/2006/table">
            <a:tbl>
              <a:tblPr/>
              <a:tblGrid>
                <a:gridCol w="105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6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0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"ant"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Console" pitchFamily="49" charset="0"/>
                        </a:rPr>
                        <a:t>"ape"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"cat"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3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Console" pitchFamily="49" charset="0"/>
                        </a:rPr>
                        <a:t>"bear"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4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"emu"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5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6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7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…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...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22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"wolf"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23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"wasp"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24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"yak"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25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"zebra"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7" name="Rectangle 54"/>
          <p:cNvSpPr>
            <a:spLocks noChangeArrowheads="1"/>
          </p:cNvSpPr>
          <p:nvPr/>
        </p:nvSpPr>
        <p:spPr bwMode="auto">
          <a:xfrm>
            <a:off x="7505700" y="3309938"/>
            <a:ext cx="995363" cy="280987"/>
          </a:xfrm>
          <a:prstGeom prst="rect">
            <a:avLst/>
          </a:prstGeom>
          <a:noFill/>
          <a:ln w="38100" algn="ctr">
            <a:solidFill>
              <a:srgbClr val="CC0099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>
              <a:spcBef>
                <a:spcPts val="1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 algn="l">
              <a:spcBef>
                <a:spcPts val="525"/>
              </a:spcBef>
              <a:buClr>
                <a:srgbClr val="000000"/>
              </a:buClr>
              <a:buSzPct val="10000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Helvetica" panose="020B0604020202020204" pitchFamily="34" charset="0"/>
              <a:buChar char="–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+mn-cs"/>
            </a:endParaRP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752804" y="4454646"/>
            <a:ext cx="3797929" cy="23469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marL="333375" indent="-333375" algn="l" defTabSz="447675" rtl="0" eaLnBrk="0" fontAlgn="base" hangingPunct="0">
              <a:spcBef>
                <a:spcPts val="1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733425" indent="-276225" algn="l" defTabSz="447675" rtl="0" eaLnBrk="0" fontAlgn="base" hangingPunct="0">
              <a:spcBef>
                <a:spcPts val="5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Helvetica" panose="020B0604020202020204" pitchFamily="34" charset="0"/>
              <a:buChar char="–"/>
              <a:defRPr sz="2200">
                <a:solidFill>
                  <a:srgbClr val="000000"/>
                </a:solidFill>
                <a:latin typeface="+mn-lt"/>
              </a:defRPr>
            </a:lvl2pPr>
            <a:lvl3pPr marL="1076325" indent="-161925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000">
                <a:solidFill>
                  <a:srgbClr val="000000"/>
                </a:solidFill>
                <a:latin typeface="+mn-lt"/>
              </a:defRPr>
            </a:lvl3pPr>
            <a:lvl4pPr marL="1600200" indent="-228600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Helvetica" panose="020B0604020202020204" pitchFamily="34" charset="0"/>
              <a:buChar char="–"/>
              <a:defRPr sz="2000">
                <a:solidFill>
                  <a:srgbClr val="000000"/>
                </a:solidFill>
                <a:latin typeface="+mn-lt"/>
              </a:defRPr>
            </a:lvl4pPr>
            <a:lvl5pPr marL="2057400" indent="-228600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+mn-lt"/>
              </a:defRPr>
            </a:lvl5pPr>
            <a:lvl6pPr marL="2514600" indent="-228600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Char char="»"/>
              <a:defRPr sz="2000">
                <a:solidFill>
                  <a:srgbClr val="000000"/>
                </a:solidFill>
                <a:latin typeface="+mn-lt"/>
              </a:defRPr>
            </a:lvl6pPr>
            <a:lvl7pPr marL="2971800" indent="-228600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Char char="»"/>
              <a:defRPr sz="2000">
                <a:solidFill>
                  <a:srgbClr val="000000"/>
                </a:solidFill>
                <a:latin typeface="+mn-lt"/>
              </a:defRPr>
            </a:lvl7pPr>
            <a:lvl8pPr marL="3429000" indent="-228600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Char char="»"/>
              <a:defRPr sz="2000">
                <a:solidFill>
                  <a:srgbClr val="000000"/>
                </a:solidFill>
                <a:latin typeface="+mn-lt"/>
              </a:defRPr>
            </a:lvl8pPr>
            <a:lvl9pPr marL="3886200" indent="-228600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Char char="»"/>
              <a:defRPr sz="2000">
                <a:solidFill>
                  <a:srgbClr val="000000"/>
                </a:solidFill>
                <a:latin typeface="+mn-lt"/>
              </a:defRPr>
            </a:lvl9pPr>
          </a:lstStyle>
          <a:p>
            <a:pPr marL="457200" marR="0" lvl="0" indent="-457200" algn="l" defTabSz="447675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+mj-lt"/>
              <a:buAutoNum type="alphaUcPeriod"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 </a:t>
            </a: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0</a:t>
            </a:r>
          </a:p>
          <a:p>
            <a:pPr marL="457200" marR="0" lvl="0" indent="-457200" algn="l" defTabSz="447675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+mj-lt"/>
              <a:buAutoNum type="alphaUcPeriod"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 </a:t>
            </a: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5</a:t>
            </a:r>
          </a:p>
          <a:p>
            <a:pPr marL="457200" marR="0" lvl="0" indent="-457200" algn="l" defTabSz="447675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+mj-lt"/>
              <a:buAutoNum type="alphaUcPeriod"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 </a:t>
            </a: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6</a:t>
            </a:r>
          </a:p>
          <a:p>
            <a:pPr marL="457200" marR="0" lvl="0" indent="-457200" algn="l" defTabSz="447675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+mj-lt"/>
              <a:buAutoNum type="alphaUcPeriod"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 </a:t>
            </a: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7</a:t>
            </a:r>
          </a:p>
          <a:p>
            <a:pPr marL="457200" marR="0" lvl="0" indent="-457200" algn="l" defTabSz="447675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+mj-lt"/>
              <a:buAutoNum type="alphaUcPeriod"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 </a:t>
            </a: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25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  <a:p>
            <a:pPr marL="457200" marR="0" lvl="0" indent="-457200" algn="l" defTabSz="447675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+mj-lt"/>
              <a:buAutoNum type="alphaUcPeriod"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  <a:p>
            <a:pPr marL="0" marR="0" lvl="0" indent="0" algn="l" defTabSz="447675" rtl="0" eaLnBrk="0" fontAlgn="base" latinLnBrk="0" hangingPunct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  <a:p>
            <a:pPr marL="333375" marR="0" lvl="0" indent="-333375" algn="l" defTabSz="447675" rtl="0" eaLnBrk="0" fontAlgn="base" latinLnBrk="0" hangingPunct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  <a:p>
            <a:pPr marL="333375" marR="0" lvl="0" indent="-333375" algn="l" defTabSz="447675" rtl="0" eaLnBrk="0" fontAlgn="base" latinLnBrk="0" hangingPunct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  <a:p>
            <a:pPr marL="333375" marR="0" lvl="0" indent="-333375" algn="l" defTabSz="447675" rtl="0" eaLnBrk="0" fontAlgn="base" latinLnBrk="0" hangingPunct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  <a:p>
            <a:pPr marL="333375" marR="0" lvl="0" indent="-333375" algn="l" defTabSz="447675" rtl="0" eaLnBrk="0" fontAlgn="base" latinLnBrk="0" hangingPunct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  <a:p>
            <a:pPr marL="333375" marR="0" lvl="0" indent="-333375" algn="l" defTabSz="447675" rtl="0" eaLnBrk="0" fontAlgn="base" latinLnBrk="0" hangingPunct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  <a:p>
            <a:pPr marL="333375" marR="0" lvl="0" indent="-333375" algn="l" defTabSz="447675" rtl="0" eaLnBrk="0" fontAlgn="base" latinLnBrk="0" hangingPunct="0">
              <a:lnSpc>
                <a:spcPct val="100000"/>
              </a:lnSpc>
              <a:spcBef>
                <a:spcPts val="2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8059078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Linear Probing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458200" cy="5614988"/>
          </a:xfrm>
        </p:spPr>
        <p:txBody>
          <a:bodyPr/>
          <a:lstStyle/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Probe sequence:  h(key), h(key) + 1, h(key) + 2, …, </a:t>
            </a:r>
            <a:br>
              <a:rPr lang="en-US" altLang="en-US" dirty="0"/>
            </a:br>
            <a:r>
              <a:rPr lang="en-US" altLang="en-US" dirty="0"/>
              <a:t>wrapping around as necessary.</a:t>
            </a:r>
          </a:p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Examples: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"ape" (h = 0) would be placed in position 1, </a:t>
            </a:r>
            <a:br>
              <a:rPr lang="en-US" altLang="en-US" sz="2000" dirty="0"/>
            </a:br>
            <a:r>
              <a:rPr lang="en-US" altLang="en-US" sz="2000" dirty="0"/>
              <a:t>because position 0 is already full.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"bear" (h = 1): try 1, 1 + 1, </a:t>
            </a:r>
            <a:r>
              <a:rPr lang="en-US" altLang="en-US" sz="2000" dirty="0">
                <a:solidFill>
                  <a:schemeClr val="tx1"/>
                </a:solidFill>
              </a:rPr>
              <a:t>1 + 2 – open!</a:t>
            </a:r>
          </a:p>
          <a:p>
            <a:pPr lvl="1">
              <a:spcBef>
                <a:spcPts val="200"/>
              </a:spcBef>
              <a:tabLst>
                <a:tab pos="569913" algn="l"/>
                <a:tab pos="793750" algn="l"/>
              </a:tabLst>
            </a:pPr>
            <a:r>
              <a:rPr lang="en-US" altLang="en-US" sz="2000" b="1" dirty="0">
                <a:solidFill>
                  <a:srgbClr val="0000FF"/>
                </a:solidFill>
              </a:rPr>
              <a:t>where would "zebu" end up?</a:t>
            </a:r>
            <a:r>
              <a:rPr lang="en-US" altLang="en-US" sz="2000" dirty="0"/>
              <a:t> </a:t>
            </a:r>
            <a:br>
              <a:rPr lang="en-US" altLang="en-US" sz="2000" dirty="0"/>
            </a:br>
            <a:r>
              <a:rPr lang="en-US" altLang="en-US" sz="2000" b="1" dirty="0">
                <a:solidFill>
                  <a:srgbClr val="FF0000"/>
                </a:solidFill>
              </a:rPr>
              <a:t>try 25, (25 + 1) % 26, (25 + 2) % 26, …</a:t>
            </a:r>
            <a:endParaRPr lang="en-US" altLang="en-US" sz="2000" i="1" dirty="0">
              <a:solidFill>
                <a:srgbClr val="FF0000"/>
              </a:solidFill>
            </a:endParaRPr>
          </a:p>
          <a:p>
            <a:pPr>
              <a:spcBef>
                <a:spcPts val="1400"/>
              </a:spcBef>
              <a:buFontTx/>
              <a:buNone/>
              <a:tabLst>
                <a:tab pos="569913" algn="l"/>
                <a:tab pos="793750" algn="l"/>
              </a:tabLst>
            </a:pPr>
            <a:endParaRPr lang="en-US" altLang="en-US" dirty="0"/>
          </a:p>
        </p:txBody>
      </p:sp>
      <p:graphicFrame>
        <p:nvGraphicFramePr>
          <p:cNvPr id="2106373" name="Group 5"/>
          <p:cNvGraphicFramePr>
            <a:graphicFrameLocks noGrp="1"/>
          </p:cNvGraphicFramePr>
          <p:nvPr/>
        </p:nvGraphicFramePr>
        <p:xfrm>
          <a:off x="6427788" y="2278063"/>
          <a:ext cx="2097087" cy="4359277"/>
        </p:xfrm>
        <a:graphic>
          <a:graphicData uri="http://schemas.openxmlformats.org/drawingml/2006/table">
            <a:tbl>
              <a:tblPr/>
              <a:tblGrid>
                <a:gridCol w="105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6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0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"ant"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Console" pitchFamily="49" charset="0"/>
                        </a:rPr>
                        <a:t>"ape"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"cat"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3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Console" pitchFamily="49" charset="0"/>
                        </a:rPr>
                        <a:t>"bear"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4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"emu"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5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6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7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…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...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22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"wolf"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23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"wasp"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24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"yak"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25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"zebra"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7" name="Rectangle 54"/>
          <p:cNvSpPr>
            <a:spLocks noChangeArrowheads="1"/>
          </p:cNvSpPr>
          <p:nvPr/>
        </p:nvSpPr>
        <p:spPr bwMode="auto">
          <a:xfrm>
            <a:off x="7505700" y="3650182"/>
            <a:ext cx="995363" cy="280987"/>
          </a:xfrm>
          <a:prstGeom prst="rect">
            <a:avLst/>
          </a:prstGeom>
          <a:noFill/>
          <a:ln w="38100" algn="ctr">
            <a:solidFill>
              <a:srgbClr val="CC0099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>
              <a:spcBef>
                <a:spcPts val="1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 algn="l">
              <a:spcBef>
                <a:spcPts val="525"/>
              </a:spcBef>
              <a:buClr>
                <a:srgbClr val="000000"/>
              </a:buClr>
              <a:buSzPct val="10000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Helvetica" panose="020B0604020202020204" pitchFamily="34" charset="0"/>
              <a:buChar char="–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+mn-cs"/>
            </a:endParaRP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752804" y="4454646"/>
            <a:ext cx="3797929" cy="23469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marL="333375" indent="-333375" algn="l" defTabSz="447675" rtl="0" eaLnBrk="0" fontAlgn="base" hangingPunct="0">
              <a:spcBef>
                <a:spcPts val="1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733425" indent="-276225" algn="l" defTabSz="447675" rtl="0" eaLnBrk="0" fontAlgn="base" hangingPunct="0">
              <a:spcBef>
                <a:spcPts val="5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Helvetica" panose="020B0604020202020204" pitchFamily="34" charset="0"/>
              <a:buChar char="–"/>
              <a:defRPr sz="2200">
                <a:solidFill>
                  <a:srgbClr val="000000"/>
                </a:solidFill>
                <a:latin typeface="+mn-lt"/>
              </a:defRPr>
            </a:lvl2pPr>
            <a:lvl3pPr marL="1076325" indent="-161925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000">
                <a:solidFill>
                  <a:srgbClr val="000000"/>
                </a:solidFill>
                <a:latin typeface="+mn-lt"/>
              </a:defRPr>
            </a:lvl3pPr>
            <a:lvl4pPr marL="1600200" indent="-228600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Helvetica" panose="020B0604020202020204" pitchFamily="34" charset="0"/>
              <a:buChar char="–"/>
              <a:defRPr sz="2000">
                <a:solidFill>
                  <a:srgbClr val="000000"/>
                </a:solidFill>
                <a:latin typeface="+mn-lt"/>
              </a:defRPr>
            </a:lvl4pPr>
            <a:lvl5pPr marL="2057400" indent="-228600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+mn-lt"/>
              </a:defRPr>
            </a:lvl5pPr>
            <a:lvl6pPr marL="2514600" indent="-228600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Char char="»"/>
              <a:defRPr sz="2000">
                <a:solidFill>
                  <a:srgbClr val="000000"/>
                </a:solidFill>
                <a:latin typeface="+mn-lt"/>
              </a:defRPr>
            </a:lvl6pPr>
            <a:lvl7pPr marL="2971800" indent="-228600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Char char="»"/>
              <a:defRPr sz="2000">
                <a:solidFill>
                  <a:srgbClr val="000000"/>
                </a:solidFill>
                <a:latin typeface="+mn-lt"/>
              </a:defRPr>
            </a:lvl7pPr>
            <a:lvl8pPr marL="3429000" indent="-228600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Char char="»"/>
              <a:defRPr sz="2000">
                <a:solidFill>
                  <a:srgbClr val="000000"/>
                </a:solidFill>
                <a:latin typeface="+mn-lt"/>
              </a:defRPr>
            </a:lvl8pPr>
            <a:lvl9pPr marL="3886200" indent="-228600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Char char="»"/>
              <a:defRPr sz="2000">
                <a:solidFill>
                  <a:srgbClr val="000000"/>
                </a:solidFill>
                <a:latin typeface="+mn-lt"/>
              </a:defRPr>
            </a:lvl9pPr>
          </a:lstStyle>
          <a:p>
            <a:pPr marL="457200" marR="0" lvl="0" indent="-457200" algn="l" defTabSz="447675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+mj-lt"/>
              <a:buAutoNum type="alphaUcPeriod"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 </a:t>
            </a: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0</a:t>
            </a:r>
          </a:p>
          <a:p>
            <a:pPr marL="457200" marR="0" lvl="0" indent="-457200" algn="l" defTabSz="447675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+mj-lt"/>
              <a:buAutoNum type="alphaUcPeriod"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 </a:t>
            </a: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5</a:t>
            </a:r>
          </a:p>
          <a:p>
            <a:pPr marL="457200" marR="0" lvl="0" indent="-457200" algn="l" defTabSz="447675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+mj-lt"/>
              <a:buAutoNum type="alphaUcPeriod"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 </a:t>
            </a: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6</a:t>
            </a:r>
          </a:p>
          <a:p>
            <a:pPr marL="457200" marR="0" lvl="0" indent="-457200" algn="l" defTabSz="447675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+mj-lt"/>
              <a:buAutoNum type="alphaUcPeriod"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 </a:t>
            </a: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7</a:t>
            </a:r>
          </a:p>
          <a:p>
            <a:pPr marL="457200" marR="0" lvl="0" indent="-457200" algn="l" defTabSz="447675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+mj-lt"/>
              <a:buAutoNum type="alphaUcPeriod"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 </a:t>
            </a: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25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  <a:p>
            <a:pPr marL="457200" marR="0" lvl="0" indent="-457200" algn="l" defTabSz="447675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+mj-lt"/>
              <a:buAutoNum type="alphaUcPeriod"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  <a:p>
            <a:pPr marL="0" marR="0" lvl="0" indent="0" algn="l" defTabSz="447675" rtl="0" eaLnBrk="0" fontAlgn="base" latinLnBrk="0" hangingPunct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  <a:p>
            <a:pPr marL="333375" marR="0" lvl="0" indent="-333375" algn="l" defTabSz="447675" rtl="0" eaLnBrk="0" fontAlgn="base" latinLnBrk="0" hangingPunct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  <a:p>
            <a:pPr marL="333375" marR="0" lvl="0" indent="-333375" algn="l" defTabSz="447675" rtl="0" eaLnBrk="0" fontAlgn="base" latinLnBrk="0" hangingPunct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  <a:p>
            <a:pPr marL="333375" marR="0" lvl="0" indent="-333375" algn="l" defTabSz="447675" rtl="0" eaLnBrk="0" fontAlgn="base" latinLnBrk="0" hangingPunct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  <a:p>
            <a:pPr marL="333375" marR="0" lvl="0" indent="-333375" algn="l" defTabSz="447675" rtl="0" eaLnBrk="0" fontAlgn="base" latinLnBrk="0" hangingPunct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  <a:p>
            <a:pPr marL="333375" marR="0" lvl="0" indent="-333375" algn="l" defTabSz="447675" rtl="0" eaLnBrk="0" fontAlgn="base" latinLnBrk="0" hangingPunct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  <a:p>
            <a:pPr marL="333375" marR="0" lvl="0" indent="-333375" algn="l" defTabSz="447675" rtl="0" eaLnBrk="0" fontAlgn="base" latinLnBrk="0" hangingPunct="0">
              <a:lnSpc>
                <a:spcPct val="100000"/>
              </a:lnSpc>
              <a:spcBef>
                <a:spcPts val="2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9146482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Linear Probing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458200" cy="5614988"/>
          </a:xfrm>
        </p:spPr>
        <p:txBody>
          <a:bodyPr/>
          <a:lstStyle/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Probe sequence:  h(key), h(key) + 1, h(key) + 2, …, </a:t>
            </a:r>
            <a:br>
              <a:rPr lang="en-US" altLang="en-US" dirty="0"/>
            </a:br>
            <a:r>
              <a:rPr lang="en-US" altLang="en-US" dirty="0"/>
              <a:t>wrapping around as necessary.</a:t>
            </a:r>
          </a:p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Examples: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"ape" (h = 0) would be placed in position 1, </a:t>
            </a:r>
            <a:br>
              <a:rPr lang="en-US" altLang="en-US" sz="2000" dirty="0"/>
            </a:br>
            <a:r>
              <a:rPr lang="en-US" altLang="en-US" sz="2000" dirty="0"/>
              <a:t>because position 0 is already full.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"bear" (h = 1): try 1, 1 + 1, </a:t>
            </a:r>
            <a:r>
              <a:rPr lang="en-US" altLang="en-US" sz="2000" dirty="0">
                <a:solidFill>
                  <a:schemeClr val="tx1"/>
                </a:solidFill>
              </a:rPr>
              <a:t>1 + 2 – open!</a:t>
            </a:r>
          </a:p>
          <a:p>
            <a:pPr lvl="1">
              <a:spcBef>
                <a:spcPts val="200"/>
              </a:spcBef>
              <a:tabLst>
                <a:tab pos="569913" algn="l"/>
                <a:tab pos="793750" algn="l"/>
              </a:tabLst>
            </a:pPr>
            <a:r>
              <a:rPr lang="en-US" altLang="en-US" sz="2000" b="1" dirty="0">
                <a:solidFill>
                  <a:srgbClr val="0000FF"/>
                </a:solidFill>
              </a:rPr>
              <a:t>where would "zebu" end up?</a:t>
            </a:r>
            <a:r>
              <a:rPr lang="en-US" altLang="en-US" sz="2000" dirty="0"/>
              <a:t> </a:t>
            </a:r>
            <a:br>
              <a:rPr lang="en-US" altLang="en-US" sz="2000" dirty="0"/>
            </a:br>
            <a:r>
              <a:rPr lang="en-US" altLang="en-US" sz="2000" b="1" dirty="0">
                <a:solidFill>
                  <a:srgbClr val="FF0000"/>
                </a:solidFill>
              </a:rPr>
              <a:t>try 25, (25 + 1) % 26, (25 + 2) % 26, …</a:t>
            </a:r>
            <a:endParaRPr lang="en-US" altLang="en-US" sz="2000" i="1" dirty="0">
              <a:solidFill>
                <a:srgbClr val="FF0000"/>
              </a:solidFill>
            </a:endParaRPr>
          </a:p>
          <a:p>
            <a:pPr>
              <a:spcBef>
                <a:spcPts val="1400"/>
              </a:spcBef>
              <a:buFontTx/>
              <a:buNone/>
              <a:tabLst>
                <a:tab pos="569913" algn="l"/>
                <a:tab pos="793750" algn="l"/>
              </a:tabLst>
            </a:pPr>
            <a:endParaRPr lang="en-US" altLang="en-US" dirty="0"/>
          </a:p>
        </p:txBody>
      </p:sp>
      <p:graphicFrame>
        <p:nvGraphicFramePr>
          <p:cNvPr id="2106373" name="Group 5"/>
          <p:cNvGraphicFramePr>
            <a:graphicFrameLocks noGrp="1"/>
          </p:cNvGraphicFramePr>
          <p:nvPr/>
        </p:nvGraphicFramePr>
        <p:xfrm>
          <a:off x="6427788" y="2278063"/>
          <a:ext cx="2097087" cy="4359277"/>
        </p:xfrm>
        <a:graphic>
          <a:graphicData uri="http://schemas.openxmlformats.org/drawingml/2006/table">
            <a:tbl>
              <a:tblPr/>
              <a:tblGrid>
                <a:gridCol w="105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6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0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"ant"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Console" pitchFamily="49" charset="0"/>
                        </a:rPr>
                        <a:t>"ape"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"cat"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3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Console" pitchFamily="49" charset="0"/>
                        </a:rPr>
                        <a:t>"bear"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4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"emu"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5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6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7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…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...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22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"wolf"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23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"wasp"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24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"yak"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25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"zebra"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7" name="Rectangle 54"/>
          <p:cNvSpPr>
            <a:spLocks noChangeArrowheads="1"/>
          </p:cNvSpPr>
          <p:nvPr/>
        </p:nvSpPr>
        <p:spPr bwMode="auto">
          <a:xfrm>
            <a:off x="7505700" y="3979793"/>
            <a:ext cx="995363" cy="280987"/>
          </a:xfrm>
          <a:prstGeom prst="rect">
            <a:avLst/>
          </a:prstGeom>
          <a:noFill/>
          <a:ln w="38100" algn="ctr">
            <a:solidFill>
              <a:srgbClr val="CC0099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>
              <a:spcBef>
                <a:spcPts val="1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 algn="l">
              <a:spcBef>
                <a:spcPts val="525"/>
              </a:spcBef>
              <a:buClr>
                <a:srgbClr val="000000"/>
              </a:buClr>
              <a:buSzPct val="10000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Helvetica" panose="020B0604020202020204" pitchFamily="34" charset="0"/>
              <a:buChar char="–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+mn-cs"/>
            </a:endParaRP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752804" y="4454646"/>
            <a:ext cx="3797929" cy="23469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marL="333375" indent="-333375" algn="l" defTabSz="447675" rtl="0" eaLnBrk="0" fontAlgn="base" hangingPunct="0">
              <a:spcBef>
                <a:spcPts val="1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733425" indent="-276225" algn="l" defTabSz="447675" rtl="0" eaLnBrk="0" fontAlgn="base" hangingPunct="0">
              <a:spcBef>
                <a:spcPts val="5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Helvetica" panose="020B0604020202020204" pitchFamily="34" charset="0"/>
              <a:buChar char="–"/>
              <a:defRPr sz="2200">
                <a:solidFill>
                  <a:srgbClr val="000000"/>
                </a:solidFill>
                <a:latin typeface="+mn-lt"/>
              </a:defRPr>
            </a:lvl2pPr>
            <a:lvl3pPr marL="1076325" indent="-161925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000">
                <a:solidFill>
                  <a:srgbClr val="000000"/>
                </a:solidFill>
                <a:latin typeface="+mn-lt"/>
              </a:defRPr>
            </a:lvl3pPr>
            <a:lvl4pPr marL="1600200" indent="-228600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Helvetica" panose="020B0604020202020204" pitchFamily="34" charset="0"/>
              <a:buChar char="–"/>
              <a:defRPr sz="2000">
                <a:solidFill>
                  <a:srgbClr val="000000"/>
                </a:solidFill>
                <a:latin typeface="+mn-lt"/>
              </a:defRPr>
            </a:lvl4pPr>
            <a:lvl5pPr marL="2057400" indent="-228600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+mn-lt"/>
              </a:defRPr>
            </a:lvl5pPr>
            <a:lvl6pPr marL="2514600" indent="-228600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Char char="»"/>
              <a:defRPr sz="2000">
                <a:solidFill>
                  <a:srgbClr val="000000"/>
                </a:solidFill>
                <a:latin typeface="+mn-lt"/>
              </a:defRPr>
            </a:lvl6pPr>
            <a:lvl7pPr marL="2971800" indent="-228600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Char char="»"/>
              <a:defRPr sz="2000">
                <a:solidFill>
                  <a:srgbClr val="000000"/>
                </a:solidFill>
                <a:latin typeface="+mn-lt"/>
              </a:defRPr>
            </a:lvl7pPr>
            <a:lvl8pPr marL="3429000" indent="-228600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Char char="»"/>
              <a:defRPr sz="2000">
                <a:solidFill>
                  <a:srgbClr val="000000"/>
                </a:solidFill>
                <a:latin typeface="+mn-lt"/>
              </a:defRPr>
            </a:lvl8pPr>
            <a:lvl9pPr marL="3886200" indent="-228600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Char char="»"/>
              <a:defRPr sz="2000">
                <a:solidFill>
                  <a:srgbClr val="000000"/>
                </a:solidFill>
                <a:latin typeface="+mn-lt"/>
              </a:defRPr>
            </a:lvl9pPr>
          </a:lstStyle>
          <a:p>
            <a:pPr marL="457200" marR="0" lvl="0" indent="-457200" algn="l" defTabSz="447675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+mj-lt"/>
              <a:buAutoNum type="alphaUcPeriod"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 </a:t>
            </a: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0</a:t>
            </a:r>
          </a:p>
          <a:p>
            <a:pPr marL="457200" marR="0" lvl="0" indent="-457200" algn="l" defTabSz="447675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+mj-lt"/>
              <a:buAutoNum type="alphaUcPeriod"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 </a:t>
            </a: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5</a:t>
            </a:r>
          </a:p>
          <a:p>
            <a:pPr marL="457200" marR="0" lvl="0" indent="-457200" algn="l" defTabSz="447675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+mj-lt"/>
              <a:buAutoNum type="alphaUcPeriod"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 </a:t>
            </a: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6</a:t>
            </a:r>
          </a:p>
          <a:p>
            <a:pPr marL="457200" marR="0" lvl="0" indent="-457200" algn="l" defTabSz="447675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+mj-lt"/>
              <a:buAutoNum type="alphaUcPeriod"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 </a:t>
            </a: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7</a:t>
            </a:r>
          </a:p>
          <a:p>
            <a:pPr marL="457200" marR="0" lvl="0" indent="-457200" algn="l" defTabSz="447675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+mj-lt"/>
              <a:buAutoNum type="alphaUcPeriod"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 </a:t>
            </a: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25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  <a:p>
            <a:pPr marL="457200" marR="0" lvl="0" indent="-457200" algn="l" defTabSz="447675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+mj-lt"/>
              <a:buAutoNum type="alphaUcPeriod"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  <a:p>
            <a:pPr marL="0" marR="0" lvl="0" indent="0" algn="l" defTabSz="447675" rtl="0" eaLnBrk="0" fontAlgn="base" latinLnBrk="0" hangingPunct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  <a:p>
            <a:pPr marL="333375" marR="0" lvl="0" indent="-333375" algn="l" defTabSz="447675" rtl="0" eaLnBrk="0" fontAlgn="base" latinLnBrk="0" hangingPunct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  <a:p>
            <a:pPr marL="333375" marR="0" lvl="0" indent="-333375" algn="l" defTabSz="447675" rtl="0" eaLnBrk="0" fontAlgn="base" latinLnBrk="0" hangingPunct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  <a:p>
            <a:pPr marL="333375" marR="0" lvl="0" indent="-333375" algn="l" defTabSz="447675" rtl="0" eaLnBrk="0" fontAlgn="base" latinLnBrk="0" hangingPunct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  <a:p>
            <a:pPr marL="333375" marR="0" lvl="0" indent="-333375" algn="l" defTabSz="447675" rtl="0" eaLnBrk="0" fontAlgn="base" latinLnBrk="0" hangingPunct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  <a:p>
            <a:pPr marL="333375" marR="0" lvl="0" indent="-333375" algn="l" defTabSz="447675" rtl="0" eaLnBrk="0" fontAlgn="base" latinLnBrk="0" hangingPunct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  <a:p>
            <a:pPr marL="333375" marR="0" lvl="0" indent="-333375" algn="l" defTabSz="447675" rtl="0" eaLnBrk="0" fontAlgn="base" latinLnBrk="0" hangingPunct="0">
              <a:lnSpc>
                <a:spcPct val="100000"/>
              </a:lnSpc>
              <a:spcBef>
                <a:spcPts val="2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189800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Linear Probing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458200" cy="5614988"/>
          </a:xfrm>
        </p:spPr>
        <p:txBody>
          <a:bodyPr/>
          <a:lstStyle/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Probe sequence:  h(key), h(key) + 1, h(key) + 2, …, </a:t>
            </a:r>
            <a:br>
              <a:rPr lang="en-US" altLang="en-US" dirty="0"/>
            </a:br>
            <a:r>
              <a:rPr lang="en-US" altLang="en-US" dirty="0"/>
              <a:t>wrapping around as necessary.</a:t>
            </a:r>
          </a:p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Examples: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"ape" (h = 0) would be placed in position 1, </a:t>
            </a:r>
            <a:br>
              <a:rPr lang="en-US" altLang="en-US" sz="2000" dirty="0"/>
            </a:br>
            <a:r>
              <a:rPr lang="en-US" altLang="en-US" sz="2000" dirty="0"/>
              <a:t>because position 0 is already full.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"bear" (h = 1): try 1, 1 + 1, </a:t>
            </a:r>
            <a:r>
              <a:rPr lang="en-US" altLang="en-US" sz="2000" dirty="0">
                <a:solidFill>
                  <a:schemeClr val="tx1"/>
                </a:solidFill>
              </a:rPr>
              <a:t>1 + 2 – open!</a:t>
            </a:r>
          </a:p>
          <a:p>
            <a:pPr lvl="1">
              <a:spcBef>
                <a:spcPts val="200"/>
              </a:spcBef>
              <a:tabLst>
                <a:tab pos="569913" algn="l"/>
                <a:tab pos="793750" algn="l"/>
              </a:tabLst>
            </a:pPr>
            <a:r>
              <a:rPr lang="en-US" altLang="en-US" sz="2000" b="1" dirty="0">
                <a:solidFill>
                  <a:srgbClr val="0000FF"/>
                </a:solidFill>
              </a:rPr>
              <a:t>where would "zebu" end up?</a:t>
            </a:r>
            <a:r>
              <a:rPr lang="en-US" altLang="en-US" sz="2000" dirty="0"/>
              <a:t> </a:t>
            </a:r>
            <a:br>
              <a:rPr lang="en-US" altLang="en-US" sz="2000" dirty="0"/>
            </a:br>
            <a:r>
              <a:rPr lang="en-US" altLang="en-US" sz="2000" b="1" dirty="0">
                <a:solidFill>
                  <a:srgbClr val="FF0000"/>
                </a:solidFill>
              </a:rPr>
              <a:t>try 25, (25 + 1) % 26, (25 + 2) % 26, …</a:t>
            </a:r>
            <a:endParaRPr lang="en-US" altLang="en-US" sz="2000" i="1" dirty="0">
              <a:solidFill>
                <a:srgbClr val="FF0000"/>
              </a:solidFill>
            </a:endParaRPr>
          </a:p>
          <a:p>
            <a:pPr>
              <a:spcBef>
                <a:spcPts val="1400"/>
              </a:spcBef>
              <a:buFontTx/>
              <a:buNone/>
              <a:tabLst>
                <a:tab pos="569913" algn="l"/>
                <a:tab pos="793750" algn="l"/>
              </a:tabLst>
            </a:pPr>
            <a:endParaRPr lang="en-US" altLang="en-US" dirty="0"/>
          </a:p>
        </p:txBody>
      </p:sp>
      <p:graphicFrame>
        <p:nvGraphicFramePr>
          <p:cNvPr id="2106373" name="Group 5"/>
          <p:cNvGraphicFramePr>
            <a:graphicFrameLocks noGrp="1"/>
          </p:cNvGraphicFramePr>
          <p:nvPr/>
        </p:nvGraphicFramePr>
        <p:xfrm>
          <a:off x="6427788" y="2278063"/>
          <a:ext cx="2097087" cy="4359277"/>
        </p:xfrm>
        <a:graphic>
          <a:graphicData uri="http://schemas.openxmlformats.org/drawingml/2006/table">
            <a:tbl>
              <a:tblPr/>
              <a:tblGrid>
                <a:gridCol w="105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6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0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"ant"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Console" pitchFamily="49" charset="0"/>
                        </a:rPr>
                        <a:t>"ape"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"cat"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3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Console" pitchFamily="49" charset="0"/>
                        </a:rPr>
                        <a:t>"bear"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4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"emu"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5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Lucida Console" pitchFamily="49" charset="0"/>
                        </a:rPr>
                        <a:t>"zebu"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6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7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…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...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22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"wolf"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23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"wasp"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24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"yak"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25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"zebra"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752804" y="4454646"/>
            <a:ext cx="3797929" cy="23469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marL="333375" indent="-333375" algn="l" defTabSz="447675" rtl="0" eaLnBrk="0" fontAlgn="base" hangingPunct="0">
              <a:spcBef>
                <a:spcPts val="1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733425" indent="-276225" algn="l" defTabSz="447675" rtl="0" eaLnBrk="0" fontAlgn="base" hangingPunct="0">
              <a:spcBef>
                <a:spcPts val="5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Helvetica" panose="020B0604020202020204" pitchFamily="34" charset="0"/>
              <a:buChar char="–"/>
              <a:defRPr sz="2200">
                <a:solidFill>
                  <a:srgbClr val="000000"/>
                </a:solidFill>
                <a:latin typeface="+mn-lt"/>
              </a:defRPr>
            </a:lvl2pPr>
            <a:lvl3pPr marL="1076325" indent="-161925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000">
                <a:solidFill>
                  <a:srgbClr val="000000"/>
                </a:solidFill>
                <a:latin typeface="+mn-lt"/>
              </a:defRPr>
            </a:lvl3pPr>
            <a:lvl4pPr marL="1600200" indent="-228600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Helvetica" panose="020B0604020202020204" pitchFamily="34" charset="0"/>
              <a:buChar char="–"/>
              <a:defRPr sz="2000">
                <a:solidFill>
                  <a:srgbClr val="000000"/>
                </a:solidFill>
                <a:latin typeface="+mn-lt"/>
              </a:defRPr>
            </a:lvl4pPr>
            <a:lvl5pPr marL="2057400" indent="-228600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+mn-lt"/>
              </a:defRPr>
            </a:lvl5pPr>
            <a:lvl6pPr marL="2514600" indent="-228600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Char char="»"/>
              <a:defRPr sz="2000">
                <a:solidFill>
                  <a:srgbClr val="000000"/>
                </a:solidFill>
                <a:latin typeface="+mn-lt"/>
              </a:defRPr>
            </a:lvl6pPr>
            <a:lvl7pPr marL="2971800" indent="-228600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Char char="»"/>
              <a:defRPr sz="2000">
                <a:solidFill>
                  <a:srgbClr val="000000"/>
                </a:solidFill>
                <a:latin typeface="+mn-lt"/>
              </a:defRPr>
            </a:lvl7pPr>
            <a:lvl8pPr marL="3429000" indent="-228600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Char char="»"/>
              <a:defRPr sz="2000">
                <a:solidFill>
                  <a:srgbClr val="000000"/>
                </a:solidFill>
                <a:latin typeface="+mn-lt"/>
              </a:defRPr>
            </a:lvl8pPr>
            <a:lvl9pPr marL="3886200" indent="-228600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Char char="»"/>
              <a:defRPr sz="2000">
                <a:solidFill>
                  <a:srgbClr val="000000"/>
                </a:solidFill>
                <a:latin typeface="+mn-lt"/>
              </a:defRPr>
            </a:lvl9pPr>
          </a:lstStyle>
          <a:p>
            <a:pPr marL="457200" marR="0" lvl="0" indent="-457200" algn="l" defTabSz="447675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+mj-lt"/>
              <a:buAutoNum type="alphaUcPeriod"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 </a:t>
            </a: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0</a:t>
            </a:r>
          </a:p>
          <a:p>
            <a:pPr marL="457200" marR="0" lvl="0" indent="-457200" algn="l" defTabSz="447675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+mj-lt"/>
              <a:buAutoNum type="alphaUcPeriod"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 </a:t>
            </a: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5</a:t>
            </a:r>
          </a:p>
          <a:p>
            <a:pPr marL="457200" marR="0" lvl="0" indent="-457200" algn="l" defTabSz="447675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+mj-lt"/>
              <a:buAutoNum type="alphaUcPeriod"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 </a:t>
            </a: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6</a:t>
            </a:r>
          </a:p>
          <a:p>
            <a:pPr marL="457200" marR="0" lvl="0" indent="-457200" algn="l" defTabSz="447675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+mj-lt"/>
              <a:buAutoNum type="alphaUcPeriod"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 </a:t>
            </a: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7</a:t>
            </a:r>
          </a:p>
          <a:p>
            <a:pPr marL="457200" marR="0" lvl="0" indent="-457200" algn="l" defTabSz="447675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+mj-lt"/>
              <a:buAutoNum type="alphaUcPeriod"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 </a:t>
            </a: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25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  <a:p>
            <a:pPr marL="457200" marR="0" lvl="0" indent="-457200" algn="l" defTabSz="447675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+mj-lt"/>
              <a:buAutoNum type="alphaUcPeriod"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  <a:p>
            <a:pPr marL="0" marR="0" lvl="0" indent="0" algn="l" defTabSz="447675" rtl="0" eaLnBrk="0" fontAlgn="base" latinLnBrk="0" hangingPunct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  <a:p>
            <a:pPr marL="333375" marR="0" lvl="0" indent="-333375" algn="l" defTabSz="447675" rtl="0" eaLnBrk="0" fontAlgn="base" latinLnBrk="0" hangingPunct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  <a:p>
            <a:pPr marL="333375" marR="0" lvl="0" indent="-333375" algn="l" defTabSz="447675" rtl="0" eaLnBrk="0" fontAlgn="base" latinLnBrk="0" hangingPunct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  <a:p>
            <a:pPr marL="333375" marR="0" lvl="0" indent="-333375" algn="l" defTabSz="447675" rtl="0" eaLnBrk="0" fontAlgn="base" latinLnBrk="0" hangingPunct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  <a:p>
            <a:pPr marL="333375" marR="0" lvl="0" indent="-333375" algn="l" defTabSz="447675" rtl="0" eaLnBrk="0" fontAlgn="base" latinLnBrk="0" hangingPunct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  <a:p>
            <a:pPr marL="333375" marR="0" lvl="0" indent="-333375" algn="l" defTabSz="447675" rtl="0" eaLnBrk="0" fontAlgn="base" latinLnBrk="0" hangingPunct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  <a:p>
            <a:pPr marL="333375" marR="0" lvl="0" indent="-333375" algn="l" defTabSz="447675" rtl="0" eaLnBrk="0" fontAlgn="base" latinLnBrk="0" hangingPunct="0">
              <a:lnSpc>
                <a:spcPct val="100000"/>
              </a:lnSpc>
              <a:spcBef>
                <a:spcPts val="2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7" name="Rectangle 54"/>
          <p:cNvSpPr>
            <a:spLocks noChangeArrowheads="1"/>
          </p:cNvSpPr>
          <p:nvPr/>
        </p:nvSpPr>
        <p:spPr bwMode="auto">
          <a:xfrm>
            <a:off x="7505700" y="3979793"/>
            <a:ext cx="995363" cy="280987"/>
          </a:xfrm>
          <a:prstGeom prst="rect">
            <a:avLst/>
          </a:prstGeom>
          <a:noFill/>
          <a:ln w="38100" algn="ctr">
            <a:solidFill>
              <a:srgbClr val="CC0099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>
              <a:spcBef>
                <a:spcPts val="1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 algn="l">
              <a:spcBef>
                <a:spcPts val="525"/>
              </a:spcBef>
              <a:buClr>
                <a:srgbClr val="000000"/>
              </a:buClr>
              <a:buSzPct val="10000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Helvetica" panose="020B0604020202020204" pitchFamily="34" charset="0"/>
              <a:buChar char="–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+mn-cs"/>
            </a:endParaRPr>
          </a:p>
        </p:txBody>
      </p:sp>
      <p:sp>
        <p:nvSpPr>
          <p:cNvPr id="2" name="Rectangle 1"/>
          <p:cNvSpPr/>
          <p:nvPr/>
        </p:nvSpPr>
        <p:spPr bwMode="auto">
          <a:xfrm>
            <a:off x="587375" y="4260780"/>
            <a:ext cx="2038259" cy="2597220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chemeClr val="bg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2285081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4500" y="1252538"/>
            <a:ext cx="5715000" cy="4352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5603" name="Text Box 3"/>
          <p:cNvSpPr txBox="1">
            <a:spLocks noChangeArrowheads="1"/>
          </p:cNvSpPr>
          <p:nvPr/>
        </p:nvSpPr>
        <p:spPr bwMode="auto">
          <a:xfrm>
            <a:off x="1665288" y="814388"/>
            <a:ext cx="790575" cy="427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>
              <a:spcBef>
                <a:spcPts val="1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 algn="l">
              <a:spcBef>
                <a:spcPts val="525"/>
              </a:spcBef>
              <a:buClr>
                <a:srgbClr val="000000"/>
              </a:buClr>
              <a:buSzPct val="10000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Helvetica" panose="020B0604020202020204" pitchFamily="34" charset="0"/>
              <a:buChar char="–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+mn-cs"/>
              </a:rPr>
              <a:t>zebu</a:t>
            </a:r>
          </a:p>
        </p:txBody>
      </p:sp>
    </p:spTree>
    <p:extLst>
      <p:ext uri="{BB962C8B-B14F-4D97-AF65-F5344CB8AC3E}">
        <p14:creationId xmlns:p14="http://schemas.microsoft.com/office/powerpoint/2010/main" val="132668296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4500" y="1252538"/>
            <a:ext cx="5715000" cy="4352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5603" name="Text Box 3"/>
          <p:cNvSpPr txBox="1">
            <a:spLocks noChangeArrowheads="1"/>
          </p:cNvSpPr>
          <p:nvPr/>
        </p:nvSpPr>
        <p:spPr bwMode="auto">
          <a:xfrm>
            <a:off x="1665288" y="814388"/>
            <a:ext cx="790575" cy="427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>
              <a:spcBef>
                <a:spcPts val="1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 algn="l">
              <a:spcBef>
                <a:spcPts val="525"/>
              </a:spcBef>
              <a:buClr>
                <a:srgbClr val="000000"/>
              </a:buClr>
              <a:buSzPct val="10000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Helvetica" panose="020B0604020202020204" pitchFamily="34" charset="0"/>
              <a:buChar char="–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+mn-cs"/>
              </a:rPr>
              <a:t>zebu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710355" y="5152293"/>
            <a:ext cx="4994031" cy="129266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600" dirty="0"/>
              <a:t>If you want to see a real life Zebu (pygmy zebu) visit the Stone Zoo in Stoneham, Ma!!</a:t>
            </a:r>
          </a:p>
        </p:txBody>
      </p:sp>
    </p:spTree>
    <p:extLst>
      <p:ext uri="{BB962C8B-B14F-4D97-AF65-F5344CB8AC3E}">
        <p14:creationId xmlns:p14="http://schemas.microsoft.com/office/powerpoint/2010/main" val="75312217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87375" y="3780692"/>
            <a:ext cx="5840413" cy="8264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Linear Probing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458200" cy="5614988"/>
          </a:xfrm>
        </p:spPr>
        <p:txBody>
          <a:bodyPr/>
          <a:lstStyle/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Probe sequence:  h(key), h(key) + 1, h(key) + 2, …, </a:t>
            </a:r>
            <a:br>
              <a:rPr lang="en-US" altLang="en-US" dirty="0"/>
            </a:br>
            <a:r>
              <a:rPr lang="en-US" altLang="en-US" dirty="0"/>
              <a:t>wrapping around as necessary.</a:t>
            </a:r>
          </a:p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Examples: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"ape" (h = 0) would be placed in position 1, </a:t>
            </a:r>
            <a:br>
              <a:rPr lang="en-US" altLang="en-US" sz="2000" dirty="0"/>
            </a:br>
            <a:r>
              <a:rPr lang="en-US" altLang="en-US" sz="2000" dirty="0"/>
              <a:t>because position 0 is already full.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"bear" (h = 1): try 1, 1 + 1, 1 + 2 – open!</a:t>
            </a:r>
          </a:p>
          <a:p>
            <a:pPr lvl="1">
              <a:spcBef>
                <a:spcPts val="2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where would "zebu" end up?</a:t>
            </a:r>
            <a:br>
              <a:rPr lang="en-US" altLang="en-US" sz="2000" dirty="0"/>
            </a:br>
            <a:r>
              <a:rPr lang="en-US" altLang="en-US" sz="2000" dirty="0"/>
              <a:t>		try 25, (</a:t>
            </a:r>
            <a:r>
              <a:rPr lang="en-US" altLang="en-US" sz="2000" dirty="0">
                <a:solidFill>
                  <a:schemeClr val="tx1"/>
                </a:solidFill>
              </a:rPr>
              <a:t>25 + 1) % 26</a:t>
            </a:r>
            <a:r>
              <a:rPr lang="en-US" altLang="en-US" sz="2000" dirty="0"/>
              <a:t>, (25 + 2) % 26, …</a:t>
            </a:r>
          </a:p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b="1" dirty="0"/>
              <a:t>Advantage</a:t>
            </a:r>
            <a:r>
              <a:rPr lang="en-US" altLang="en-US" dirty="0"/>
              <a:t>: if there is an open position, </a:t>
            </a:r>
            <a:br>
              <a:rPr lang="en-US" altLang="en-US" dirty="0"/>
            </a:br>
            <a:r>
              <a:rPr lang="en-US" altLang="en-US" dirty="0"/>
              <a:t>linear probing will eventually find it.</a:t>
            </a:r>
          </a:p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Disadvantage: "clusters" of occupied </a:t>
            </a:r>
            <a:br>
              <a:rPr lang="en-US" altLang="en-US" dirty="0"/>
            </a:br>
            <a:r>
              <a:rPr lang="en-US" altLang="en-US" dirty="0"/>
              <a:t>positions develop, which tends to </a:t>
            </a:r>
            <a:br>
              <a:rPr lang="en-US" altLang="en-US" dirty="0"/>
            </a:br>
            <a:r>
              <a:rPr lang="en-US" altLang="en-US" dirty="0"/>
              <a:t>increase the lengths of subsequent probes.</a:t>
            </a:r>
          </a:p>
          <a:p>
            <a:pPr lvl="1"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dirty="0"/>
              <a:t>probe length = the number of positions </a:t>
            </a:r>
            <a:br>
              <a:rPr lang="en-US" altLang="en-US" dirty="0"/>
            </a:br>
            <a:r>
              <a:rPr lang="en-US" altLang="en-US" dirty="0"/>
              <a:t>considered during a probe</a:t>
            </a:r>
          </a:p>
        </p:txBody>
      </p:sp>
      <p:graphicFrame>
        <p:nvGraphicFramePr>
          <p:cNvPr id="2124805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6086843"/>
              </p:ext>
            </p:extLst>
          </p:nvPr>
        </p:nvGraphicFramePr>
        <p:xfrm>
          <a:off x="6427788" y="2278063"/>
          <a:ext cx="2097087" cy="4359277"/>
        </p:xfrm>
        <a:graphic>
          <a:graphicData uri="http://schemas.openxmlformats.org/drawingml/2006/table">
            <a:tbl>
              <a:tblPr/>
              <a:tblGrid>
                <a:gridCol w="105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6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0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"ant"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Console" pitchFamily="49" charset="0"/>
                        </a:rPr>
                        <a:t>"ape"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"cat"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3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Console" pitchFamily="49" charset="0"/>
                        </a:rPr>
                        <a:t>"bear"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4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"emu"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5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Console" pitchFamily="49" charset="0"/>
                        </a:rPr>
                        <a:t>"zebu"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6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7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…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...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22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"wolf"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23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"wasp"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24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"yak"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25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"zebra"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4884675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87375" y="4567904"/>
            <a:ext cx="5840413" cy="203132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458200" cy="5614988"/>
          </a:xfrm>
        </p:spPr>
        <p:txBody>
          <a:bodyPr/>
          <a:lstStyle/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Probe sequence:  h(key), h(key) + 1, h(key) + 2, …, </a:t>
            </a:r>
            <a:br>
              <a:rPr lang="en-US" altLang="en-US" dirty="0"/>
            </a:br>
            <a:r>
              <a:rPr lang="en-US" altLang="en-US" dirty="0"/>
              <a:t>wrapping around as necessary.</a:t>
            </a:r>
          </a:p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Examples: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"ape" (h = 0) would be placed in position 1, </a:t>
            </a:r>
            <a:br>
              <a:rPr lang="en-US" altLang="en-US" sz="2000" dirty="0"/>
            </a:br>
            <a:r>
              <a:rPr lang="en-US" altLang="en-US" sz="2000" dirty="0"/>
              <a:t>because position 0 is already full.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"bear" (h = 1): try 1, 1 + 1, 1 + 2 – open!</a:t>
            </a:r>
          </a:p>
          <a:p>
            <a:pPr lvl="1">
              <a:spcBef>
                <a:spcPts val="2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where would "zebu" end up?</a:t>
            </a:r>
            <a:br>
              <a:rPr lang="en-US" altLang="en-US" sz="2000" dirty="0"/>
            </a:br>
            <a:r>
              <a:rPr lang="en-US" altLang="en-US" sz="2000" dirty="0"/>
              <a:t>		try 25, (</a:t>
            </a:r>
            <a:r>
              <a:rPr lang="en-US" altLang="en-US" sz="2000" dirty="0">
                <a:solidFill>
                  <a:schemeClr val="tx1"/>
                </a:solidFill>
              </a:rPr>
              <a:t>25 + 1) % 26</a:t>
            </a:r>
            <a:r>
              <a:rPr lang="en-US" altLang="en-US" sz="2000" dirty="0"/>
              <a:t>, (25 + 2) % 26, …</a:t>
            </a:r>
          </a:p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Advantage: if there is an open position, </a:t>
            </a:r>
            <a:br>
              <a:rPr lang="en-US" altLang="en-US" dirty="0"/>
            </a:br>
            <a:r>
              <a:rPr lang="en-US" altLang="en-US" dirty="0"/>
              <a:t>linear probing will eventually find it.</a:t>
            </a:r>
          </a:p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b="1" dirty="0"/>
              <a:t>Disadvantage</a:t>
            </a:r>
            <a:r>
              <a:rPr lang="en-US" altLang="en-US" dirty="0"/>
              <a:t>: "clusters" of occupied </a:t>
            </a:r>
            <a:br>
              <a:rPr lang="en-US" altLang="en-US" dirty="0"/>
            </a:br>
            <a:r>
              <a:rPr lang="en-US" altLang="en-US" dirty="0"/>
              <a:t>positions develop, which tends to </a:t>
            </a:r>
            <a:br>
              <a:rPr lang="en-US" altLang="en-US" dirty="0"/>
            </a:br>
            <a:r>
              <a:rPr lang="en-US" altLang="en-US" dirty="0"/>
              <a:t>increase the lengths of subsequent probes.</a:t>
            </a:r>
          </a:p>
          <a:p>
            <a:pPr lvl="1"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dirty="0">
                <a:solidFill>
                  <a:schemeClr val="accent2"/>
                </a:solidFill>
              </a:rPr>
              <a:t>probe length </a:t>
            </a:r>
            <a:r>
              <a:rPr lang="en-US" altLang="en-US" dirty="0"/>
              <a:t>= the number of positions </a:t>
            </a:r>
            <a:br>
              <a:rPr lang="en-US" altLang="en-US" dirty="0"/>
            </a:br>
            <a:r>
              <a:rPr lang="en-US" altLang="en-US" dirty="0"/>
              <a:t>considered during a probe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28338" y="2022231"/>
            <a:ext cx="2057400" cy="24266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6928338" y="5131167"/>
            <a:ext cx="2057399" cy="158420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Linear Probing</a:t>
            </a:r>
          </a:p>
        </p:txBody>
      </p:sp>
      <p:graphicFrame>
        <p:nvGraphicFramePr>
          <p:cNvPr id="2124805" name="Group 5"/>
          <p:cNvGraphicFramePr>
            <a:graphicFrameLocks noGrp="1"/>
          </p:cNvGraphicFramePr>
          <p:nvPr/>
        </p:nvGraphicFramePr>
        <p:xfrm>
          <a:off x="6427788" y="2278063"/>
          <a:ext cx="2097087" cy="4359277"/>
        </p:xfrm>
        <a:graphic>
          <a:graphicData uri="http://schemas.openxmlformats.org/drawingml/2006/table">
            <a:tbl>
              <a:tblPr/>
              <a:tblGrid>
                <a:gridCol w="105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6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0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"ant"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Console" pitchFamily="49" charset="0"/>
                        </a:rPr>
                        <a:t>"ape"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"cat"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3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Console" pitchFamily="49" charset="0"/>
                        </a:rPr>
                        <a:t>"bear"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4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"emu"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5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Console" pitchFamily="49" charset="0"/>
                        </a:rPr>
                        <a:t>"zebu"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6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7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…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...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22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"wolf"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23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"wasp"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24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"yak"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25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"zebra"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85459783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87375" y="4567904"/>
            <a:ext cx="5840413" cy="203132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849086" y="5799909"/>
            <a:ext cx="5251268" cy="65962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458200" cy="5614988"/>
          </a:xfrm>
        </p:spPr>
        <p:txBody>
          <a:bodyPr/>
          <a:lstStyle/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Probe sequence:  h(key), h(key) + 1, h(key) + 2, …, </a:t>
            </a:r>
            <a:br>
              <a:rPr lang="en-US" altLang="en-US" dirty="0"/>
            </a:br>
            <a:r>
              <a:rPr lang="en-US" altLang="en-US" dirty="0"/>
              <a:t>wrapping around as necessary.</a:t>
            </a:r>
          </a:p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Examples: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"ape" (h = 0) would be placed in position 1, </a:t>
            </a:r>
            <a:br>
              <a:rPr lang="en-US" altLang="en-US" sz="2000" dirty="0"/>
            </a:br>
            <a:r>
              <a:rPr lang="en-US" altLang="en-US" sz="2000" dirty="0"/>
              <a:t>because position 0 is already full.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"bear" (h = 1): try 1, 1 + 1, 1 + 2 – open!</a:t>
            </a:r>
          </a:p>
          <a:p>
            <a:pPr lvl="1">
              <a:spcBef>
                <a:spcPts val="2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where would "zebu" end up?</a:t>
            </a:r>
            <a:br>
              <a:rPr lang="en-US" altLang="en-US" sz="2000" dirty="0"/>
            </a:br>
            <a:r>
              <a:rPr lang="en-US" altLang="en-US" sz="2000" dirty="0"/>
              <a:t>		try 25, (</a:t>
            </a:r>
            <a:r>
              <a:rPr lang="en-US" altLang="en-US" sz="2000" dirty="0">
                <a:solidFill>
                  <a:schemeClr val="tx1"/>
                </a:solidFill>
              </a:rPr>
              <a:t>25 + 1) % 26</a:t>
            </a:r>
            <a:r>
              <a:rPr lang="en-US" altLang="en-US" sz="2000" dirty="0"/>
              <a:t>, (25 + 2) % 26, …</a:t>
            </a:r>
          </a:p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Advantage: if there is an open position, </a:t>
            </a:r>
            <a:br>
              <a:rPr lang="en-US" altLang="en-US" dirty="0"/>
            </a:br>
            <a:r>
              <a:rPr lang="en-US" altLang="en-US" dirty="0"/>
              <a:t>linear probing will eventually find it.</a:t>
            </a:r>
          </a:p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b="1" dirty="0"/>
              <a:t>Disadvantage</a:t>
            </a:r>
            <a:r>
              <a:rPr lang="en-US" altLang="en-US" dirty="0"/>
              <a:t>: "clusters" of occupied </a:t>
            </a:r>
            <a:br>
              <a:rPr lang="en-US" altLang="en-US" dirty="0"/>
            </a:br>
            <a:r>
              <a:rPr lang="en-US" altLang="en-US" dirty="0"/>
              <a:t>positions develop, which tends to </a:t>
            </a:r>
            <a:br>
              <a:rPr lang="en-US" altLang="en-US" dirty="0"/>
            </a:br>
            <a:r>
              <a:rPr lang="en-US" altLang="en-US" dirty="0"/>
              <a:t>increase the lengths of subsequent probes.</a:t>
            </a:r>
          </a:p>
          <a:p>
            <a:pPr lvl="1"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dirty="0">
                <a:solidFill>
                  <a:schemeClr val="accent2"/>
                </a:solidFill>
              </a:rPr>
              <a:t>probe length </a:t>
            </a:r>
            <a:r>
              <a:rPr lang="en-US" altLang="en-US" dirty="0"/>
              <a:t>= the number of positions </a:t>
            </a:r>
            <a:br>
              <a:rPr lang="en-US" altLang="en-US" dirty="0"/>
            </a:br>
            <a:r>
              <a:rPr lang="en-US" altLang="en-US" dirty="0"/>
              <a:t>considered during a probe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28338" y="2022231"/>
            <a:ext cx="2057400" cy="24266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6928338" y="5131167"/>
            <a:ext cx="2057399" cy="158420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Linear Probing</a:t>
            </a:r>
          </a:p>
        </p:txBody>
      </p:sp>
      <p:graphicFrame>
        <p:nvGraphicFramePr>
          <p:cNvPr id="2124805" name="Group 5"/>
          <p:cNvGraphicFramePr>
            <a:graphicFrameLocks noGrp="1"/>
          </p:cNvGraphicFramePr>
          <p:nvPr/>
        </p:nvGraphicFramePr>
        <p:xfrm>
          <a:off x="6427788" y="2278063"/>
          <a:ext cx="2097087" cy="4359277"/>
        </p:xfrm>
        <a:graphic>
          <a:graphicData uri="http://schemas.openxmlformats.org/drawingml/2006/table">
            <a:tbl>
              <a:tblPr/>
              <a:tblGrid>
                <a:gridCol w="105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6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0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"ant"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Console" pitchFamily="49" charset="0"/>
                        </a:rPr>
                        <a:t>"ape"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"cat"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3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Console" pitchFamily="49" charset="0"/>
                        </a:rPr>
                        <a:t>"bear"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4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"emu"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5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Console" pitchFamily="49" charset="0"/>
                        </a:rPr>
                        <a:t>"zebu"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6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7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…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...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22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"wolf"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23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"wasp"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24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"yak"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25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"zebra"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1070757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8554" y="1565031"/>
            <a:ext cx="8060959" cy="54512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Quadratic Probing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458200" cy="5614988"/>
          </a:xfrm>
        </p:spPr>
        <p:txBody>
          <a:bodyPr/>
          <a:lstStyle/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Probe sequence:  h(key), h(key) + </a:t>
            </a:r>
            <a:r>
              <a:rPr lang="en-US" altLang="en-US" b="1" dirty="0">
                <a:solidFill>
                  <a:srgbClr val="0000FF"/>
                </a:solidFill>
              </a:rPr>
              <a:t>1</a:t>
            </a:r>
            <a:r>
              <a:rPr lang="en-US" altLang="en-US" dirty="0"/>
              <a:t>, h(key) + </a:t>
            </a:r>
            <a:r>
              <a:rPr lang="en-US" altLang="en-US" b="1" dirty="0">
                <a:solidFill>
                  <a:srgbClr val="0000FF"/>
                </a:solidFill>
              </a:rPr>
              <a:t>4</a:t>
            </a:r>
            <a:r>
              <a:rPr lang="en-US" altLang="en-US" dirty="0"/>
              <a:t>, h(key) + </a:t>
            </a:r>
            <a:r>
              <a:rPr lang="en-US" altLang="en-US" b="1" dirty="0">
                <a:solidFill>
                  <a:srgbClr val="0000FF"/>
                </a:solidFill>
              </a:rPr>
              <a:t>9</a:t>
            </a:r>
            <a:r>
              <a:rPr lang="en-US" altLang="en-US" dirty="0"/>
              <a:t>, …, </a:t>
            </a:r>
            <a:br>
              <a:rPr lang="en-US" altLang="en-US" dirty="0"/>
            </a:br>
            <a:r>
              <a:rPr lang="en-US" altLang="en-US" dirty="0"/>
              <a:t>wrapping around as necessary.</a:t>
            </a:r>
          </a:p>
          <a:p>
            <a:pPr lvl="1"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dirty="0"/>
              <a:t>the offsets are perfect squares: h + </a:t>
            </a:r>
            <a:r>
              <a:rPr lang="en-US" altLang="en-US" b="1" dirty="0">
                <a:solidFill>
                  <a:srgbClr val="0000FF"/>
                </a:solidFill>
              </a:rPr>
              <a:t>1</a:t>
            </a:r>
            <a:r>
              <a:rPr lang="en-US" altLang="en-US" b="1" baseline="30000" dirty="0">
                <a:solidFill>
                  <a:srgbClr val="0000FF"/>
                </a:solidFill>
              </a:rPr>
              <a:t>2</a:t>
            </a:r>
            <a:r>
              <a:rPr lang="en-US" altLang="en-US" dirty="0"/>
              <a:t>, h + </a:t>
            </a:r>
            <a:r>
              <a:rPr lang="en-US" altLang="en-US" b="1" dirty="0">
                <a:solidFill>
                  <a:srgbClr val="0000FF"/>
                </a:solidFill>
              </a:rPr>
              <a:t>2</a:t>
            </a:r>
            <a:r>
              <a:rPr lang="en-US" altLang="en-US" b="1" baseline="30000" dirty="0">
                <a:solidFill>
                  <a:srgbClr val="0000FF"/>
                </a:solidFill>
              </a:rPr>
              <a:t>2</a:t>
            </a:r>
            <a:r>
              <a:rPr lang="en-US" altLang="en-US" dirty="0"/>
              <a:t>, h + </a:t>
            </a:r>
            <a:r>
              <a:rPr lang="en-US" altLang="en-US" b="1" dirty="0">
                <a:solidFill>
                  <a:srgbClr val="0000FF"/>
                </a:solidFill>
              </a:rPr>
              <a:t>3</a:t>
            </a:r>
            <a:r>
              <a:rPr lang="en-US" altLang="en-US" b="1" baseline="30000" dirty="0">
                <a:solidFill>
                  <a:srgbClr val="0000FF"/>
                </a:solidFill>
              </a:rPr>
              <a:t>2</a:t>
            </a:r>
            <a:r>
              <a:rPr lang="en-US" altLang="en-US" dirty="0"/>
              <a:t>, …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endParaRPr lang="en-US" altLang="en-US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18543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8554" y="1565031"/>
            <a:ext cx="8060959" cy="54512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Quadratic Probing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458200" cy="5614988"/>
          </a:xfrm>
        </p:spPr>
        <p:txBody>
          <a:bodyPr/>
          <a:lstStyle/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Probe sequence:  </a:t>
            </a:r>
            <a:r>
              <a:rPr lang="en-US" altLang="en-US" dirty="0">
                <a:solidFill>
                  <a:srgbClr val="0000FF"/>
                </a:solidFill>
              </a:rPr>
              <a:t>h(key)</a:t>
            </a:r>
            <a:r>
              <a:rPr lang="en-US" altLang="en-US" dirty="0"/>
              <a:t>, h(key) + </a:t>
            </a:r>
            <a:r>
              <a:rPr lang="en-US" altLang="en-US" b="1" dirty="0">
                <a:solidFill>
                  <a:srgbClr val="0000FF"/>
                </a:solidFill>
              </a:rPr>
              <a:t>1</a:t>
            </a:r>
            <a:r>
              <a:rPr lang="en-US" altLang="en-US" dirty="0"/>
              <a:t>, h(key) + </a:t>
            </a:r>
            <a:r>
              <a:rPr lang="en-US" altLang="en-US" b="1" dirty="0">
                <a:solidFill>
                  <a:srgbClr val="0000FF"/>
                </a:solidFill>
              </a:rPr>
              <a:t>4</a:t>
            </a:r>
            <a:r>
              <a:rPr lang="en-US" altLang="en-US" dirty="0"/>
              <a:t>, h(key) + </a:t>
            </a:r>
            <a:r>
              <a:rPr lang="en-US" altLang="en-US" b="1" dirty="0">
                <a:solidFill>
                  <a:srgbClr val="0000FF"/>
                </a:solidFill>
              </a:rPr>
              <a:t>9</a:t>
            </a:r>
            <a:r>
              <a:rPr lang="en-US" altLang="en-US" dirty="0"/>
              <a:t>, …, </a:t>
            </a:r>
            <a:br>
              <a:rPr lang="en-US" altLang="en-US" dirty="0"/>
            </a:br>
            <a:r>
              <a:rPr lang="en-US" altLang="en-US" dirty="0"/>
              <a:t>wrapping around as necessary.</a:t>
            </a:r>
          </a:p>
          <a:p>
            <a:pPr lvl="1"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dirty="0"/>
              <a:t>the offsets are perfect squares: h + </a:t>
            </a:r>
            <a:r>
              <a:rPr lang="en-US" altLang="en-US" b="1" dirty="0">
                <a:solidFill>
                  <a:srgbClr val="0000FF"/>
                </a:solidFill>
              </a:rPr>
              <a:t>1</a:t>
            </a:r>
            <a:r>
              <a:rPr lang="en-US" altLang="en-US" b="1" baseline="30000" dirty="0">
                <a:solidFill>
                  <a:srgbClr val="0000FF"/>
                </a:solidFill>
              </a:rPr>
              <a:t>2</a:t>
            </a:r>
            <a:r>
              <a:rPr lang="en-US" altLang="en-US" dirty="0"/>
              <a:t>, h + </a:t>
            </a:r>
            <a:r>
              <a:rPr lang="en-US" altLang="en-US" b="1" dirty="0">
                <a:solidFill>
                  <a:srgbClr val="0000FF"/>
                </a:solidFill>
              </a:rPr>
              <a:t>2</a:t>
            </a:r>
            <a:r>
              <a:rPr lang="en-US" altLang="en-US" b="1" baseline="30000" dirty="0">
                <a:solidFill>
                  <a:srgbClr val="0000FF"/>
                </a:solidFill>
              </a:rPr>
              <a:t>2</a:t>
            </a:r>
            <a:r>
              <a:rPr lang="en-US" altLang="en-US" dirty="0"/>
              <a:t>, h + </a:t>
            </a:r>
            <a:r>
              <a:rPr lang="en-US" altLang="en-US" b="1" dirty="0">
                <a:solidFill>
                  <a:srgbClr val="0000FF"/>
                </a:solidFill>
              </a:rPr>
              <a:t>3</a:t>
            </a:r>
            <a:r>
              <a:rPr lang="en-US" altLang="en-US" b="1" baseline="30000" dirty="0">
                <a:solidFill>
                  <a:srgbClr val="0000FF"/>
                </a:solidFill>
              </a:rPr>
              <a:t>2</a:t>
            </a:r>
            <a:r>
              <a:rPr lang="en-US" altLang="en-US" dirty="0"/>
              <a:t>, …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endParaRPr lang="en-US" altLang="en-US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181085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8554" y="1565031"/>
            <a:ext cx="8060959" cy="54512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Quadratic Probing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458200" cy="5614988"/>
          </a:xfrm>
        </p:spPr>
        <p:txBody>
          <a:bodyPr/>
          <a:lstStyle/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Probe sequence:  </a:t>
            </a:r>
            <a:r>
              <a:rPr lang="en-US" altLang="en-US" dirty="0">
                <a:solidFill>
                  <a:srgbClr val="0000FF"/>
                </a:solidFill>
              </a:rPr>
              <a:t>h(key)</a:t>
            </a:r>
            <a:r>
              <a:rPr lang="en-US" altLang="en-US" dirty="0"/>
              <a:t>, </a:t>
            </a:r>
            <a:r>
              <a:rPr lang="en-US" altLang="en-US" dirty="0">
                <a:solidFill>
                  <a:srgbClr val="0000FF"/>
                </a:solidFill>
              </a:rPr>
              <a:t>h(key) + </a:t>
            </a:r>
            <a:r>
              <a:rPr lang="en-US" altLang="en-US" b="1" dirty="0">
                <a:solidFill>
                  <a:srgbClr val="0000FF"/>
                </a:solidFill>
              </a:rPr>
              <a:t>1</a:t>
            </a:r>
            <a:r>
              <a:rPr lang="en-US" altLang="en-US" dirty="0"/>
              <a:t>, h(key) + </a:t>
            </a:r>
            <a:r>
              <a:rPr lang="en-US" altLang="en-US" b="1" dirty="0">
                <a:solidFill>
                  <a:srgbClr val="0000FF"/>
                </a:solidFill>
              </a:rPr>
              <a:t>4</a:t>
            </a:r>
            <a:r>
              <a:rPr lang="en-US" altLang="en-US" dirty="0"/>
              <a:t>, h(key) + </a:t>
            </a:r>
            <a:r>
              <a:rPr lang="en-US" altLang="en-US" b="1" dirty="0">
                <a:solidFill>
                  <a:srgbClr val="0000FF"/>
                </a:solidFill>
              </a:rPr>
              <a:t>9</a:t>
            </a:r>
            <a:r>
              <a:rPr lang="en-US" altLang="en-US" dirty="0"/>
              <a:t>, …, </a:t>
            </a:r>
            <a:br>
              <a:rPr lang="en-US" altLang="en-US" dirty="0"/>
            </a:br>
            <a:r>
              <a:rPr lang="en-US" altLang="en-US" dirty="0"/>
              <a:t>wrapping around as necessary.</a:t>
            </a:r>
          </a:p>
          <a:p>
            <a:pPr lvl="1"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dirty="0"/>
              <a:t>the offsets are perfect squares: h + </a:t>
            </a:r>
            <a:r>
              <a:rPr lang="en-US" altLang="en-US" b="1" dirty="0">
                <a:solidFill>
                  <a:srgbClr val="0000FF"/>
                </a:solidFill>
              </a:rPr>
              <a:t>1</a:t>
            </a:r>
            <a:r>
              <a:rPr lang="en-US" altLang="en-US" b="1" baseline="30000" dirty="0">
                <a:solidFill>
                  <a:srgbClr val="0000FF"/>
                </a:solidFill>
              </a:rPr>
              <a:t>2</a:t>
            </a:r>
            <a:r>
              <a:rPr lang="en-US" altLang="en-US" dirty="0"/>
              <a:t>, h + </a:t>
            </a:r>
            <a:r>
              <a:rPr lang="en-US" altLang="en-US" b="1" dirty="0">
                <a:solidFill>
                  <a:srgbClr val="0000FF"/>
                </a:solidFill>
              </a:rPr>
              <a:t>2</a:t>
            </a:r>
            <a:r>
              <a:rPr lang="en-US" altLang="en-US" b="1" baseline="30000" dirty="0">
                <a:solidFill>
                  <a:srgbClr val="0000FF"/>
                </a:solidFill>
              </a:rPr>
              <a:t>2</a:t>
            </a:r>
            <a:r>
              <a:rPr lang="en-US" altLang="en-US" dirty="0"/>
              <a:t>, h + </a:t>
            </a:r>
            <a:r>
              <a:rPr lang="en-US" altLang="en-US" b="1" dirty="0">
                <a:solidFill>
                  <a:srgbClr val="0000FF"/>
                </a:solidFill>
              </a:rPr>
              <a:t>3</a:t>
            </a:r>
            <a:r>
              <a:rPr lang="en-US" altLang="en-US" b="1" baseline="30000" dirty="0">
                <a:solidFill>
                  <a:srgbClr val="0000FF"/>
                </a:solidFill>
              </a:rPr>
              <a:t>2</a:t>
            </a:r>
            <a:r>
              <a:rPr lang="en-US" altLang="en-US" dirty="0"/>
              <a:t>, …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endParaRPr lang="en-US" altLang="en-US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4291986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8554" y="1565031"/>
            <a:ext cx="8060959" cy="54512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Quadratic Probing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458200" cy="5614988"/>
          </a:xfrm>
        </p:spPr>
        <p:txBody>
          <a:bodyPr/>
          <a:lstStyle/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Probe sequence:  </a:t>
            </a:r>
            <a:r>
              <a:rPr lang="en-US" altLang="en-US" dirty="0">
                <a:solidFill>
                  <a:srgbClr val="0000FF"/>
                </a:solidFill>
              </a:rPr>
              <a:t>h(key)</a:t>
            </a:r>
            <a:r>
              <a:rPr lang="en-US" altLang="en-US" dirty="0"/>
              <a:t>, </a:t>
            </a:r>
            <a:r>
              <a:rPr lang="en-US" altLang="en-US" dirty="0">
                <a:solidFill>
                  <a:srgbClr val="0000FF"/>
                </a:solidFill>
              </a:rPr>
              <a:t>h(key) + </a:t>
            </a:r>
            <a:r>
              <a:rPr lang="en-US" altLang="en-US" b="1" dirty="0">
                <a:solidFill>
                  <a:srgbClr val="0000FF"/>
                </a:solidFill>
              </a:rPr>
              <a:t>1</a:t>
            </a:r>
            <a:r>
              <a:rPr lang="en-US" altLang="en-US" dirty="0"/>
              <a:t>, </a:t>
            </a:r>
            <a:r>
              <a:rPr lang="en-US" altLang="en-US" dirty="0">
                <a:solidFill>
                  <a:srgbClr val="0000FF"/>
                </a:solidFill>
              </a:rPr>
              <a:t>h(key) + </a:t>
            </a:r>
            <a:r>
              <a:rPr lang="en-US" altLang="en-US" b="1" dirty="0">
                <a:solidFill>
                  <a:srgbClr val="0000FF"/>
                </a:solidFill>
              </a:rPr>
              <a:t>4</a:t>
            </a:r>
            <a:r>
              <a:rPr lang="en-US" altLang="en-US" dirty="0"/>
              <a:t>, h(key) + </a:t>
            </a:r>
            <a:r>
              <a:rPr lang="en-US" altLang="en-US" b="1" dirty="0">
                <a:solidFill>
                  <a:srgbClr val="0000FF"/>
                </a:solidFill>
              </a:rPr>
              <a:t>9</a:t>
            </a:r>
            <a:r>
              <a:rPr lang="en-US" altLang="en-US" dirty="0"/>
              <a:t>, …, </a:t>
            </a:r>
            <a:br>
              <a:rPr lang="en-US" altLang="en-US" dirty="0"/>
            </a:br>
            <a:r>
              <a:rPr lang="en-US" altLang="en-US" dirty="0"/>
              <a:t>wrapping around as necessary.</a:t>
            </a:r>
          </a:p>
          <a:p>
            <a:pPr lvl="1"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dirty="0"/>
              <a:t>the offsets are perfect squares: h + </a:t>
            </a:r>
            <a:r>
              <a:rPr lang="en-US" altLang="en-US" b="1" dirty="0">
                <a:solidFill>
                  <a:srgbClr val="0000FF"/>
                </a:solidFill>
              </a:rPr>
              <a:t>1</a:t>
            </a:r>
            <a:r>
              <a:rPr lang="en-US" altLang="en-US" b="1" baseline="30000" dirty="0">
                <a:solidFill>
                  <a:srgbClr val="0000FF"/>
                </a:solidFill>
              </a:rPr>
              <a:t>2</a:t>
            </a:r>
            <a:r>
              <a:rPr lang="en-US" altLang="en-US" dirty="0"/>
              <a:t>, h + </a:t>
            </a:r>
            <a:r>
              <a:rPr lang="en-US" altLang="en-US" b="1" dirty="0">
                <a:solidFill>
                  <a:srgbClr val="0000FF"/>
                </a:solidFill>
              </a:rPr>
              <a:t>2</a:t>
            </a:r>
            <a:r>
              <a:rPr lang="en-US" altLang="en-US" b="1" baseline="30000" dirty="0">
                <a:solidFill>
                  <a:srgbClr val="0000FF"/>
                </a:solidFill>
              </a:rPr>
              <a:t>2</a:t>
            </a:r>
            <a:r>
              <a:rPr lang="en-US" altLang="en-US" dirty="0"/>
              <a:t>, h + </a:t>
            </a:r>
            <a:r>
              <a:rPr lang="en-US" altLang="en-US" b="1" dirty="0">
                <a:solidFill>
                  <a:srgbClr val="0000FF"/>
                </a:solidFill>
              </a:rPr>
              <a:t>3</a:t>
            </a:r>
            <a:r>
              <a:rPr lang="en-US" altLang="en-US" b="1" baseline="30000" dirty="0">
                <a:solidFill>
                  <a:srgbClr val="0000FF"/>
                </a:solidFill>
              </a:rPr>
              <a:t>2</a:t>
            </a:r>
            <a:r>
              <a:rPr lang="en-US" altLang="en-US" dirty="0"/>
              <a:t>, …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endParaRPr lang="en-US" altLang="en-US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5364642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8554" y="1565031"/>
            <a:ext cx="8060959" cy="54512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Quadratic Probing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458200" cy="5614988"/>
          </a:xfrm>
        </p:spPr>
        <p:txBody>
          <a:bodyPr/>
          <a:lstStyle/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Probe sequence:  </a:t>
            </a:r>
            <a:r>
              <a:rPr lang="en-US" altLang="en-US" dirty="0">
                <a:solidFill>
                  <a:srgbClr val="0000FF"/>
                </a:solidFill>
              </a:rPr>
              <a:t>h(key)</a:t>
            </a:r>
            <a:r>
              <a:rPr lang="en-US" altLang="en-US" dirty="0"/>
              <a:t>, </a:t>
            </a:r>
            <a:r>
              <a:rPr lang="en-US" altLang="en-US" dirty="0">
                <a:solidFill>
                  <a:srgbClr val="0000FF"/>
                </a:solidFill>
              </a:rPr>
              <a:t>h(key) + </a:t>
            </a:r>
            <a:r>
              <a:rPr lang="en-US" altLang="en-US" b="1" dirty="0">
                <a:solidFill>
                  <a:srgbClr val="0000FF"/>
                </a:solidFill>
              </a:rPr>
              <a:t>1</a:t>
            </a:r>
            <a:r>
              <a:rPr lang="en-US" altLang="en-US" dirty="0"/>
              <a:t>, </a:t>
            </a:r>
            <a:r>
              <a:rPr lang="en-US" altLang="en-US" dirty="0">
                <a:solidFill>
                  <a:srgbClr val="0000FF"/>
                </a:solidFill>
              </a:rPr>
              <a:t>h(key) + </a:t>
            </a:r>
            <a:r>
              <a:rPr lang="en-US" altLang="en-US" b="1" dirty="0">
                <a:solidFill>
                  <a:srgbClr val="0000FF"/>
                </a:solidFill>
              </a:rPr>
              <a:t>4</a:t>
            </a:r>
            <a:r>
              <a:rPr lang="en-US" altLang="en-US" dirty="0"/>
              <a:t>, </a:t>
            </a:r>
            <a:r>
              <a:rPr lang="en-US" altLang="en-US" dirty="0">
                <a:solidFill>
                  <a:srgbClr val="0000FF"/>
                </a:solidFill>
              </a:rPr>
              <a:t>h(key) + </a:t>
            </a:r>
            <a:r>
              <a:rPr lang="en-US" altLang="en-US" b="1" dirty="0">
                <a:solidFill>
                  <a:srgbClr val="0000FF"/>
                </a:solidFill>
              </a:rPr>
              <a:t>9</a:t>
            </a:r>
            <a:r>
              <a:rPr lang="en-US" altLang="en-US" dirty="0"/>
              <a:t>, …, </a:t>
            </a:r>
            <a:br>
              <a:rPr lang="en-US" altLang="en-US" dirty="0"/>
            </a:br>
            <a:r>
              <a:rPr lang="en-US" altLang="en-US" dirty="0"/>
              <a:t>wrapping around as necessary.</a:t>
            </a:r>
          </a:p>
          <a:p>
            <a:pPr lvl="1"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dirty="0"/>
              <a:t>the offsets are perfect squares: h + </a:t>
            </a:r>
            <a:r>
              <a:rPr lang="en-US" altLang="en-US" b="1" dirty="0">
                <a:solidFill>
                  <a:srgbClr val="0000FF"/>
                </a:solidFill>
              </a:rPr>
              <a:t>1</a:t>
            </a:r>
            <a:r>
              <a:rPr lang="en-US" altLang="en-US" b="1" baseline="30000" dirty="0">
                <a:solidFill>
                  <a:srgbClr val="0000FF"/>
                </a:solidFill>
              </a:rPr>
              <a:t>2</a:t>
            </a:r>
            <a:r>
              <a:rPr lang="en-US" altLang="en-US" dirty="0"/>
              <a:t>, h + </a:t>
            </a:r>
            <a:r>
              <a:rPr lang="en-US" altLang="en-US" b="1" dirty="0">
                <a:solidFill>
                  <a:srgbClr val="0000FF"/>
                </a:solidFill>
              </a:rPr>
              <a:t>2</a:t>
            </a:r>
            <a:r>
              <a:rPr lang="en-US" altLang="en-US" b="1" baseline="30000" dirty="0">
                <a:solidFill>
                  <a:srgbClr val="0000FF"/>
                </a:solidFill>
              </a:rPr>
              <a:t>2</a:t>
            </a:r>
            <a:r>
              <a:rPr lang="en-US" altLang="en-US" dirty="0"/>
              <a:t>, h + </a:t>
            </a:r>
            <a:r>
              <a:rPr lang="en-US" altLang="en-US" b="1" dirty="0">
                <a:solidFill>
                  <a:srgbClr val="0000FF"/>
                </a:solidFill>
              </a:rPr>
              <a:t>3</a:t>
            </a:r>
            <a:r>
              <a:rPr lang="en-US" altLang="en-US" b="1" baseline="30000" dirty="0">
                <a:solidFill>
                  <a:srgbClr val="0000FF"/>
                </a:solidFill>
              </a:rPr>
              <a:t>2</a:t>
            </a:r>
            <a:r>
              <a:rPr lang="en-US" altLang="en-US" dirty="0"/>
              <a:t>, …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endParaRPr lang="en-US" altLang="en-US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3687800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Quadratic Probing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458200" cy="5614988"/>
          </a:xfrm>
        </p:spPr>
        <p:txBody>
          <a:bodyPr/>
          <a:lstStyle/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Probe sequence:  h(key), h(key) + 1, h(key) + 4, h(key) + 9, …, </a:t>
            </a:r>
            <a:br>
              <a:rPr lang="en-US" altLang="en-US" dirty="0"/>
            </a:br>
            <a:r>
              <a:rPr lang="en-US" altLang="en-US" dirty="0"/>
              <a:t>wrapping around as necessary.</a:t>
            </a:r>
          </a:p>
          <a:p>
            <a:pPr lvl="1"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dirty="0"/>
              <a:t>the offsets are perfect squares: h + 1</a:t>
            </a:r>
            <a:r>
              <a:rPr lang="en-US" altLang="en-US" baseline="30000" dirty="0"/>
              <a:t>2</a:t>
            </a:r>
            <a:r>
              <a:rPr lang="en-US" altLang="en-US" dirty="0"/>
              <a:t>, h + 2</a:t>
            </a:r>
            <a:r>
              <a:rPr lang="en-US" altLang="en-US" baseline="30000" dirty="0"/>
              <a:t>2</a:t>
            </a:r>
            <a:r>
              <a:rPr lang="en-US" altLang="en-US" dirty="0"/>
              <a:t>, h + 3</a:t>
            </a:r>
            <a:r>
              <a:rPr lang="en-US" altLang="en-US" baseline="30000" dirty="0"/>
              <a:t>2</a:t>
            </a:r>
            <a:r>
              <a:rPr lang="en-US" altLang="en-US" dirty="0"/>
              <a:t>, …</a:t>
            </a:r>
          </a:p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Examples: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"ape" (h = 0): try </a:t>
            </a:r>
            <a:r>
              <a:rPr lang="en-US" altLang="en-US" sz="2000" b="1" dirty="0">
                <a:solidFill>
                  <a:schemeClr val="accent2"/>
                </a:solidFill>
              </a:rPr>
              <a:t>0</a:t>
            </a:r>
            <a:r>
              <a:rPr lang="en-US" altLang="en-US" sz="2000" dirty="0"/>
              <a:t> 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buFontTx/>
              <a:buNone/>
              <a:tabLst>
                <a:tab pos="569913" algn="l"/>
                <a:tab pos="793750" algn="l"/>
              </a:tabLst>
            </a:pPr>
            <a:endParaRPr lang="en-US" altLang="en-US" sz="2000" b="1" dirty="0">
              <a:solidFill>
                <a:schemeClr val="accent2"/>
              </a:solidFill>
            </a:endParaRP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endParaRPr lang="en-US" altLang="en-US" b="1" dirty="0">
              <a:solidFill>
                <a:schemeClr val="accent2"/>
              </a:solidFill>
            </a:endParaRPr>
          </a:p>
        </p:txBody>
      </p:sp>
      <p:graphicFrame>
        <p:nvGraphicFramePr>
          <p:cNvPr id="2128901" name="Group 5"/>
          <p:cNvGraphicFramePr>
            <a:graphicFrameLocks noGrp="1"/>
          </p:cNvGraphicFramePr>
          <p:nvPr/>
        </p:nvGraphicFramePr>
        <p:xfrm>
          <a:off x="6427788" y="2278063"/>
          <a:ext cx="2097087" cy="4359277"/>
        </p:xfrm>
        <a:graphic>
          <a:graphicData uri="http://schemas.openxmlformats.org/drawingml/2006/table">
            <a:tbl>
              <a:tblPr/>
              <a:tblGrid>
                <a:gridCol w="105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6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0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"ant"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"cat"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3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4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"emu"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5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6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7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…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...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22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"wolf"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23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"wasp"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24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"yak"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25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"zebra"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30767" name="Rectangle 54"/>
          <p:cNvSpPr>
            <a:spLocks noChangeArrowheads="1"/>
          </p:cNvSpPr>
          <p:nvPr/>
        </p:nvSpPr>
        <p:spPr bwMode="auto">
          <a:xfrm>
            <a:off x="7505700" y="2305050"/>
            <a:ext cx="995363" cy="280988"/>
          </a:xfrm>
          <a:prstGeom prst="rect">
            <a:avLst/>
          </a:prstGeom>
          <a:noFill/>
          <a:ln w="38100" algn="ctr">
            <a:solidFill>
              <a:srgbClr val="CC0099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>
              <a:spcBef>
                <a:spcPts val="1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 algn="l">
              <a:spcBef>
                <a:spcPts val="525"/>
              </a:spcBef>
              <a:buClr>
                <a:srgbClr val="000000"/>
              </a:buClr>
              <a:buSzPct val="10000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Helvetica" panose="020B0604020202020204" pitchFamily="34" charset="0"/>
              <a:buChar char="–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3529082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Quadratic Probing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458200" cy="5614988"/>
          </a:xfrm>
        </p:spPr>
        <p:txBody>
          <a:bodyPr/>
          <a:lstStyle/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Probe sequence:  h(key), h(key) + 1, h(key) + 4, h(key) + 9, …, </a:t>
            </a:r>
            <a:br>
              <a:rPr lang="en-US" altLang="en-US" dirty="0"/>
            </a:br>
            <a:r>
              <a:rPr lang="en-US" altLang="en-US" dirty="0"/>
              <a:t>wrapping around as necessary.</a:t>
            </a:r>
          </a:p>
          <a:p>
            <a:pPr lvl="1"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dirty="0"/>
              <a:t>the offsets are perfect squares: h + 1</a:t>
            </a:r>
            <a:r>
              <a:rPr lang="en-US" altLang="en-US" baseline="30000" dirty="0"/>
              <a:t>2</a:t>
            </a:r>
            <a:r>
              <a:rPr lang="en-US" altLang="en-US" dirty="0"/>
              <a:t>, h + 2</a:t>
            </a:r>
            <a:r>
              <a:rPr lang="en-US" altLang="en-US" baseline="30000" dirty="0"/>
              <a:t>2</a:t>
            </a:r>
            <a:r>
              <a:rPr lang="en-US" altLang="en-US" dirty="0"/>
              <a:t>, h + 3</a:t>
            </a:r>
            <a:r>
              <a:rPr lang="en-US" altLang="en-US" baseline="30000" dirty="0"/>
              <a:t>2</a:t>
            </a:r>
            <a:r>
              <a:rPr lang="en-US" altLang="en-US" dirty="0"/>
              <a:t>, …</a:t>
            </a:r>
          </a:p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Examples: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"ape" (h = 0): try 0, </a:t>
            </a:r>
            <a:r>
              <a:rPr lang="en-US" altLang="en-US" sz="2000" b="1" dirty="0">
                <a:solidFill>
                  <a:schemeClr val="accent2"/>
                </a:solidFill>
              </a:rPr>
              <a:t>0 + 1 </a:t>
            </a:r>
            <a:endParaRPr lang="en-US" altLang="en-US" sz="2000" dirty="0"/>
          </a:p>
          <a:p>
            <a:pPr marL="457200" lvl="1" indent="0">
              <a:lnSpc>
                <a:spcPct val="90000"/>
              </a:lnSpc>
              <a:spcBef>
                <a:spcPts val="500"/>
              </a:spcBef>
              <a:buNone/>
              <a:tabLst>
                <a:tab pos="569913" algn="l"/>
                <a:tab pos="793750" algn="l"/>
              </a:tabLst>
            </a:pPr>
            <a:endParaRPr lang="en-US" altLang="en-US" sz="2000" b="1" dirty="0">
              <a:solidFill>
                <a:schemeClr val="accent2"/>
              </a:solidFill>
            </a:endParaRP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endParaRPr lang="en-US" altLang="en-US" b="1" dirty="0">
              <a:solidFill>
                <a:schemeClr val="accent2"/>
              </a:solidFill>
            </a:endParaRPr>
          </a:p>
        </p:txBody>
      </p:sp>
      <p:graphicFrame>
        <p:nvGraphicFramePr>
          <p:cNvPr id="2135045" name="Group 5"/>
          <p:cNvGraphicFramePr>
            <a:graphicFrameLocks noGrp="1"/>
          </p:cNvGraphicFramePr>
          <p:nvPr/>
        </p:nvGraphicFramePr>
        <p:xfrm>
          <a:off x="6427788" y="2278063"/>
          <a:ext cx="2097087" cy="4359277"/>
        </p:xfrm>
        <a:graphic>
          <a:graphicData uri="http://schemas.openxmlformats.org/drawingml/2006/table">
            <a:tbl>
              <a:tblPr/>
              <a:tblGrid>
                <a:gridCol w="105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6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0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"ant"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"cat"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3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4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"emu"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5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6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7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…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...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22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"wolf"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23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"wasp"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24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"yak"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25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"zebra"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31791" name="Rectangle 54"/>
          <p:cNvSpPr>
            <a:spLocks noChangeArrowheads="1"/>
          </p:cNvSpPr>
          <p:nvPr/>
        </p:nvSpPr>
        <p:spPr bwMode="auto">
          <a:xfrm>
            <a:off x="7505700" y="2640013"/>
            <a:ext cx="995363" cy="280987"/>
          </a:xfrm>
          <a:prstGeom prst="rect">
            <a:avLst/>
          </a:prstGeom>
          <a:noFill/>
          <a:ln w="38100" algn="ctr">
            <a:solidFill>
              <a:srgbClr val="CC0099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>
              <a:spcBef>
                <a:spcPts val="1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 algn="l">
              <a:spcBef>
                <a:spcPts val="525"/>
              </a:spcBef>
              <a:buClr>
                <a:srgbClr val="000000"/>
              </a:buClr>
              <a:buSzPct val="10000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Helvetica" panose="020B0604020202020204" pitchFamily="34" charset="0"/>
              <a:buChar char="–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18789743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Quadratic Probing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458200" cy="5614988"/>
          </a:xfrm>
        </p:spPr>
        <p:txBody>
          <a:bodyPr/>
          <a:lstStyle/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Probe sequence:  h(key), h(key) + 1, h(key) + 4, h(key) + 9, …, </a:t>
            </a:r>
            <a:br>
              <a:rPr lang="en-US" altLang="en-US" dirty="0"/>
            </a:br>
            <a:r>
              <a:rPr lang="en-US" altLang="en-US" dirty="0"/>
              <a:t>wrapping around as necessary.</a:t>
            </a:r>
          </a:p>
          <a:p>
            <a:pPr lvl="1"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dirty="0"/>
              <a:t>the offsets are perfect squares: h + 1</a:t>
            </a:r>
            <a:r>
              <a:rPr lang="en-US" altLang="en-US" baseline="30000" dirty="0"/>
              <a:t>2</a:t>
            </a:r>
            <a:r>
              <a:rPr lang="en-US" altLang="en-US" dirty="0"/>
              <a:t>, h + 2</a:t>
            </a:r>
            <a:r>
              <a:rPr lang="en-US" altLang="en-US" baseline="30000" dirty="0"/>
              <a:t>2</a:t>
            </a:r>
            <a:r>
              <a:rPr lang="en-US" altLang="en-US" dirty="0"/>
              <a:t>, h + 3</a:t>
            </a:r>
            <a:r>
              <a:rPr lang="en-US" altLang="en-US" baseline="30000" dirty="0"/>
              <a:t>2</a:t>
            </a:r>
            <a:r>
              <a:rPr lang="en-US" altLang="en-US" dirty="0"/>
              <a:t>, …</a:t>
            </a:r>
          </a:p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Examples: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"ape" (h = 0): try 0, </a:t>
            </a:r>
            <a:r>
              <a:rPr lang="en-US" altLang="en-US" sz="2000" b="1" dirty="0">
                <a:solidFill>
                  <a:schemeClr val="accent2"/>
                </a:solidFill>
              </a:rPr>
              <a:t>0 + 1 – open!</a:t>
            </a:r>
            <a:r>
              <a:rPr lang="en-US" altLang="en-US" sz="2000" dirty="0"/>
              <a:t> </a:t>
            </a:r>
          </a:p>
          <a:p>
            <a:pPr marL="457200" lvl="1" indent="0">
              <a:lnSpc>
                <a:spcPct val="90000"/>
              </a:lnSpc>
              <a:spcBef>
                <a:spcPts val="500"/>
              </a:spcBef>
              <a:buNone/>
              <a:tabLst>
                <a:tab pos="569913" algn="l"/>
                <a:tab pos="793750" algn="l"/>
              </a:tabLst>
            </a:pPr>
            <a:endParaRPr lang="en-US" altLang="en-US" sz="2000" b="1" dirty="0">
              <a:solidFill>
                <a:schemeClr val="accent2"/>
              </a:solidFill>
            </a:endParaRP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endParaRPr lang="en-US" altLang="en-US" b="1" dirty="0">
              <a:solidFill>
                <a:schemeClr val="accent2"/>
              </a:solidFill>
            </a:endParaRPr>
          </a:p>
        </p:txBody>
      </p:sp>
      <p:graphicFrame>
        <p:nvGraphicFramePr>
          <p:cNvPr id="2135045" name="Group 5"/>
          <p:cNvGraphicFramePr>
            <a:graphicFrameLocks noGrp="1"/>
          </p:cNvGraphicFramePr>
          <p:nvPr/>
        </p:nvGraphicFramePr>
        <p:xfrm>
          <a:off x="6427788" y="2278063"/>
          <a:ext cx="2097087" cy="4359277"/>
        </p:xfrm>
        <a:graphic>
          <a:graphicData uri="http://schemas.openxmlformats.org/drawingml/2006/table">
            <a:tbl>
              <a:tblPr/>
              <a:tblGrid>
                <a:gridCol w="105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6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0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"ant"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Console" pitchFamily="49" charset="0"/>
                        </a:rPr>
                        <a:t>"ape"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"cat"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3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4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"emu"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5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6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7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…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...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22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"wolf"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23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"wasp"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24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"yak"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25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"zebra"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31791" name="Rectangle 54"/>
          <p:cNvSpPr>
            <a:spLocks noChangeArrowheads="1"/>
          </p:cNvSpPr>
          <p:nvPr/>
        </p:nvSpPr>
        <p:spPr bwMode="auto">
          <a:xfrm>
            <a:off x="7505700" y="2640013"/>
            <a:ext cx="995363" cy="280987"/>
          </a:xfrm>
          <a:prstGeom prst="rect">
            <a:avLst/>
          </a:prstGeom>
          <a:noFill/>
          <a:ln w="38100" algn="ctr">
            <a:solidFill>
              <a:srgbClr val="CC0099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>
              <a:spcBef>
                <a:spcPts val="1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 algn="l">
              <a:spcBef>
                <a:spcPts val="525"/>
              </a:spcBef>
              <a:buClr>
                <a:srgbClr val="000000"/>
              </a:buClr>
              <a:buSzPct val="10000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Helvetica" panose="020B0604020202020204" pitchFamily="34" charset="0"/>
              <a:buChar char="–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9576449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Quadratic Probing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458200" cy="5614988"/>
          </a:xfrm>
        </p:spPr>
        <p:txBody>
          <a:bodyPr/>
          <a:lstStyle/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Probe sequence:  h(key), h(key) + 1, h(key) + 4, h(key) + 9, …, </a:t>
            </a:r>
            <a:br>
              <a:rPr lang="en-US" altLang="en-US" dirty="0"/>
            </a:br>
            <a:r>
              <a:rPr lang="en-US" altLang="en-US" dirty="0"/>
              <a:t>wrapping around as necessary.</a:t>
            </a:r>
          </a:p>
          <a:p>
            <a:pPr lvl="1"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dirty="0"/>
              <a:t>the offsets are perfect squares: h + 1</a:t>
            </a:r>
            <a:r>
              <a:rPr lang="en-US" altLang="en-US" baseline="30000" dirty="0"/>
              <a:t>2</a:t>
            </a:r>
            <a:r>
              <a:rPr lang="en-US" altLang="en-US" dirty="0"/>
              <a:t>, h + 2</a:t>
            </a:r>
            <a:r>
              <a:rPr lang="en-US" altLang="en-US" baseline="30000" dirty="0"/>
              <a:t>2</a:t>
            </a:r>
            <a:r>
              <a:rPr lang="en-US" altLang="en-US" dirty="0"/>
              <a:t>, h + 3</a:t>
            </a:r>
            <a:r>
              <a:rPr lang="en-US" altLang="en-US" baseline="30000" dirty="0"/>
              <a:t>2</a:t>
            </a:r>
            <a:r>
              <a:rPr lang="en-US" altLang="en-US" dirty="0"/>
              <a:t>, …</a:t>
            </a:r>
          </a:p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Examples: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"ape" (h = 0): try 0, </a:t>
            </a:r>
            <a:r>
              <a:rPr lang="en-US" altLang="en-US" sz="2000" b="1" dirty="0">
                <a:solidFill>
                  <a:schemeClr val="accent2"/>
                </a:solidFill>
              </a:rPr>
              <a:t>0 + 1 – open!</a:t>
            </a:r>
            <a:r>
              <a:rPr lang="en-US" altLang="en-US" sz="2000" dirty="0"/>
              <a:t> 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"bear" (h = 1): try 1</a:t>
            </a:r>
            <a:endParaRPr lang="en-US" altLang="en-US" sz="2000" b="1" dirty="0">
              <a:solidFill>
                <a:schemeClr val="accent2"/>
              </a:solidFill>
            </a:endParaRP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endParaRPr lang="en-US" altLang="en-US" b="1" dirty="0">
              <a:solidFill>
                <a:schemeClr val="accent2"/>
              </a:solidFill>
            </a:endParaRPr>
          </a:p>
        </p:txBody>
      </p:sp>
      <p:graphicFrame>
        <p:nvGraphicFramePr>
          <p:cNvPr id="2135045" name="Group 5"/>
          <p:cNvGraphicFramePr>
            <a:graphicFrameLocks noGrp="1"/>
          </p:cNvGraphicFramePr>
          <p:nvPr/>
        </p:nvGraphicFramePr>
        <p:xfrm>
          <a:off x="6427788" y="2278063"/>
          <a:ext cx="2097087" cy="4359277"/>
        </p:xfrm>
        <a:graphic>
          <a:graphicData uri="http://schemas.openxmlformats.org/drawingml/2006/table">
            <a:tbl>
              <a:tblPr/>
              <a:tblGrid>
                <a:gridCol w="105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6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0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"ant"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Console" pitchFamily="49" charset="0"/>
                        </a:rPr>
                        <a:t>"ape"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"cat"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3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4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"emu"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5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6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7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…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...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22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"wolf"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23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"wasp"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24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"yak"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25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"zebra"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31791" name="Rectangle 54"/>
          <p:cNvSpPr>
            <a:spLocks noChangeArrowheads="1"/>
          </p:cNvSpPr>
          <p:nvPr/>
        </p:nvSpPr>
        <p:spPr bwMode="auto">
          <a:xfrm>
            <a:off x="7505700" y="2640013"/>
            <a:ext cx="995363" cy="280987"/>
          </a:xfrm>
          <a:prstGeom prst="rect">
            <a:avLst/>
          </a:prstGeom>
          <a:noFill/>
          <a:ln w="38100" algn="ctr">
            <a:solidFill>
              <a:srgbClr val="CC0099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>
              <a:spcBef>
                <a:spcPts val="1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 algn="l">
              <a:spcBef>
                <a:spcPts val="525"/>
              </a:spcBef>
              <a:buClr>
                <a:srgbClr val="000000"/>
              </a:buClr>
              <a:buSzPct val="10000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Helvetica" panose="020B0604020202020204" pitchFamily="34" charset="0"/>
              <a:buChar char="–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9768828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Quadratic Probing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458200" cy="5614988"/>
          </a:xfrm>
        </p:spPr>
        <p:txBody>
          <a:bodyPr/>
          <a:lstStyle/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Probe sequence:  h(key), h(key) + 1, h(key) + 4, h(key) + 9, …, </a:t>
            </a:r>
            <a:br>
              <a:rPr lang="en-US" altLang="en-US" dirty="0"/>
            </a:br>
            <a:r>
              <a:rPr lang="en-US" altLang="en-US" dirty="0"/>
              <a:t>wrapping around as necessary.</a:t>
            </a:r>
          </a:p>
          <a:p>
            <a:pPr lvl="1"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dirty="0"/>
              <a:t>the offsets are perfect squares: h + 1</a:t>
            </a:r>
            <a:r>
              <a:rPr lang="en-US" altLang="en-US" baseline="30000" dirty="0"/>
              <a:t>2</a:t>
            </a:r>
            <a:r>
              <a:rPr lang="en-US" altLang="en-US" dirty="0"/>
              <a:t>, h + 2</a:t>
            </a:r>
            <a:r>
              <a:rPr lang="en-US" altLang="en-US" baseline="30000" dirty="0"/>
              <a:t>2</a:t>
            </a:r>
            <a:r>
              <a:rPr lang="en-US" altLang="en-US" dirty="0"/>
              <a:t>, h + 3</a:t>
            </a:r>
            <a:r>
              <a:rPr lang="en-US" altLang="en-US" baseline="30000" dirty="0"/>
              <a:t>2</a:t>
            </a:r>
            <a:r>
              <a:rPr lang="en-US" altLang="en-US" dirty="0"/>
              <a:t>, …</a:t>
            </a:r>
          </a:p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Examples: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"ape" (h = 0): try 0, 0 + 1 – open! 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"bear" (h = 1): try 1, </a:t>
            </a:r>
            <a:r>
              <a:rPr lang="en-US" altLang="en-US" sz="2000" b="1" dirty="0">
                <a:solidFill>
                  <a:schemeClr val="accent2"/>
                </a:solidFill>
              </a:rPr>
              <a:t>1 + 1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endParaRPr lang="en-US" altLang="en-US" b="1" dirty="0">
              <a:solidFill>
                <a:schemeClr val="accent2"/>
              </a:solidFill>
            </a:endParaRPr>
          </a:p>
        </p:txBody>
      </p:sp>
      <p:sp>
        <p:nvSpPr>
          <p:cNvPr id="32772" name="Rectangle 5"/>
          <p:cNvSpPr>
            <a:spLocks noChangeArrowheads="1"/>
          </p:cNvSpPr>
          <p:nvPr/>
        </p:nvSpPr>
        <p:spPr bwMode="auto">
          <a:xfrm>
            <a:off x="7505700" y="2973388"/>
            <a:ext cx="995363" cy="280987"/>
          </a:xfrm>
          <a:prstGeom prst="rect">
            <a:avLst/>
          </a:prstGeom>
          <a:noFill/>
          <a:ln w="38100" algn="ctr">
            <a:solidFill>
              <a:srgbClr val="CC0099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>
              <a:spcBef>
                <a:spcPts val="1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 algn="l">
              <a:spcBef>
                <a:spcPts val="525"/>
              </a:spcBef>
              <a:buClr>
                <a:srgbClr val="000000"/>
              </a:buClr>
              <a:buSzPct val="10000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Helvetica" panose="020B0604020202020204" pitchFamily="34" charset="0"/>
              <a:buChar char="–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 Narrow" panose="020B0606020202030204" pitchFamily="34" charset="0"/>
            </a:endParaRPr>
          </a:p>
        </p:txBody>
      </p:sp>
      <p:graphicFrame>
        <p:nvGraphicFramePr>
          <p:cNvPr id="2139142" name="Group 6"/>
          <p:cNvGraphicFramePr>
            <a:graphicFrameLocks noGrp="1"/>
          </p:cNvGraphicFramePr>
          <p:nvPr/>
        </p:nvGraphicFramePr>
        <p:xfrm>
          <a:off x="6427788" y="2278063"/>
          <a:ext cx="2097087" cy="4359277"/>
        </p:xfrm>
        <a:graphic>
          <a:graphicData uri="http://schemas.openxmlformats.org/drawingml/2006/table">
            <a:tbl>
              <a:tblPr/>
              <a:tblGrid>
                <a:gridCol w="105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6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0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"ant"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Console" pitchFamily="49" charset="0"/>
                        </a:rPr>
                        <a:t>"ape"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"cat"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3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4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"emu"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5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6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7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…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...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22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"wolf"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23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"wasp"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24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"yak"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25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"zebra"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23869701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Quadratic Probing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458200" cy="5614988"/>
          </a:xfrm>
        </p:spPr>
        <p:txBody>
          <a:bodyPr/>
          <a:lstStyle/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Probe sequence:  h(key), h(key) + 1, h(key) + 4, h(key) + 9, …, </a:t>
            </a:r>
            <a:br>
              <a:rPr lang="en-US" altLang="en-US" dirty="0"/>
            </a:br>
            <a:r>
              <a:rPr lang="en-US" altLang="en-US" dirty="0"/>
              <a:t>wrapping around as necessary.</a:t>
            </a:r>
          </a:p>
          <a:p>
            <a:pPr lvl="1"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dirty="0"/>
              <a:t>the offsets are perfect squares: h + 1</a:t>
            </a:r>
            <a:r>
              <a:rPr lang="en-US" altLang="en-US" baseline="30000" dirty="0"/>
              <a:t>2</a:t>
            </a:r>
            <a:r>
              <a:rPr lang="en-US" altLang="en-US" dirty="0"/>
              <a:t>, h + 2</a:t>
            </a:r>
            <a:r>
              <a:rPr lang="en-US" altLang="en-US" baseline="30000" dirty="0"/>
              <a:t>2</a:t>
            </a:r>
            <a:r>
              <a:rPr lang="en-US" altLang="en-US" dirty="0"/>
              <a:t>, h + 3</a:t>
            </a:r>
            <a:r>
              <a:rPr lang="en-US" altLang="en-US" baseline="30000" dirty="0"/>
              <a:t>2</a:t>
            </a:r>
            <a:r>
              <a:rPr lang="en-US" altLang="en-US" dirty="0"/>
              <a:t>, …</a:t>
            </a:r>
          </a:p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Examples: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"ape" (h = 0): try 0, 0 + 1 – open! 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"bear" (h = 1): try 1, 1 + 1, </a:t>
            </a:r>
            <a:r>
              <a:rPr lang="en-US" altLang="en-US" sz="2000" b="1" dirty="0">
                <a:solidFill>
                  <a:schemeClr val="accent2"/>
                </a:solidFill>
              </a:rPr>
              <a:t>1 + 4 </a:t>
            </a:r>
          </a:p>
          <a:p>
            <a:pPr marL="457200" lvl="1" indent="0">
              <a:lnSpc>
                <a:spcPct val="90000"/>
              </a:lnSpc>
              <a:spcBef>
                <a:spcPts val="500"/>
              </a:spcBef>
              <a:buNone/>
              <a:tabLst>
                <a:tab pos="569913" algn="l"/>
                <a:tab pos="793750" algn="l"/>
              </a:tabLst>
            </a:pPr>
            <a:endParaRPr lang="en-US" altLang="en-US" sz="2000" i="1" dirty="0"/>
          </a:p>
        </p:txBody>
      </p:sp>
      <p:graphicFrame>
        <p:nvGraphicFramePr>
          <p:cNvPr id="2145285" name="Group 5"/>
          <p:cNvGraphicFramePr>
            <a:graphicFrameLocks noGrp="1"/>
          </p:cNvGraphicFramePr>
          <p:nvPr/>
        </p:nvGraphicFramePr>
        <p:xfrm>
          <a:off x="6427788" y="2278063"/>
          <a:ext cx="2097087" cy="4359277"/>
        </p:xfrm>
        <a:graphic>
          <a:graphicData uri="http://schemas.openxmlformats.org/drawingml/2006/table">
            <a:tbl>
              <a:tblPr/>
              <a:tblGrid>
                <a:gridCol w="105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6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0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"ant"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Console" pitchFamily="49" charset="0"/>
                        </a:rPr>
                        <a:t>"ape"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"cat"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3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4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"emu"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5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6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7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…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...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22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"wolf"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23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"wasp"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24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"yak"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25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"zebra"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33839" name="Rectangle 54"/>
          <p:cNvSpPr>
            <a:spLocks noChangeArrowheads="1"/>
          </p:cNvSpPr>
          <p:nvPr/>
        </p:nvSpPr>
        <p:spPr bwMode="auto">
          <a:xfrm>
            <a:off x="7505700" y="3978275"/>
            <a:ext cx="995363" cy="280988"/>
          </a:xfrm>
          <a:prstGeom prst="rect">
            <a:avLst/>
          </a:prstGeom>
          <a:noFill/>
          <a:ln w="38100" algn="ctr">
            <a:solidFill>
              <a:srgbClr val="CC0099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>
              <a:spcBef>
                <a:spcPts val="1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 algn="l">
              <a:spcBef>
                <a:spcPts val="525"/>
              </a:spcBef>
              <a:buClr>
                <a:srgbClr val="000000"/>
              </a:buClr>
              <a:buSzPct val="10000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Helvetica" panose="020B0604020202020204" pitchFamily="34" charset="0"/>
              <a:buChar char="–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2392548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Quadratic Probing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458200" cy="5614988"/>
          </a:xfrm>
        </p:spPr>
        <p:txBody>
          <a:bodyPr/>
          <a:lstStyle/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Probe sequence:  h(key), h(key) + 1, h(key) + 4, h(key) + 9, …, </a:t>
            </a:r>
            <a:br>
              <a:rPr lang="en-US" altLang="en-US" dirty="0"/>
            </a:br>
            <a:r>
              <a:rPr lang="en-US" altLang="en-US" dirty="0"/>
              <a:t>wrapping around as necessary.</a:t>
            </a:r>
          </a:p>
          <a:p>
            <a:pPr lvl="1"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dirty="0"/>
              <a:t>the offsets are perfect squares: h + 1</a:t>
            </a:r>
            <a:r>
              <a:rPr lang="en-US" altLang="en-US" baseline="30000" dirty="0"/>
              <a:t>2</a:t>
            </a:r>
            <a:r>
              <a:rPr lang="en-US" altLang="en-US" dirty="0"/>
              <a:t>, h + 2</a:t>
            </a:r>
            <a:r>
              <a:rPr lang="en-US" altLang="en-US" baseline="30000" dirty="0"/>
              <a:t>2</a:t>
            </a:r>
            <a:r>
              <a:rPr lang="en-US" altLang="en-US" dirty="0"/>
              <a:t>, h + 3</a:t>
            </a:r>
            <a:r>
              <a:rPr lang="en-US" altLang="en-US" baseline="30000" dirty="0"/>
              <a:t>2</a:t>
            </a:r>
            <a:r>
              <a:rPr lang="en-US" altLang="en-US" dirty="0"/>
              <a:t>, …</a:t>
            </a:r>
          </a:p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Examples: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"ape" (h = 0): try 0, 0 + 1 – open! 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"bear" (h = 1): try 1, 1 + 1, </a:t>
            </a:r>
            <a:r>
              <a:rPr lang="en-US" altLang="en-US" sz="2000" b="1" dirty="0">
                <a:solidFill>
                  <a:schemeClr val="accent2"/>
                </a:solidFill>
              </a:rPr>
              <a:t>1 + 4 – open!</a:t>
            </a:r>
          </a:p>
          <a:p>
            <a:pPr marL="457200" lvl="1" indent="0">
              <a:lnSpc>
                <a:spcPct val="90000"/>
              </a:lnSpc>
              <a:spcBef>
                <a:spcPts val="500"/>
              </a:spcBef>
              <a:buNone/>
              <a:tabLst>
                <a:tab pos="569913" algn="l"/>
                <a:tab pos="793750" algn="l"/>
              </a:tabLst>
            </a:pPr>
            <a:endParaRPr lang="en-US" altLang="en-US" sz="2000" i="1" dirty="0"/>
          </a:p>
        </p:txBody>
      </p:sp>
      <p:graphicFrame>
        <p:nvGraphicFramePr>
          <p:cNvPr id="2145285" name="Group 5"/>
          <p:cNvGraphicFramePr>
            <a:graphicFrameLocks noGrp="1"/>
          </p:cNvGraphicFramePr>
          <p:nvPr/>
        </p:nvGraphicFramePr>
        <p:xfrm>
          <a:off x="6427788" y="2278063"/>
          <a:ext cx="2097087" cy="4359277"/>
        </p:xfrm>
        <a:graphic>
          <a:graphicData uri="http://schemas.openxmlformats.org/drawingml/2006/table">
            <a:tbl>
              <a:tblPr/>
              <a:tblGrid>
                <a:gridCol w="105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6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0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"ant"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Console" pitchFamily="49" charset="0"/>
                        </a:rPr>
                        <a:t>"ape"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"cat"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3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4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"emu"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5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Console" pitchFamily="49" charset="0"/>
                        </a:rPr>
                        <a:t>"bear"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6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7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…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...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22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"wolf"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23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"wasp"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24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"yak"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25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"zebra"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33839" name="Rectangle 54"/>
          <p:cNvSpPr>
            <a:spLocks noChangeArrowheads="1"/>
          </p:cNvSpPr>
          <p:nvPr/>
        </p:nvSpPr>
        <p:spPr bwMode="auto">
          <a:xfrm>
            <a:off x="7505700" y="3978275"/>
            <a:ext cx="995363" cy="280988"/>
          </a:xfrm>
          <a:prstGeom prst="rect">
            <a:avLst/>
          </a:prstGeom>
          <a:noFill/>
          <a:ln w="38100" algn="ctr">
            <a:solidFill>
              <a:srgbClr val="CC0099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>
              <a:spcBef>
                <a:spcPts val="1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 algn="l">
              <a:spcBef>
                <a:spcPts val="525"/>
              </a:spcBef>
              <a:buClr>
                <a:srgbClr val="000000"/>
              </a:buClr>
              <a:buSzPct val="10000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Helvetica" panose="020B0604020202020204" pitchFamily="34" charset="0"/>
              <a:buChar char="–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3280874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Quadratic Probing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458200" cy="5614988"/>
          </a:xfrm>
        </p:spPr>
        <p:txBody>
          <a:bodyPr/>
          <a:lstStyle/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Probe sequence:  h(key), h(key) + 1, h(key) + 4, h(key) + 9, …, </a:t>
            </a:r>
            <a:br>
              <a:rPr lang="en-US" altLang="en-US" dirty="0"/>
            </a:br>
            <a:r>
              <a:rPr lang="en-US" altLang="en-US" dirty="0"/>
              <a:t>wrapping around as necessary.</a:t>
            </a:r>
          </a:p>
          <a:p>
            <a:pPr lvl="1"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dirty="0"/>
              <a:t>the offsets are perfect squares: h + 1</a:t>
            </a:r>
            <a:r>
              <a:rPr lang="en-US" altLang="en-US" baseline="30000" dirty="0"/>
              <a:t>2</a:t>
            </a:r>
            <a:r>
              <a:rPr lang="en-US" altLang="en-US" dirty="0"/>
              <a:t>, h + 2</a:t>
            </a:r>
            <a:r>
              <a:rPr lang="en-US" altLang="en-US" baseline="30000" dirty="0"/>
              <a:t>2</a:t>
            </a:r>
            <a:r>
              <a:rPr lang="en-US" altLang="en-US" dirty="0"/>
              <a:t>, h + 3</a:t>
            </a:r>
            <a:r>
              <a:rPr lang="en-US" altLang="en-US" baseline="30000" dirty="0"/>
              <a:t>2</a:t>
            </a:r>
            <a:r>
              <a:rPr lang="en-US" altLang="en-US" dirty="0"/>
              <a:t>, …</a:t>
            </a:r>
          </a:p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Examples: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"ape" (h = 0): try 0, 0 + 1 – open! 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"bear" (h = 1): try 1, 1 + 1, </a:t>
            </a:r>
            <a:r>
              <a:rPr lang="en-US" altLang="en-US" sz="2000" dirty="0">
                <a:solidFill>
                  <a:schemeClr val="tx1"/>
                </a:solidFill>
              </a:rPr>
              <a:t>1 + 4 – open!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b="1" dirty="0">
                <a:solidFill>
                  <a:srgbClr val="0000FF"/>
                </a:solidFill>
              </a:rPr>
              <a:t>where would "zebu" end up?</a:t>
            </a:r>
            <a:br>
              <a:rPr lang="en-US" altLang="en-US" sz="2000" b="1" dirty="0">
                <a:solidFill>
                  <a:srgbClr val="0000FF"/>
                </a:solidFill>
              </a:rPr>
            </a:br>
            <a:endParaRPr lang="en-US" altLang="en-US" sz="2000" b="1" i="1" dirty="0">
              <a:solidFill>
                <a:srgbClr val="FF0000"/>
              </a:solidFill>
            </a:endParaRPr>
          </a:p>
        </p:txBody>
      </p:sp>
      <p:graphicFrame>
        <p:nvGraphicFramePr>
          <p:cNvPr id="2145285" name="Group 5"/>
          <p:cNvGraphicFramePr>
            <a:graphicFrameLocks noGrp="1"/>
          </p:cNvGraphicFramePr>
          <p:nvPr/>
        </p:nvGraphicFramePr>
        <p:xfrm>
          <a:off x="6427788" y="2278063"/>
          <a:ext cx="2097087" cy="4359277"/>
        </p:xfrm>
        <a:graphic>
          <a:graphicData uri="http://schemas.openxmlformats.org/drawingml/2006/table">
            <a:tbl>
              <a:tblPr/>
              <a:tblGrid>
                <a:gridCol w="105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6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0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"ant"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Console" pitchFamily="49" charset="0"/>
                        </a:rPr>
                        <a:t>"ape"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"cat"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3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4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"emu"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5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Console" pitchFamily="49" charset="0"/>
                        </a:rPr>
                        <a:t>"bear"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6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7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…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...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22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"wolf"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23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"wasp"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24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"yak"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25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"zebra"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752804" y="4454646"/>
            <a:ext cx="3797929" cy="23469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marL="333375" indent="-333375" algn="l" defTabSz="447675" rtl="0" eaLnBrk="0" fontAlgn="base" hangingPunct="0">
              <a:spcBef>
                <a:spcPts val="1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733425" indent="-276225" algn="l" defTabSz="447675" rtl="0" eaLnBrk="0" fontAlgn="base" hangingPunct="0">
              <a:spcBef>
                <a:spcPts val="5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Helvetica" panose="020B0604020202020204" pitchFamily="34" charset="0"/>
              <a:buChar char="–"/>
              <a:defRPr sz="2200">
                <a:solidFill>
                  <a:srgbClr val="000000"/>
                </a:solidFill>
                <a:latin typeface="+mn-lt"/>
              </a:defRPr>
            </a:lvl2pPr>
            <a:lvl3pPr marL="1076325" indent="-161925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000">
                <a:solidFill>
                  <a:srgbClr val="000000"/>
                </a:solidFill>
                <a:latin typeface="+mn-lt"/>
              </a:defRPr>
            </a:lvl3pPr>
            <a:lvl4pPr marL="1600200" indent="-228600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Helvetica" panose="020B0604020202020204" pitchFamily="34" charset="0"/>
              <a:buChar char="–"/>
              <a:defRPr sz="2000">
                <a:solidFill>
                  <a:srgbClr val="000000"/>
                </a:solidFill>
                <a:latin typeface="+mn-lt"/>
              </a:defRPr>
            </a:lvl4pPr>
            <a:lvl5pPr marL="2057400" indent="-228600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+mn-lt"/>
              </a:defRPr>
            </a:lvl5pPr>
            <a:lvl6pPr marL="2514600" indent="-228600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Char char="»"/>
              <a:defRPr sz="2000">
                <a:solidFill>
                  <a:srgbClr val="000000"/>
                </a:solidFill>
                <a:latin typeface="+mn-lt"/>
              </a:defRPr>
            </a:lvl6pPr>
            <a:lvl7pPr marL="2971800" indent="-228600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Char char="»"/>
              <a:defRPr sz="2000">
                <a:solidFill>
                  <a:srgbClr val="000000"/>
                </a:solidFill>
                <a:latin typeface="+mn-lt"/>
              </a:defRPr>
            </a:lvl7pPr>
            <a:lvl8pPr marL="3429000" indent="-228600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Char char="»"/>
              <a:defRPr sz="2000">
                <a:solidFill>
                  <a:srgbClr val="000000"/>
                </a:solidFill>
                <a:latin typeface="+mn-lt"/>
              </a:defRPr>
            </a:lvl8pPr>
            <a:lvl9pPr marL="3886200" indent="-228600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Char char="»"/>
              <a:defRPr sz="2000">
                <a:solidFill>
                  <a:srgbClr val="000000"/>
                </a:solidFill>
                <a:latin typeface="+mn-lt"/>
              </a:defRPr>
            </a:lvl9pPr>
          </a:lstStyle>
          <a:p>
            <a:pPr marL="457200" marR="0" lvl="0" indent="-457200" algn="l" defTabSz="447675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+mj-lt"/>
              <a:buAutoNum type="alphaUcPeriod"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 </a:t>
            </a: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0</a:t>
            </a:r>
          </a:p>
          <a:p>
            <a:pPr marL="457200" marR="0" lvl="0" indent="-457200" algn="l" defTabSz="447675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+mj-lt"/>
              <a:buAutoNum type="alphaUcPeriod"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 </a:t>
            </a: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3</a:t>
            </a:r>
          </a:p>
          <a:p>
            <a:pPr marL="457200" marR="0" lvl="0" indent="-457200" algn="l" defTabSz="447675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+mj-lt"/>
              <a:buAutoNum type="alphaUcPeriod"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 </a:t>
            </a: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6</a:t>
            </a:r>
          </a:p>
          <a:p>
            <a:pPr marL="457200" marR="0" lvl="0" indent="-457200" algn="l" defTabSz="447675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+mj-lt"/>
              <a:buAutoNum type="alphaUcPeriod"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 </a:t>
            </a: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7</a:t>
            </a:r>
          </a:p>
          <a:p>
            <a:pPr marL="457200" marR="0" lvl="0" indent="-457200" algn="l" defTabSz="447675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+mj-lt"/>
              <a:buAutoNum type="alphaUcPeriod"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 </a:t>
            </a: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25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  <a:p>
            <a:pPr marL="457200" marR="0" lvl="0" indent="-457200" algn="l" defTabSz="447675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+mj-lt"/>
              <a:buAutoNum type="alphaUcPeriod"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  <a:p>
            <a:pPr marL="0" marR="0" lvl="0" indent="0" algn="l" defTabSz="447675" rtl="0" eaLnBrk="0" fontAlgn="base" latinLnBrk="0" hangingPunct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  <a:p>
            <a:pPr marL="333375" marR="0" lvl="0" indent="-333375" algn="l" defTabSz="447675" rtl="0" eaLnBrk="0" fontAlgn="base" latinLnBrk="0" hangingPunct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  <a:p>
            <a:pPr marL="333375" marR="0" lvl="0" indent="-333375" algn="l" defTabSz="447675" rtl="0" eaLnBrk="0" fontAlgn="base" latinLnBrk="0" hangingPunct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  <a:p>
            <a:pPr marL="333375" marR="0" lvl="0" indent="-333375" algn="l" defTabSz="447675" rtl="0" eaLnBrk="0" fontAlgn="base" latinLnBrk="0" hangingPunct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  <a:p>
            <a:pPr marL="333375" marR="0" lvl="0" indent="-333375" algn="l" defTabSz="447675" rtl="0" eaLnBrk="0" fontAlgn="base" latinLnBrk="0" hangingPunct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  <a:p>
            <a:pPr marL="333375" marR="0" lvl="0" indent="-333375" algn="l" defTabSz="447675" rtl="0" eaLnBrk="0" fontAlgn="base" latinLnBrk="0" hangingPunct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  <a:p>
            <a:pPr marL="333375" marR="0" lvl="0" indent="-333375" algn="l" defTabSz="447675" rtl="0" eaLnBrk="0" fontAlgn="base" latinLnBrk="0" hangingPunct="0">
              <a:lnSpc>
                <a:spcPct val="100000"/>
              </a:lnSpc>
              <a:spcBef>
                <a:spcPts val="2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57159908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Quadratic Probing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458200" cy="5614988"/>
          </a:xfrm>
        </p:spPr>
        <p:txBody>
          <a:bodyPr/>
          <a:lstStyle/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Probe sequence:  h(key), h(key) + 1, h(key) + 4, h(key) + 9, …, </a:t>
            </a:r>
            <a:br>
              <a:rPr lang="en-US" altLang="en-US" dirty="0"/>
            </a:br>
            <a:r>
              <a:rPr lang="en-US" altLang="en-US" dirty="0"/>
              <a:t>wrapping around as necessary.</a:t>
            </a:r>
          </a:p>
          <a:p>
            <a:pPr lvl="1"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dirty="0"/>
              <a:t>the offsets are perfect squares: h + 1</a:t>
            </a:r>
            <a:r>
              <a:rPr lang="en-US" altLang="en-US" baseline="30000" dirty="0"/>
              <a:t>2</a:t>
            </a:r>
            <a:r>
              <a:rPr lang="en-US" altLang="en-US" dirty="0"/>
              <a:t>, h + 2</a:t>
            </a:r>
            <a:r>
              <a:rPr lang="en-US" altLang="en-US" baseline="30000" dirty="0"/>
              <a:t>2</a:t>
            </a:r>
            <a:r>
              <a:rPr lang="en-US" altLang="en-US" dirty="0"/>
              <a:t>, h + 3</a:t>
            </a:r>
            <a:r>
              <a:rPr lang="en-US" altLang="en-US" baseline="30000" dirty="0"/>
              <a:t>2</a:t>
            </a:r>
            <a:r>
              <a:rPr lang="en-US" altLang="en-US" dirty="0"/>
              <a:t>, …</a:t>
            </a:r>
          </a:p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Examples: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"ape" (h = 0): try 0, 0 + 1 – open! 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"bear" (h = 1): try 1, 1 + 1, </a:t>
            </a:r>
            <a:r>
              <a:rPr lang="en-US" altLang="en-US" sz="2000" dirty="0">
                <a:solidFill>
                  <a:schemeClr val="tx1"/>
                </a:solidFill>
              </a:rPr>
              <a:t>1 + 4 – open!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b="1" dirty="0">
                <a:solidFill>
                  <a:srgbClr val="0000FF"/>
                </a:solidFill>
              </a:rPr>
              <a:t>where would "zebu" end up?</a:t>
            </a:r>
            <a:br>
              <a:rPr lang="en-US" altLang="en-US" sz="2000" b="1" dirty="0">
                <a:solidFill>
                  <a:srgbClr val="0000FF"/>
                </a:solidFill>
              </a:rPr>
            </a:br>
            <a:r>
              <a:rPr lang="en-US" altLang="en-US" sz="2000" b="1" dirty="0">
                <a:solidFill>
                  <a:srgbClr val="FF0000"/>
                </a:solidFill>
              </a:rPr>
              <a:t>try 25</a:t>
            </a:r>
            <a:endParaRPr lang="en-US" altLang="en-US" sz="2000" b="1" i="1" dirty="0">
              <a:solidFill>
                <a:srgbClr val="FF0000"/>
              </a:solidFill>
            </a:endParaRPr>
          </a:p>
        </p:txBody>
      </p:sp>
      <p:graphicFrame>
        <p:nvGraphicFramePr>
          <p:cNvPr id="2145285" name="Group 5"/>
          <p:cNvGraphicFramePr>
            <a:graphicFrameLocks noGrp="1"/>
          </p:cNvGraphicFramePr>
          <p:nvPr/>
        </p:nvGraphicFramePr>
        <p:xfrm>
          <a:off x="6427788" y="2278063"/>
          <a:ext cx="2097087" cy="4359277"/>
        </p:xfrm>
        <a:graphic>
          <a:graphicData uri="http://schemas.openxmlformats.org/drawingml/2006/table">
            <a:tbl>
              <a:tblPr/>
              <a:tblGrid>
                <a:gridCol w="105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6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0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"ant"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Console" pitchFamily="49" charset="0"/>
                        </a:rPr>
                        <a:t>"ape"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"cat"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3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4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"emu"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5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Console" pitchFamily="49" charset="0"/>
                        </a:rPr>
                        <a:t>"bear"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6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7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…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...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22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"wolf"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23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"wasp"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24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"yak"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25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"zebra"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752804" y="4454646"/>
            <a:ext cx="3797929" cy="23469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marL="333375" indent="-333375" algn="l" defTabSz="447675" rtl="0" eaLnBrk="0" fontAlgn="base" hangingPunct="0">
              <a:spcBef>
                <a:spcPts val="1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733425" indent="-276225" algn="l" defTabSz="447675" rtl="0" eaLnBrk="0" fontAlgn="base" hangingPunct="0">
              <a:spcBef>
                <a:spcPts val="5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Helvetica" panose="020B0604020202020204" pitchFamily="34" charset="0"/>
              <a:buChar char="–"/>
              <a:defRPr sz="2200">
                <a:solidFill>
                  <a:srgbClr val="000000"/>
                </a:solidFill>
                <a:latin typeface="+mn-lt"/>
              </a:defRPr>
            </a:lvl2pPr>
            <a:lvl3pPr marL="1076325" indent="-161925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000">
                <a:solidFill>
                  <a:srgbClr val="000000"/>
                </a:solidFill>
                <a:latin typeface="+mn-lt"/>
              </a:defRPr>
            </a:lvl3pPr>
            <a:lvl4pPr marL="1600200" indent="-228600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Helvetica" panose="020B0604020202020204" pitchFamily="34" charset="0"/>
              <a:buChar char="–"/>
              <a:defRPr sz="2000">
                <a:solidFill>
                  <a:srgbClr val="000000"/>
                </a:solidFill>
                <a:latin typeface="+mn-lt"/>
              </a:defRPr>
            </a:lvl4pPr>
            <a:lvl5pPr marL="2057400" indent="-228600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+mn-lt"/>
              </a:defRPr>
            </a:lvl5pPr>
            <a:lvl6pPr marL="2514600" indent="-228600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Char char="»"/>
              <a:defRPr sz="2000">
                <a:solidFill>
                  <a:srgbClr val="000000"/>
                </a:solidFill>
                <a:latin typeface="+mn-lt"/>
              </a:defRPr>
            </a:lvl6pPr>
            <a:lvl7pPr marL="2971800" indent="-228600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Char char="»"/>
              <a:defRPr sz="2000">
                <a:solidFill>
                  <a:srgbClr val="000000"/>
                </a:solidFill>
                <a:latin typeface="+mn-lt"/>
              </a:defRPr>
            </a:lvl7pPr>
            <a:lvl8pPr marL="3429000" indent="-228600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Char char="»"/>
              <a:defRPr sz="2000">
                <a:solidFill>
                  <a:srgbClr val="000000"/>
                </a:solidFill>
                <a:latin typeface="+mn-lt"/>
              </a:defRPr>
            </a:lvl8pPr>
            <a:lvl9pPr marL="3886200" indent="-228600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Char char="»"/>
              <a:defRPr sz="2000">
                <a:solidFill>
                  <a:srgbClr val="000000"/>
                </a:solidFill>
                <a:latin typeface="+mn-lt"/>
              </a:defRPr>
            </a:lvl9pPr>
          </a:lstStyle>
          <a:p>
            <a:pPr marL="457200" marR="0" lvl="0" indent="-457200" algn="l" defTabSz="447675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+mj-lt"/>
              <a:buAutoNum type="alphaUcPeriod"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 </a:t>
            </a: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0</a:t>
            </a:r>
          </a:p>
          <a:p>
            <a:pPr marL="457200" marR="0" lvl="0" indent="-457200" algn="l" defTabSz="447675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+mj-lt"/>
              <a:buAutoNum type="alphaUcPeriod"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 </a:t>
            </a: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3</a:t>
            </a:r>
          </a:p>
          <a:p>
            <a:pPr marL="457200" marR="0" lvl="0" indent="-457200" algn="l" defTabSz="447675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+mj-lt"/>
              <a:buAutoNum type="alphaUcPeriod"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 </a:t>
            </a: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6</a:t>
            </a:r>
          </a:p>
          <a:p>
            <a:pPr marL="457200" marR="0" lvl="0" indent="-457200" algn="l" defTabSz="447675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+mj-lt"/>
              <a:buAutoNum type="alphaUcPeriod"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 </a:t>
            </a: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7</a:t>
            </a:r>
          </a:p>
          <a:p>
            <a:pPr marL="457200" marR="0" lvl="0" indent="-457200" algn="l" defTabSz="447675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+mj-lt"/>
              <a:buAutoNum type="alphaUcPeriod"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 </a:t>
            </a: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25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  <a:p>
            <a:pPr marL="457200" marR="0" lvl="0" indent="-457200" algn="l" defTabSz="447675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+mj-lt"/>
              <a:buAutoNum type="alphaUcPeriod"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  <a:p>
            <a:pPr marL="0" marR="0" lvl="0" indent="0" algn="l" defTabSz="447675" rtl="0" eaLnBrk="0" fontAlgn="base" latinLnBrk="0" hangingPunct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  <a:p>
            <a:pPr marL="333375" marR="0" lvl="0" indent="-333375" algn="l" defTabSz="447675" rtl="0" eaLnBrk="0" fontAlgn="base" latinLnBrk="0" hangingPunct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  <a:p>
            <a:pPr marL="333375" marR="0" lvl="0" indent="-333375" algn="l" defTabSz="447675" rtl="0" eaLnBrk="0" fontAlgn="base" latinLnBrk="0" hangingPunct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  <a:p>
            <a:pPr marL="333375" marR="0" lvl="0" indent="-333375" algn="l" defTabSz="447675" rtl="0" eaLnBrk="0" fontAlgn="base" latinLnBrk="0" hangingPunct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  <a:p>
            <a:pPr marL="333375" marR="0" lvl="0" indent="-333375" algn="l" defTabSz="447675" rtl="0" eaLnBrk="0" fontAlgn="base" latinLnBrk="0" hangingPunct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  <a:p>
            <a:pPr marL="333375" marR="0" lvl="0" indent="-333375" algn="l" defTabSz="447675" rtl="0" eaLnBrk="0" fontAlgn="base" latinLnBrk="0" hangingPunct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  <a:p>
            <a:pPr marL="333375" marR="0" lvl="0" indent="-333375" algn="l" defTabSz="447675" rtl="0" eaLnBrk="0" fontAlgn="base" latinLnBrk="0" hangingPunct="0">
              <a:lnSpc>
                <a:spcPct val="100000"/>
              </a:lnSpc>
              <a:spcBef>
                <a:spcPts val="2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10" name="Rectangle 54"/>
          <p:cNvSpPr>
            <a:spLocks noChangeArrowheads="1"/>
          </p:cNvSpPr>
          <p:nvPr/>
        </p:nvSpPr>
        <p:spPr bwMode="auto">
          <a:xfrm>
            <a:off x="7505700" y="6330190"/>
            <a:ext cx="995363" cy="280987"/>
          </a:xfrm>
          <a:prstGeom prst="rect">
            <a:avLst/>
          </a:prstGeom>
          <a:noFill/>
          <a:ln w="38100" algn="ctr">
            <a:solidFill>
              <a:srgbClr val="CC0099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>
              <a:spcBef>
                <a:spcPts val="1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 algn="l">
              <a:spcBef>
                <a:spcPts val="525"/>
              </a:spcBef>
              <a:buClr>
                <a:srgbClr val="000000"/>
              </a:buClr>
              <a:buSzPct val="10000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Helvetica" panose="020B0604020202020204" pitchFamily="34" charset="0"/>
              <a:buChar char="–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36280154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Quadratic Probing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458200" cy="5614988"/>
          </a:xfrm>
        </p:spPr>
        <p:txBody>
          <a:bodyPr/>
          <a:lstStyle/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Probe sequence:  h(key), h(key) + 1, h(key) + 4, h(key) + 9, …, </a:t>
            </a:r>
            <a:br>
              <a:rPr lang="en-US" altLang="en-US" dirty="0"/>
            </a:br>
            <a:r>
              <a:rPr lang="en-US" altLang="en-US" dirty="0"/>
              <a:t>wrapping around as necessary.</a:t>
            </a:r>
          </a:p>
          <a:p>
            <a:pPr lvl="1"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dirty="0"/>
              <a:t>the offsets are perfect squares: h + 1</a:t>
            </a:r>
            <a:r>
              <a:rPr lang="en-US" altLang="en-US" baseline="30000" dirty="0"/>
              <a:t>2</a:t>
            </a:r>
            <a:r>
              <a:rPr lang="en-US" altLang="en-US" dirty="0"/>
              <a:t>, h + 2</a:t>
            </a:r>
            <a:r>
              <a:rPr lang="en-US" altLang="en-US" baseline="30000" dirty="0"/>
              <a:t>2</a:t>
            </a:r>
            <a:r>
              <a:rPr lang="en-US" altLang="en-US" dirty="0"/>
              <a:t>, h + 3</a:t>
            </a:r>
            <a:r>
              <a:rPr lang="en-US" altLang="en-US" baseline="30000" dirty="0"/>
              <a:t>2</a:t>
            </a:r>
            <a:r>
              <a:rPr lang="en-US" altLang="en-US" dirty="0"/>
              <a:t>, …</a:t>
            </a:r>
          </a:p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Examples: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"ape" (h = 0): try 0, 0 + 1 – open! 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"bear" (h = 1): try 1, 1 + 1, </a:t>
            </a:r>
            <a:r>
              <a:rPr lang="en-US" altLang="en-US" sz="2000" dirty="0">
                <a:solidFill>
                  <a:schemeClr val="tx1"/>
                </a:solidFill>
              </a:rPr>
              <a:t>1 + 4 – open!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b="1" dirty="0">
                <a:solidFill>
                  <a:srgbClr val="0000FF"/>
                </a:solidFill>
              </a:rPr>
              <a:t>where would "zebu" end up?</a:t>
            </a:r>
            <a:br>
              <a:rPr lang="en-US" altLang="en-US" sz="2000" b="1" dirty="0">
                <a:solidFill>
                  <a:srgbClr val="0000FF"/>
                </a:solidFill>
              </a:rPr>
            </a:br>
            <a:r>
              <a:rPr lang="en-US" altLang="en-US" sz="2000" b="1" dirty="0">
                <a:solidFill>
                  <a:srgbClr val="FF0000"/>
                </a:solidFill>
              </a:rPr>
              <a:t>try 25, (25 + 1) % 26</a:t>
            </a:r>
            <a:endParaRPr lang="en-US" altLang="en-US" sz="2000" b="1" i="1" dirty="0">
              <a:solidFill>
                <a:srgbClr val="FF0000"/>
              </a:solidFill>
            </a:endParaRPr>
          </a:p>
        </p:txBody>
      </p:sp>
      <p:graphicFrame>
        <p:nvGraphicFramePr>
          <p:cNvPr id="2145285" name="Group 5"/>
          <p:cNvGraphicFramePr>
            <a:graphicFrameLocks noGrp="1"/>
          </p:cNvGraphicFramePr>
          <p:nvPr/>
        </p:nvGraphicFramePr>
        <p:xfrm>
          <a:off x="6427788" y="2278063"/>
          <a:ext cx="2097087" cy="4359277"/>
        </p:xfrm>
        <a:graphic>
          <a:graphicData uri="http://schemas.openxmlformats.org/drawingml/2006/table">
            <a:tbl>
              <a:tblPr/>
              <a:tblGrid>
                <a:gridCol w="105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6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0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"ant"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Console" pitchFamily="49" charset="0"/>
                        </a:rPr>
                        <a:t>"ape"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"cat"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3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4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"emu"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5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Console" pitchFamily="49" charset="0"/>
                        </a:rPr>
                        <a:t>"bear"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6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7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…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...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22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"wolf"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23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"wasp"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24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"yak"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25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"zebra"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752804" y="4454646"/>
            <a:ext cx="3797929" cy="23469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marL="333375" indent="-333375" algn="l" defTabSz="447675" rtl="0" eaLnBrk="0" fontAlgn="base" hangingPunct="0">
              <a:spcBef>
                <a:spcPts val="1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733425" indent="-276225" algn="l" defTabSz="447675" rtl="0" eaLnBrk="0" fontAlgn="base" hangingPunct="0">
              <a:spcBef>
                <a:spcPts val="5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Helvetica" panose="020B0604020202020204" pitchFamily="34" charset="0"/>
              <a:buChar char="–"/>
              <a:defRPr sz="2200">
                <a:solidFill>
                  <a:srgbClr val="000000"/>
                </a:solidFill>
                <a:latin typeface="+mn-lt"/>
              </a:defRPr>
            </a:lvl2pPr>
            <a:lvl3pPr marL="1076325" indent="-161925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000">
                <a:solidFill>
                  <a:srgbClr val="000000"/>
                </a:solidFill>
                <a:latin typeface="+mn-lt"/>
              </a:defRPr>
            </a:lvl3pPr>
            <a:lvl4pPr marL="1600200" indent="-228600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Helvetica" panose="020B0604020202020204" pitchFamily="34" charset="0"/>
              <a:buChar char="–"/>
              <a:defRPr sz="2000">
                <a:solidFill>
                  <a:srgbClr val="000000"/>
                </a:solidFill>
                <a:latin typeface="+mn-lt"/>
              </a:defRPr>
            </a:lvl4pPr>
            <a:lvl5pPr marL="2057400" indent="-228600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+mn-lt"/>
              </a:defRPr>
            </a:lvl5pPr>
            <a:lvl6pPr marL="2514600" indent="-228600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Char char="»"/>
              <a:defRPr sz="2000">
                <a:solidFill>
                  <a:srgbClr val="000000"/>
                </a:solidFill>
                <a:latin typeface="+mn-lt"/>
              </a:defRPr>
            </a:lvl6pPr>
            <a:lvl7pPr marL="2971800" indent="-228600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Char char="»"/>
              <a:defRPr sz="2000">
                <a:solidFill>
                  <a:srgbClr val="000000"/>
                </a:solidFill>
                <a:latin typeface="+mn-lt"/>
              </a:defRPr>
            </a:lvl7pPr>
            <a:lvl8pPr marL="3429000" indent="-228600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Char char="»"/>
              <a:defRPr sz="2000">
                <a:solidFill>
                  <a:srgbClr val="000000"/>
                </a:solidFill>
                <a:latin typeface="+mn-lt"/>
              </a:defRPr>
            </a:lvl8pPr>
            <a:lvl9pPr marL="3886200" indent="-228600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Char char="»"/>
              <a:defRPr sz="2000">
                <a:solidFill>
                  <a:srgbClr val="000000"/>
                </a:solidFill>
                <a:latin typeface="+mn-lt"/>
              </a:defRPr>
            </a:lvl9pPr>
          </a:lstStyle>
          <a:p>
            <a:pPr marL="457200" marR="0" lvl="0" indent="-457200" algn="l" defTabSz="447675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+mj-lt"/>
              <a:buAutoNum type="alphaUcPeriod"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 </a:t>
            </a: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0</a:t>
            </a:r>
          </a:p>
          <a:p>
            <a:pPr marL="457200" marR="0" lvl="0" indent="-457200" algn="l" defTabSz="447675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+mj-lt"/>
              <a:buAutoNum type="alphaUcPeriod"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 </a:t>
            </a: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3</a:t>
            </a:r>
          </a:p>
          <a:p>
            <a:pPr marL="457200" marR="0" lvl="0" indent="-457200" algn="l" defTabSz="447675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+mj-lt"/>
              <a:buAutoNum type="alphaUcPeriod"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 </a:t>
            </a: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6</a:t>
            </a:r>
          </a:p>
          <a:p>
            <a:pPr marL="457200" marR="0" lvl="0" indent="-457200" algn="l" defTabSz="447675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+mj-lt"/>
              <a:buAutoNum type="alphaUcPeriod"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 </a:t>
            </a: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7</a:t>
            </a:r>
          </a:p>
          <a:p>
            <a:pPr marL="457200" marR="0" lvl="0" indent="-457200" algn="l" defTabSz="447675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+mj-lt"/>
              <a:buAutoNum type="alphaUcPeriod"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 </a:t>
            </a: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25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  <a:p>
            <a:pPr marL="457200" marR="0" lvl="0" indent="-457200" algn="l" defTabSz="447675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+mj-lt"/>
              <a:buAutoNum type="alphaUcPeriod"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  <a:p>
            <a:pPr marL="0" marR="0" lvl="0" indent="0" algn="l" defTabSz="447675" rtl="0" eaLnBrk="0" fontAlgn="base" latinLnBrk="0" hangingPunct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  <a:p>
            <a:pPr marL="333375" marR="0" lvl="0" indent="-333375" algn="l" defTabSz="447675" rtl="0" eaLnBrk="0" fontAlgn="base" latinLnBrk="0" hangingPunct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  <a:p>
            <a:pPr marL="333375" marR="0" lvl="0" indent="-333375" algn="l" defTabSz="447675" rtl="0" eaLnBrk="0" fontAlgn="base" latinLnBrk="0" hangingPunct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  <a:p>
            <a:pPr marL="333375" marR="0" lvl="0" indent="-333375" algn="l" defTabSz="447675" rtl="0" eaLnBrk="0" fontAlgn="base" latinLnBrk="0" hangingPunct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  <a:p>
            <a:pPr marL="333375" marR="0" lvl="0" indent="-333375" algn="l" defTabSz="447675" rtl="0" eaLnBrk="0" fontAlgn="base" latinLnBrk="0" hangingPunct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  <a:p>
            <a:pPr marL="333375" marR="0" lvl="0" indent="-333375" algn="l" defTabSz="447675" rtl="0" eaLnBrk="0" fontAlgn="base" latinLnBrk="0" hangingPunct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  <a:p>
            <a:pPr marL="333375" marR="0" lvl="0" indent="-333375" algn="l" defTabSz="447675" rtl="0" eaLnBrk="0" fontAlgn="base" latinLnBrk="0" hangingPunct="0">
              <a:lnSpc>
                <a:spcPct val="100000"/>
              </a:lnSpc>
              <a:spcBef>
                <a:spcPts val="2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9" name="Rectangle 54"/>
          <p:cNvSpPr>
            <a:spLocks noChangeArrowheads="1"/>
          </p:cNvSpPr>
          <p:nvPr/>
        </p:nvSpPr>
        <p:spPr bwMode="auto">
          <a:xfrm>
            <a:off x="7505700" y="2305050"/>
            <a:ext cx="995363" cy="280988"/>
          </a:xfrm>
          <a:prstGeom prst="rect">
            <a:avLst/>
          </a:prstGeom>
          <a:noFill/>
          <a:ln w="38100" algn="ctr">
            <a:solidFill>
              <a:srgbClr val="CC0099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>
              <a:spcBef>
                <a:spcPts val="1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 algn="l">
              <a:spcBef>
                <a:spcPts val="525"/>
              </a:spcBef>
              <a:buClr>
                <a:srgbClr val="000000"/>
              </a:buClr>
              <a:buSzPct val="10000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Helvetica" panose="020B0604020202020204" pitchFamily="34" charset="0"/>
              <a:buChar char="–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16058526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Quadratic Probing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458200" cy="5614988"/>
          </a:xfrm>
        </p:spPr>
        <p:txBody>
          <a:bodyPr/>
          <a:lstStyle/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Probe sequence:  h(key), h(key) + 1, h(key) + 4, h(key) + 9, …, </a:t>
            </a:r>
            <a:br>
              <a:rPr lang="en-US" altLang="en-US" dirty="0"/>
            </a:br>
            <a:r>
              <a:rPr lang="en-US" altLang="en-US" dirty="0"/>
              <a:t>wrapping around as necessary.</a:t>
            </a:r>
          </a:p>
          <a:p>
            <a:pPr lvl="1"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dirty="0"/>
              <a:t>the offsets are perfect squares: h + 1</a:t>
            </a:r>
            <a:r>
              <a:rPr lang="en-US" altLang="en-US" baseline="30000" dirty="0"/>
              <a:t>2</a:t>
            </a:r>
            <a:r>
              <a:rPr lang="en-US" altLang="en-US" dirty="0"/>
              <a:t>, h + 2</a:t>
            </a:r>
            <a:r>
              <a:rPr lang="en-US" altLang="en-US" baseline="30000" dirty="0"/>
              <a:t>2</a:t>
            </a:r>
            <a:r>
              <a:rPr lang="en-US" altLang="en-US" dirty="0"/>
              <a:t>, h + 3</a:t>
            </a:r>
            <a:r>
              <a:rPr lang="en-US" altLang="en-US" baseline="30000" dirty="0"/>
              <a:t>2</a:t>
            </a:r>
            <a:r>
              <a:rPr lang="en-US" altLang="en-US" dirty="0"/>
              <a:t>, …</a:t>
            </a:r>
          </a:p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Examples: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"ape" (h = 0): try 0, 0 + 1 – open! 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"bear" (h = 1): try 1, 1 + 1, </a:t>
            </a:r>
            <a:r>
              <a:rPr lang="en-US" altLang="en-US" sz="2000" dirty="0">
                <a:solidFill>
                  <a:schemeClr val="tx1"/>
                </a:solidFill>
              </a:rPr>
              <a:t>1 + 4 – open!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b="1" dirty="0">
                <a:solidFill>
                  <a:srgbClr val="0000FF"/>
                </a:solidFill>
              </a:rPr>
              <a:t>where would "zebu" end up?</a:t>
            </a:r>
            <a:br>
              <a:rPr lang="en-US" altLang="en-US" sz="2000" b="1" dirty="0">
                <a:solidFill>
                  <a:srgbClr val="0000FF"/>
                </a:solidFill>
              </a:rPr>
            </a:br>
            <a:r>
              <a:rPr lang="en-US" altLang="en-US" sz="2000" b="1" dirty="0">
                <a:solidFill>
                  <a:srgbClr val="FF0000"/>
                </a:solidFill>
              </a:rPr>
              <a:t>try 25, (25 + 1) % 26,</a:t>
            </a:r>
            <a:r>
              <a:rPr lang="en-US" altLang="en-US" sz="2000" dirty="0">
                <a:solidFill>
                  <a:srgbClr val="FF0000"/>
                </a:solidFill>
              </a:rPr>
              <a:t> </a:t>
            </a:r>
            <a:r>
              <a:rPr lang="en-US" altLang="en-US" sz="2000" b="1" dirty="0">
                <a:solidFill>
                  <a:srgbClr val="FF0000"/>
                </a:solidFill>
              </a:rPr>
              <a:t>(25 + 4) % 26</a:t>
            </a:r>
            <a:endParaRPr lang="en-US" altLang="en-US" sz="2000" b="1" i="1" dirty="0">
              <a:solidFill>
                <a:srgbClr val="FF0000"/>
              </a:solidFill>
            </a:endParaRPr>
          </a:p>
        </p:txBody>
      </p:sp>
      <p:graphicFrame>
        <p:nvGraphicFramePr>
          <p:cNvPr id="2145285" name="Group 5"/>
          <p:cNvGraphicFramePr>
            <a:graphicFrameLocks noGrp="1"/>
          </p:cNvGraphicFramePr>
          <p:nvPr/>
        </p:nvGraphicFramePr>
        <p:xfrm>
          <a:off x="6427788" y="2278063"/>
          <a:ext cx="2097087" cy="4359277"/>
        </p:xfrm>
        <a:graphic>
          <a:graphicData uri="http://schemas.openxmlformats.org/drawingml/2006/table">
            <a:tbl>
              <a:tblPr/>
              <a:tblGrid>
                <a:gridCol w="105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6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0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"ant"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Console" pitchFamily="49" charset="0"/>
                        </a:rPr>
                        <a:t>"ape"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"cat"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3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4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"emu"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5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Console" pitchFamily="49" charset="0"/>
                        </a:rPr>
                        <a:t>"bear"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6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7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…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...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22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"wolf"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23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"wasp"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24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"yak"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25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"zebra"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752804" y="4454646"/>
            <a:ext cx="3797929" cy="23469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marL="333375" indent="-333375" algn="l" defTabSz="447675" rtl="0" eaLnBrk="0" fontAlgn="base" hangingPunct="0">
              <a:spcBef>
                <a:spcPts val="1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733425" indent="-276225" algn="l" defTabSz="447675" rtl="0" eaLnBrk="0" fontAlgn="base" hangingPunct="0">
              <a:spcBef>
                <a:spcPts val="5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Helvetica" panose="020B0604020202020204" pitchFamily="34" charset="0"/>
              <a:buChar char="–"/>
              <a:defRPr sz="2200">
                <a:solidFill>
                  <a:srgbClr val="000000"/>
                </a:solidFill>
                <a:latin typeface="+mn-lt"/>
              </a:defRPr>
            </a:lvl2pPr>
            <a:lvl3pPr marL="1076325" indent="-161925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000">
                <a:solidFill>
                  <a:srgbClr val="000000"/>
                </a:solidFill>
                <a:latin typeface="+mn-lt"/>
              </a:defRPr>
            </a:lvl3pPr>
            <a:lvl4pPr marL="1600200" indent="-228600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Helvetica" panose="020B0604020202020204" pitchFamily="34" charset="0"/>
              <a:buChar char="–"/>
              <a:defRPr sz="2000">
                <a:solidFill>
                  <a:srgbClr val="000000"/>
                </a:solidFill>
                <a:latin typeface="+mn-lt"/>
              </a:defRPr>
            </a:lvl4pPr>
            <a:lvl5pPr marL="2057400" indent="-228600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+mn-lt"/>
              </a:defRPr>
            </a:lvl5pPr>
            <a:lvl6pPr marL="2514600" indent="-228600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Char char="»"/>
              <a:defRPr sz="2000">
                <a:solidFill>
                  <a:srgbClr val="000000"/>
                </a:solidFill>
                <a:latin typeface="+mn-lt"/>
              </a:defRPr>
            </a:lvl6pPr>
            <a:lvl7pPr marL="2971800" indent="-228600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Char char="»"/>
              <a:defRPr sz="2000">
                <a:solidFill>
                  <a:srgbClr val="000000"/>
                </a:solidFill>
                <a:latin typeface="+mn-lt"/>
              </a:defRPr>
            </a:lvl7pPr>
            <a:lvl8pPr marL="3429000" indent="-228600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Char char="»"/>
              <a:defRPr sz="2000">
                <a:solidFill>
                  <a:srgbClr val="000000"/>
                </a:solidFill>
                <a:latin typeface="+mn-lt"/>
              </a:defRPr>
            </a:lvl8pPr>
            <a:lvl9pPr marL="3886200" indent="-228600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Char char="»"/>
              <a:defRPr sz="2000">
                <a:solidFill>
                  <a:srgbClr val="000000"/>
                </a:solidFill>
                <a:latin typeface="+mn-lt"/>
              </a:defRPr>
            </a:lvl9pPr>
          </a:lstStyle>
          <a:p>
            <a:pPr marL="457200" marR="0" lvl="0" indent="-457200" algn="l" defTabSz="447675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+mj-lt"/>
              <a:buAutoNum type="alphaUcPeriod"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 </a:t>
            </a: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0</a:t>
            </a:r>
          </a:p>
          <a:p>
            <a:pPr marL="457200" marR="0" lvl="0" indent="-457200" algn="l" defTabSz="447675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+mj-lt"/>
              <a:buAutoNum type="alphaUcPeriod"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 </a:t>
            </a: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3</a:t>
            </a:r>
          </a:p>
          <a:p>
            <a:pPr marL="457200" marR="0" lvl="0" indent="-457200" algn="l" defTabSz="447675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+mj-lt"/>
              <a:buAutoNum type="alphaUcPeriod"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 </a:t>
            </a: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6</a:t>
            </a:r>
          </a:p>
          <a:p>
            <a:pPr marL="457200" marR="0" lvl="0" indent="-457200" algn="l" defTabSz="447675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+mj-lt"/>
              <a:buAutoNum type="alphaUcPeriod"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 </a:t>
            </a: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7</a:t>
            </a:r>
          </a:p>
          <a:p>
            <a:pPr marL="457200" marR="0" lvl="0" indent="-457200" algn="l" defTabSz="447675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+mj-lt"/>
              <a:buAutoNum type="alphaUcPeriod"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 </a:t>
            </a: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25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  <a:p>
            <a:pPr marL="457200" marR="0" lvl="0" indent="-457200" algn="l" defTabSz="447675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+mj-lt"/>
              <a:buAutoNum type="alphaUcPeriod"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  <a:p>
            <a:pPr marL="0" marR="0" lvl="0" indent="0" algn="l" defTabSz="447675" rtl="0" eaLnBrk="0" fontAlgn="base" latinLnBrk="0" hangingPunct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  <a:p>
            <a:pPr marL="333375" marR="0" lvl="0" indent="-333375" algn="l" defTabSz="447675" rtl="0" eaLnBrk="0" fontAlgn="base" latinLnBrk="0" hangingPunct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  <a:p>
            <a:pPr marL="333375" marR="0" lvl="0" indent="-333375" algn="l" defTabSz="447675" rtl="0" eaLnBrk="0" fontAlgn="base" latinLnBrk="0" hangingPunct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  <a:p>
            <a:pPr marL="333375" marR="0" lvl="0" indent="-333375" algn="l" defTabSz="447675" rtl="0" eaLnBrk="0" fontAlgn="base" latinLnBrk="0" hangingPunct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  <a:p>
            <a:pPr marL="333375" marR="0" lvl="0" indent="-333375" algn="l" defTabSz="447675" rtl="0" eaLnBrk="0" fontAlgn="base" latinLnBrk="0" hangingPunct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  <a:p>
            <a:pPr marL="333375" marR="0" lvl="0" indent="-333375" algn="l" defTabSz="447675" rtl="0" eaLnBrk="0" fontAlgn="base" latinLnBrk="0" hangingPunct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  <a:p>
            <a:pPr marL="333375" marR="0" lvl="0" indent="-333375" algn="l" defTabSz="447675" rtl="0" eaLnBrk="0" fontAlgn="base" latinLnBrk="0" hangingPunct="0">
              <a:lnSpc>
                <a:spcPct val="100000"/>
              </a:lnSpc>
              <a:spcBef>
                <a:spcPts val="2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8" name="Rectangle 129"/>
          <p:cNvSpPr>
            <a:spLocks noChangeArrowheads="1"/>
          </p:cNvSpPr>
          <p:nvPr/>
        </p:nvSpPr>
        <p:spPr bwMode="auto">
          <a:xfrm>
            <a:off x="7505700" y="3311525"/>
            <a:ext cx="995363" cy="280988"/>
          </a:xfrm>
          <a:prstGeom prst="rect">
            <a:avLst/>
          </a:prstGeom>
          <a:noFill/>
          <a:ln w="38100" algn="ctr">
            <a:solidFill>
              <a:srgbClr val="CC0099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>
              <a:spcBef>
                <a:spcPts val="1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 algn="l">
              <a:spcBef>
                <a:spcPts val="525"/>
              </a:spcBef>
              <a:buClr>
                <a:srgbClr val="000000"/>
              </a:buClr>
              <a:buSzPct val="10000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Helvetica" panose="020B0604020202020204" pitchFamily="34" charset="0"/>
              <a:buChar char="–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98728524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Quadratic Probing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458200" cy="5614988"/>
          </a:xfrm>
        </p:spPr>
        <p:txBody>
          <a:bodyPr/>
          <a:lstStyle/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Probe sequence:  h(key), h(key) + 1, h(key) + 4, h(key) + 9, …, </a:t>
            </a:r>
            <a:br>
              <a:rPr lang="en-US" altLang="en-US" dirty="0"/>
            </a:br>
            <a:r>
              <a:rPr lang="en-US" altLang="en-US" dirty="0"/>
              <a:t>wrapping around as necessary.</a:t>
            </a:r>
          </a:p>
          <a:p>
            <a:pPr lvl="1"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dirty="0"/>
              <a:t>the offsets are perfect squares: h + 1</a:t>
            </a:r>
            <a:r>
              <a:rPr lang="en-US" altLang="en-US" baseline="30000" dirty="0"/>
              <a:t>2</a:t>
            </a:r>
            <a:r>
              <a:rPr lang="en-US" altLang="en-US" dirty="0"/>
              <a:t>, h + 2</a:t>
            </a:r>
            <a:r>
              <a:rPr lang="en-US" altLang="en-US" baseline="30000" dirty="0"/>
              <a:t>2</a:t>
            </a:r>
            <a:r>
              <a:rPr lang="en-US" altLang="en-US" dirty="0"/>
              <a:t>, h + 3</a:t>
            </a:r>
            <a:r>
              <a:rPr lang="en-US" altLang="en-US" baseline="30000" dirty="0"/>
              <a:t>2</a:t>
            </a:r>
            <a:r>
              <a:rPr lang="en-US" altLang="en-US" dirty="0"/>
              <a:t>, …</a:t>
            </a:r>
          </a:p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Examples: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"ape" (h = 0): try 0, 0 + 1 – open! 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"bear" (h = 1): try 1, 1 + 1, </a:t>
            </a:r>
            <a:r>
              <a:rPr lang="en-US" altLang="en-US" sz="2000" dirty="0">
                <a:solidFill>
                  <a:schemeClr val="tx1"/>
                </a:solidFill>
              </a:rPr>
              <a:t>1 + 4 – open!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b="1" dirty="0">
                <a:solidFill>
                  <a:srgbClr val="0000FF"/>
                </a:solidFill>
              </a:rPr>
              <a:t>where would "zebu" end up?</a:t>
            </a:r>
            <a:br>
              <a:rPr lang="en-US" altLang="en-US" sz="2000" b="1" dirty="0">
                <a:solidFill>
                  <a:srgbClr val="0000FF"/>
                </a:solidFill>
              </a:rPr>
            </a:br>
            <a:r>
              <a:rPr lang="en-US" altLang="en-US" sz="2000" b="1" dirty="0">
                <a:solidFill>
                  <a:srgbClr val="FF0000"/>
                </a:solidFill>
              </a:rPr>
              <a:t>try 25, (25 + 1) % 26,</a:t>
            </a:r>
            <a:r>
              <a:rPr lang="en-US" altLang="en-US" sz="2000" dirty="0">
                <a:solidFill>
                  <a:srgbClr val="FF0000"/>
                </a:solidFill>
              </a:rPr>
              <a:t> </a:t>
            </a:r>
            <a:r>
              <a:rPr lang="en-US" altLang="en-US" sz="2000" b="1" dirty="0">
                <a:solidFill>
                  <a:srgbClr val="FF0000"/>
                </a:solidFill>
              </a:rPr>
              <a:t>(25 + 4) % 26 – open!</a:t>
            </a:r>
            <a:endParaRPr lang="en-US" altLang="en-US" sz="2000" b="1" i="1" dirty="0">
              <a:solidFill>
                <a:srgbClr val="FF0000"/>
              </a:solidFill>
            </a:endParaRPr>
          </a:p>
        </p:txBody>
      </p:sp>
      <p:graphicFrame>
        <p:nvGraphicFramePr>
          <p:cNvPr id="2145285" name="Group 5"/>
          <p:cNvGraphicFramePr>
            <a:graphicFrameLocks noGrp="1"/>
          </p:cNvGraphicFramePr>
          <p:nvPr/>
        </p:nvGraphicFramePr>
        <p:xfrm>
          <a:off x="6427788" y="2278063"/>
          <a:ext cx="2097087" cy="4359277"/>
        </p:xfrm>
        <a:graphic>
          <a:graphicData uri="http://schemas.openxmlformats.org/drawingml/2006/table">
            <a:tbl>
              <a:tblPr/>
              <a:tblGrid>
                <a:gridCol w="105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6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0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"ant"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Console" pitchFamily="49" charset="0"/>
                        </a:rPr>
                        <a:t>"ape"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"cat"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3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Console" pitchFamily="49" charset="0"/>
                        </a:rPr>
                        <a:t>"zebu"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4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"emu"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5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Console" pitchFamily="49" charset="0"/>
                        </a:rPr>
                        <a:t>"bear"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6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7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…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...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22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"wolf"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23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"wasp"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24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"yak"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25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"zebra"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752804" y="4454646"/>
            <a:ext cx="3797929" cy="23469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marL="333375" indent="-333375" algn="l" defTabSz="447675" rtl="0" eaLnBrk="0" fontAlgn="base" hangingPunct="0">
              <a:spcBef>
                <a:spcPts val="1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733425" indent="-276225" algn="l" defTabSz="447675" rtl="0" eaLnBrk="0" fontAlgn="base" hangingPunct="0">
              <a:spcBef>
                <a:spcPts val="5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Helvetica" panose="020B0604020202020204" pitchFamily="34" charset="0"/>
              <a:buChar char="–"/>
              <a:defRPr sz="2200">
                <a:solidFill>
                  <a:srgbClr val="000000"/>
                </a:solidFill>
                <a:latin typeface="+mn-lt"/>
              </a:defRPr>
            </a:lvl2pPr>
            <a:lvl3pPr marL="1076325" indent="-161925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000">
                <a:solidFill>
                  <a:srgbClr val="000000"/>
                </a:solidFill>
                <a:latin typeface="+mn-lt"/>
              </a:defRPr>
            </a:lvl3pPr>
            <a:lvl4pPr marL="1600200" indent="-228600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Helvetica" panose="020B0604020202020204" pitchFamily="34" charset="0"/>
              <a:buChar char="–"/>
              <a:defRPr sz="2000">
                <a:solidFill>
                  <a:srgbClr val="000000"/>
                </a:solidFill>
                <a:latin typeface="+mn-lt"/>
              </a:defRPr>
            </a:lvl4pPr>
            <a:lvl5pPr marL="2057400" indent="-228600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+mn-lt"/>
              </a:defRPr>
            </a:lvl5pPr>
            <a:lvl6pPr marL="2514600" indent="-228600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Char char="»"/>
              <a:defRPr sz="2000">
                <a:solidFill>
                  <a:srgbClr val="000000"/>
                </a:solidFill>
                <a:latin typeface="+mn-lt"/>
              </a:defRPr>
            </a:lvl6pPr>
            <a:lvl7pPr marL="2971800" indent="-228600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Char char="»"/>
              <a:defRPr sz="2000">
                <a:solidFill>
                  <a:srgbClr val="000000"/>
                </a:solidFill>
                <a:latin typeface="+mn-lt"/>
              </a:defRPr>
            </a:lvl7pPr>
            <a:lvl8pPr marL="3429000" indent="-228600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Char char="»"/>
              <a:defRPr sz="2000">
                <a:solidFill>
                  <a:srgbClr val="000000"/>
                </a:solidFill>
                <a:latin typeface="+mn-lt"/>
              </a:defRPr>
            </a:lvl8pPr>
            <a:lvl9pPr marL="3886200" indent="-228600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Char char="»"/>
              <a:defRPr sz="2000">
                <a:solidFill>
                  <a:srgbClr val="000000"/>
                </a:solidFill>
                <a:latin typeface="+mn-lt"/>
              </a:defRPr>
            </a:lvl9pPr>
          </a:lstStyle>
          <a:p>
            <a:pPr marL="457200" marR="0" lvl="0" indent="-457200" algn="l" defTabSz="447675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+mj-lt"/>
              <a:buAutoNum type="alphaUcPeriod"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 </a:t>
            </a: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0</a:t>
            </a:r>
          </a:p>
          <a:p>
            <a:pPr marL="457200" marR="0" lvl="0" indent="-457200" algn="l" defTabSz="447675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+mj-lt"/>
              <a:buAutoNum type="alphaUcPeriod"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 </a:t>
            </a: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3</a:t>
            </a:r>
          </a:p>
          <a:p>
            <a:pPr marL="457200" marR="0" lvl="0" indent="-457200" algn="l" defTabSz="447675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+mj-lt"/>
              <a:buAutoNum type="alphaUcPeriod"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 </a:t>
            </a: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6</a:t>
            </a:r>
          </a:p>
          <a:p>
            <a:pPr marL="457200" marR="0" lvl="0" indent="-457200" algn="l" defTabSz="447675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+mj-lt"/>
              <a:buAutoNum type="alphaUcPeriod"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 </a:t>
            </a: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7</a:t>
            </a:r>
          </a:p>
          <a:p>
            <a:pPr marL="457200" marR="0" lvl="0" indent="-457200" algn="l" defTabSz="447675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+mj-lt"/>
              <a:buAutoNum type="alphaUcPeriod"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 </a:t>
            </a: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25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  <a:p>
            <a:pPr marL="457200" marR="0" lvl="0" indent="-457200" algn="l" defTabSz="447675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+mj-lt"/>
              <a:buAutoNum type="alphaUcPeriod"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  <a:p>
            <a:pPr marL="0" marR="0" lvl="0" indent="0" algn="l" defTabSz="447675" rtl="0" eaLnBrk="0" fontAlgn="base" latinLnBrk="0" hangingPunct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  <a:p>
            <a:pPr marL="333375" marR="0" lvl="0" indent="-333375" algn="l" defTabSz="447675" rtl="0" eaLnBrk="0" fontAlgn="base" latinLnBrk="0" hangingPunct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  <a:p>
            <a:pPr marL="333375" marR="0" lvl="0" indent="-333375" algn="l" defTabSz="447675" rtl="0" eaLnBrk="0" fontAlgn="base" latinLnBrk="0" hangingPunct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  <a:p>
            <a:pPr marL="333375" marR="0" lvl="0" indent="-333375" algn="l" defTabSz="447675" rtl="0" eaLnBrk="0" fontAlgn="base" latinLnBrk="0" hangingPunct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  <a:p>
            <a:pPr marL="333375" marR="0" lvl="0" indent="-333375" algn="l" defTabSz="447675" rtl="0" eaLnBrk="0" fontAlgn="base" latinLnBrk="0" hangingPunct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  <a:p>
            <a:pPr marL="333375" marR="0" lvl="0" indent="-333375" algn="l" defTabSz="447675" rtl="0" eaLnBrk="0" fontAlgn="base" latinLnBrk="0" hangingPunct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  <a:p>
            <a:pPr marL="333375" marR="0" lvl="0" indent="-333375" algn="l" defTabSz="447675" rtl="0" eaLnBrk="0" fontAlgn="base" latinLnBrk="0" hangingPunct="0">
              <a:lnSpc>
                <a:spcPct val="100000"/>
              </a:lnSpc>
              <a:spcBef>
                <a:spcPts val="2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8" name="Rectangle 129"/>
          <p:cNvSpPr>
            <a:spLocks noChangeArrowheads="1"/>
          </p:cNvSpPr>
          <p:nvPr/>
        </p:nvSpPr>
        <p:spPr bwMode="auto">
          <a:xfrm>
            <a:off x="7505700" y="3311525"/>
            <a:ext cx="995363" cy="280988"/>
          </a:xfrm>
          <a:prstGeom prst="rect">
            <a:avLst/>
          </a:prstGeom>
          <a:noFill/>
          <a:ln w="38100" algn="ctr">
            <a:solidFill>
              <a:srgbClr val="CC0099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>
              <a:spcBef>
                <a:spcPts val="1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 algn="l">
              <a:spcBef>
                <a:spcPts val="525"/>
              </a:spcBef>
              <a:buClr>
                <a:srgbClr val="000000"/>
              </a:buClr>
              <a:buSzPct val="10000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Helvetica" panose="020B0604020202020204" pitchFamily="34" charset="0"/>
              <a:buChar char="–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+mn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95943" y="4362994"/>
            <a:ext cx="2442754" cy="243856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84414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87375" y="3587262"/>
            <a:ext cx="4336317" cy="58029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Quadratic Probing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458200" cy="5614988"/>
          </a:xfrm>
        </p:spPr>
        <p:txBody>
          <a:bodyPr/>
          <a:lstStyle/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Probe sequence:  h(key), h(key) + 1, h(key) + 4, h(key) + 9, …, </a:t>
            </a:r>
            <a:br>
              <a:rPr lang="en-US" altLang="en-US" dirty="0"/>
            </a:br>
            <a:r>
              <a:rPr lang="en-US" altLang="en-US" dirty="0"/>
              <a:t>wrapping around as necessary.</a:t>
            </a:r>
          </a:p>
          <a:p>
            <a:pPr lvl="1"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dirty="0"/>
              <a:t>the offsets are perfect squares: h + 1</a:t>
            </a:r>
            <a:r>
              <a:rPr lang="en-US" altLang="en-US" baseline="30000" dirty="0"/>
              <a:t>2</a:t>
            </a:r>
            <a:r>
              <a:rPr lang="en-US" altLang="en-US" dirty="0"/>
              <a:t>, h + 2</a:t>
            </a:r>
            <a:r>
              <a:rPr lang="en-US" altLang="en-US" baseline="30000" dirty="0"/>
              <a:t>2</a:t>
            </a:r>
            <a:r>
              <a:rPr lang="en-US" altLang="en-US" dirty="0"/>
              <a:t>, h + 3</a:t>
            </a:r>
            <a:r>
              <a:rPr lang="en-US" altLang="en-US" baseline="30000" dirty="0"/>
              <a:t>2</a:t>
            </a:r>
            <a:r>
              <a:rPr lang="en-US" altLang="en-US" dirty="0"/>
              <a:t>, …</a:t>
            </a:r>
          </a:p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Examples: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"ape" (h = 0): try 0, 0 + 1 – open! 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"bear" (h = 1): try 1, 1 + 1, 1 + 4 – open!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"zebu"? 25, (25 + 1) % 26, </a:t>
            </a:r>
            <a:r>
              <a:rPr lang="en-US" altLang="en-US" sz="2000" dirty="0">
                <a:solidFill>
                  <a:schemeClr val="tx1"/>
                </a:solidFill>
              </a:rPr>
              <a:t>(25 + 4) % 26 – open!</a:t>
            </a:r>
            <a:endParaRPr lang="en-US" altLang="en-US" dirty="0">
              <a:solidFill>
                <a:schemeClr val="tx1"/>
              </a:solidFill>
            </a:endParaRPr>
          </a:p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Advantage: reduces clustering</a:t>
            </a:r>
          </a:p>
          <a:p>
            <a:pPr lvl="1">
              <a:lnSpc>
                <a:spcPct val="90000"/>
              </a:lnSpc>
              <a:spcBef>
                <a:spcPts val="1000"/>
              </a:spcBef>
              <a:buFontTx/>
              <a:buNone/>
              <a:tabLst>
                <a:tab pos="569913" algn="l"/>
                <a:tab pos="793750" algn="l"/>
              </a:tabLst>
            </a:pPr>
            <a:endParaRPr lang="en-US" altLang="en-US" sz="1800" dirty="0"/>
          </a:p>
        </p:txBody>
      </p:sp>
      <p:graphicFrame>
        <p:nvGraphicFramePr>
          <p:cNvPr id="3284047" name="Group 79"/>
          <p:cNvGraphicFramePr>
            <a:graphicFrameLocks noGrp="1"/>
          </p:cNvGraphicFramePr>
          <p:nvPr/>
        </p:nvGraphicFramePr>
        <p:xfrm>
          <a:off x="6427788" y="2278063"/>
          <a:ext cx="2097087" cy="4359277"/>
        </p:xfrm>
        <a:graphic>
          <a:graphicData uri="http://schemas.openxmlformats.org/drawingml/2006/table">
            <a:tbl>
              <a:tblPr/>
              <a:tblGrid>
                <a:gridCol w="105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6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0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"ant"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Console" pitchFamily="49" charset="0"/>
                        </a:rPr>
                        <a:t>"ape"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"cat"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3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Console" pitchFamily="49" charset="0"/>
                        </a:rPr>
                        <a:t>"zebu"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4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"emu"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5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Console" pitchFamily="49" charset="0"/>
                        </a:rPr>
                        <a:t>"bear"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6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7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…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...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22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"wolf"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23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"wasp"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24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"yak"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25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"zebra"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0447622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87375" y="4075611"/>
            <a:ext cx="5840413" cy="97971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Quadratic Probing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458200" cy="5614988"/>
          </a:xfrm>
        </p:spPr>
        <p:txBody>
          <a:bodyPr/>
          <a:lstStyle/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Probe sequence:  h(key), h(key) + 1, h(key) + 4, h(key) + 9, …, </a:t>
            </a:r>
            <a:br>
              <a:rPr lang="en-US" altLang="en-US" dirty="0"/>
            </a:br>
            <a:r>
              <a:rPr lang="en-US" altLang="en-US" dirty="0"/>
              <a:t>wrapping around as necessary.</a:t>
            </a:r>
          </a:p>
          <a:p>
            <a:pPr lvl="1"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dirty="0"/>
              <a:t>the offsets are perfect squares: h + 1</a:t>
            </a:r>
            <a:r>
              <a:rPr lang="en-US" altLang="en-US" baseline="30000" dirty="0"/>
              <a:t>2</a:t>
            </a:r>
            <a:r>
              <a:rPr lang="en-US" altLang="en-US" dirty="0"/>
              <a:t>, h + 2</a:t>
            </a:r>
            <a:r>
              <a:rPr lang="en-US" altLang="en-US" baseline="30000" dirty="0"/>
              <a:t>2</a:t>
            </a:r>
            <a:r>
              <a:rPr lang="en-US" altLang="en-US" dirty="0"/>
              <a:t>, h + 3</a:t>
            </a:r>
            <a:r>
              <a:rPr lang="en-US" altLang="en-US" baseline="30000" dirty="0"/>
              <a:t>2</a:t>
            </a:r>
            <a:r>
              <a:rPr lang="en-US" altLang="en-US" dirty="0"/>
              <a:t>, …</a:t>
            </a:r>
          </a:p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Examples: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"ape" (h = 0): try 0, 0 + 1 – open! 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"bear" (h = 1): try 1, 1 + 1, 1 + 4 – open!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"zebu"? 25, (25 + 1) % 26, </a:t>
            </a:r>
            <a:r>
              <a:rPr lang="en-US" altLang="en-US" sz="2000" dirty="0">
                <a:solidFill>
                  <a:schemeClr val="tx1"/>
                </a:solidFill>
              </a:rPr>
              <a:t>(25 + 4) % 26 – open!</a:t>
            </a:r>
            <a:endParaRPr lang="en-US" altLang="en-US" dirty="0">
              <a:solidFill>
                <a:schemeClr val="tx1"/>
              </a:solidFill>
            </a:endParaRPr>
          </a:p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Advantage: reduces clustering</a:t>
            </a:r>
          </a:p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Disadvantage: it may fail to find an existing </a:t>
            </a:r>
            <a:br>
              <a:rPr lang="en-US" altLang="en-US" dirty="0"/>
            </a:br>
            <a:r>
              <a:rPr lang="en-US" altLang="en-US" dirty="0"/>
              <a:t>open position.  </a:t>
            </a:r>
            <a:endParaRPr lang="en-US" altLang="en-US" sz="1800" dirty="0"/>
          </a:p>
          <a:p>
            <a:pPr lvl="1">
              <a:lnSpc>
                <a:spcPct val="90000"/>
              </a:lnSpc>
              <a:spcBef>
                <a:spcPts val="1000"/>
              </a:spcBef>
              <a:buFontTx/>
              <a:buNone/>
              <a:tabLst>
                <a:tab pos="569913" algn="l"/>
                <a:tab pos="793750" algn="l"/>
              </a:tabLst>
            </a:pPr>
            <a:endParaRPr lang="en-US" altLang="en-US" sz="1800" dirty="0"/>
          </a:p>
        </p:txBody>
      </p:sp>
      <p:graphicFrame>
        <p:nvGraphicFramePr>
          <p:cNvPr id="3284047" name="Group 79"/>
          <p:cNvGraphicFramePr>
            <a:graphicFrameLocks noGrp="1"/>
          </p:cNvGraphicFramePr>
          <p:nvPr/>
        </p:nvGraphicFramePr>
        <p:xfrm>
          <a:off x="6427788" y="2278063"/>
          <a:ext cx="2097087" cy="4359277"/>
        </p:xfrm>
        <a:graphic>
          <a:graphicData uri="http://schemas.openxmlformats.org/drawingml/2006/table">
            <a:tbl>
              <a:tblPr/>
              <a:tblGrid>
                <a:gridCol w="105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6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0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"ant"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Console" pitchFamily="49" charset="0"/>
                        </a:rPr>
                        <a:t>"ape"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"cat"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3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Console" pitchFamily="49" charset="0"/>
                        </a:rPr>
                        <a:t>"zebu"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4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"emu"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5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Console" pitchFamily="49" charset="0"/>
                        </a:rPr>
                        <a:t>"bear"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6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7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…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...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22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"wolf"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23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"wasp"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24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"yak"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25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"zebra"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4123443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87375" y="4846320"/>
            <a:ext cx="6192248" cy="201168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Quadratic Probing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458200" cy="5614988"/>
          </a:xfrm>
        </p:spPr>
        <p:txBody>
          <a:bodyPr/>
          <a:lstStyle/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Probe sequence:  h(key), h(key) + 1, h(key) + 4, h(key) + 9, …, </a:t>
            </a:r>
            <a:br>
              <a:rPr lang="en-US" altLang="en-US" dirty="0"/>
            </a:br>
            <a:r>
              <a:rPr lang="en-US" altLang="en-US" dirty="0"/>
              <a:t>wrapping around as necessary.</a:t>
            </a:r>
          </a:p>
          <a:p>
            <a:pPr lvl="1"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dirty="0"/>
              <a:t>the offsets are perfect squares: h + 1</a:t>
            </a:r>
            <a:r>
              <a:rPr lang="en-US" altLang="en-US" baseline="30000" dirty="0"/>
              <a:t>2</a:t>
            </a:r>
            <a:r>
              <a:rPr lang="en-US" altLang="en-US" dirty="0"/>
              <a:t>, h + 2</a:t>
            </a:r>
            <a:r>
              <a:rPr lang="en-US" altLang="en-US" baseline="30000" dirty="0"/>
              <a:t>2</a:t>
            </a:r>
            <a:r>
              <a:rPr lang="en-US" altLang="en-US" dirty="0"/>
              <a:t>, h + 3</a:t>
            </a:r>
            <a:r>
              <a:rPr lang="en-US" altLang="en-US" baseline="30000" dirty="0"/>
              <a:t>2</a:t>
            </a:r>
            <a:r>
              <a:rPr lang="en-US" altLang="en-US" dirty="0"/>
              <a:t>, …</a:t>
            </a:r>
          </a:p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Examples: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"ape" (h = 0): try 0, 0 + 1 – open! 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"bear" (h = 1): try 1, 1 + 1, 1 + 4 – open!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"zebu"? 25, (25 + 1) % 26, </a:t>
            </a:r>
            <a:r>
              <a:rPr lang="en-US" altLang="en-US" sz="2000" dirty="0">
                <a:solidFill>
                  <a:schemeClr val="tx1"/>
                </a:solidFill>
              </a:rPr>
              <a:t>(25 + 4) % 26 – open!</a:t>
            </a:r>
            <a:endParaRPr lang="en-US" altLang="en-US" dirty="0">
              <a:solidFill>
                <a:schemeClr val="tx1"/>
              </a:solidFill>
            </a:endParaRPr>
          </a:p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Advantage: reduces clustering</a:t>
            </a:r>
          </a:p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Disadvantage: it may fail to find an existing </a:t>
            </a:r>
            <a:br>
              <a:rPr lang="en-US" altLang="en-US" dirty="0"/>
            </a:br>
            <a:r>
              <a:rPr lang="en-US" altLang="en-US" dirty="0"/>
              <a:t>open position.  </a:t>
            </a:r>
            <a:r>
              <a:rPr lang="en-US" altLang="en-US" dirty="0">
                <a:solidFill>
                  <a:srgbClr val="0000FF"/>
                </a:solidFill>
              </a:rPr>
              <a:t>For example</a:t>
            </a:r>
            <a:r>
              <a:rPr lang="en-US" altLang="en-US" dirty="0"/>
              <a:t>: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buFontTx/>
              <a:buNone/>
              <a:tabLst>
                <a:tab pos="569913" algn="l"/>
                <a:tab pos="793750" algn="l"/>
              </a:tabLst>
            </a:pPr>
            <a:r>
              <a:rPr lang="en-US" altLang="en-US" sz="1800" dirty="0"/>
              <a:t>table size = 10</a:t>
            </a:r>
          </a:p>
          <a:p>
            <a:pPr lvl="1"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569913" algn="l"/>
                <a:tab pos="793750" algn="l"/>
              </a:tabLst>
            </a:pPr>
            <a:endParaRPr lang="en-US" altLang="en-US" sz="1800" dirty="0"/>
          </a:p>
          <a:p>
            <a:pPr lvl="1">
              <a:lnSpc>
                <a:spcPct val="90000"/>
              </a:lnSpc>
              <a:spcBef>
                <a:spcPts val="1000"/>
              </a:spcBef>
              <a:buFontTx/>
              <a:buNone/>
              <a:tabLst>
                <a:tab pos="569913" algn="l"/>
                <a:tab pos="793750" algn="l"/>
              </a:tabLst>
            </a:pPr>
            <a:endParaRPr lang="en-US" altLang="en-US" sz="1800" dirty="0"/>
          </a:p>
        </p:txBody>
      </p:sp>
      <p:graphicFrame>
        <p:nvGraphicFramePr>
          <p:cNvPr id="3283972" name="Group 4"/>
          <p:cNvGraphicFramePr>
            <a:graphicFrameLocks noGrp="1"/>
          </p:cNvGraphicFramePr>
          <p:nvPr/>
        </p:nvGraphicFramePr>
        <p:xfrm>
          <a:off x="2265363" y="4999038"/>
          <a:ext cx="2687637" cy="1676400"/>
        </p:xfrm>
        <a:graphic>
          <a:graphicData uri="http://schemas.openxmlformats.org/drawingml/2006/table">
            <a:tbl>
              <a:tblPr/>
              <a:tblGrid>
                <a:gridCol w="134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00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1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0</a:t>
                      </a:r>
                    </a:p>
                  </a:txBody>
                  <a:tcPr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  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</a:t>
                      </a:r>
                    </a:p>
                  </a:txBody>
                  <a:tcPr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</a:t>
                      </a:r>
                    </a:p>
                  </a:txBody>
                  <a:tcPr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3</a:t>
                      </a:r>
                    </a:p>
                  </a:txBody>
                  <a:tcPr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4</a:t>
                      </a:r>
                    </a:p>
                  </a:txBody>
                  <a:tcPr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1" i="1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3284009" name="Group 41"/>
          <p:cNvGraphicFramePr>
            <a:graphicFrameLocks noGrp="1"/>
          </p:cNvGraphicFramePr>
          <p:nvPr/>
        </p:nvGraphicFramePr>
        <p:xfrm>
          <a:off x="3910013" y="4999038"/>
          <a:ext cx="2687637" cy="1676400"/>
        </p:xfrm>
        <a:graphic>
          <a:graphicData uri="http://schemas.openxmlformats.org/drawingml/2006/table">
            <a:tbl>
              <a:tblPr/>
              <a:tblGrid>
                <a:gridCol w="134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00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1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5</a:t>
                      </a:r>
                    </a:p>
                  </a:txBody>
                  <a:tcPr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  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1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6</a:t>
                      </a:r>
                    </a:p>
                  </a:txBody>
                  <a:tcPr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1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7</a:t>
                      </a:r>
                    </a:p>
                  </a:txBody>
                  <a:tcPr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8</a:t>
                      </a:r>
                    </a:p>
                  </a:txBody>
                  <a:tcPr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9</a:t>
                      </a:r>
                    </a:p>
                  </a:txBody>
                  <a:tcPr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1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3284047" name="Group 79"/>
          <p:cNvGraphicFramePr>
            <a:graphicFrameLocks noGrp="1"/>
          </p:cNvGraphicFramePr>
          <p:nvPr/>
        </p:nvGraphicFramePr>
        <p:xfrm>
          <a:off x="6427788" y="2278063"/>
          <a:ext cx="2097087" cy="4359277"/>
        </p:xfrm>
        <a:graphic>
          <a:graphicData uri="http://schemas.openxmlformats.org/drawingml/2006/table">
            <a:tbl>
              <a:tblPr/>
              <a:tblGrid>
                <a:gridCol w="105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6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0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"ant"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Console" pitchFamily="49" charset="0"/>
                        </a:rPr>
                        <a:t>"ape"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"cat"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3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Console" pitchFamily="49" charset="0"/>
                        </a:rPr>
                        <a:t>"zebu"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4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"emu"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5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Console" pitchFamily="49" charset="0"/>
                        </a:rPr>
                        <a:t>"bear"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6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7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…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...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22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"wolf"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23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"wasp"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24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"yak"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25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"zebra"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20913616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587375" y="4846320"/>
            <a:ext cx="6192248" cy="201168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Quadratic Probing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458200" cy="5614988"/>
          </a:xfrm>
        </p:spPr>
        <p:txBody>
          <a:bodyPr/>
          <a:lstStyle/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Probe sequence:  h(key), h(key) + 1, h(key) + 4, h(key) + 9, …, </a:t>
            </a:r>
            <a:br>
              <a:rPr lang="en-US" altLang="en-US" dirty="0"/>
            </a:br>
            <a:r>
              <a:rPr lang="en-US" altLang="en-US" dirty="0"/>
              <a:t>wrapping around as necessary.</a:t>
            </a:r>
          </a:p>
          <a:p>
            <a:pPr lvl="1"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dirty="0"/>
              <a:t>the offsets are perfect squares: h + 1</a:t>
            </a:r>
            <a:r>
              <a:rPr lang="en-US" altLang="en-US" baseline="30000" dirty="0"/>
              <a:t>2</a:t>
            </a:r>
            <a:r>
              <a:rPr lang="en-US" altLang="en-US" dirty="0"/>
              <a:t>, h + 2</a:t>
            </a:r>
            <a:r>
              <a:rPr lang="en-US" altLang="en-US" baseline="30000" dirty="0"/>
              <a:t>2</a:t>
            </a:r>
            <a:r>
              <a:rPr lang="en-US" altLang="en-US" dirty="0"/>
              <a:t>, h + 3</a:t>
            </a:r>
            <a:r>
              <a:rPr lang="en-US" altLang="en-US" baseline="30000" dirty="0"/>
              <a:t>2</a:t>
            </a:r>
            <a:r>
              <a:rPr lang="en-US" altLang="en-US" dirty="0"/>
              <a:t>, …</a:t>
            </a:r>
          </a:p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Examples: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"ape" (h = 0): try 0, 0 + 1 – open! 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"bear" (h = 1): try 1, 1 + 1, 1 + 4 – open!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"zebu"? 25, (25 + 1) % 26, </a:t>
            </a:r>
            <a:r>
              <a:rPr lang="en-US" altLang="en-US" sz="2000" dirty="0">
                <a:solidFill>
                  <a:schemeClr val="tx1"/>
                </a:solidFill>
              </a:rPr>
              <a:t>(25 + 4) % 26 – open!</a:t>
            </a:r>
            <a:endParaRPr lang="en-US" altLang="en-US" dirty="0">
              <a:solidFill>
                <a:schemeClr val="tx1"/>
              </a:solidFill>
            </a:endParaRPr>
          </a:p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Advantage: reduces clustering</a:t>
            </a:r>
          </a:p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Disadvantage: it may fail to find an existing </a:t>
            </a:r>
            <a:br>
              <a:rPr lang="en-US" altLang="en-US" dirty="0"/>
            </a:br>
            <a:r>
              <a:rPr lang="en-US" altLang="en-US" dirty="0"/>
              <a:t>open position.  For example: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buFontTx/>
              <a:buNone/>
              <a:tabLst>
                <a:tab pos="569913" algn="l"/>
                <a:tab pos="793750" algn="l"/>
              </a:tabLst>
            </a:pPr>
            <a:r>
              <a:rPr lang="en-US" altLang="en-US" sz="1800" dirty="0"/>
              <a:t>table size = 10</a:t>
            </a:r>
          </a:p>
          <a:p>
            <a:pPr lvl="1"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569913" algn="l"/>
                <a:tab pos="793750" algn="l"/>
              </a:tabLst>
            </a:pPr>
            <a:r>
              <a:rPr lang="en-US" altLang="en-US" sz="1800" dirty="0"/>
              <a:t>x = occupied</a:t>
            </a:r>
          </a:p>
          <a:p>
            <a:pPr lvl="1">
              <a:lnSpc>
                <a:spcPct val="90000"/>
              </a:lnSpc>
              <a:spcBef>
                <a:spcPts val="1000"/>
              </a:spcBef>
              <a:buFontTx/>
              <a:buNone/>
              <a:tabLst>
                <a:tab pos="569913" algn="l"/>
                <a:tab pos="793750" algn="l"/>
              </a:tabLst>
            </a:pPr>
            <a:endParaRPr lang="en-US" altLang="en-US" sz="1800" dirty="0"/>
          </a:p>
        </p:txBody>
      </p:sp>
      <p:graphicFrame>
        <p:nvGraphicFramePr>
          <p:cNvPr id="3283972" name="Group 4"/>
          <p:cNvGraphicFramePr>
            <a:graphicFrameLocks noGrp="1"/>
          </p:cNvGraphicFramePr>
          <p:nvPr/>
        </p:nvGraphicFramePr>
        <p:xfrm>
          <a:off x="2265363" y="4999038"/>
          <a:ext cx="2687637" cy="1676400"/>
        </p:xfrm>
        <a:graphic>
          <a:graphicData uri="http://schemas.openxmlformats.org/drawingml/2006/table">
            <a:tbl>
              <a:tblPr/>
              <a:tblGrid>
                <a:gridCol w="134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00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1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0</a:t>
                      </a:r>
                    </a:p>
                  </a:txBody>
                  <a:tcPr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x  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</a:t>
                      </a:r>
                    </a:p>
                  </a:txBody>
                  <a:tcPr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</a:t>
                      </a:r>
                    </a:p>
                  </a:txBody>
                  <a:tcPr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3</a:t>
                      </a:r>
                    </a:p>
                  </a:txBody>
                  <a:tcPr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4</a:t>
                      </a:r>
                    </a:p>
                  </a:txBody>
                  <a:tcPr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1" i="1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3284009" name="Group 41"/>
          <p:cNvGraphicFramePr>
            <a:graphicFrameLocks noGrp="1"/>
          </p:cNvGraphicFramePr>
          <p:nvPr/>
        </p:nvGraphicFramePr>
        <p:xfrm>
          <a:off x="3910013" y="4999038"/>
          <a:ext cx="2687637" cy="1676400"/>
        </p:xfrm>
        <a:graphic>
          <a:graphicData uri="http://schemas.openxmlformats.org/drawingml/2006/table">
            <a:tbl>
              <a:tblPr/>
              <a:tblGrid>
                <a:gridCol w="134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00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1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5</a:t>
                      </a:r>
                    </a:p>
                  </a:txBody>
                  <a:tcPr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x  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1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6</a:t>
                      </a:r>
                    </a:p>
                  </a:txBody>
                  <a:tcPr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1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7</a:t>
                      </a:r>
                    </a:p>
                  </a:txBody>
                  <a:tcPr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8</a:t>
                      </a:r>
                    </a:p>
                  </a:txBody>
                  <a:tcPr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9</a:t>
                      </a:r>
                    </a:p>
                  </a:txBody>
                  <a:tcPr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1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3284047" name="Group 79"/>
          <p:cNvGraphicFramePr>
            <a:graphicFrameLocks noGrp="1"/>
          </p:cNvGraphicFramePr>
          <p:nvPr/>
        </p:nvGraphicFramePr>
        <p:xfrm>
          <a:off x="6427788" y="2278063"/>
          <a:ext cx="2097087" cy="4359277"/>
        </p:xfrm>
        <a:graphic>
          <a:graphicData uri="http://schemas.openxmlformats.org/drawingml/2006/table">
            <a:tbl>
              <a:tblPr/>
              <a:tblGrid>
                <a:gridCol w="105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6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0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"ant"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Console" pitchFamily="49" charset="0"/>
                        </a:rPr>
                        <a:t>"ape"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"cat"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3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Console" pitchFamily="49" charset="0"/>
                        </a:rPr>
                        <a:t>"zebu"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4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"emu"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5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Console" pitchFamily="49" charset="0"/>
                        </a:rPr>
                        <a:t>"bear"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6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7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…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...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22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"wolf"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23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"wasp"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24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"yak"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25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"zebra"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28721574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587375" y="4846320"/>
            <a:ext cx="6192248" cy="201168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Quadratic Probing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458200" cy="5614988"/>
          </a:xfrm>
        </p:spPr>
        <p:txBody>
          <a:bodyPr/>
          <a:lstStyle/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Probe sequence:  h(key), h(key) + 1, h(key) + 4, h(key) + 9, …, </a:t>
            </a:r>
            <a:br>
              <a:rPr lang="en-US" altLang="en-US" dirty="0"/>
            </a:br>
            <a:r>
              <a:rPr lang="en-US" altLang="en-US" dirty="0"/>
              <a:t>wrapping around as necessary.</a:t>
            </a:r>
          </a:p>
          <a:p>
            <a:pPr lvl="1"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dirty="0"/>
              <a:t>the offsets are perfect squares: h + 1</a:t>
            </a:r>
            <a:r>
              <a:rPr lang="en-US" altLang="en-US" baseline="30000" dirty="0"/>
              <a:t>2</a:t>
            </a:r>
            <a:r>
              <a:rPr lang="en-US" altLang="en-US" dirty="0"/>
              <a:t>, h + 2</a:t>
            </a:r>
            <a:r>
              <a:rPr lang="en-US" altLang="en-US" baseline="30000" dirty="0"/>
              <a:t>2</a:t>
            </a:r>
            <a:r>
              <a:rPr lang="en-US" altLang="en-US" dirty="0"/>
              <a:t>, h + 3</a:t>
            </a:r>
            <a:r>
              <a:rPr lang="en-US" altLang="en-US" baseline="30000" dirty="0"/>
              <a:t>2</a:t>
            </a:r>
            <a:r>
              <a:rPr lang="en-US" altLang="en-US" dirty="0"/>
              <a:t>, …</a:t>
            </a:r>
          </a:p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Examples: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"ape" (h = 0): try 0, 0 + 1 – open! 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"bear" (h = 1): try 1, 1 + 1, 1 + 4 – open!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"zebu"? 25, (25 + 1) % 26, </a:t>
            </a:r>
            <a:r>
              <a:rPr lang="en-US" altLang="en-US" sz="2000" dirty="0">
                <a:solidFill>
                  <a:schemeClr val="tx1"/>
                </a:solidFill>
              </a:rPr>
              <a:t>(25 + 4) % 26 – open!</a:t>
            </a:r>
            <a:endParaRPr lang="en-US" altLang="en-US" dirty="0">
              <a:solidFill>
                <a:schemeClr val="tx1"/>
              </a:solidFill>
            </a:endParaRPr>
          </a:p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Advantage: reduces clustering</a:t>
            </a:r>
          </a:p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Disadvantage: it may fail to find an existing </a:t>
            </a:r>
            <a:br>
              <a:rPr lang="en-US" altLang="en-US" dirty="0"/>
            </a:br>
            <a:r>
              <a:rPr lang="en-US" altLang="en-US" dirty="0"/>
              <a:t>open position.  For example: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buFontTx/>
              <a:buNone/>
              <a:tabLst>
                <a:tab pos="569913" algn="l"/>
                <a:tab pos="793750" algn="l"/>
              </a:tabLst>
            </a:pPr>
            <a:r>
              <a:rPr lang="en-US" altLang="en-US" sz="1800" dirty="0"/>
              <a:t>table size = 10</a:t>
            </a:r>
          </a:p>
          <a:p>
            <a:pPr lvl="1"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569913" algn="l"/>
                <a:tab pos="793750" algn="l"/>
              </a:tabLst>
            </a:pPr>
            <a:r>
              <a:rPr lang="en-US" altLang="en-US" sz="1800" dirty="0"/>
              <a:t>x = occupied</a:t>
            </a:r>
          </a:p>
          <a:p>
            <a:pPr lvl="1">
              <a:lnSpc>
                <a:spcPct val="90000"/>
              </a:lnSpc>
              <a:spcBef>
                <a:spcPts val="1000"/>
              </a:spcBef>
              <a:buFontTx/>
              <a:buNone/>
              <a:tabLst>
                <a:tab pos="569913" algn="l"/>
                <a:tab pos="793750" algn="l"/>
              </a:tabLst>
            </a:pPr>
            <a:r>
              <a:rPr lang="en-US" altLang="en-US" sz="1800" dirty="0"/>
              <a:t>trying to insert a</a:t>
            </a:r>
          </a:p>
          <a:p>
            <a:pPr lvl="1"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569913" algn="l"/>
                <a:tab pos="793750" algn="l"/>
              </a:tabLst>
            </a:pPr>
            <a:r>
              <a:rPr lang="en-US" altLang="en-US" sz="1800" dirty="0"/>
              <a:t>key with h(key) = 0</a:t>
            </a:r>
          </a:p>
        </p:txBody>
      </p:sp>
      <p:graphicFrame>
        <p:nvGraphicFramePr>
          <p:cNvPr id="3283972" name="Group 4"/>
          <p:cNvGraphicFramePr>
            <a:graphicFrameLocks noGrp="1"/>
          </p:cNvGraphicFramePr>
          <p:nvPr/>
        </p:nvGraphicFramePr>
        <p:xfrm>
          <a:off x="2265363" y="4999038"/>
          <a:ext cx="2687637" cy="1676400"/>
        </p:xfrm>
        <a:graphic>
          <a:graphicData uri="http://schemas.openxmlformats.org/drawingml/2006/table">
            <a:tbl>
              <a:tblPr/>
              <a:tblGrid>
                <a:gridCol w="134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00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1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0</a:t>
                      </a:r>
                    </a:p>
                  </a:txBody>
                  <a:tcPr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x  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</a:t>
                      </a:r>
                    </a:p>
                  </a:txBody>
                  <a:tcPr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</a:t>
                      </a:r>
                    </a:p>
                  </a:txBody>
                  <a:tcPr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3</a:t>
                      </a:r>
                    </a:p>
                  </a:txBody>
                  <a:tcPr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4</a:t>
                      </a:r>
                    </a:p>
                  </a:txBody>
                  <a:tcPr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3284009" name="Group 41"/>
          <p:cNvGraphicFramePr>
            <a:graphicFrameLocks noGrp="1"/>
          </p:cNvGraphicFramePr>
          <p:nvPr/>
        </p:nvGraphicFramePr>
        <p:xfrm>
          <a:off x="3910013" y="4999038"/>
          <a:ext cx="2687637" cy="1676400"/>
        </p:xfrm>
        <a:graphic>
          <a:graphicData uri="http://schemas.openxmlformats.org/drawingml/2006/table">
            <a:tbl>
              <a:tblPr/>
              <a:tblGrid>
                <a:gridCol w="134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00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1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5</a:t>
                      </a:r>
                    </a:p>
                  </a:txBody>
                  <a:tcPr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x  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1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6</a:t>
                      </a:r>
                    </a:p>
                  </a:txBody>
                  <a:tcPr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1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7</a:t>
                      </a:r>
                    </a:p>
                  </a:txBody>
                  <a:tcPr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8</a:t>
                      </a:r>
                    </a:p>
                  </a:txBody>
                  <a:tcPr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9</a:t>
                      </a:r>
                    </a:p>
                  </a:txBody>
                  <a:tcPr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1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3284047" name="Group 79"/>
          <p:cNvGraphicFramePr>
            <a:graphicFrameLocks noGrp="1"/>
          </p:cNvGraphicFramePr>
          <p:nvPr/>
        </p:nvGraphicFramePr>
        <p:xfrm>
          <a:off x="6427788" y="2278063"/>
          <a:ext cx="2097087" cy="4359277"/>
        </p:xfrm>
        <a:graphic>
          <a:graphicData uri="http://schemas.openxmlformats.org/drawingml/2006/table">
            <a:tbl>
              <a:tblPr/>
              <a:tblGrid>
                <a:gridCol w="105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6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0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"ant"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Console" pitchFamily="49" charset="0"/>
                        </a:rPr>
                        <a:t>"ape"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"cat"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3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Console" pitchFamily="49" charset="0"/>
                        </a:rPr>
                        <a:t>"zebu"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4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"emu"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5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Console" pitchFamily="49" charset="0"/>
                        </a:rPr>
                        <a:t>"bear"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6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7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…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...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22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"wolf"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23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"wasp"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24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"yak"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25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"zebra"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44633499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587375" y="4846320"/>
            <a:ext cx="6192248" cy="201168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Quadratic Probing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458200" cy="5614988"/>
          </a:xfrm>
        </p:spPr>
        <p:txBody>
          <a:bodyPr/>
          <a:lstStyle/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Probe sequence:  h(key), h(key) + 1, h(key) + 4, h(key) + 9, …, </a:t>
            </a:r>
            <a:br>
              <a:rPr lang="en-US" altLang="en-US" dirty="0"/>
            </a:br>
            <a:r>
              <a:rPr lang="en-US" altLang="en-US" dirty="0"/>
              <a:t>wrapping around as necessary.</a:t>
            </a:r>
          </a:p>
          <a:p>
            <a:pPr lvl="1"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dirty="0"/>
              <a:t>the offsets are perfect squares: h + 1</a:t>
            </a:r>
            <a:r>
              <a:rPr lang="en-US" altLang="en-US" baseline="30000" dirty="0"/>
              <a:t>2</a:t>
            </a:r>
            <a:r>
              <a:rPr lang="en-US" altLang="en-US" dirty="0"/>
              <a:t>, h + 2</a:t>
            </a:r>
            <a:r>
              <a:rPr lang="en-US" altLang="en-US" baseline="30000" dirty="0"/>
              <a:t>2</a:t>
            </a:r>
            <a:r>
              <a:rPr lang="en-US" altLang="en-US" dirty="0"/>
              <a:t>, h + 3</a:t>
            </a:r>
            <a:r>
              <a:rPr lang="en-US" altLang="en-US" baseline="30000" dirty="0"/>
              <a:t>2</a:t>
            </a:r>
            <a:r>
              <a:rPr lang="en-US" altLang="en-US" dirty="0"/>
              <a:t>, …</a:t>
            </a:r>
          </a:p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Examples: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"ape" (h = 0): try 0, 0 + 1 – open! 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"bear" (h = 1): try 1, 1 + 1, 1 + 4 – open!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"zebu"? 25, (25 + 1) % 26, </a:t>
            </a:r>
            <a:r>
              <a:rPr lang="en-US" altLang="en-US" sz="2000" dirty="0">
                <a:solidFill>
                  <a:schemeClr val="tx1"/>
                </a:solidFill>
              </a:rPr>
              <a:t>(25 + 4) % 26 – open!</a:t>
            </a:r>
            <a:endParaRPr lang="en-US" altLang="en-US" dirty="0">
              <a:solidFill>
                <a:schemeClr val="tx1"/>
              </a:solidFill>
            </a:endParaRPr>
          </a:p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Advantage: reduces clustering</a:t>
            </a:r>
          </a:p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Disadvantage: it may fail to find an existing </a:t>
            </a:r>
            <a:br>
              <a:rPr lang="en-US" altLang="en-US" dirty="0"/>
            </a:br>
            <a:r>
              <a:rPr lang="en-US" altLang="en-US" dirty="0"/>
              <a:t>open position.  For example: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buFontTx/>
              <a:buNone/>
              <a:tabLst>
                <a:tab pos="569913" algn="l"/>
                <a:tab pos="793750" algn="l"/>
              </a:tabLst>
            </a:pPr>
            <a:r>
              <a:rPr lang="en-US" altLang="en-US" sz="1800" dirty="0"/>
              <a:t>table size = 10</a:t>
            </a:r>
          </a:p>
          <a:p>
            <a:pPr lvl="1"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569913" algn="l"/>
                <a:tab pos="793750" algn="l"/>
              </a:tabLst>
            </a:pPr>
            <a:r>
              <a:rPr lang="en-US" altLang="en-US" sz="1800" dirty="0"/>
              <a:t>x = occupied</a:t>
            </a:r>
          </a:p>
          <a:p>
            <a:pPr lvl="1">
              <a:lnSpc>
                <a:spcPct val="90000"/>
              </a:lnSpc>
              <a:spcBef>
                <a:spcPts val="1000"/>
              </a:spcBef>
              <a:buFontTx/>
              <a:buNone/>
              <a:tabLst>
                <a:tab pos="569913" algn="l"/>
                <a:tab pos="793750" algn="l"/>
              </a:tabLst>
            </a:pPr>
            <a:r>
              <a:rPr lang="en-US" altLang="en-US" sz="1800" dirty="0"/>
              <a:t>trying to insert a</a:t>
            </a:r>
          </a:p>
          <a:p>
            <a:pPr lvl="1"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569913" algn="l"/>
                <a:tab pos="793750" algn="l"/>
              </a:tabLst>
            </a:pPr>
            <a:r>
              <a:rPr lang="en-US" altLang="en-US" sz="1800" dirty="0"/>
              <a:t>key with h(key) = 0</a:t>
            </a:r>
          </a:p>
        </p:txBody>
      </p:sp>
      <p:graphicFrame>
        <p:nvGraphicFramePr>
          <p:cNvPr id="3283972" name="Group 4"/>
          <p:cNvGraphicFramePr>
            <a:graphicFrameLocks noGrp="1"/>
          </p:cNvGraphicFramePr>
          <p:nvPr/>
        </p:nvGraphicFramePr>
        <p:xfrm>
          <a:off x="2265363" y="4999038"/>
          <a:ext cx="2687637" cy="1676400"/>
        </p:xfrm>
        <a:graphic>
          <a:graphicData uri="http://schemas.openxmlformats.org/drawingml/2006/table">
            <a:tbl>
              <a:tblPr/>
              <a:tblGrid>
                <a:gridCol w="134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00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1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0</a:t>
                      </a:r>
                    </a:p>
                  </a:txBody>
                  <a:tcPr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x  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</a:t>
                      </a:r>
                    </a:p>
                  </a:txBody>
                  <a:tcPr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</a:t>
                      </a:r>
                    </a:p>
                  </a:txBody>
                  <a:tcPr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3</a:t>
                      </a:r>
                    </a:p>
                  </a:txBody>
                  <a:tcPr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4</a:t>
                      </a:r>
                    </a:p>
                  </a:txBody>
                  <a:tcPr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3284009" name="Group 41"/>
          <p:cNvGraphicFramePr>
            <a:graphicFrameLocks noGrp="1"/>
          </p:cNvGraphicFramePr>
          <p:nvPr/>
        </p:nvGraphicFramePr>
        <p:xfrm>
          <a:off x="3910013" y="4999038"/>
          <a:ext cx="2687637" cy="1676400"/>
        </p:xfrm>
        <a:graphic>
          <a:graphicData uri="http://schemas.openxmlformats.org/drawingml/2006/table">
            <a:tbl>
              <a:tblPr/>
              <a:tblGrid>
                <a:gridCol w="134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00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1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5</a:t>
                      </a:r>
                    </a:p>
                  </a:txBody>
                  <a:tcPr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x  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1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6</a:t>
                      </a:r>
                    </a:p>
                  </a:txBody>
                  <a:tcPr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1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7</a:t>
                      </a:r>
                    </a:p>
                  </a:txBody>
                  <a:tcPr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8</a:t>
                      </a:r>
                    </a:p>
                  </a:txBody>
                  <a:tcPr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9</a:t>
                      </a:r>
                    </a:p>
                  </a:txBody>
                  <a:tcPr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1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5892" name="Rectangle 78"/>
          <p:cNvSpPr>
            <a:spLocks noChangeArrowheads="1"/>
          </p:cNvSpPr>
          <p:nvPr/>
        </p:nvSpPr>
        <p:spPr bwMode="auto">
          <a:xfrm>
            <a:off x="3641725" y="5027613"/>
            <a:ext cx="439738" cy="280987"/>
          </a:xfrm>
          <a:prstGeom prst="rect">
            <a:avLst/>
          </a:prstGeom>
          <a:noFill/>
          <a:ln w="38100" algn="ctr">
            <a:solidFill>
              <a:srgbClr val="CC0099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>
              <a:spcBef>
                <a:spcPts val="1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 algn="l">
              <a:spcBef>
                <a:spcPts val="525"/>
              </a:spcBef>
              <a:buClr>
                <a:srgbClr val="000000"/>
              </a:buClr>
              <a:buSzPct val="10000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Helvetica" panose="020B0604020202020204" pitchFamily="34" charset="0"/>
              <a:buChar char="–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+mn-cs"/>
            </a:endParaRPr>
          </a:p>
        </p:txBody>
      </p:sp>
      <p:graphicFrame>
        <p:nvGraphicFramePr>
          <p:cNvPr id="3284047" name="Group 79"/>
          <p:cNvGraphicFramePr>
            <a:graphicFrameLocks noGrp="1"/>
          </p:cNvGraphicFramePr>
          <p:nvPr/>
        </p:nvGraphicFramePr>
        <p:xfrm>
          <a:off x="6427788" y="2278063"/>
          <a:ext cx="2097087" cy="4359277"/>
        </p:xfrm>
        <a:graphic>
          <a:graphicData uri="http://schemas.openxmlformats.org/drawingml/2006/table">
            <a:tbl>
              <a:tblPr/>
              <a:tblGrid>
                <a:gridCol w="105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6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0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"ant"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Console" pitchFamily="49" charset="0"/>
                        </a:rPr>
                        <a:t>"ape"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"cat"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3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Console" pitchFamily="49" charset="0"/>
                        </a:rPr>
                        <a:t>"zebu"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4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"emu"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5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Console" pitchFamily="49" charset="0"/>
                        </a:rPr>
                        <a:t>"bear"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6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7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…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...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22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"wolf"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23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"wasp"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24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"yak"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25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"zebra"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0595680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587375" y="4846320"/>
            <a:ext cx="6192248" cy="201168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Quadratic Probing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458200" cy="5614988"/>
          </a:xfrm>
        </p:spPr>
        <p:txBody>
          <a:bodyPr/>
          <a:lstStyle/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Probe sequence:  h(key), h(key) + 1, h(key) + 4, h(key) + 9, …, </a:t>
            </a:r>
            <a:br>
              <a:rPr lang="en-US" altLang="en-US" dirty="0"/>
            </a:br>
            <a:r>
              <a:rPr lang="en-US" altLang="en-US" dirty="0"/>
              <a:t>wrapping around as necessary.</a:t>
            </a:r>
          </a:p>
          <a:p>
            <a:pPr lvl="1"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dirty="0"/>
              <a:t>the offsets are perfect squares: h + 1</a:t>
            </a:r>
            <a:r>
              <a:rPr lang="en-US" altLang="en-US" baseline="30000" dirty="0"/>
              <a:t>2</a:t>
            </a:r>
            <a:r>
              <a:rPr lang="en-US" altLang="en-US" dirty="0"/>
              <a:t>, h + 2</a:t>
            </a:r>
            <a:r>
              <a:rPr lang="en-US" altLang="en-US" baseline="30000" dirty="0"/>
              <a:t>2</a:t>
            </a:r>
            <a:r>
              <a:rPr lang="en-US" altLang="en-US" dirty="0"/>
              <a:t>, h + 3</a:t>
            </a:r>
            <a:r>
              <a:rPr lang="en-US" altLang="en-US" baseline="30000" dirty="0"/>
              <a:t>2</a:t>
            </a:r>
            <a:r>
              <a:rPr lang="en-US" altLang="en-US" dirty="0"/>
              <a:t>, …</a:t>
            </a:r>
          </a:p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Examples: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"ape" (h = 0): try 0, 0 + 1 – open! 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"bear" (h = 1): try 1, 1 + 1, 1 + 4 – open!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"zebu"? 25, (25 + 1) % 26, </a:t>
            </a:r>
            <a:r>
              <a:rPr lang="en-US" altLang="en-US" sz="2000" dirty="0">
                <a:solidFill>
                  <a:schemeClr val="tx1"/>
                </a:solidFill>
              </a:rPr>
              <a:t>(25 + 4) % 26 – open!</a:t>
            </a:r>
            <a:endParaRPr lang="en-US" altLang="en-US" dirty="0"/>
          </a:p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Advantage: reduces clustering</a:t>
            </a:r>
          </a:p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Disadvantage: it may fail to find an existing </a:t>
            </a:r>
            <a:br>
              <a:rPr lang="en-US" altLang="en-US" dirty="0"/>
            </a:br>
            <a:r>
              <a:rPr lang="en-US" altLang="en-US" dirty="0"/>
              <a:t>open position.  For example: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buFontTx/>
              <a:buNone/>
              <a:tabLst>
                <a:tab pos="569913" algn="l"/>
                <a:tab pos="793750" algn="l"/>
              </a:tabLst>
            </a:pPr>
            <a:r>
              <a:rPr lang="en-US" altLang="en-US" sz="1800" dirty="0"/>
              <a:t>table size = 10</a:t>
            </a:r>
          </a:p>
          <a:p>
            <a:pPr lvl="1"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569913" algn="l"/>
                <a:tab pos="793750" algn="l"/>
              </a:tabLst>
            </a:pPr>
            <a:r>
              <a:rPr lang="en-US" altLang="en-US" sz="1800" dirty="0"/>
              <a:t>x = occupied</a:t>
            </a:r>
          </a:p>
          <a:p>
            <a:pPr lvl="1">
              <a:lnSpc>
                <a:spcPct val="90000"/>
              </a:lnSpc>
              <a:spcBef>
                <a:spcPts val="1000"/>
              </a:spcBef>
              <a:buFontTx/>
              <a:buNone/>
              <a:tabLst>
                <a:tab pos="569913" algn="l"/>
                <a:tab pos="793750" algn="l"/>
              </a:tabLst>
            </a:pPr>
            <a:r>
              <a:rPr lang="en-US" altLang="en-US" sz="1800" dirty="0"/>
              <a:t>trying to insert a</a:t>
            </a:r>
          </a:p>
          <a:p>
            <a:pPr lvl="1"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569913" algn="l"/>
                <a:tab pos="793750" algn="l"/>
              </a:tabLst>
            </a:pPr>
            <a:r>
              <a:rPr lang="en-US" altLang="en-US" sz="1800" dirty="0"/>
              <a:t>key with h(key) = 0</a:t>
            </a:r>
          </a:p>
          <a:p>
            <a:pPr lvl="1">
              <a:lnSpc>
                <a:spcPct val="90000"/>
              </a:lnSpc>
              <a:spcBef>
                <a:spcPts val="1000"/>
              </a:spcBef>
              <a:buFontTx/>
              <a:buNone/>
              <a:tabLst>
                <a:tab pos="569913" algn="l"/>
                <a:tab pos="793750" algn="l"/>
              </a:tabLst>
            </a:pPr>
            <a:r>
              <a:rPr lang="en-US" altLang="en-US" sz="1800" dirty="0"/>
              <a:t>offsets of the probe</a:t>
            </a:r>
          </a:p>
          <a:p>
            <a:pPr lvl="1"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569913" algn="l"/>
                <a:tab pos="793750" algn="l"/>
              </a:tabLst>
            </a:pPr>
            <a:r>
              <a:rPr lang="en-US" altLang="en-US" sz="1800" dirty="0"/>
              <a:t>sequence in italics </a:t>
            </a:r>
          </a:p>
        </p:txBody>
      </p:sp>
      <p:graphicFrame>
        <p:nvGraphicFramePr>
          <p:cNvPr id="2159621" name="Group 5"/>
          <p:cNvGraphicFramePr>
            <a:graphicFrameLocks noGrp="1"/>
          </p:cNvGraphicFramePr>
          <p:nvPr/>
        </p:nvGraphicFramePr>
        <p:xfrm>
          <a:off x="2265363" y="4999038"/>
          <a:ext cx="2687637" cy="1676400"/>
        </p:xfrm>
        <a:graphic>
          <a:graphicData uri="http://schemas.openxmlformats.org/drawingml/2006/table">
            <a:tbl>
              <a:tblPr/>
              <a:tblGrid>
                <a:gridCol w="134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00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1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0</a:t>
                      </a:r>
                    </a:p>
                  </a:txBody>
                  <a:tcPr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x  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</a:t>
                      </a:r>
                    </a:p>
                  </a:txBody>
                  <a:tcPr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Console" pitchFamily="49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</a:t>
                      </a:r>
                    </a:p>
                  </a:txBody>
                  <a:tcPr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3</a:t>
                      </a:r>
                    </a:p>
                  </a:txBody>
                  <a:tcPr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4</a:t>
                      </a:r>
                    </a:p>
                  </a:txBody>
                  <a:tcPr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159658" name="Group 42"/>
          <p:cNvGraphicFramePr>
            <a:graphicFrameLocks noGrp="1"/>
          </p:cNvGraphicFramePr>
          <p:nvPr/>
        </p:nvGraphicFramePr>
        <p:xfrm>
          <a:off x="3910013" y="4999038"/>
          <a:ext cx="2687637" cy="1676400"/>
        </p:xfrm>
        <a:graphic>
          <a:graphicData uri="http://schemas.openxmlformats.org/drawingml/2006/table">
            <a:tbl>
              <a:tblPr/>
              <a:tblGrid>
                <a:gridCol w="134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00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1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5</a:t>
                      </a:r>
                    </a:p>
                  </a:txBody>
                  <a:tcPr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x  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1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6</a:t>
                      </a:r>
                    </a:p>
                  </a:txBody>
                  <a:tcPr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1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7</a:t>
                      </a:r>
                    </a:p>
                  </a:txBody>
                  <a:tcPr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8</a:t>
                      </a:r>
                    </a:p>
                  </a:txBody>
                  <a:tcPr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9</a:t>
                      </a:r>
                    </a:p>
                  </a:txBody>
                  <a:tcPr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1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6916" name="Rectangle 79"/>
          <p:cNvSpPr>
            <a:spLocks noChangeArrowheads="1"/>
          </p:cNvSpPr>
          <p:nvPr/>
        </p:nvSpPr>
        <p:spPr bwMode="auto">
          <a:xfrm>
            <a:off x="3641725" y="5360988"/>
            <a:ext cx="439738" cy="280987"/>
          </a:xfrm>
          <a:prstGeom prst="rect">
            <a:avLst/>
          </a:prstGeom>
          <a:noFill/>
          <a:ln w="38100" algn="ctr">
            <a:solidFill>
              <a:srgbClr val="CC0099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>
              <a:spcBef>
                <a:spcPts val="1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 algn="l">
              <a:spcBef>
                <a:spcPts val="525"/>
              </a:spcBef>
              <a:buClr>
                <a:srgbClr val="000000"/>
              </a:buClr>
              <a:buSzPct val="10000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Helvetica" panose="020B0604020202020204" pitchFamily="34" charset="0"/>
              <a:buChar char="–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+mn-cs"/>
            </a:endParaRPr>
          </a:p>
        </p:txBody>
      </p:sp>
      <p:graphicFrame>
        <p:nvGraphicFramePr>
          <p:cNvPr id="2159696" name="Group 80"/>
          <p:cNvGraphicFramePr>
            <a:graphicFrameLocks noGrp="1"/>
          </p:cNvGraphicFramePr>
          <p:nvPr/>
        </p:nvGraphicFramePr>
        <p:xfrm>
          <a:off x="6427788" y="2278063"/>
          <a:ext cx="2097087" cy="4359277"/>
        </p:xfrm>
        <a:graphic>
          <a:graphicData uri="http://schemas.openxmlformats.org/drawingml/2006/table">
            <a:tbl>
              <a:tblPr/>
              <a:tblGrid>
                <a:gridCol w="105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6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0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"ant"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Console" pitchFamily="49" charset="0"/>
                        </a:rPr>
                        <a:t>"ape"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"cat"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3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Console" pitchFamily="49" charset="0"/>
                        </a:rPr>
                        <a:t>"zebu"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4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"emu"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5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Console" pitchFamily="49" charset="0"/>
                        </a:rPr>
                        <a:t>"bear"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6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7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…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...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22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"wolf"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23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"wasp"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24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"yak"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25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"zebra"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7054389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587375" y="4846320"/>
            <a:ext cx="6192248" cy="201168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Quadratic Probing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458200" cy="5614988"/>
          </a:xfrm>
        </p:spPr>
        <p:txBody>
          <a:bodyPr/>
          <a:lstStyle/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Probe sequence:  h(key), h(key) + 1, h(key) + 4, h(key) + 9, …, </a:t>
            </a:r>
            <a:br>
              <a:rPr lang="en-US" altLang="en-US" dirty="0"/>
            </a:br>
            <a:r>
              <a:rPr lang="en-US" altLang="en-US" dirty="0"/>
              <a:t>wrapping around as necessary.</a:t>
            </a:r>
          </a:p>
          <a:p>
            <a:pPr lvl="1"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dirty="0"/>
              <a:t>the offsets are perfect squares: h + 1</a:t>
            </a:r>
            <a:r>
              <a:rPr lang="en-US" altLang="en-US" baseline="30000" dirty="0"/>
              <a:t>2</a:t>
            </a:r>
            <a:r>
              <a:rPr lang="en-US" altLang="en-US" dirty="0"/>
              <a:t>, h + 2</a:t>
            </a:r>
            <a:r>
              <a:rPr lang="en-US" altLang="en-US" baseline="30000" dirty="0"/>
              <a:t>2</a:t>
            </a:r>
            <a:r>
              <a:rPr lang="en-US" altLang="en-US" dirty="0"/>
              <a:t>, h + 3</a:t>
            </a:r>
            <a:r>
              <a:rPr lang="en-US" altLang="en-US" baseline="30000" dirty="0"/>
              <a:t>2</a:t>
            </a:r>
            <a:r>
              <a:rPr lang="en-US" altLang="en-US" dirty="0"/>
              <a:t>, …</a:t>
            </a:r>
          </a:p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Examples: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"ape" (h = 0): try 0, 0 + 1 – open! 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"bear" (h = 1): try 1, 1 + 1, 1 + 4 – open!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"zebu"? 25, (25 + 1) % 26, </a:t>
            </a:r>
            <a:r>
              <a:rPr lang="en-US" altLang="en-US" sz="2000" dirty="0">
                <a:solidFill>
                  <a:schemeClr val="tx1"/>
                </a:solidFill>
              </a:rPr>
              <a:t>(25 + 4) % 26 – open!</a:t>
            </a:r>
            <a:endParaRPr lang="en-US" altLang="en-US" dirty="0"/>
          </a:p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Advantage: reduces clustering</a:t>
            </a:r>
          </a:p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Disadvantage: it may fail to find an existing </a:t>
            </a:r>
            <a:br>
              <a:rPr lang="en-US" altLang="en-US" dirty="0"/>
            </a:br>
            <a:r>
              <a:rPr lang="en-US" altLang="en-US" dirty="0"/>
              <a:t>open position.  For example: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buFontTx/>
              <a:buNone/>
              <a:tabLst>
                <a:tab pos="569913" algn="l"/>
                <a:tab pos="793750" algn="l"/>
              </a:tabLst>
            </a:pPr>
            <a:r>
              <a:rPr lang="en-US" altLang="en-US" sz="1800" dirty="0"/>
              <a:t>table size = 10</a:t>
            </a:r>
          </a:p>
          <a:p>
            <a:pPr lvl="1"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569913" algn="l"/>
                <a:tab pos="793750" algn="l"/>
              </a:tabLst>
            </a:pPr>
            <a:r>
              <a:rPr lang="en-US" altLang="en-US" sz="1800" dirty="0"/>
              <a:t>x = occupied</a:t>
            </a:r>
          </a:p>
          <a:p>
            <a:pPr lvl="1">
              <a:lnSpc>
                <a:spcPct val="90000"/>
              </a:lnSpc>
              <a:spcBef>
                <a:spcPts val="1000"/>
              </a:spcBef>
              <a:buFontTx/>
              <a:buNone/>
              <a:tabLst>
                <a:tab pos="569913" algn="l"/>
                <a:tab pos="793750" algn="l"/>
              </a:tabLst>
            </a:pPr>
            <a:r>
              <a:rPr lang="en-US" altLang="en-US" sz="1800" dirty="0"/>
              <a:t>trying to insert a</a:t>
            </a:r>
          </a:p>
          <a:p>
            <a:pPr lvl="1"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569913" algn="l"/>
                <a:tab pos="793750" algn="l"/>
              </a:tabLst>
            </a:pPr>
            <a:r>
              <a:rPr lang="en-US" altLang="en-US" sz="1800" dirty="0"/>
              <a:t>key with h(key) = 0</a:t>
            </a:r>
          </a:p>
          <a:p>
            <a:pPr lvl="1">
              <a:lnSpc>
                <a:spcPct val="90000"/>
              </a:lnSpc>
              <a:spcBef>
                <a:spcPts val="1000"/>
              </a:spcBef>
              <a:buFontTx/>
              <a:buNone/>
              <a:tabLst>
                <a:tab pos="569913" algn="l"/>
                <a:tab pos="793750" algn="l"/>
              </a:tabLst>
            </a:pPr>
            <a:r>
              <a:rPr lang="en-US" altLang="en-US" sz="1800" dirty="0"/>
              <a:t>offsets of the probe</a:t>
            </a:r>
          </a:p>
          <a:p>
            <a:pPr lvl="1"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569913" algn="l"/>
                <a:tab pos="793750" algn="l"/>
              </a:tabLst>
            </a:pPr>
            <a:r>
              <a:rPr lang="en-US" altLang="en-US" sz="1800" dirty="0"/>
              <a:t>sequence in italics </a:t>
            </a:r>
          </a:p>
        </p:txBody>
      </p:sp>
      <p:graphicFrame>
        <p:nvGraphicFramePr>
          <p:cNvPr id="2161669" name="Group 5"/>
          <p:cNvGraphicFramePr>
            <a:graphicFrameLocks noGrp="1"/>
          </p:cNvGraphicFramePr>
          <p:nvPr/>
        </p:nvGraphicFramePr>
        <p:xfrm>
          <a:off x="2265363" y="4999038"/>
          <a:ext cx="2687637" cy="1676400"/>
        </p:xfrm>
        <a:graphic>
          <a:graphicData uri="http://schemas.openxmlformats.org/drawingml/2006/table">
            <a:tbl>
              <a:tblPr/>
              <a:tblGrid>
                <a:gridCol w="134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00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1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0</a:t>
                      </a:r>
                    </a:p>
                  </a:txBody>
                  <a:tcPr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x  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</a:t>
                      </a:r>
                    </a:p>
                  </a:txBody>
                  <a:tcPr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</a:t>
                      </a:r>
                      <a:endParaRPr kumimoji="0" 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</a:t>
                      </a:r>
                    </a:p>
                  </a:txBody>
                  <a:tcPr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3</a:t>
                      </a:r>
                    </a:p>
                  </a:txBody>
                  <a:tcPr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4</a:t>
                      </a:r>
                    </a:p>
                  </a:txBody>
                  <a:tcPr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Console" pitchFamily="49" charset="0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161706" name="Group 42"/>
          <p:cNvGraphicFramePr>
            <a:graphicFrameLocks noGrp="1"/>
          </p:cNvGraphicFramePr>
          <p:nvPr/>
        </p:nvGraphicFramePr>
        <p:xfrm>
          <a:off x="3910013" y="4999038"/>
          <a:ext cx="2687637" cy="1676400"/>
        </p:xfrm>
        <a:graphic>
          <a:graphicData uri="http://schemas.openxmlformats.org/drawingml/2006/table">
            <a:tbl>
              <a:tblPr/>
              <a:tblGrid>
                <a:gridCol w="134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00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1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5</a:t>
                      </a:r>
                    </a:p>
                  </a:txBody>
                  <a:tcPr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x  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1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6</a:t>
                      </a:r>
                    </a:p>
                  </a:txBody>
                  <a:tcPr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1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7</a:t>
                      </a:r>
                    </a:p>
                  </a:txBody>
                  <a:tcPr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8</a:t>
                      </a:r>
                    </a:p>
                  </a:txBody>
                  <a:tcPr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9</a:t>
                      </a:r>
                    </a:p>
                  </a:txBody>
                  <a:tcPr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1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7940" name="Rectangle 79"/>
          <p:cNvSpPr>
            <a:spLocks noChangeArrowheads="1"/>
          </p:cNvSpPr>
          <p:nvPr/>
        </p:nvSpPr>
        <p:spPr bwMode="auto">
          <a:xfrm>
            <a:off x="3641725" y="6365875"/>
            <a:ext cx="439738" cy="280988"/>
          </a:xfrm>
          <a:prstGeom prst="rect">
            <a:avLst/>
          </a:prstGeom>
          <a:noFill/>
          <a:ln w="38100" algn="ctr">
            <a:solidFill>
              <a:srgbClr val="CC0099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>
              <a:spcBef>
                <a:spcPts val="1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 algn="l">
              <a:spcBef>
                <a:spcPts val="525"/>
              </a:spcBef>
              <a:buClr>
                <a:srgbClr val="000000"/>
              </a:buClr>
              <a:buSzPct val="10000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Helvetica" panose="020B0604020202020204" pitchFamily="34" charset="0"/>
              <a:buChar char="–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+mn-cs"/>
            </a:endParaRPr>
          </a:p>
        </p:txBody>
      </p:sp>
      <p:graphicFrame>
        <p:nvGraphicFramePr>
          <p:cNvPr id="2161744" name="Group 80"/>
          <p:cNvGraphicFramePr>
            <a:graphicFrameLocks noGrp="1"/>
          </p:cNvGraphicFramePr>
          <p:nvPr/>
        </p:nvGraphicFramePr>
        <p:xfrm>
          <a:off x="6427788" y="2278063"/>
          <a:ext cx="2097087" cy="4359277"/>
        </p:xfrm>
        <a:graphic>
          <a:graphicData uri="http://schemas.openxmlformats.org/drawingml/2006/table">
            <a:tbl>
              <a:tblPr/>
              <a:tblGrid>
                <a:gridCol w="105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6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0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"ant"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Console" pitchFamily="49" charset="0"/>
                        </a:rPr>
                        <a:t>"ape"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"cat"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3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Console" pitchFamily="49" charset="0"/>
                        </a:rPr>
                        <a:t>"zebu"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4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"emu"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5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Console" pitchFamily="49" charset="0"/>
                        </a:rPr>
                        <a:t>"bear"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6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7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…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...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22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"wolf"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23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"wasp"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24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"yak"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25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"zebra"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798003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587375" y="4846320"/>
            <a:ext cx="6192248" cy="201168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Quadratic Probing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458200" cy="5614988"/>
          </a:xfrm>
        </p:spPr>
        <p:txBody>
          <a:bodyPr/>
          <a:lstStyle/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Probe sequence:  h(key), h(key) + 1, h(key) + 4, h(key) + 9, …, </a:t>
            </a:r>
            <a:br>
              <a:rPr lang="en-US" altLang="en-US" dirty="0"/>
            </a:br>
            <a:r>
              <a:rPr lang="en-US" altLang="en-US" dirty="0"/>
              <a:t>wrapping around as necessary.</a:t>
            </a:r>
          </a:p>
          <a:p>
            <a:pPr lvl="1"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dirty="0"/>
              <a:t>the offsets are perfect squares: h + 1</a:t>
            </a:r>
            <a:r>
              <a:rPr lang="en-US" altLang="en-US" baseline="30000" dirty="0"/>
              <a:t>2</a:t>
            </a:r>
            <a:r>
              <a:rPr lang="en-US" altLang="en-US" dirty="0"/>
              <a:t>, h + 2</a:t>
            </a:r>
            <a:r>
              <a:rPr lang="en-US" altLang="en-US" baseline="30000" dirty="0"/>
              <a:t>2</a:t>
            </a:r>
            <a:r>
              <a:rPr lang="en-US" altLang="en-US" dirty="0"/>
              <a:t>, h + 3</a:t>
            </a:r>
            <a:r>
              <a:rPr lang="en-US" altLang="en-US" baseline="30000" dirty="0"/>
              <a:t>2</a:t>
            </a:r>
            <a:r>
              <a:rPr lang="en-US" altLang="en-US" dirty="0"/>
              <a:t>, …</a:t>
            </a:r>
          </a:p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Examples: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"ape" (h = 0): try 0, 0 + 1 – open! 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"bear" (h = 1): try 1, 1 + 1, 1 + 4 – open!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"zebu"? 25, (25 + 1) % 26, </a:t>
            </a:r>
            <a:r>
              <a:rPr lang="en-US" altLang="en-US" sz="2000" dirty="0">
                <a:solidFill>
                  <a:schemeClr val="tx1"/>
                </a:solidFill>
              </a:rPr>
              <a:t>(25 + 4) % 26 – open!</a:t>
            </a:r>
            <a:endParaRPr lang="en-US" altLang="en-US" dirty="0"/>
          </a:p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Advantage: reduces clustering</a:t>
            </a:r>
          </a:p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Disadvantage: it may fail to find an existing </a:t>
            </a:r>
            <a:br>
              <a:rPr lang="en-US" altLang="en-US" dirty="0"/>
            </a:br>
            <a:r>
              <a:rPr lang="en-US" altLang="en-US" dirty="0"/>
              <a:t>open position.  For example: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buFontTx/>
              <a:buNone/>
              <a:tabLst>
                <a:tab pos="569913" algn="l"/>
                <a:tab pos="793750" algn="l"/>
              </a:tabLst>
            </a:pPr>
            <a:r>
              <a:rPr lang="en-US" altLang="en-US" sz="1800" dirty="0"/>
              <a:t>table size = 10</a:t>
            </a:r>
          </a:p>
          <a:p>
            <a:pPr lvl="1"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569913" algn="l"/>
                <a:tab pos="793750" algn="l"/>
              </a:tabLst>
            </a:pPr>
            <a:r>
              <a:rPr lang="en-US" altLang="en-US" sz="1800" dirty="0"/>
              <a:t>x = occupied</a:t>
            </a:r>
          </a:p>
          <a:p>
            <a:pPr lvl="1">
              <a:lnSpc>
                <a:spcPct val="90000"/>
              </a:lnSpc>
              <a:spcBef>
                <a:spcPts val="1000"/>
              </a:spcBef>
              <a:buFontTx/>
              <a:buNone/>
              <a:tabLst>
                <a:tab pos="569913" algn="l"/>
                <a:tab pos="793750" algn="l"/>
              </a:tabLst>
            </a:pPr>
            <a:r>
              <a:rPr lang="en-US" altLang="en-US" sz="1800" dirty="0"/>
              <a:t>trying to insert a</a:t>
            </a:r>
          </a:p>
          <a:p>
            <a:pPr lvl="1"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569913" algn="l"/>
                <a:tab pos="793750" algn="l"/>
              </a:tabLst>
            </a:pPr>
            <a:r>
              <a:rPr lang="en-US" altLang="en-US" sz="1800" dirty="0"/>
              <a:t>key with h(key) = 0</a:t>
            </a:r>
          </a:p>
          <a:p>
            <a:pPr lvl="1">
              <a:lnSpc>
                <a:spcPct val="90000"/>
              </a:lnSpc>
              <a:spcBef>
                <a:spcPts val="1000"/>
              </a:spcBef>
              <a:buFontTx/>
              <a:buNone/>
              <a:tabLst>
                <a:tab pos="569913" algn="l"/>
                <a:tab pos="793750" algn="l"/>
              </a:tabLst>
            </a:pPr>
            <a:r>
              <a:rPr lang="en-US" altLang="en-US" sz="1800" dirty="0"/>
              <a:t>offsets of the probe</a:t>
            </a:r>
          </a:p>
          <a:p>
            <a:pPr lvl="1"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569913" algn="l"/>
                <a:tab pos="793750" algn="l"/>
              </a:tabLst>
            </a:pPr>
            <a:r>
              <a:rPr lang="en-US" altLang="en-US" sz="1800" dirty="0"/>
              <a:t>sequence in italics </a:t>
            </a:r>
          </a:p>
        </p:txBody>
      </p:sp>
      <p:graphicFrame>
        <p:nvGraphicFramePr>
          <p:cNvPr id="2163717" name="Group 5"/>
          <p:cNvGraphicFramePr>
            <a:graphicFrameLocks noGrp="1"/>
          </p:cNvGraphicFramePr>
          <p:nvPr/>
        </p:nvGraphicFramePr>
        <p:xfrm>
          <a:off x="2265363" y="4999038"/>
          <a:ext cx="2687637" cy="1676400"/>
        </p:xfrm>
        <a:graphic>
          <a:graphicData uri="http://schemas.openxmlformats.org/drawingml/2006/table">
            <a:tbl>
              <a:tblPr/>
              <a:tblGrid>
                <a:gridCol w="134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00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1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0</a:t>
                      </a:r>
                    </a:p>
                  </a:txBody>
                  <a:tcPr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x  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</a:t>
                      </a:r>
                    </a:p>
                  </a:txBody>
                  <a:tcPr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</a:t>
                      </a:r>
                      <a:endParaRPr kumimoji="0" 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</a:t>
                      </a:r>
                    </a:p>
                  </a:txBody>
                  <a:tcPr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3</a:t>
                      </a:r>
                    </a:p>
                  </a:txBody>
                  <a:tcPr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4</a:t>
                      </a:r>
                    </a:p>
                  </a:txBody>
                  <a:tcPr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4</a:t>
                      </a:r>
                      <a:endParaRPr kumimoji="0" 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163754" name="Group 42"/>
          <p:cNvGraphicFramePr>
            <a:graphicFrameLocks noGrp="1"/>
          </p:cNvGraphicFramePr>
          <p:nvPr/>
        </p:nvGraphicFramePr>
        <p:xfrm>
          <a:off x="3910013" y="4999038"/>
          <a:ext cx="2687637" cy="1676400"/>
        </p:xfrm>
        <a:graphic>
          <a:graphicData uri="http://schemas.openxmlformats.org/drawingml/2006/table">
            <a:tbl>
              <a:tblPr/>
              <a:tblGrid>
                <a:gridCol w="134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00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1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5</a:t>
                      </a:r>
                    </a:p>
                  </a:txBody>
                  <a:tcPr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x  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6</a:t>
                      </a:r>
                    </a:p>
                  </a:txBody>
                  <a:tcPr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7</a:t>
                      </a:r>
                    </a:p>
                  </a:txBody>
                  <a:tcPr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8</a:t>
                      </a:r>
                    </a:p>
                  </a:txBody>
                  <a:tcPr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9</a:t>
                      </a:r>
                    </a:p>
                  </a:txBody>
                  <a:tcPr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Console" pitchFamily="49" charset="0"/>
                        </a:rPr>
                        <a:t>9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8964" name="Rectangle 79"/>
          <p:cNvSpPr>
            <a:spLocks noChangeArrowheads="1"/>
          </p:cNvSpPr>
          <p:nvPr/>
        </p:nvSpPr>
        <p:spPr bwMode="auto">
          <a:xfrm>
            <a:off x="5291138" y="6365875"/>
            <a:ext cx="439737" cy="280988"/>
          </a:xfrm>
          <a:prstGeom prst="rect">
            <a:avLst/>
          </a:prstGeom>
          <a:noFill/>
          <a:ln w="38100" algn="ctr">
            <a:solidFill>
              <a:srgbClr val="CC0099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>
              <a:spcBef>
                <a:spcPts val="1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 algn="l">
              <a:spcBef>
                <a:spcPts val="525"/>
              </a:spcBef>
              <a:buClr>
                <a:srgbClr val="000000"/>
              </a:buClr>
              <a:buSzPct val="10000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Helvetica" panose="020B0604020202020204" pitchFamily="34" charset="0"/>
              <a:buChar char="–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+mn-cs"/>
            </a:endParaRPr>
          </a:p>
        </p:txBody>
      </p:sp>
      <p:graphicFrame>
        <p:nvGraphicFramePr>
          <p:cNvPr id="2163792" name="Group 80"/>
          <p:cNvGraphicFramePr>
            <a:graphicFrameLocks noGrp="1"/>
          </p:cNvGraphicFramePr>
          <p:nvPr/>
        </p:nvGraphicFramePr>
        <p:xfrm>
          <a:off x="6427788" y="2278063"/>
          <a:ext cx="2097087" cy="4359277"/>
        </p:xfrm>
        <a:graphic>
          <a:graphicData uri="http://schemas.openxmlformats.org/drawingml/2006/table">
            <a:tbl>
              <a:tblPr/>
              <a:tblGrid>
                <a:gridCol w="105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6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0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"ant"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Console" pitchFamily="49" charset="0"/>
                        </a:rPr>
                        <a:t>"ape"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"cat"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3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Console" pitchFamily="49" charset="0"/>
                        </a:rPr>
                        <a:t>"zebu"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4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"emu"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5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Console" pitchFamily="49" charset="0"/>
                        </a:rPr>
                        <a:t>"bear"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6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7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…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...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22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"wolf"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23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"wasp"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24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"yak"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25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"zebra"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5177983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587375" y="4846320"/>
            <a:ext cx="6192248" cy="201168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Quadratic Probing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458200" cy="5614988"/>
          </a:xfrm>
        </p:spPr>
        <p:txBody>
          <a:bodyPr/>
          <a:lstStyle/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Probe sequence:  h(key), h(key) + 1, h(key) + 4, h(key) + 9, …, </a:t>
            </a:r>
            <a:br>
              <a:rPr lang="en-US" altLang="en-US" dirty="0"/>
            </a:br>
            <a:r>
              <a:rPr lang="en-US" altLang="en-US" dirty="0"/>
              <a:t>wrapping around as necessary.</a:t>
            </a:r>
          </a:p>
          <a:p>
            <a:pPr lvl="1"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dirty="0"/>
              <a:t>the offsets are perfect squares: h + 1</a:t>
            </a:r>
            <a:r>
              <a:rPr lang="en-US" altLang="en-US" baseline="30000" dirty="0"/>
              <a:t>2</a:t>
            </a:r>
            <a:r>
              <a:rPr lang="en-US" altLang="en-US" dirty="0"/>
              <a:t>, h + 2</a:t>
            </a:r>
            <a:r>
              <a:rPr lang="en-US" altLang="en-US" baseline="30000" dirty="0"/>
              <a:t>2</a:t>
            </a:r>
            <a:r>
              <a:rPr lang="en-US" altLang="en-US" dirty="0"/>
              <a:t>, h + 3</a:t>
            </a:r>
            <a:r>
              <a:rPr lang="en-US" altLang="en-US" baseline="30000" dirty="0"/>
              <a:t>2</a:t>
            </a:r>
            <a:r>
              <a:rPr lang="en-US" altLang="en-US" dirty="0"/>
              <a:t>, …</a:t>
            </a:r>
          </a:p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Examples: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"ape" (h = 0): try 0, 0 + 1 – open! 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"bear" (h = 1): try 1, 1 + 1, 1 + 4 – open!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"zebu"? 25, (25 + 1) % 26, </a:t>
            </a:r>
            <a:r>
              <a:rPr lang="en-US" altLang="en-US" sz="2000" dirty="0">
                <a:solidFill>
                  <a:schemeClr val="tx1"/>
                </a:solidFill>
              </a:rPr>
              <a:t>(25 + 4) % 26 – open!</a:t>
            </a:r>
            <a:endParaRPr lang="en-US" altLang="en-US" dirty="0"/>
          </a:p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Advantage: reduces clustering</a:t>
            </a:r>
          </a:p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Disadvantage: it may fail to find an existing </a:t>
            </a:r>
            <a:br>
              <a:rPr lang="en-US" altLang="en-US" dirty="0"/>
            </a:br>
            <a:r>
              <a:rPr lang="en-US" altLang="en-US" dirty="0"/>
              <a:t>open position.  For example: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buFontTx/>
              <a:buNone/>
              <a:tabLst>
                <a:tab pos="569913" algn="l"/>
                <a:tab pos="793750" algn="l"/>
              </a:tabLst>
            </a:pPr>
            <a:r>
              <a:rPr lang="en-US" altLang="en-US" sz="1800" dirty="0"/>
              <a:t>table size = 10</a:t>
            </a:r>
          </a:p>
          <a:p>
            <a:pPr lvl="1"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569913" algn="l"/>
                <a:tab pos="793750" algn="l"/>
              </a:tabLst>
            </a:pPr>
            <a:r>
              <a:rPr lang="en-US" altLang="en-US" sz="1800" dirty="0"/>
              <a:t>x = occupied</a:t>
            </a:r>
          </a:p>
          <a:p>
            <a:pPr lvl="1">
              <a:lnSpc>
                <a:spcPct val="90000"/>
              </a:lnSpc>
              <a:spcBef>
                <a:spcPts val="1000"/>
              </a:spcBef>
              <a:buFontTx/>
              <a:buNone/>
              <a:tabLst>
                <a:tab pos="569913" algn="l"/>
                <a:tab pos="793750" algn="l"/>
              </a:tabLst>
            </a:pPr>
            <a:r>
              <a:rPr lang="en-US" altLang="en-US" sz="1800" dirty="0"/>
              <a:t>trying to insert a</a:t>
            </a:r>
          </a:p>
          <a:p>
            <a:pPr lvl="1"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569913" algn="l"/>
                <a:tab pos="793750" algn="l"/>
              </a:tabLst>
            </a:pPr>
            <a:r>
              <a:rPr lang="en-US" altLang="en-US" sz="1800" dirty="0"/>
              <a:t>key with h(key) = 0</a:t>
            </a:r>
          </a:p>
          <a:p>
            <a:pPr lvl="1">
              <a:lnSpc>
                <a:spcPct val="90000"/>
              </a:lnSpc>
              <a:spcBef>
                <a:spcPts val="1000"/>
              </a:spcBef>
              <a:buFontTx/>
              <a:buNone/>
              <a:tabLst>
                <a:tab pos="569913" algn="l"/>
                <a:tab pos="793750" algn="l"/>
              </a:tabLst>
            </a:pPr>
            <a:r>
              <a:rPr lang="en-US" altLang="en-US" sz="1800" dirty="0"/>
              <a:t>offsets of the probe</a:t>
            </a:r>
          </a:p>
          <a:p>
            <a:pPr lvl="1"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569913" algn="l"/>
                <a:tab pos="793750" algn="l"/>
              </a:tabLst>
            </a:pPr>
            <a:r>
              <a:rPr lang="en-US" altLang="en-US" sz="1800" dirty="0"/>
              <a:t>sequence in italics </a:t>
            </a:r>
          </a:p>
        </p:txBody>
      </p:sp>
      <p:graphicFrame>
        <p:nvGraphicFramePr>
          <p:cNvPr id="2165765" name="Group 5"/>
          <p:cNvGraphicFramePr>
            <a:graphicFrameLocks noGrp="1"/>
          </p:cNvGraphicFramePr>
          <p:nvPr/>
        </p:nvGraphicFramePr>
        <p:xfrm>
          <a:off x="2265363" y="4999038"/>
          <a:ext cx="2687637" cy="1676400"/>
        </p:xfrm>
        <a:graphic>
          <a:graphicData uri="http://schemas.openxmlformats.org/drawingml/2006/table">
            <a:tbl>
              <a:tblPr/>
              <a:tblGrid>
                <a:gridCol w="134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00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1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0</a:t>
                      </a:r>
                    </a:p>
                  </a:txBody>
                  <a:tcPr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x  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</a:t>
                      </a:r>
                    </a:p>
                  </a:txBody>
                  <a:tcPr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</a:t>
                      </a:r>
                      <a:endParaRPr kumimoji="0" 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</a:t>
                      </a:r>
                    </a:p>
                  </a:txBody>
                  <a:tcPr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3</a:t>
                      </a:r>
                    </a:p>
                  </a:txBody>
                  <a:tcPr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4</a:t>
                      </a:r>
                    </a:p>
                  </a:txBody>
                  <a:tcPr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4</a:t>
                      </a:r>
                      <a:endParaRPr kumimoji="0" 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165802" name="Group 42"/>
          <p:cNvGraphicFramePr>
            <a:graphicFrameLocks noGrp="1"/>
          </p:cNvGraphicFramePr>
          <p:nvPr/>
        </p:nvGraphicFramePr>
        <p:xfrm>
          <a:off x="3910013" y="4999038"/>
          <a:ext cx="2687637" cy="1676400"/>
        </p:xfrm>
        <a:graphic>
          <a:graphicData uri="http://schemas.openxmlformats.org/drawingml/2006/table">
            <a:tbl>
              <a:tblPr/>
              <a:tblGrid>
                <a:gridCol w="134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00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1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5</a:t>
                      </a:r>
                    </a:p>
                  </a:txBody>
                  <a:tcPr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x  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6</a:t>
                      </a:r>
                    </a:p>
                  </a:txBody>
                  <a:tcPr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Console" pitchFamily="49" charset="0"/>
                        </a:rPr>
                        <a:t>16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7</a:t>
                      </a:r>
                    </a:p>
                  </a:txBody>
                  <a:tcPr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8</a:t>
                      </a:r>
                    </a:p>
                  </a:txBody>
                  <a:tcPr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9</a:t>
                      </a:r>
                    </a:p>
                  </a:txBody>
                  <a:tcPr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9</a:t>
                      </a:r>
                      <a:endParaRPr kumimoji="0" 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9988" name="Rectangle 79"/>
          <p:cNvSpPr>
            <a:spLocks noChangeArrowheads="1"/>
          </p:cNvSpPr>
          <p:nvPr/>
        </p:nvSpPr>
        <p:spPr bwMode="auto">
          <a:xfrm>
            <a:off x="5291138" y="5359400"/>
            <a:ext cx="439737" cy="280988"/>
          </a:xfrm>
          <a:prstGeom prst="rect">
            <a:avLst/>
          </a:prstGeom>
          <a:noFill/>
          <a:ln w="38100" algn="ctr">
            <a:solidFill>
              <a:srgbClr val="CC0099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>
              <a:spcBef>
                <a:spcPts val="1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 algn="l">
              <a:spcBef>
                <a:spcPts val="525"/>
              </a:spcBef>
              <a:buClr>
                <a:srgbClr val="000000"/>
              </a:buClr>
              <a:buSzPct val="10000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Helvetica" panose="020B0604020202020204" pitchFamily="34" charset="0"/>
              <a:buChar char="–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+mn-cs"/>
            </a:endParaRPr>
          </a:p>
        </p:txBody>
      </p:sp>
      <p:graphicFrame>
        <p:nvGraphicFramePr>
          <p:cNvPr id="2165840" name="Group 80"/>
          <p:cNvGraphicFramePr>
            <a:graphicFrameLocks noGrp="1"/>
          </p:cNvGraphicFramePr>
          <p:nvPr/>
        </p:nvGraphicFramePr>
        <p:xfrm>
          <a:off x="6427788" y="2278063"/>
          <a:ext cx="2097087" cy="4359277"/>
        </p:xfrm>
        <a:graphic>
          <a:graphicData uri="http://schemas.openxmlformats.org/drawingml/2006/table">
            <a:tbl>
              <a:tblPr/>
              <a:tblGrid>
                <a:gridCol w="105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6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0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"ant"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Console" pitchFamily="49" charset="0"/>
                        </a:rPr>
                        <a:t>"ape"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"cat"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3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Console" pitchFamily="49" charset="0"/>
                        </a:rPr>
                        <a:t>"zebu"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4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"emu"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5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Console" pitchFamily="49" charset="0"/>
                        </a:rPr>
                        <a:t>"bear"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6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7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…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...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22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"wolf"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23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"wasp"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24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"yak"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25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"zebra"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97703611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587375" y="4846320"/>
            <a:ext cx="6192248" cy="201168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Quadratic Probing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458200" cy="5614988"/>
          </a:xfrm>
        </p:spPr>
        <p:txBody>
          <a:bodyPr/>
          <a:lstStyle/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Probe sequence:  h(key), h(key) + 1, h(key) + 4, h(key) + 9, …, </a:t>
            </a:r>
            <a:br>
              <a:rPr lang="en-US" altLang="en-US" dirty="0"/>
            </a:br>
            <a:r>
              <a:rPr lang="en-US" altLang="en-US" dirty="0"/>
              <a:t>wrapping around as necessary.</a:t>
            </a:r>
          </a:p>
          <a:p>
            <a:pPr lvl="1"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dirty="0"/>
              <a:t>the offsets are perfect squares: h + 1</a:t>
            </a:r>
            <a:r>
              <a:rPr lang="en-US" altLang="en-US" baseline="30000" dirty="0"/>
              <a:t>2</a:t>
            </a:r>
            <a:r>
              <a:rPr lang="en-US" altLang="en-US" dirty="0"/>
              <a:t>, h + 2</a:t>
            </a:r>
            <a:r>
              <a:rPr lang="en-US" altLang="en-US" baseline="30000" dirty="0"/>
              <a:t>2</a:t>
            </a:r>
            <a:r>
              <a:rPr lang="en-US" altLang="en-US" dirty="0"/>
              <a:t>, h + 3</a:t>
            </a:r>
            <a:r>
              <a:rPr lang="en-US" altLang="en-US" baseline="30000" dirty="0"/>
              <a:t>2</a:t>
            </a:r>
            <a:r>
              <a:rPr lang="en-US" altLang="en-US" dirty="0"/>
              <a:t>, …</a:t>
            </a:r>
          </a:p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Examples: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"ape" (h = 0): try 0, 0 + 1 – open! 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"bear" (h = 1): try 1, 1 + 1, 1 + 4 – open!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"zebu"? 25, (25 + 1) % 26, </a:t>
            </a:r>
            <a:r>
              <a:rPr lang="en-US" altLang="en-US" sz="2000" dirty="0">
                <a:solidFill>
                  <a:schemeClr val="tx1"/>
                </a:solidFill>
              </a:rPr>
              <a:t>(25 + 4) % 26 – open!</a:t>
            </a:r>
            <a:endParaRPr lang="en-US" altLang="en-US" dirty="0"/>
          </a:p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Advantage: reduces clustering</a:t>
            </a:r>
          </a:p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Disadvantage: it may fail to find an existing </a:t>
            </a:r>
            <a:br>
              <a:rPr lang="en-US" altLang="en-US" dirty="0"/>
            </a:br>
            <a:r>
              <a:rPr lang="en-US" altLang="en-US" dirty="0"/>
              <a:t>open position.  For example: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buFontTx/>
              <a:buNone/>
              <a:tabLst>
                <a:tab pos="569913" algn="l"/>
                <a:tab pos="793750" algn="l"/>
              </a:tabLst>
            </a:pPr>
            <a:r>
              <a:rPr lang="en-US" altLang="en-US" sz="1800" dirty="0"/>
              <a:t>table size = 10</a:t>
            </a:r>
          </a:p>
          <a:p>
            <a:pPr lvl="1"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569913" algn="l"/>
                <a:tab pos="793750" algn="l"/>
              </a:tabLst>
            </a:pPr>
            <a:r>
              <a:rPr lang="en-US" altLang="en-US" sz="1800" dirty="0"/>
              <a:t>x = occupied</a:t>
            </a:r>
          </a:p>
          <a:p>
            <a:pPr lvl="1">
              <a:lnSpc>
                <a:spcPct val="90000"/>
              </a:lnSpc>
              <a:spcBef>
                <a:spcPts val="1000"/>
              </a:spcBef>
              <a:buFontTx/>
              <a:buNone/>
              <a:tabLst>
                <a:tab pos="569913" algn="l"/>
                <a:tab pos="793750" algn="l"/>
              </a:tabLst>
            </a:pPr>
            <a:r>
              <a:rPr lang="en-US" altLang="en-US" sz="1800" dirty="0"/>
              <a:t>trying to insert a</a:t>
            </a:r>
          </a:p>
          <a:p>
            <a:pPr lvl="1"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569913" algn="l"/>
                <a:tab pos="793750" algn="l"/>
              </a:tabLst>
            </a:pPr>
            <a:r>
              <a:rPr lang="en-US" altLang="en-US" sz="1800" dirty="0"/>
              <a:t>key with h(key) = 0</a:t>
            </a:r>
          </a:p>
          <a:p>
            <a:pPr lvl="1">
              <a:lnSpc>
                <a:spcPct val="90000"/>
              </a:lnSpc>
              <a:spcBef>
                <a:spcPts val="1000"/>
              </a:spcBef>
              <a:buFontTx/>
              <a:buNone/>
              <a:tabLst>
                <a:tab pos="569913" algn="l"/>
                <a:tab pos="793750" algn="l"/>
              </a:tabLst>
            </a:pPr>
            <a:r>
              <a:rPr lang="en-US" altLang="en-US" sz="1800" dirty="0"/>
              <a:t>offsets of the probe</a:t>
            </a:r>
          </a:p>
          <a:p>
            <a:pPr lvl="1"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569913" algn="l"/>
                <a:tab pos="793750" algn="l"/>
              </a:tabLst>
            </a:pPr>
            <a:r>
              <a:rPr lang="en-US" altLang="en-US" sz="1800" dirty="0"/>
              <a:t>sequence in italics </a:t>
            </a:r>
          </a:p>
        </p:txBody>
      </p:sp>
      <p:graphicFrame>
        <p:nvGraphicFramePr>
          <p:cNvPr id="2167813" name="Group 5"/>
          <p:cNvGraphicFramePr>
            <a:graphicFrameLocks noGrp="1"/>
          </p:cNvGraphicFramePr>
          <p:nvPr/>
        </p:nvGraphicFramePr>
        <p:xfrm>
          <a:off x="2265363" y="4999038"/>
          <a:ext cx="2687637" cy="1676400"/>
        </p:xfrm>
        <a:graphic>
          <a:graphicData uri="http://schemas.openxmlformats.org/drawingml/2006/table">
            <a:tbl>
              <a:tblPr/>
              <a:tblGrid>
                <a:gridCol w="134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00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1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0</a:t>
                      </a:r>
                    </a:p>
                  </a:txBody>
                  <a:tcPr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x  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</a:t>
                      </a:r>
                    </a:p>
                  </a:txBody>
                  <a:tcPr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</a:t>
                      </a:r>
                      <a:endParaRPr kumimoji="0" 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</a:t>
                      </a:r>
                    </a:p>
                  </a:txBody>
                  <a:tcPr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3</a:t>
                      </a:r>
                    </a:p>
                  </a:txBody>
                  <a:tcPr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4</a:t>
                      </a:r>
                    </a:p>
                  </a:txBody>
                  <a:tcPr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4</a:t>
                      </a:r>
                      <a:endParaRPr kumimoji="0" 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167850" name="Group 42"/>
          <p:cNvGraphicFramePr>
            <a:graphicFrameLocks noGrp="1"/>
          </p:cNvGraphicFramePr>
          <p:nvPr/>
        </p:nvGraphicFramePr>
        <p:xfrm>
          <a:off x="3910013" y="4999038"/>
          <a:ext cx="2687637" cy="1676400"/>
        </p:xfrm>
        <a:graphic>
          <a:graphicData uri="http://schemas.openxmlformats.org/drawingml/2006/table">
            <a:tbl>
              <a:tblPr/>
              <a:tblGrid>
                <a:gridCol w="134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00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1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5</a:t>
                      </a:r>
                    </a:p>
                  </a:txBody>
                  <a:tcPr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x  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Console" pitchFamily="49" charset="0"/>
                        </a:rPr>
                        <a:t>25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6</a:t>
                      </a:r>
                    </a:p>
                  </a:txBody>
                  <a:tcPr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16</a:t>
                      </a:r>
                      <a:endParaRPr kumimoji="0" 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7</a:t>
                      </a:r>
                    </a:p>
                  </a:txBody>
                  <a:tcPr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8</a:t>
                      </a:r>
                    </a:p>
                  </a:txBody>
                  <a:tcPr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9</a:t>
                      </a:r>
                    </a:p>
                  </a:txBody>
                  <a:tcPr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9</a:t>
                      </a:r>
                      <a:endParaRPr kumimoji="0" 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1012" name="Rectangle 79"/>
          <p:cNvSpPr>
            <a:spLocks noChangeArrowheads="1"/>
          </p:cNvSpPr>
          <p:nvPr/>
        </p:nvSpPr>
        <p:spPr bwMode="auto">
          <a:xfrm>
            <a:off x="5291138" y="5026025"/>
            <a:ext cx="439737" cy="280988"/>
          </a:xfrm>
          <a:prstGeom prst="rect">
            <a:avLst/>
          </a:prstGeom>
          <a:noFill/>
          <a:ln w="38100" algn="ctr">
            <a:solidFill>
              <a:srgbClr val="CC0099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>
              <a:spcBef>
                <a:spcPts val="1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 algn="l">
              <a:spcBef>
                <a:spcPts val="525"/>
              </a:spcBef>
              <a:buClr>
                <a:srgbClr val="000000"/>
              </a:buClr>
              <a:buSzPct val="10000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Helvetica" panose="020B0604020202020204" pitchFamily="34" charset="0"/>
              <a:buChar char="–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+mn-cs"/>
            </a:endParaRPr>
          </a:p>
        </p:txBody>
      </p:sp>
      <p:graphicFrame>
        <p:nvGraphicFramePr>
          <p:cNvPr id="2167888" name="Group 80"/>
          <p:cNvGraphicFramePr>
            <a:graphicFrameLocks noGrp="1"/>
          </p:cNvGraphicFramePr>
          <p:nvPr/>
        </p:nvGraphicFramePr>
        <p:xfrm>
          <a:off x="6427788" y="2278063"/>
          <a:ext cx="2097087" cy="4359277"/>
        </p:xfrm>
        <a:graphic>
          <a:graphicData uri="http://schemas.openxmlformats.org/drawingml/2006/table">
            <a:tbl>
              <a:tblPr/>
              <a:tblGrid>
                <a:gridCol w="105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6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0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"ant"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Console" pitchFamily="49" charset="0"/>
                        </a:rPr>
                        <a:t>"ape"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"cat"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3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Console" pitchFamily="49" charset="0"/>
                        </a:rPr>
                        <a:t>"zebu"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4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"emu"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5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Console" pitchFamily="49" charset="0"/>
                        </a:rPr>
                        <a:t>"bear"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6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7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…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...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22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"wolf"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23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"wasp"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24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"yak"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25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"zebra"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04306323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587375" y="4846320"/>
            <a:ext cx="6192248" cy="201168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Quadratic Probing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458200" cy="5614988"/>
          </a:xfrm>
        </p:spPr>
        <p:txBody>
          <a:bodyPr/>
          <a:lstStyle/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Probe sequence:  h(key), h(key) + 1, h(key) + 4, h(key) + 9, …, </a:t>
            </a:r>
            <a:br>
              <a:rPr lang="en-US" altLang="en-US" dirty="0"/>
            </a:br>
            <a:r>
              <a:rPr lang="en-US" altLang="en-US" dirty="0"/>
              <a:t>wrapping around as necessary.</a:t>
            </a:r>
          </a:p>
          <a:p>
            <a:pPr lvl="1"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dirty="0"/>
              <a:t>the offsets are perfect squares: h + 1</a:t>
            </a:r>
            <a:r>
              <a:rPr lang="en-US" altLang="en-US" baseline="30000" dirty="0"/>
              <a:t>2</a:t>
            </a:r>
            <a:r>
              <a:rPr lang="en-US" altLang="en-US" dirty="0"/>
              <a:t>, h + 2</a:t>
            </a:r>
            <a:r>
              <a:rPr lang="en-US" altLang="en-US" baseline="30000" dirty="0"/>
              <a:t>2</a:t>
            </a:r>
            <a:r>
              <a:rPr lang="en-US" altLang="en-US" dirty="0"/>
              <a:t>, h + 3</a:t>
            </a:r>
            <a:r>
              <a:rPr lang="en-US" altLang="en-US" baseline="30000" dirty="0"/>
              <a:t>2</a:t>
            </a:r>
            <a:r>
              <a:rPr lang="en-US" altLang="en-US" dirty="0"/>
              <a:t>, …</a:t>
            </a:r>
          </a:p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Examples: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"ape" (h = 0): try 0, 0 + 1 – open! 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"bear" (h = 1): try 1, 1 + 1, 1 + 4 – open!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"zebu"? 25, (25 + 1) % 26, </a:t>
            </a:r>
            <a:r>
              <a:rPr lang="en-US" altLang="en-US" sz="2000" dirty="0">
                <a:solidFill>
                  <a:schemeClr val="tx1"/>
                </a:solidFill>
              </a:rPr>
              <a:t>(25 + 4) % 26 – open!</a:t>
            </a:r>
            <a:endParaRPr lang="en-US" altLang="en-US" dirty="0"/>
          </a:p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Advantage: reduces clustering</a:t>
            </a:r>
          </a:p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Disadvantage: it may fail to find an existing </a:t>
            </a:r>
            <a:br>
              <a:rPr lang="en-US" altLang="en-US" dirty="0"/>
            </a:br>
            <a:r>
              <a:rPr lang="en-US" altLang="en-US" dirty="0"/>
              <a:t>open position.  For example: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buFontTx/>
              <a:buNone/>
              <a:tabLst>
                <a:tab pos="569913" algn="l"/>
                <a:tab pos="793750" algn="l"/>
              </a:tabLst>
            </a:pPr>
            <a:r>
              <a:rPr lang="en-US" altLang="en-US" sz="1800" dirty="0"/>
              <a:t>table size = 10</a:t>
            </a:r>
          </a:p>
          <a:p>
            <a:pPr lvl="1"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569913" algn="l"/>
                <a:tab pos="793750" algn="l"/>
              </a:tabLst>
            </a:pPr>
            <a:r>
              <a:rPr lang="en-US" altLang="en-US" sz="1800" dirty="0"/>
              <a:t>x = occupied</a:t>
            </a:r>
          </a:p>
          <a:p>
            <a:pPr lvl="1">
              <a:lnSpc>
                <a:spcPct val="90000"/>
              </a:lnSpc>
              <a:spcBef>
                <a:spcPts val="1000"/>
              </a:spcBef>
              <a:buFontTx/>
              <a:buNone/>
              <a:tabLst>
                <a:tab pos="569913" algn="l"/>
                <a:tab pos="793750" algn="l"/>
              </a:tabLst>
            </a:pPr>
            <a:r>
              <a:rPr lang="en-US" altLang="en-US" sz="1800" dirty="0"/>
              <a:t>trying to insert a</a:t>
            </a:r>
          </a:p>
          <a:p>
            <a:pPr lvl="1"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569913" algn="l"/>
                <a:tab pos="793750" algn="l"/>
              </a:tabLst>
            </a:pPr>
            <a:r>
              <a:rPr lang="en-US" altLang="en-US" sz="1800" dirty="0"/>
              <a:t>key with h(key) = 0</a:t>
            </a:r>
          </a:p>
          <a:p>
            <a:pPr lvl="1">
              <a:lnSpc>
                <a:spcPct val="90000"/>
              </a:lnSpc>
              <a:spcBef>
                <a:spcPts val="1000"/>
              </a:spcBef>
              <a:buFontTx/>
              <a:buNone/>
              <a:tabLst>
                <a:tab pos="569913" algn="l"/>
                <a:tab pos="793750" algn="l"/>
              </a:tabLst>
            </a:pPr>
            <a:r>
              <a:rPr lang="en-US" altLang="en-US" sz="1800" dirty="0"/>
              <a:t>offsets of the probe</a:t>
            </a:r>
          </a:p>
          <a:p>
            <a:pPr lvl="1"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569913" algn="l"/>
                <a:tab pos="793750" algn="l"/>
              </a:tabLst>
            </a:pPr>
            <a:r>
              <a:rPr lang="en-US" altLang="en-US" sz="1800" dirty="0"/>
              <a:t>sequence in italics </a:t>
            </a:r>
          </a:p>
        </p:txBody>
      </p:sp>
      <p:graphicFrame>
        <p:nvGraphicFramePr>
          <p:cNvPr id="2178053" name="Group 5"/>
          <p:cNvGraphicFramePr>
            <a:graphicFrameLocks noGrp="1"/>
          </p:cNvGraphicFramePr>
          <p:nvPr/>
        </p:nvGraphicFramePr>
        <p:xfrm>
          <a:off x="2265363" y="4999038"/>
          <a:ext cx="2687637" cy="1676400"/>
        </p:xfrm>
        <a:graphic>
          <a:graphicData uri="http://schemas.openxmlformats.org/drawingml/2006/table">
            <a:tbl>
              <a:tblPr/>
              <a:tblGrid>
                <a:gridCol w="134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00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1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0</a:t>
                      </a:r>
                    </a:p>
                  </a:txBody>
                  <a:tcPr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x  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</a:t>
                      </a:r>
                    </a:p>
                  </a:txBody>
                  <a:tcPr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1 81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</a:t>
                      </a:r>
                    </a:p>
                  </a:txBody>
                  <a:tcPr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3</a:t>
                      </a:r>
                    </a:p>
                  </a:txBody>
                  <a:tcPr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4</a:t>
                      </a:r>
                    </a:p>
                  </a:txBody>
                  <a:tcPr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4 64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178090" name="Group 42"/>
          <p:cNvGraphicFramePr>
            <a:graphicFrameLocks noGrp="1"/>
          </p:cNvGraphicFramePr>
          <p:nvPr/>
        </p:nvGraphicFramePr>
        <p:xfrm>
          <a:off x="3910013" y="4999038"/>
          <a:ext cx="2687637" cy="1676400"/>
        </p:xfrm>
        <a:graphic>
          <a:graphicData uri="http://schemas.openxmlformats.org/drawingml/2006/table">
            <a:tbl>
              <a:tblPr/>
              <a:tblGrid>
                <a:gridCol w="134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00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1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5</a:t>
                      </a:r>
                    </a:p>
                  </a:txBody>
                  <a:tcPr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x  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6</a:t>
                      </a:r>
                    </a:p>
                  </a:txBody>
                  <a:tcPr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16 36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7</a:t>
                      </a:r>
                    </a:p>
                  </a:txBody>
                  <a:tcPr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8</a:t>
                      </a:r>
                    </a:p>
                  </a:txBody>
                  <a:tcPr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9</a:t>
                      </a:r>
                    </a:p>
                  </a:txBody>
                  <a:tcPr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9 49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178127" name="Group 79"/>
          <p:cNvGraphicFramePr>
            <a:graphicFrameLocks noGrp="1"/>
          </p:cNvGraphicFramePr>
          <p:nvPr/>
        </p:nvGraphicFramePr>
        <p:xfrm>
          <a:off x="6427788" y="2278063"/>
          <a:ext cx="2097087" cy="4359277"/>
        </p:xfrm>
        <a:graphic>
          <a:graphicData uri="http://schemas.openxmlformats.org/drawingml/2006/table">
            <a:tbl>
              <a:tblPr/>
              <a:tblGrid>
                <a:gridCol w="105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6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0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"ant"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Console" pitchFamily="49" charset="0"/>
                        </a:rPr>
                        <a:t>"ape"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"cat"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3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Console" pitchFamily="49" charset="0"/>
                        </a:rPr>
                        <a:t>"zebu"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4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"emu"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5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Console" pitchFamily="49" charset="0"/>
                        </a:rPr>
                        <a:t>"bear"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6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7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…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...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22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"wolf"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23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"wasp"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24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"yak"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25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"zebra"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49331669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2331" y="666206"/>
            <a:ext cx="8107182" cy="214230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Double Hashing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458200" cy="5614988"/>
          </a:xfrm>
        </p:spPr>
        <p:txBody>
          <a:bodyPr/>
          <a:lstStyle/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/>
              <a:t>Use two hash functions:</a:t>
            </a:r>
          </a:p>
          <a:p>
            <a:pPr lvl="1"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/>
              <a:t>h1 computes the hash code</a:t>
            </a:r>
          </a:p>
          <a:p>
            <a:pPr lvl="1"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/>
              <a:t>h2 computes the increment for probing</a:t>
            </a:r>
          </a:p>
          <a:p>
            <a:pPr lvl="1"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/>
              <a:t>probe sequence:  h1, h1 + h2, h1 + 2*h2, …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buFontTx/>
              <a:buNone/>
              <a:tabLst>
                <a:tab pos="569913" algn="l"/>
                <a:tab pos="793750" algn="l"/>
              </a:tabLst>
            </a:pPr>
            <a:endParaRPr lang="en-US" altLang="en-US" sz="2000" b="1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92331" y="666206"/>
            <a:ext cx="8107182" cy="214230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1072662" y="1283677"/>
            <a:ext cx="3938953" cy="42203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Double Hashing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458200" cy="5614988"/>
          </a:xfrm>
        </p:spPr>
        <p:txBody>
          <a:bodyPr/>
          <a:lstStyle/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Use two hash functions:</a:t>
            </a:r>
          </a:p>
          <a:p>
            <a:pPr lvl="1"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dirty="0">
                <a:solidFill>
                  <a:srgbClr val="0000FF"/>
                </a:solidFill>
              </a:rPr>
              <a:t>h1 computes the hash code</a:t>
            </a:r>
          </a:p>
          <a:p>
            <a:pPr lvl="1"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dirty="0"/>
              <a:t>h2 computes the increment for probing</a:t>
            </a:r>
          </a:p>
          <a:p>
            <a:pPr lvl="1"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dirty="0"/>
              <a:t>probe sequence:  h1, h1 + h2, h1 + 2*h2, …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buFontTx/>
              <a:buNone/>
              <a:tabLst>
                <a:tab pos="569913" algn="l"/>
                <a:tab pos="793750" algn="l"/>
              </a:tabLst>
            </a:pPr>
            <a:endParaRPr lang="en-US" altLang="en-US" sz="2000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3424395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92331" y="666206"/>
            <a:ext cx="8107182" cy="214230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1072662" y="1692275"/>
            <a:ext cx="5380892" cy="43546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458200" cy="5614988"/>
          </a:xfrm>
        </p:spPr>
        <p:txBody>
          <a:bodyPr/>
          <a:lstStyle/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Use two hash functions:</a:t>
            </a:r>
          </a:p>
          <a:p>
            <a:pPr lvl="1"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dirty="0"/>
              <a:t>h1 computes the hash code</a:t>
            </a:r>
          </a:p>
          <a:p>
            <a:pPr lvl="1"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dirty="0">
                <a:solidFill>
                  <a:srgbClr val="0000FF"/>
                </a:solidFill>
              </a:rPr>
              <a:t>h2 computes the increment for probing</a:t>
            </a:r>
          </a:p>
          <a:p>
            <a:pPr lvl="1"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dirty="0"/>
              <a:t>probe sequence:  h1, h1 + h2, h1 + 2*h2, …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buFontTx/>
              <a:buNone/>
              <a:tabLst>
                <a:tab pos="569913" algn="l"/>
                <a:tab pos="793750" algn="l"/>
              </a:tabLst>
            </a:pPr>
            <a:endParaRPr lang="en-US" altLang="en-US" sz="2000" b="1" dirty="0">
              <a:solidFill>
                <a:schemeClr val="accent2"/>
              </a:solidFill>
            </a:endParaRPr>
          </a:p>
        </p:txBody>
      </p:sp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Double Hashing</a:t>
            </a:r>
          </a:p>
        </p:txBody>
      </p:sp>
    </p:spTree>
    <p:extLst>
      <p:ext uri="{BB962C8B-B14F-4D97-AF65-F5344CB8AC3E}">
        <p14:creationId xmlns:p14="http://schemas.microsoft.com/office/powerpoint/2010/main" val="3008938083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92331" y="666206"/>
            <a:ext cx="8107182" cy="214230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1055076" y="2061551"/>
            <a:ext cx="5697415" cy="48821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458200" cy="5614988"/>
          </a:xfrm>
        </p:spPr>
        <p:txBody>
          <a:bodyPr/>
          <a:lstStyle/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Use two hash functions:</a:t>
            </a:r>
          </a:p>
          <a:p>
            <a:pPr lvl="1"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dirty="0"/>
              <a:t>h1 computes the hash code</a:t>
            </a:r>
          </a:p>
          <a:p>
            <a:pPr lvl="1"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dirty="0"/>
              <a:t>h2 computes the increment for probing</a:t>
            </a:r>
          </a:p>
          <a:p>
            <a:pPr lvl="1"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dirty="0">
                <a:solidFill>
                  <a:srgbClr val="0000FF"/>
                </a:solidFill>
              </a:rPr>
              <a:t>probe sequence:  </a:t>
            </a:r>
            <a:r>
              <a:rPr lang="en-US" altLang="en-US" dirty="0">
                <a:solidFill>
                  <a:schemeClr val="tx1"/>
                </a:solidFill>
              </a:rPr>
              <a:t>h1, h1 + h2, h1 + 2*h2, …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buFontTx/>
              <a:buNone/>
              <a:tabLst>
                <a:tab pos="569913" algn="l"/>
                <a:tab pos="793750" algn="l"/>
              </a:tabLst>
            </a:pPr>
            <a:endParaRPr lang="en-US" altLang="en-US" sz="2000" b="1" dirty="0">
              <a:solidFill>
                <a:schemeClr val="accent2"/>
              </a:solidFill>
            </a:endParaRPr>
          </a:p>
        </p:txBody>
      </p:sp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Double Hashing</a:t>
            </a:r>
          </a:p>
        </p:txBody>
      </p:sp>
    </p:spTree>
    <p:extLst>
      <p:ext uri="{BB962C8B-B14F-4D97-AF65-F5344CB8AC3E}">
        <p14:creationId xmlns:p14="http://schemas.microsoft.com/office/powerpoint/2010/main" val="1870564148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92331" y="666206"/>
            <a:ext cx="8107182" cy="214230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1055076" y="2061551"/>
            <a:ext cx="5697415" cy="48821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458200" cy="5614988"/>
          </a:xfrm>
        </p:spPr>
        <p:txBody>
          <a:bodyPr/>
          <a:lstStyle/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Use two hash functions:</a:t>
            </a:r>
          </a:p>
          <a:p>
            <a:pPr lvl="1"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dirty="0"/>
              <a:t>h1 computes the hash code</a:t>
            </a:r>
          </a:p>
          <a:p>
            <a:pPr lvl="1"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dirty="0"/>
              <a:t>h2 computes the increment for probing</a:t>
            </a:r>
          </a:p>
          <a:p>
            <a:pPr lvl="1"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dirty="0"/>
              <a:t>probe sequence:  </a:t>
            </a:r>
            <a:r>
              <a:rPr lang="en-US" altLang="en-US" dirty="0">
                <a:solidFill>
                  <a:srgbClr val="0000FF"/>
                </a:solidFill>
              </a:rPr>
              <a:t>h1</a:t>
            </a:r>
            <a:r>
              <a:rPr lang="en-US" altLang="en-US" dirty="0"/>
              <a:t>, h1 + h2, h1 + 2*h2, …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buFontTx/>
              <a:buNone/>
              <a:tabLst>
                <a:tab pos="569913" algn="l"/>
                <a:tab pos="793750" algn="l"/>
              </a:tabLst>
            </a:pPr>
            <a:endParaRPr lang="en-US" altLang="en-US" sz="2000" b="1" dirty="0">
              <a:solidFill>
                <a:schemeClr val="accent2"/>
              </a:solidFill>
            </a:endParaRPr>
          </a:p>
        </p:txBody>
      </p:sp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Double Hashing</a:t>
            </a:r>
          </a:p>
        </p:txBody>
      </p:sp>
    </p:spTree>
    <p:extLst>
      <p:ext uri="{BB962C8B-B14F-4D97-AF65-F5344CB8AC3E}">
        <p14:creationId xmlns:p14="http://schemas.microsoft.com/office/powerpoint/2010/main" val="469597263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92331" y="666206"/>
            <a:ext cx="8107182" cy="214230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1055076" y="2061551"/>
            <a:ext cx="5697415" cy="48821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458200" cy="5614988"/>
          </a:xfrm>
        </p:spPr>
        <p:txBody>
          <a:bodyPr/>
          <a:lstStyle/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Use two hash functions:</a:t>
            </a:r>
          </a:p>
          <a:p>
            <a:pPr lvl="1"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dirty="0"/>
              <a:t>h1 computes the hash code</a:t>
            </a:r>
          </a:p>
          <a:p>
            <a:pPr lvl="1"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dirty="0"/>
              <a:t>h2 computes the increment for probing</a:t>
            </a:r>
          </a:p>
          <a:p>
            <a:pPr lvl="1"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dirty="0"/>
              <a:t>probe sequence:  h1, </a:t>
            </a:r>
            <a:r>
              <a:rPr lang="en-US" altLang="en-US" dirty="0">
                <a:solidFill>
                  <a:srgbClr val="0000FF"/>
                </a:solidFill>
              </a:rPr>
              <a:t>h1 + h2</a:t>
            </a:r>
            <a:r>
              <a:rPr lang="en-US" altLang="en-US" dirty="0"/>
              <a:t>, h1 + 2*h2, …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buFontTx/>
              <a:buNone/>
              <a:tabLst>
                <a:tab pos="569913" algn="l"/>
                <a:tab pos="793750" algn="l"/>
              </a:tabLst>
            </a:pPr>
            <a:endParaRPr lang="en-US" altLang="en-US" sz="2000" b="1" dirty="0">
              <a:solidFill>
                <a:schemeClr val="accent2"/>
              </a:solidFill>
            </a:endParaRPr>
          </a:p>
        </p:txBody>
      </p:sp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Double Hashing</a:t>
            </a:r>
          </a:p>
        </p:txBody>
      </p:sp>
    </p:spTree>
    <p:extLst>
      <p:ext uri="{BB962C8B-B14F-4D97-AF65-F5344CB8AC3E}">
        <p14:creationId xmlns:p14="http://schemas.microsoft.com/office/powerpoint/2010/main" val="3438464989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92331" y="666206"/>
            <a:ext cx="8107182" cy="214230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1055076" y="2061551"/>
            <a:ext cx="5697415" cy="48821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458200" cy="5614988"/>
          </a:xfrm>
        </p:spPr>
        <p:txBody>
          <a:bodyPr/>
          <a:lstStyle/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Use two hash functions:</a:t>
            </a:r>
          </a:p>
          <a:p>
            <a:pPr lvl="1"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dirty="0"/>
              <a:t>h1 computes the hash code</a:t>
            </a:r>
          </a:p>
          <a:p>
            <a:pPr lvl="1"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dirty="0"/>
              <a:t>h2 computes the increment for probing</a:t>
            </a:r>
          </a:p>
          <a:p>
            <a:pPr lvl="1"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dirty="0"/>
              <a:t>probe sequence:  h1, h1 + h2, </a:t>
            </a:r>
            <a:r>
              <a:rPr lang="en-US" altLang="en-US" dirty="0">
                <a:solidFill>
                  <a:srgbClr val="0000FF"/>
                </a:solidFill>
              </a:rPr>
              <a:t>h1 + 2*h2</a:t>
            </a:r>
            <a:r>
              <a:rPr lang="en-US" altLang="en-US" dirty="0"/>
              <a:t>, …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buFontTx/>
              <a:buNone/>
              <a:tabLst>
                <a:tab pos="569913" algn="l"/>
                <a:tab pos="793750" algn="l"/>
              </a:tabLst>
            </a:pPr>
            <a:endParaRPr lang="en-US" altLang="en-US" sz="2000" b="1" dirty="0">
              <a:solidFill>
                <a:schemeClr val="accent2"/>
              </a:solidFill>
            </a:endParaRPr>
          </a:p>
        </p:txBody>
      </p:sp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Double Hashing</a:t>
            </a:r>
          </a:p>
        </p:txBody>
      </p:sp>
    </p:spTree>
    <p:extLst>
      <p:ext uri="{BB962C8B-B14F-4D97-AF65-F5344CB8AC3E}">
        <p14:creationId xmlns:p14="http://schemas.microsoft.com/office/powerpoint/2010/main" val="3424277338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87375" y="2481943"/>
            <a:ext cx="6022431" cy="150222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Double Hashing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458200" cy="5614988"/>
          </a:xfrm>
        </p:spPr>
        <p:txBody>
          <a:bodyPr/>
          <a:lstStyle/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Use two hash functions:</a:t>
            </a:r>
          </a:p>
          <a:p>
            <a:pPr lvl="1"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dirty="0"/>
              <a:t>h1 computes the hash code</a:t>
            </a:r>
          </a:p>
          <a:p>
            <a:pPr lvl="1"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dirty="0"/>
              <a:t>h2 computes the increment for probing</a:t>
            </a:r>
          </a:p>
          <a:p>
            <a:pPr lvl="1"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dirty="0"/>
              <a:t>probe sequence:  h1, h1 + h2, h1 + 2*h2, …</a:t>
            </a:r>
          </a:p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Examples: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h1 = our previous h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h2 = </a:t>
            </a:r>
            <a:r>
              <a:rPr lang="en-US" altLang="en-US" sz="2000" dirty="0">
                <a:solidFill>
                  <a:srgbClr val="0000FF"/>
                </a:solidFill>
              </a:rPr>
              <a:t>number of characters in the string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buFontTx/>
              <a:buNone/>
              <a:tabLst>
                <a:tab pos="569913" algn="l"/>
                <a:tab pos="793750" algn="l"/>
              </a:tabLst>
            </a:pPr>
            <a:endParaRPr lang="en-US" altLang="en-US" sz="2000" b="1" dirty="0">
              <a:solidFill>
                <a:schemeClr val="accent2"/>
              </a:solidFill>
            </a:endParaRPr>
          </a:p>
        </p:txBody>
      </p:sp>
      <p:graphicFrame>
        <p:nvGraphicFramePr>
          <p:cNvPr id="2182149" name="Group 5"/>
          <p:cNvGraphicFramePr>
            <a:graphicFrameLocks noGrp="1"/>
          </p:cNvGraphicFramePr>
          <p:nvPr/>
        </p:nvGraphicFramePr>
        <p:xfrm>
          <a:off x="6427788" y="2278063"/>
          <a:ext cx="2097087" cy="4359277"/>
        </p:xfrm>
        <a:graphic>
          <a:graphicData uri="http://schemas.openxmlformats.org/drawingml/2006/table">
            <a:tbl>
              <a:tblPr/>
              <a:tblGrid>
                <a:gridCol w="105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6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0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"ant"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"cat"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3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4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"emu"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5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6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7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…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...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22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"wolf"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23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"wasp"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24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"yak"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25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"zebra"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0863132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Double Hashing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458200" cy="5614988"/>
          </a:xfrm>
        </p:spPr>
        <p:txBody>
          <a:bodyPr/>
          <a:lstStyle/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Use two hash functions:</a:t>
            </a:r>
          </a:p>
          <a:p>
            <a:pPr lvl="1"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dirty="0"/>
              <a:t>h1 computes the hash code</a:t>
            </a:r>
          </a:p>
          <a:p>
            <a:pPr lvl="1"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dirty="0"/>
              <a:t>h2 computes the increment for probing</a:t>
            </a:r>
          </a:p>
          <a:p>
            <a:pPr lvl="1"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dirty="0"/>
              <a:t>probe sequence:  h1, h1 + h2, h1 + 2*h2, …</a:t>
            </a:r>
          </a:p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Examples: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h1 = our previous h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h2 = number of characters in the string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"ape" (h1 = 0, h2 = 3) 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buFontTx/>
              <a:buNone/>
              <a:tabLst>
                <a:tab pos="569913" algn="l"/>
                <a:tab pos="793750" algn="l"/>
              </a:tabLst>
            </a:pPr>
            <a:endParaRPr lang="en-US" altLang="en-US" sz="2000" b="1" dirty="0">
              <a:solidFill>
                <a:schemeClr val="accent2"/>
              </a:solidFill>
            </a:endParaRPr>
          </a:p>
        </p:txBody>
      </p:sp>
      <p:graphicFrame>
        <p:nvGraphicFramePr>
          <p:cNvPr id="2182149" name="Group 5"/>
          <p:cNvGraphicFramePr>
            <a:graphicFrameLocks noGrp="1"/>
          </p:cNvGraphicFramePr>
          <p:nvPr/>
        </p:nvGraphicFramePr>
        <p:xfrm>
          <a:off x="6427788" y="2278063"/>
          <a:ext cx="2097087" cy="4359277"/>
        </p:xfrm>
        <a:graphic>
          <a:graphicData uri="http://schemas.openxmlformats.org/drawingml/2006/table">
            <a:tbl>
              <a:tblPr/>
              <a:tblGrid>
                <a:gridCol w="105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6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0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"ant"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"cat"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3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4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"emu"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5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6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7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…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...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22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"wolf"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23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"wasp"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24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"yak"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25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"zebra"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7065160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Double Hashing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458200" cy="5614988"/>
          </a:xfrm>
        </p:spPr>
        <p:txBody>
          <a:bodyPr/>
          <a:lstStyle/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Use two hash functions:</a:t>
            </a:r>
          </a:p>
          <a:p>
            <a:pPr lvl="1"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dirty="0"/>
              <a:t>h1 computes the hash code</a:t>
            </a:r>
          </a:p>
          <a:p>
            <a:pPr lvl="1"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dirty="0"/>
              <a:t>h2 computes the increment for probing</a:t>
            </a:r>
          </a:p>
          <a:p>
            <a:pPr lvl="1"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dirty="0"/>
              <a:t>probe sequence:  </a:t>
            </a:r>
            <a:r>
              <a:rPr lang="en-US" altLang="en-US" dirty="0">
                <a:solidFill>
                  <a:srgbClr val="0000FF"/>
                </a:solidFill>
              </a:rPr>
              <a:t>h1</a:t>
            </a:r>
            <a:r>
              <a:rPr lang="en-US" altLang="en-US" dirty="0"/>
              <a:t>, h1 + h2, h1 + 2*h2, …</a:t>
            </a:r>
          </a:p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Examples: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h1 = our previous h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h2 = number of characters in the string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"ape" (h1 = 0, h2 = 3): try </a:t>
            </a:r>
            <a:r>
              <a:rPr lang="en-US" altLang="en-US" sz="2000" b="1" dirty="0">
                <a:solidFill>
                  <a:schemeClr val="accent2"/>
                </a:solidFill>
              </a:rPr>
              <a:t>0</a:t>
            </a:r>
            <a:r>
              <a:rPr lang="en-US" altLang="en-US" sz="2000" dirty="0"/>
              <a:t> 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buFontTx/>
              <a:buNone/>
              <a:tabLst>
                <a:tab pos="569913" algn="l"/>
                <a:tab pos="793750" algn="l"/>
              </a:tabLst>
            </a:pPr>
            <a:endParaRPr lang="en-US" altLang="en-US" sz="2000" b="1" dirty="0">
              <a:solidFill>
                <a:schemeClr val="accent2"/>
              </a:solidFill>
            </a:endParaRPr>
          </a:p>
        </p:txBody>
      </p:sp>
      <p:graphicFrame>
        <p:nvGraphicFramePr>
          <p:cNvPr id="2182149" name="Group 5"/>
          <p:cNvGraphicFramePr>
            <a:graphicFrameLocks noGrp="1"/>
          </p:cNvGraphicFramePr>
          <p:nvPr/>
        </p:nvGraphicFramePr>
        <p:xfrm>
          <a:off x="6427788" y="2278063"/>
          <a:ext cx="2097087" cy="4359277"/>
        </p:xfrm>
        <a:graphic>
          <a:graphicData uri="http://schemas.openxmlformats.org/drawingml/2006/table">
            <a:tbl>
              <a:tblPr/>
              <a:tblGrid>
                <a:gridCol w="105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6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0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"ant"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"cat"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3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4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"emu"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5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6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7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…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...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22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"wolf"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23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"wasp"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24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"yak"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25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"zebra"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44079" name="Rectangle 54"/>
          <p:cNvSpPr>
            <a:spLocks noChangeArrowheads="1"/>
          </p:cNvSpPr>
          <p:nvPr/>
        </p:nvSpPr>
        <p:spPr bwMode="auto">
          <a:xfrm>
            <a:off x="7505700" y="2305050"/>
            <a:ext cx="995363" cy="280988"/>
          </a:xfrm>
          <a:prstGeom prst="rect">
            <a:avLst/>
          </a:prstGeom>
          <a:noFill/>
          <a:ln w="38100" algn="ctr">
            <a:solidFill>
              <a:srgbClr val="CC0099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>
              <a:spcBef>
                <a:spcPts val="1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 algn="l">
              <a:spcBef>
                <a:spcPts val="525"/>
              </a:spcBef>
              <a:buClr>
                <a:srgbClr val="000000"/>
              </a:buClr>
              <a:buSzPct val="10000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Helvetica" panose="020B0604020202020204" pitchFamily="34" charset="0"/>
              <a:buChar char="–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 Narrow" panose="020B0606020202030204" pitchFamily="34" charset="0"/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Double Hashing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458200" cy="5614988"/>
          </a:xfrm>
        </p:spPr>
        <p:txBody>
          <a:bodyPr/>
          <a:lstStyle/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Use two hash functions:</a:t>
            </a:r>
          </a:p>
          <a:p>
            <a:pPr lvl="1"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dirty="0"/>
              <a:t>h1 computes the hash code</a:t>
            </a:r>
          </a:p>
          <a:p>
            <a:pPr lvl="1"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dirty="0"/>
              <a:t>h2 computes the increment for probing</a:t>
            </a:r>
          </a:p>
          <a:p>
            <a:pPr lvl="1"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dirty="0"/>
              <a:t>probe sequence:  h1, </a:t>
            </a:r>
            <a:r>
              <a:rPr lang="en-US" altLang="en-US" dirty="0">
                <a:solidFill>
                  <a:srgbClr val="0000FF"/>
                </a:solidFill>
              </a:rPr>
              <a:t>h1 + h2</a:t>
            </a:r>
            <a:r>
              <a:rPr lang="en-US" altLang="en-US" dirty="0"/>
              <a:t>, h1 + 2*h2, …</a:t>
            </a:r>
          </a:p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Examples: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h1 = our previous h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h2 = number of characters in the string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"ape" (h1 = 0, h2 = 3): try 0, </a:t>
            </a:r>
            <a:r>
              <a:rPr lang="en-US" altLang="en-US" sz="2000" b="1" dirty="0">
                <a:solidFill>
                  <a:schemeClr val="accent2"/>
                </a:solidFill>
              </a:rPr>
              <a:t>0 + 3</a:t>
            </a:r>
            <a:r>
              <a:rPr lang="en-US" altLang="en-US" sz="2000" dirty="0"/>
              <a:t> </a:t>
            </a:r>
          </a:p>
          <a:p>
            <a:pPr marL="457200" lvl="1" indent="0">
              <a:lnSpc>
                <a:spcPct val="90000"/>
              </a:lnSpc>
              <a:spcBef>
                <a:spcPts val="500"/>
              </a:spcBef>
              <a:buNone/>
              <a:tabLst>
                <a:tab pos="569913" algn="l"/>
                <a:tab pos="793750" algn="l"/>
              </a:tabLst>
            </a:pPr>
            <a:endParaRPr lang="en-US" altLang="en-US" sz="2000" b="1" dirty="0">
              <a:solidFill>
                <a:schemeClr val="accent2"/>
              </a:solidFill>
            </a:endParaRPr>
          </a:p>
        </p:txBody>
      </p:sp>
      <p:graphicFrame>
        <p:nvGraphicFramePr>
          <p:cNvPr id="2188293" name="Group 5"/>
          <p:cNvGraphicFramePr>
            <a:graphicFrameLocks noGrp="1"/>
          </p:cNvGraphicFramePr>
          <p:nvPr/>
        </p:nvGraphicFramePr>
        <p:xfrm>
          <a:off x="6427788" y="2278063"/>
          <a:ext cx="2097087" cy="4359277"/>
        </p:xfrm>
        <a:graphic>
          <a:graphicData uri="http://schemas.openxmlformats.org/drawingml/2006/table">
            <a:tbl>
              <a:tblPr/>
              <a:tblGrid>
                <a:gridCol w="105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6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0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"ant"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"cat"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3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4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"emu"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5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6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7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…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...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22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"wolf"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23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"wasp"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24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"yak"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25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"zebra"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45103" name="Rectangle 54"/>
          <p:cNvSpPr>
            <a:spLocks noChangeArrowheads="1"/>
          </p:cNvSpPr>
          <p:nvPr/>
        </p:nvSpPr>
        <p:spPr bwMode="auto">
          <a:xfrm>
            <a:off x="7505700" y="3311525"/>
            <a:ext cx="995363" cy="280988"/>
          </a:xfrm>
          <a:prstGeom prst="rect">
            <a:avLst/>
          </a:prstGeom>
          <a:noFill/>
          <a:ln w="38100" algn="ctr">
            <a:solidFill>
              <a:srgbClr val="CC0099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>
              <a:spcBef>
                <a:spcPts val="1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 algn="l">
              <a:spcBef>
                <a:spcPts val="525"/>
              </a:spcBef>
              <a:buClr>
                <a:srgbClr val="000000"/>
              </a:buClr>
              <a:buSzPct val="10000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Helvetica" panose="020B0604020202020204" pitchFamily="34" charset="0"/>
              <a:buChar char="–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5074219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Double Hashing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458200" cy="5614988"/>
          </a:xfrm>
        </p:spPr>
        <p:txBody>
          <a:bodyPr/>
          <a:lstStyle/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Use two hash functions:</a:t>
            </a:r>
          </a:p>
          <a:p>
            <a:pPr lvl="1"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dirty="0"/>
              <a:t>h1 computes the hash code</a:t>
            </a:r>
          </a:p>
          <a:p>
            <a:pPr lvl="1"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dirty="0"/>
              <a:t>h2 computes the increment for probing</a:t>
            </a:r>
          </a:p>
          <a:p>
            <a:pPr lvl="1"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dirty="0"/>
              <a:t>probe sequence:  h1, </a:t>
            </a:r>
            <a:r>
              <a:rPr lang="en-US" altLang="en-US" dirty="0">
                <a:solidFill>
                  <a:srgbClr val="0000FF"/>
                </a:solidFill>
              </a:rPr>
              <a:t>h1 + h2</a:t>
            </a:r>
            <a:r>
              <a:rPr lang="en-US" altLang="en-US" dirty="0"/>
              <a:t>, h1 + 2*h2, …</a:t>
            </a:r>
          </a:p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Examples: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h1 = our previous h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h2 = number of characters in the string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"ape" (h1 = 0, h2 = 3): try 0, </a:t>
            </a:r>
            <a:r>
              <a:rPr lang="en-US" altLang="en-US" sz="2000" b="1" dirty="0">
                <a:solidFill>
                  <a:schemeClr val="accent2"/>
                </a:solidFill>
              </a:rPr>
              <a:t>0 + 3 – open!</a:t>
            </a:r>
            <a:r>
              <a:rPr lang="en-US" altLang="en-US" sz="2000" dirty="0"/>
              <a:t> </a:t>
            </a:r>
          </a:p>
          <a:p>
            <a:pPr marL="457200" lvl="1" indent="0">
              <a:lnSpc>
                <a:spcPct val="90000"/>
              </a:lnSpc>
              <a:spcBef>
                <a:spcPts val="500"/>
              </a:spcBef>
              <a:buNone/>
              <a:tabLst>
                <a:tab pos="569913" algn="l"/>
                <a:tab pos="793750" algn="l"/>
              </a:tabLst>
            </a:pPr>
            <a:endParaRPr lang="en-US" altLang="en-US" sz="2000" b="1" dirty="0">
              <a:solidFill>
                <a:schemeClr val="accent2"/>
              </a:solidFill>
            </a:endParaRPr>
          </a:p>
        </p:txBody>
      </p:sp>
      <p:graphicFrame>
        <p:nvGraphicFramePr>
          <p:cNvPr id="2188293" name="Group 5"/>
          <p:cNvGraphicFramePr>
            <a:graphicFrameLocks noGrp="1"/>
          </p:cNvGraphicFramePr>
          <p:nvPr/>
        </p:nvGraphicFramePr>
        <p:xfrm>
          <a:off x="6427788" y="2278063"/>
          <a:ext cx="2097087" cy="4359277"/>
        </p:xfrm>
        <a:graphic>
          <a:graphicData uri="http://schemas.openxmlformats.org/drawingml/2006/table">
            <a:tbl>
              <a:tblPr/>
              <a:tblGrid>
                <a:gridCol w="105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6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0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"ant"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"cat"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3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Console" pitchFamily="49" charset="0"/>
                        </a:rPr>
                        <a:t>"ape"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4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"emu"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5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6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7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…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...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22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"wolf"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23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"wasp"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24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"yak"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25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"zebra"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45103" name="Rectangle 54"/>
          <p:cNvSpPr>
            <a:spLocks noChangeArrowheads="1"/>
          </p:cNvSpPr>
          <p:nvPr/>
        </p:nvSpPr>
        <p:spPr bwMode="auto">
          <a:xfrm>
            <a:off x="7505700" y="3311525"/>
            <a:ext cx="995363" cy="280988"/>
          </a:xfrm>
          <a:prstGeom prst="rect">
            <a:avLst/>
          </a:prstGeom>
          <a:noFill/>
          <a:ln w="38100" algn="ctr">
            <a:solidFill>
              <a:srgbClr val="CC0099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>
              <a:spcBef>
                <a:spcPts val="1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 algn="l">
              <a:spcBef>
                <a:spcPts val="525"/>
              </a:spcBef>
              <a:buClr>
                <a:srgbClr val="000000"/>
              </a:buClr>
              <a:buSzPct val="10000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Helvetica" panose="020B0604020202020204" pitchFamily="34" charset="0"/>
              <a:buChar char="–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64556820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Double Hashing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458200" cy="5614988"/>
          </a:xfrm>
        </p:spPr>
        <p:txBody>
          <a:bodyPr/>
          <a:lstStyle/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Use two hash functions:</a:t>
            </a:r>
          </a:p>
          <a:p>
            <a:pPr lvl="1"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dirty="0"/>
              <a:t>h1 computes the hash code</a:t>
            </a:r>
          </a:p>
          <a:p>
            <a:pPr lvl="1"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dirty="0"/>
              <a:t>h2 computes the increment for probing</a:t>
            </a:r>
          </a:p>
          <a:p>
            <a:pPr lvl="1"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dirty="0"/>
              <a:t>probe sequence:  h1, h1 + h2, h1 + 2*h2, …</a:t>
            </a:r>
          </a:p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Examples: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h1 = our previous h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h2 = number of characters in the string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"ape" (h1 = 0, h2 = 3): try 0, </a:t>
            </a:r>
            <a:r>
              <a:rPr lang="en-US" altLang="en-US" sz="2000" dirty="0">
                <a:solidFill>
                  <a:schemeClr val="tx1"/>
                </a:solidFill>
              </a:rPr>
              <a:t>0 + 3 – open! 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"bear" (h1 = 1, h2 = 4):</a:t>
            </a:r>
            <a:endParaRPr lang="en-US" altLang="en-US" sz="2000" b="1" dirty="0">
              <a:solidFill>
                <a:schemeClr val="accent2"/>
              </a:solidFill>
            </a:endParaRPr>
          </a:p>
        </p:txBody>
      </p:sp>
      <p:graphicFrame>
        <p:nvGraphicFramePr>
          <p:cNvPr id="2188293" name="Group 5"/>
          <p:cNvGraphicFramePr>
            <a:graphicFrameLocks noGrp="1"/>
          </p:cNvGraphicFramePr>
          <p:nvPr/>
        </p:nvGraphicFramePr>
        <p:xfrm>
          <a:off x="6427788" y="2278063"/>
          <a:ext cx="2097087" cy="4359277"/>
        </p:xfrm>
        <a:graphic>
          <a:graphicData uri="http://schemas.openxmlformats.org/drawingml/2006/table">
            <a:tbl>
              <a:tblPr/>
              <a:tblGrid>
                <a:gridCol w="105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6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0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"ant"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"cat"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3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Console" pitchFamily="49" charset="0"/>
                        </a:rPr>
                        <a:t>"ape"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4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"emu"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5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6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7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…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...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22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"wolf"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23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"wasp"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24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"yak"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25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"zebra"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45103" name="Rectangle 54"/>
          <p:cNvSpPr>
            <a:spLocks noChangeArrowheads="1"/>
          </p:cNvSpPr>
          <p:nvPr/>
        </p:nvSpPr>
        <p:spPr bwMode="auto">
          <a:xfrm>
            <a:off x="7505700" y="3311525"/>
            <a:ext cx="995363" cy="280988"/>
          </a:xfrm>
          <a:prstGeom prst="rect">
            <a:avLst/>
          </a:prstGeom>
          <a:noFill/>
          <a:ln w="38100" algn="ctr">
            <a:solidFill>
              <a:srgbClr val="CC0099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>
              <a:spcBef>
                <a:spcPts val="1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 algn="l">
              <a:spcBef>
                <a:spcPts val="525"/>
              </a:spcBef>
              <a:buClr>
                <a:srgbClr val="000000"/>
              </a:buClr>
              <a:buSzPct val="10000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Helvetica" panose="020B0604020202020204" pitchFamily="34" charset="0"/>
              <a:buChar char="–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 Narrow" panose="020B0606020202030204" pitchFamily="34" charset="0"/>
            </a:endParaRP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Double Hashing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458200" cy="5614988"/>
          </a:xfrm>
        </p:spPr>
        <p:txBody>
          <a:bodyPr/>
          <a:lstStyle/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Use two hash functions:</a:t>
            </a:r>
          </a:p>
          <a:p>
            <a:pPr lvl="1"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dirty="0"/>
              <a:t>h1 computes the hash code</a:t>
            </a:r>
          </a:p>
          <a:p>
            <a:pPr lvl="1"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dirty="0"/>
              <a:t>h2 computes the increment for probing</a:t>
            </a:r>
          </a:p>
          <a:p>
            <a:pPr lvl="1"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dirty="0"/>
              <a:t>probe sequence:  </a:t>
            </a:r>
            <a:r>
              <a:rPr lang="en-US" altLang="en-US" dirty="0">
                <a:solidFill>
                  <a:srgbClr val="0000FF"/>
                </a:solidFill>
              </a:rPr>
              <a:t>h1</a:t>
            </a:r>
            <a:r>
              <a:rPr lang="en-US" altLang="en-US" dirty="0"/>
              <a:t>, h1 + h2, h1 + 2*h2, …</a:t>
            </a:r>
          </a:p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Examples: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h1 = our previous h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h2 = number of characters in the string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"ape" (h1 = 0, h2 = 3): try 0, 0 + 3 – open! 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"bear" (h1 = 1, h2 = 4): </a:t>
            </a:r>
            <a:r>
              <a:rPr lang="en-US" altLang="en-US" sz="2000" b="1" dirty="0">
                <a:solidFill>
                  <a:schemeClr val="accent2"/>
                </a:solidFill>
              </a:rPr>
              <a:t>try 1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endParaRPr lang="en-US" altLang="en-US" b="1" i="1" dirty="0">
              <a:solidFill>
                <a:schemeClr val="accent2"/>
              </a:solidFill>
            </a:endParaRPr>
          </a:p>
        </p:txBody>
      </p:sp>
      <p:graphicFrame>
        <p:nvGraphicFramePr>
          <p:cNvPr id="2194437" name="Group 5"/>
          <p:cNvGraphicFramePr>
            <a:graphicFrameLocks noGrp="1"/>
          </p:cNvGraphicFramePr>
          <p:nvPr/>
        </p:nvGraphicFramePr>
        <p:xfrm>
          <a:off x="6427788" y="2278063"/>
          <a:ext cx="2097087" cy="4359277"/>
        </p:xfrm>
        <a:graphic>
          <a:graphicData uri="http://schemas.openxmlformats.org/drawingml/2006/table">
            <a:tbl>
              <a:tblPr/>
              <a:tblGrid>
                <a:gridCol w="105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6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0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"ant"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"cat"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3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Console" pitchFamily="49" charset="0"/>
                        </a:rPr>
                        <a:t>"ape"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4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"emu"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5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6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7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…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...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22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"wolf"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23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"wasp"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24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"yak"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25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"zebra"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46127" name="Rectangle 54"/>
          <p:cNvSpPr>
            <a:spLocks noChangeArrowheads="1"/>
          </p:cNvSpPr>
          <p:nvPr/>
        </p:nvSpPr>
        <p:spPr bwMode="auto">
          <a:xfrm>
            <a:off x="7505700" y="2640013"/>
            <a:ext cx="995363" cy="280987"/>
          </a:xfrm>
          <a:prstGeom prst="rect">
            <a:avLst/>
          </a:prstGeom>
          <a:noFill/>
          <a:ln w="38100" algn="ctr">
            <a:solidFill>
              <a:srgbClr val="CC0099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>
              <a:spcBef>
                <a:spcPts val="1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 algn="l">
              <a:spcBef>
                <a:spcPts val="525"/>
              </a:spcBef>
              <a:buClr>
                <a:srgbClr val="000000"/>
              </a:buClr>
              <a:buSzPct val="10000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Helvetica" panose="020B0604020202020204" pitchFamily="34" charset="0"/>
              <a:buChar char="–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77262690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Double Hashing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458200" cy="5614988"/>
          </a:xfrm>
        </p:spPr>
        <p:txBody>
          <a:bodyPr/>
          <a:lstStyle/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Use two hash functions:</a:t>
            </a:r>
          </a:p>
          <a:p>
            <a:pPr lvl="1"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dirty="0"/>
              <a:t>h1 computes the hash code</a:t>
            </a:r>
          </a:p>
          <a:p>
            <a:pPr lvl="1"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dirty="0"/>
              <a:t>h2 computes the increment for probing</a:t>
            </a:r>
          </a:p>
          <a:p>
            <a:pPr lvl="1"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dirty="0"/>
              <a:t>probe sequence:  h1, h1 + h2, h1 + 2*h2, …</a:t>
            </a:r>
          </a:p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Examples: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h1 = our previous h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h2 = number of characters in the string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"ape" (h1 = 0, h2 = 3): try 0, 0 + 3 – open! 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"bear" (h1 = 1, h2 = 4): </a:t>
            </a:r>
            <a:r>
              <a:rPr lang="en-US" altLang="en-US" sz="2000" b="1" dirty="0">
                <a:solidFill>
                  <a:schemeClr val="accent2"/>
                </a:solidFill>
              </a:rPr>
              <a:t>try 1 – open!</a:t>
            </a:r>
          </a:p>
        </p:txBody>
      </p:sp>
      <p:graphicFrame>
        <p:nvGraphicFramePr>
          <p:cNvPr id="2194437" name="Group 5"/>
          <p:cNvGraphicFramePr>
            <a:graphicFrameLocks noGrp="1"/>
          </p:cNvGraphicFramePr>
          <p:nvPr/>
        </p:nvGraphicFramePr>
        <p:xfrm>
          <a:off x="6427788" y="2278063"/>
          <a:ext cx="2097087" cy="4359277"/>
        </p:xfrm>
        <a:graphic>
          <a:graphicData uri="http://schemas.openxmlformats.org/drawingml/2006/table">
            <a:tbl>
              <a:tblPr/>
              <a:tblGrid>
                <a:gridCol w="105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6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0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"ant"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Console" pitchFamily="49" charset="0"/>
                        </a:rPr>
                        <a:t>"bear"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"cat"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3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Console" pitchFamily="49" charset="0"/>
                        </a:rPr>
                        <a:t>"ape"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4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"emu"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5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6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7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…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...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22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"wolf"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23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"wasp"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24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"yak"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25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"zebra"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46127" name="Rectangle 54"/>
          <p:cNvSpPr>
            <a:spLocks noChangeArrowheads="1"/>
          </p:cNvSpPr>
          <p:nvPr/>
        </p:nvSpPr>
        <p:spPr bwMode="auto">
          <a:xfrm>
            <a:off x="7505700" y="2640013"/>
            <a:ext cx="995363" cy="280987"/>
          </a:xfrm>
          <a:prstGeom prst="rect">
            <a:avLst/>
          </a:prstGeom>
          <a:noFill/>
          <a:ln w="38100" algn="ctr">
            <a:solidFill>
              <a:srgbClr val="CC0099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>
              <a:spcBef>
                <a:spcPts val="1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 algn="l">
              <a:spcBef>
                <a:spcPts val="525"/>
              </a:spcBef>
              <a:buClr>
                <a:srgbClr val="000000"/>
              </a:buClr>
              <a:buSzPct val="10000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Helvetica" panose="020B0604020202020204" pitchFamily="34" charset="0"/>
              <a:buChar char="–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 Narrow" panose="020B0606020202030204" pitchFamily="34" charset="0"/>
            </a:endParaRP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Double Hashing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458200" cy="5614988"/>
          </a:xfrm>
        </p:spPr>
        <p:txBody>
          <a:bodyPr/>
          <a:lstStyle/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Use two hash functions:</a:t>
            </a:r>
          </a:p>
          <a:p>
            <a:pPr lvl="1"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dirty="0"/>
              <a:t>h1 computes the hash code</a:t>
            </a:r>
          </a:p>
          <a:p>
            <a:pPr lvl="1"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dirty="0"/>
              <a:t>h2 computes the increment for probing</a:t>
            </a:r>
          </a:p>
          <a:p>
            <a:pPr lvl="1"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dirty="0"/>
              <a:t>probe sequence:  h1, h1 + h2, h1 + 2*h2, …</a:t>
            </a:r>
          </a:p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Examples: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h1 = our previous h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h2 = number of characters in the string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"ape" (h1 = 0, h2 = 3): try 0, 0 + 3 – open! 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"bear" (h1 = 1, h2 = 4): </a:t>
            </a:r>
            <a:r>
              <a:rPr lang="en-US" altLang="en-US" sz="2000" dirty="0">
                <a:solidFill>
                  <a:schemeClr val="tx1"/>
                </a:solidFill>
              </a:rPr>
              <a:t>try 1 – open!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b="1" dirty="0">
                <a:solidFill>
                  <a:srgbClr val="0000FF"/>
                </a:solidFill>
              </a:rPr>
              <a:t>"zebu"?</a:t>
            </a:r>
            <a:endParaRPr lang="en-US" altLang="en-US" b="1" i="1" dirty="0">
              <a:solidFill>
                <a:srgbClr val="FF0000"/>
              </a:solidFill>
            </a:endParaRPr>
          </a:p>
        </p:txBody>
      </p:sp>
      <p:graphicFrame>
        <p:nvGraphicFramePr>
          <p:cNvPr id="2194437" name="Group 5"/>
          <p:cNvGraphicFramePr>
            <a:graphicFrameLocks noGrp="1"/>
          </p:cNvGraphicFramePr>
          <p:nvPr/>
        </p:nvGraphicFramePr>
        <p:xfrm>
          <a:off x="6427788" y="2278063"/>
          <a:ext cx="2097087" cy="4359277"/>
        </p:xfrm>
        <a:graphic>
          <a:graphicData uri="http://schemas.openxmlformats.org/drawingml/2006/table">
            <a:tbl>
              <a:tblPr/>
              <a:tblGrid>
                <a:gridCol w="105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6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0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"ant"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Console" pitchFamily="49" charset="0"/>
                        </a:rPr>
                        <a:t>"bear"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"cat"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3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Console" pitchFamily="49" charset="0"/>
                        </a:rPr>
                        <a:t>"ape"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4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"emu"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5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6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7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…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...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22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"wolf"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23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"wasp"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24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"yak"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25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"zebra"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752804" y="4911851"/>
            <a:ext cx="3797929" cy="182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marL="333375" indent="-333375" algn="l" defTabSz="447675" rtl="0" eaLnBrk="0" fontAlgn="base" hangingPunct="0">
              <a:spcBef>
                <a:spcPts val="1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733425" indent="-276225" algn="l" defTabSz="447675" rtl="0" eaLnBrk="0" fontAlgn="base" hangingPunct="0">
              <a:spcBef>
                <a:spcPts val="5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Helvetica" panose="020B0604020202020204" pitchFamily="34" charset="0"/>
              <a:buChar char="–"/>
              <a:defRPr sz="2200">
                <a:solidFill>
                  <a:srgbClr val="000000"/>
                </a:solidFill>
                <a:latin typeface="+mn-lt"/>
              </a:defRPr>
            </a:lvl2pPr>
            <a:lvl3pPr marL="1076325" indent="-161925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000">
                <a:solidFill>
                  <a:srgbClr val="000000"/>
                </a:solidFill>
                <a:latin typeface="+mn-lt"/>
              </a:defRPr>
            </a:lvl3pPr>
            <a:lvl4pPr marL="1600200" indent="-228600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Helvetica" panose="020B0604020202020204" pitchFamily="34" charset="0"/>
              <a:buChar char="–"/>
              <a:defRPr sz="2000">
                <a:solidFill>
                  <a:srgbClr val="000000"/>
                </a:solidFill>
                <a:latin typeface="+mn-lt"/>
              </a:defRPr>
            </a:lvl4pPr>
            <a:lvl5pPr marL="2057400" indent="-228600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+mn-lt"/>
              </a:defRPr>
            </a:lvl5pPr>
            <a:lvl6pPr marL="2514600" indent="-228600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Char char="»"/>
              <a:defRPr sz="2000">
                <a:solidFill>
                  <a:srgbClr val="000000"/>
                </a:solidFill>
                <a:latin typeface="+mn-lt"/>
              </a:defRPr>
            </a:lvl6pPr>
            <a:lvl7pPr marL="2971800" indent="-228600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Char char="»"/>
              <a:defRPr sz="2000">
                <a:solidFill>
                  <a:srgbClr val="000000"/>
                </a:solidFill>
                <a:latin typeface="+mn-lt"/>
              </a:defRPr>
            </a:lvl7pPr>
            <a:lvl8pPr marL="3429000" indent="-228600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Char char="»"/>
              <a:defRPr sz="2000">
                <a:solidFill>
                  <a:srgbClr val="000000"/>
                </a:solidFill>
                <a:latin typeface="+mn-lt"/>
              </a:defRPr>
            </a:lvl8pPr>
            <a:lvl9pPr marL="3886200" indent="-228600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Char char="»"/>
              <a:defRPr sz="2000">
                <a:solidFill>
                  <a:srgbClr val="000000"/>
                </a:solidFill>
                <a:latin typeface="+mn-lt"/>
              </a:defRPr>
            </a:lvl9pPr>
          </a:lstStyle>
          <a:p>
            <a:pPr marL="457200" marR="0" lvl="0" indent="-457200" algn="l" defTabSz="447675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+mj-lt"/>
              <a:buAutoNum type="alphaUcPeriod"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 </a:t>
            </a: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5</a:t>
            </a:r>
          </a:p>
          <a:p>
            <a:pPr marL="457200" marR="0" lvl="0" indent="-457200" algn="l" defTabSz="447675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+mj-lt"/>
              <a:buAutoNum type="alphaUcPeriod"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 </a:t>
            </a: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6</a:t>
            </a:r>
          </a:p>
          <a:p>
            <a:pPr marL="457200" marR="0" lvl="0" indent="-457200" algn="l" defTabSz="447675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+mj-lt"/>
              <a:buAutoNum type="alphaUcPeriod"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 </a:t>
            </a: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7</a:t>
            </a:r>
          </a:p>
          <a:p>
            <a:pPr marL="457200" marR="0" lvl="0" indent="-457200" algn="l" defTabSz="447675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+mj-lt"/>
              <a:buAutoNum type="alphaUcPeriod"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 none of the above</a:t>
            </a:r>
          </a:p>
          <a:p>
            <a:pPr marL="0" marR="0" lvl="0" indent="0" algn="l" defTabSz="447675" rtl="0" eaLnBrk="0" fontAlgn="base" latinLnBrk="0" hangingPunct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  <a:p>
            <a:pPr marL="333375" marR="0" lvl="0" indent="-333375" algn="l" defTabSz="447675" rtl="0" eaLnBrk="0" fontAlgn="base" latinLnBrk="0" hangingPunct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  <a:p>
            <a:pPr marL="333375" marR="0" lvl="0" indent="-333375" algn="l" defTabSz="447675" rtl="0" eaLnBrk="0" fontAlgn="base" latinLnBrk="0" hangingPunct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  <a:p>
            <a:pPr marL="333375" marR="0" lvl="0" indent="-333375" algn="l" defTabSz="447675" rtl="0" eaLnBrk="0" fontAlgn="base" latinLnBrk="0" hangingPunct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  <a:p>
            <a:pPr marL="333375" marR="0" lvl="0" indent="-333375" algn="l" defTabSz="447675" rtl="0" eaLnBrk="0" fontAlgn="base" latinLnBrk="0" hangingPunct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  <a:p>
            <a:pPr marL="333375" marR="0" lvl="0" indent="-333375" algn="l" defTabSz="447675" rtl="0" eaLnBrk="0" fontAlgn="base" latinLnBrk="0" hangingPunct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  <a:p>
            <a:pPr marL="333375" marR="0" lvl="0" indent="-333375" algn="l" defTabSz="447675" rtl="0" eaLnBrk="0" fontAlgn="base" latinLnBrk="0" hangingPunct="0">
              <a:lnSpc>
                <a:spcPct val="100000"/>
              </a:lnSpc>
              <a:spcBef>
                <a:spcPts val="2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28784353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Double Hashing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458200" cy="5614988"/>
          </a:xfrm>
        </p:spPr>
        <p:txBody>
          <a:bodyPr/>
          <a:lstStyle/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Use two hash functions:</a:t>
            </a:r>
          </a:p>
          <a:p>
            <a:pPr lvl="1"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dirty="0"/>
              <a:t>h1 computes the hash code</a:t>
            </a:r>
          </a:p>
          <a:p>
            <a:pPr lvl="1"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dirty="0"/>
              <a:t>h2 computes the increment for probing</a:t>
            </a:r>
          </a:p>
          <a:p>
            <a:pPr lvl="1"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dirty="0"/>
              <a:t>probe sequence:  </a:t>
            </a:r>
            <a:r>
              <a:rPr lang="en-US" altLang="en-US" dirty="0">
                <a:solidFill>
                  <a:srgbClr val="0000FF"/>
                </a:solidFill>
              </a:rPr>
              <a:t>h1</a:t>
            </a:r>
            <a:r>
              <a:rPr lang="en-US" altLang="en-US" dirty="0"/>
              <a:t>, h1 + h2, h1 + 2*h2, …</a:t>
            </a:r>
          </a:p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Examples: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h1 = our previous h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h2 = number of characters in the string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"ape" (h1 = 0, h2 = 3): try 0, 0 + 3 – open! 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"bear" (h1 = 1, h2 = 4): </a:t>
            </a:r>
            <a:r>
              <a:rPr lang="en-US" altLang="en-US" sz="2000" dirty="0">
                <a:solidFill>
                  <a:schemeClr val="tx1"/>
                </a:solidFill>
              </a:rPr>
              <a:t>try 1 – open!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b="1" dirty="0">
                <a:solidFill>
                  <a:srgbClr val="0000FF"/>
                </a:solidFill>
              </a:rPr>
              <a:t>"zebu"? </a:t>
            </a:r>
            <a:r>
              <a:rPr lang="en-US" altLang="en-US" sz="2000" b="1" dirty="0">
                <a:solidFill>
                  <a:srgbClr val="FF0000"/>
                </a:solidFill>
                <a:ea typeface="+mn-ea"/>
                <a:cs typeface="+mn-cs"/>
              </a:rPr>
              <a:t>try 25</a:t>
            </a:r>
            <a:endParaRPr lang="en-US" altLang="en-US" b="1" i="1" dirty="0">
              <a:solidFill>
                <a:srgbClr val="FF0000"/>
              </a:solidFill>
            </a:endParaRPr>
          </a:p>
        </p:txBody>
      </p:sp>
      <p:graphicFrame>
        <p:nvGraphicFramePr>
          <p:cNvPr id="2194437" name="Group 5"/>
          <p:cNvGraphicFramePr>
            <a:graphicFrameLocks noGrp="1"/>
          </p:cNvGraphicFramePr>
          <p:nvPr/>
        </p:nvGraphicFramePr>
        <p:xfrm>
          <a:off x="6427788" y="2278063"/>
          <a:ext cx="2097087" cy="4359277"/>
        </p:xfrm>
        <a:graphic>
          <a:graphicData uri="http://schemas.openxmlformats.org/drawingml/2006/table">
            <a:tbl>
              <a:tblPr/>
              <a:tblGrid>
                <a:gridCol w="105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6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0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"ant"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Console" pitchFamily="49" charset="0"/>
                        </a:rPr>
                        <a:t>"bear"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"cat"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3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Console" pitchFamily="49" charset="0"/>
                        </a:rPr>
                        <a:t>"ape"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4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"emu"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5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6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7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…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...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22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"wolf"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23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"wasp"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24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"yak"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25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"zebra"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752804" y="4911851"/>
            <a:ext cx="3797929" cy="182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marL="333375" indent="-333375" algn="l" defTabSz="447675" rtl="0" eaLnBrk="0" fontAlgn="base" hangingPunct="0">
              <a:spcBef>
                <a:spcPts val="1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733425" indent="-276225" algn="l" defTabSz="447675" rtl="0" eaLnBrk="0" fontAlgn="base" hangingPunct="0">
              <a:spcBef>
                <a:spcPts val="5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Helvetica" panose="020B0604020202020204" pitchFamily="34" charset="0"/>
              <a:buChar char="–"/>
              <a:defRPr sz="2200">
                <a:solidFill>
                  <a:srgbClr val="000000"/>
                </a:solidFill>
                <a:latin typeface="+mn-lt"/>
              </a:defRPr>
            </a:lvl2pPr>
            <a:lvl3pPr marL="1076325" indent="-161925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000">
                <a:solidFill>
                  <a:srgbClr val="000000"/>
                </a:solidFill>
                <a:latin typeface="+mn-lt"/>
              </a:defRPr>
            </a:lvl3pPr>
            <a:lvl4pPr marL="1600200" indent="-228600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Helvetica" panose="020B0604020202020204" pitchFamily="34" charset="0"/>
              <a:buChar char="–"/>
              <a:defRPr sz="2000">
                <a:solidFill>
                  <a:srgbClr val="000000"/>
                </a:solidFill>
                <a:latin typeface="+mn-lt"/>
              </a:defRPr>
            </a:lvl4pPr>
            <a:lvl5pPr marL="2057400" indent="-228600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+mn-lt"/>
              </a:defRPr>
            </a:lvl5pPr>
            <a:lvl6pPr marL="2514600" indent="-228600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Char char="»"/>
              <a:defRPr sz="2000">
                <a:solidFill>
                  <a:srgbClr val="000000"/>
                </a:solidFill>
                <a:latin typeface="+mn-lt"/>
              </a:defRPr>
            </a:lvl6pPr>
            <a:lvl7pPr marL="2971800" indent="-228600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Char char="»"/>
              <a:defRPr sz="2000">
                <a:solidFill>
                  <a:srgbClr val="000000"/>
                </a:solidFill>
                <a:latin typeface="+mn-lt"/>
              </a:defRPr>
            </a:lvl7pPr>
            <a:lvl8pPr marL="3429000" indent="-228600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Char char="»"/>
              <a:defRPr sz="2000">
                <a:solidFill>
                  <a:srgbClr val="000000"/>
                </a:solidFill>
                <a:latin typeface="+mn-lt"/>
              </a:defRPr>
            </a:lvl8pPr>
            <a:lvl9pPr marL="3886200" indent="-228600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Char char="»"/>
              <a:defRPr sz="2000">
                <a:solidFill>
                  <a:srgbClr val="000000"/>
                </a:solidFill>
                <a:latin typeface="+mn-lt"/>
              </a:defRPr>
            </a:lvl9pPr>
          </a:lstStyle>
          <a:p>
            <a:pPr marL="457200" marR="0" lvl="0" indent="-457200" algn="l" defTabSz="447675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+mj-lt"/>
              <a:buAutoNum type="alphaUcPeriod"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 </a:t>
            </a: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5</a:t>
            </a:r>
          </a:p>
          <a:p>
            <a:pPr marL="457200" marR="0" lvl="0" indent="-457200" algn="l" defTabSz="447675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+mj-lt"/>
              <a:buAutoNum type="alphaUcPeriod"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 </a:t>
            </a: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6</a:t>
            </a:r>
          </a:p>
          <a:p>
            <a:pPr marL="457200" marR="0" lvl="0" indent="-457200" algn="l" defTabSz="447675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+mj-lt"/>
              <a:buAutoNum type="alphaUcPeriod"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 </a:t>
            </a: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7</a:t>
            </a:r>
          </a:p>
          <a:p>
            <a:pPr marL="457200" marR="0" lvl="0" indent="-457200" algn="l" defTabSz="447675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+mj-lt"/>
              <a:buAutoNum type="alphaUcPeriod"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 none of the above</a:t>
            </a:r>
          </a:p>
          <a:p>
            <a:pPr marL="0" marR="0" lvl="0" indent="0" algn="l" defTabSz="447675" rtl="0" eaLnBrk="0" fontAlgn="base" latinLnBrk="0" hangingPunct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  <a:p>
            <a:pPr marL="333375" marR="0" lvl="0" indent="-333375" algn="l" defTabSz="447675" rtl="0" eaLnBrk="0" fontAlgn="base" latinLnBrk="0" hangingPunct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  <a:p>
            <a:pPr marL="333375" marR="0" lvl="0" indent="-333375" algn="l" defTabSz="447675" rtl="0" eaLnBrk="0" fontAlgn="base" latinLnBrk="0" hangingPunct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  <a:p>
            <a:pPr marL="333375" marR="0" lvl="0" indent="-333375" algn="l" defTabSz="447675" rtl="0" eaLnBrk="0" fontAlgn="base" latinLnBrk="0" hangingPunct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  <a:p>
            <a:pPr marL="333375" marR="0" lvl="0" indent="-333375" algn="l" defTabSz="447675" rtl="0" eaLnBrk="0" fontAlgn="base" latinLnBrk="0" hangingPunct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  <a:p>
            <a:pPr marL="333375" marR="0" lvl="0" indent="-333375" algn="l" defTabSz="447675" rtl="0" eaLnBrk="0" fontAlgn="base" latinLnBrk="0" hangingPunct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  <a:p>
            <a:pPr marL="333375" marR="0" lvl="0" indent="-333375" algn="l" defTabSz="447675" rtl="0" eaLnBrk="0" fontAlgn="base" latinLnBrk="0" hangingPunct="0">
              <a:lnSpc>
                <a:spcPct val="100000"/>
              </a:lnSpc>
              <a:spcBef>
                <a:spcPts val="2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7" name="Rectangle 54"/>
          <p:cNvSpPr>
            <a:spLocks noChangeArrowheads="1"/>
          </p:cNvSpPr>
          <p:nvPr/>
        </p:nvSpPr>
        <p:spPr bwMode="auto">
          <a:xfrm>
            <a:off x="7505700" y="6329736"/>
            <a:ext cx="995363" cy="280987"/>
          </a:xfrm>
          <a:prstGeom prst="rect">
            <a:avLst/>
          </a:prstGeom>
          <a:noFill/>
          <a:ln w="38100" algn="ctr">
            <a:solidFill>
              <a:srgbClr val="CC0099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>
              <a:spcBef>
                <a:spcPts val="1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 algn="l">
              <a:spcBef>
                <a:spcPts val="525"/>
              </a:spcBef>
              <a:buClr>
                <a:srgbClr val="000000"/>
              </a:buClr>
              <a:buSzPct val="10000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Helvetica" panose="020B0604020202020204" pitchFamily="34" charset="0"/>
              <a:buChar char="–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8330301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Double Hashing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458200" cy="5614988"/>
          </a:xfrm>
        </p:spPr>
        <p:txBody>
          <a:bodyPr/>
          <a:lstStyle/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Use two hash functions:</a:t>
            </a:r>
          </a:p>
          <a:p>
            <a:pPr lvl="1"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dirty="0"/>
              <a:t>h1 computes the hash code</a:t>
            </a:r>
          </a:p>
          <a:p>
            <a:pPr lvl="1"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dirty="0"/>
              <a:t>h2 computes the increment for probing</a:t>
            </a:r>
          </a:p>
          <a:p>
            <a:pPr lvl="1"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dirty="0"/>
              <a:t>probe sequence:  h1, </a:t>
            </a:r>
            <a:r>
              <a:rPr lang="en-US" altLang="en-US" dirty="0">
                <a:solidFill>
                  <a:srgbClr val="0000FF"/>
                </a:solidFill>
              </a:rPr>
              <a:t>h1 + h2</a:t>
            </a:r>
            <a:r>
              <a:rPr lang="en-US" altLang="en-US" dirty="0"/>
              <a:t>, h1 + 2*h2, …</a:t>
            </a:r>
          </a:p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Examples: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h1 = our previous h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h2 = number of characters in the string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"ape" (h1 = 0, h2 = 3): try 0, 0 + 3 – open! 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"bear" (h1 = 1, h2 = 4): </a:t>
            </a:r>
            <a:r>
              <a:rPr lang="en-US" altLang="en-US" sz="2000" dirty="0">
                <a:solidFill>
                  <a:schemeClr val="tx1"/>
                </a:solidFill>
              </a:rPr>
              <a:t>try 1 – open!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b="1" dirty="0">
                <a:solidFill>
                  <a:srgbClr val="0000FF"/>
                </a:solidFill>
              </a:rPr>
              <a:t>"zebu"? </a:t>
            </a:r>
            <a:r>
              <a:rPr lang="en-US" altLang="en-US" sz="2000" b="1" dirty="0">
                <a:solidFill>
                  <a:srgbClr val="FF0000"/>
                </a:solidFill>
                <a:ea typeface="+mn-ea"/>
                <a:cs typeface="+mn-cs"/>
              </a:rPr>
              <a:t>try 25, (25 + 4) % 26</a:t>
            </a:r>
            <a:endParaRPr lang="en-US" altLang="en-US" b="1" i="1" dirty="0">
              <a:solidFill>
                <a:srgbClr val="FF0000"/>
              </a:solidFill>
            </a:endParaRPr>
          </a:p>
        </p:txBody>
      </p:sp>
      <p:graphicFrame>
        <p:nvGraphicFramePr>
          <p:cNvPr id="2194437" name="Group 5"/>
          <p:cNvGraphicFramePr>
            <a:graphicFrameLocks noGrp="1"/>
          </p:cNvGraphicFramePr>
          <p:nvPr/>
        </p:nvGraphicFramePr>
        <p:xfrm>
          <a:off x="6427788" y="2278063"/>
          <a:ext cx="2097087" cy="4359277"/>
        </p:xfrm>
        <a:graphic>
          <a:graphicData uri="http://schemas.openxmlformats.org/drawingml/2006/table">
            <a:tbl>
              <a:tblPr/>
              <a:tblGrid>
                <a:gridCol w="105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6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0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"ant"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Console" pitchFamily="49" charset="0"/>
                        </a:rPr>
                        <a:t>"bear"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"cat"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3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Console" pitchFamily="49" charset="0"/>
                        </a:rPr>
                        <a:t>"ape"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4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"emu"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5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6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7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…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...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22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"wolf"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23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"wasp"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24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"yak"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25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"zebra"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752804" y="4911851"/>
            <a:ext cx="3797929" cy="182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marL="333375" indent="-333375" algn="l" defTabSz="447675" rtl="0" eaLnBrk="0" fontAlgn="base" hangingPunct="0">
              <a:spcBef>
                <a:spcPts val="1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733425" indent="-276225" algn="l" defTabSz="447675" rtl="0" eaLnBrk="0" fontAlgn="base" hangingPunct="0">
              <a:spcBef>
                <a:spcPts val="5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Helvetica" panose="020B0604020202020204" pitchFamily="34" charset="0"/>
              <a:buChar char="–"/>
              <a:defRPr sz="2200">
                <a:solidFill>
                  <a:srgbClr val="000000"/>
                </a:solidFill>
                <a:latin typeface="+mn-lt"/>
              </a:defRPr>
            </a:lvl2pPr>
            <a:lvl3pPr marL="1076325" indent="-161925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000">
                <a:solidFill>
                  <a:srgbClr val="000000"/>
                </a:solidFill>
                <a:latin typeface="+mn-lt"/>
              </a:defRPr>
            </a:lvl3pPr>
            <a:lvl4pPr marL="1600200" indent="-228600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Helvetica" panose="020B0604020202020204" pitchFamily="34" charset="0"/>
              <a:buChar char="–"/>
              <a:defRPr sz="2000">
                <a:solidFill>
                  <a:srgbClr val="000000"/>
                </a:solidFill>
                <a:latin typeface="+mn-lt"/>
              </a:defRPr>
            </a:lvl4pPr>
            <a:lvl5pPr marL="2057400" indent="-228600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+mn-lt"/>
              </a:defRPr>
            </a:lvl5pPr>
            <a:lvl6pPr marL="2514600" indent="-228600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Char char="»"/>
              <a:defRPr sz="2000">
                <a:solidFill>
                  <a:srgbClr val="000000"/>
                </a:solidFill>
                <a:latin typeface="+mn-lt"/>
              </a:defRPr>
            </a:lvl6pPr>
            <a:lvl7pPr marL="2971800" indent="-228600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Char char="»"/>
              <a:defRPr sz="2000">
                <a:solidFill>
                  <a:srgbClr val="000000"/>
                </a:solidFill>
                <a:latin typeface="+mn-lt"/>
              </a:defRPr>
            </a:lvl7pPr>
            <a:lvl8pPr marL="3429000" indent="-228600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Char char="»"/>
              <a:defRPr sz="2000">
                <a:solidFill>
                  <a:srgbClr val="000000"/>
                </a:solidFill>
                <a:latin typeface="+mn-lt"/>
              </a:defRPr>
            </a:lvl8pPr>
            <a:lvl9pPr marL="3886200" indent="-228600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Char char="»"/>
              <a:defRPr sz="2000">
                <a:solidFill>
                  <a:srgbClr val="000000"/>
                </a:solidFill>
                <a:latin typeface="+mn-lt"/>
              </a:defRPr>
            </a:lvl9pPr>
          </a:lstStyle>
          <a:p>
            <a:pPr marL="457200" marR="0" lvl="0" indent="-457200" algn="l" defTabSz="447675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+mj-lt"/>
              <a:buAutoNum type="alphaUcPeriod"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 </a:t>
            </a: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5</a:t>
            </a:r>
          </a:p>
          <a:p>
            <a:pPr marL="457200" marR="0" lvl="0" indent="-457200" algn="l" defTabSz="447675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+mj-lt"/>
              <a:buAutoNum type="alphaUcPeriod"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 </a:t>
            </a: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6</a:t>
            </a:r>
          </a:p>
          <a:p>
            <a:pPr marL="457200" marR="0" lvl="0" indent="-457200" algn="l" defTabSz="447675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+mj-lt"/>
              <a:buAutoNum type="alphaUcPeriod"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 </a:t>
            </a: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7</a:t>
            </a:r>
          </a:p>
          <a:p>
            <a:pPr marL="457200" marR="0" lvl="0" indent="-457200" algn="l" defTabSz="447675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+mj-lt"/>
              <a:buAutoNum type="alphaUcPeriod"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 none of the above</a:t>
            </a:r>
          </a:p>
          <a:p>
            <a:pPr marL="0" marR="0" lvl="0" indent="0" algn="l" defTabSz="447675" rtl="0" eaLnBrk="0" fontAlgn="base" latinLnBrk="0" hangingPunct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  <a:p>
            <a:pPr marL="333375" marR="0" lvl="0" indent="-333375" algn="l" defTabSz="447675" rtl="0" eaLnBrk="0" fontAlgn="base" latinLnBrk="0" hangingPunct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  <a:p>
            <a:pPr marL="333375" marR="0" lvl="0" indent="-333375" algn="l" defTabSz="447675" rtl="0" eaLnBrk="0" fontAlgn="base" latinLnBrk="0" hangingPunct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  <a:p>
            <a:pPr marL="333375" marR="0" lvl="0" indent="-333375" algn="l" defTabSz="447675" rtl="0" eaLnBrk="0" fontAlgn="base" latinLnBrk="0" hangingPunct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  <a:p>
            <a:pPr marL="333375" marR="0" lvl="0" indent="-333375" algn="l" defTabSz="447675" rtl="0" eaLnBrk="0" fontAlgn="base" latinLnBrk="0" hangingPunct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  <a:p>
            <a:pPr marL="333375" marR="0" lvl="0" indent="-333375" algn="l" defTabSz="447675" rtl="0" eaLnBrk="0" fontAlgn="base" latinLnBrk="0" hangingPunct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  <a:p>
            <a:pPr marL="333375" marR="0" lvl="0" indent="-333375" algn="l" defTabSz="447675" rtl="0" eaLnBrk="0" fontAlgn="base" latinLnBrk="0" hangingPunct="0">
              <a:lnSpc>
                <a:spcPct val="100000"/>
              </a:lnSpc>
              <a:spcBef>
                <a:spcPts val="2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7" name="Rectangle 54"/>
          <p:cNvSpPr>
            <a:spLocks noChangeArrowheads="1"/>
          </p:cNvSpPr>
          <p:nvPr/>
        </p:nvSpPr>
        <p:spPr bwMode="auto">
          <a:xfrm>
            <a:off x="7505700" y="3310082"/>
            <a:ext cx="995363" cy="280987"/>
          </a:xfrm>
          <a:prstGeom prst="rect">
            <a:avLst/>
          </a:prstGeom>
          <a:noFill/>
          <a:ln w="38100" algn="ctr">
            <a:solidFill>
              <a:srgbClr val="CC0099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>
              <a:spcBef>
                <a:spcPts val="1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 algn="l">
              <a:spcBef>
                <a:spcPts val="525"/>
              </a:spcBef>
              <a:buClr>
                <a:srgbClr val="000000"/>
              </a:buClr>
              <a:buSzPct val="10000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Helvetica" panose="020B0604020202020204" pitchFamily="34" charset="0"/>
              <a:buChar char="–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64527764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Double Hashing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458200" cy="5614988"/>
          </a:xfrm>
        </p:spPr>
        <p:txBody>
          <a:bodyPr/>
          <a:lstStyle/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Use two hash functions:</a:t>
            </a:r>
          </a:p>
          <a:p>
            <a:pPr lvl="1"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dirty="0"/>
              <a:t>h1 computes the hash code</a:t>
            </a:r>
          </a:p>
          <a:p>
            <a:pPr lvl="1"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dirty="0"/>
              <a:t>h2 computes the increment for probing</a:t>
            </a:r>
          </a:p>
          <a:p>
            <a:pPr lvl="1"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dirty="0"/>
              <a:t>probe sequence:  h1, h1 + h2, </a:t>
            </a:r>
            <a:r>
              <a:rPr lang="en-US" altLang="en-US" dirty="0">
                <a:solidFill>
                  <a:srgbClr val="0000FF"/>
                </a:solidFill>
              </a:rPr>
              <a:t>h1 + 2*h2</a:t>
            </a:r>
            <a:r>
              <a:rPr lang="en-US" altLang="en-US" dirty="0"/>
              <a:t>, …</a:t>
            </a:r>
          </a:p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Examples: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h1 = our previous h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h2 = number of characters in the string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"ape" (h1 = 0, h2 = 3): try 0, 0 + 3 – open! 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"bear" (h1 = 1, h2 = 4): </a:t>
            </a:r>
            <a:r>
              <a:rPr lang="en-US" altLang="en-US" sz="2000" dirty="0">
                <a:solidFill>
                  <a:schemeClr val="tx1"/>
                </a:solidFill>
              </a:rPr>
              <a:t>try 1 – open!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b="1" dirty="0">
                <a:solidFill>
                  <a:srgbClr val="0000FF"/>
                </a:solidFill>
              </a:rPr>
              <a:t>"zebu"? </a:t>
            </a:r>
            <a:r>
              <a:rPr lang="en-US" altLang="en-US" sz="2000" b="1" dirty="0">
                <a:solidFill>
                  <a:srgbClr val="FF0000"/>
                </a:solidFill>
                <a:ea typeface="+mn-ea"/>
                <a:cs typeface="+mn-cs"/>
              </a:rPr>
              <a:t>try 25, (25 + 4) % 26,</a:t>
            </a:r>
            <a:r>
              <a:rPr lang="en-US" altLang="en-US" sz="2000" dirty="0">
                <a:solidFill>
                  <a:srgbClr val="FF0000"/>
                </a:solidFill>
                <a:ea typeface="+mn-ea"/>
                <a:cs typeface="+mn-cs"/>
              </a:rPr>
              <a:t> </a:t>
            </a:r>
            <a:r>
              <a:rPr lang="en-US" altLang="en-US" sz="2000" b="1" dirty="0">
                <a:solidFill>
                  <a:srgbClr val="FF0000"/>
                </a:solidFill>
                <a:ea typeface="+mn-ea"/>
                <a:cs typeface="+mn-cs"/>
              </a:rPr>
              <a:t>(25 + 8) % 26</a:t>
            </a:r>
            <a:endParaRPr lang="en-US" altLang="en-US" b="1" i="1" dirty="0">
              <a:solidFill>
                <a:srgbClr val="FF0000"/>
              </a:solidFill>
            </a:endParaRPr>
          </a:p>
        </p:txBody>
      </p:sp>
      <p:graphicFrame>
        <p:nvGraphicFramePr>
          <p:cNvPr id="2194437" name="Group 5"/>
          <p:cNvGraphicFramePr>
            <a:graphicFrameLocks noGrp="1"/>
          </p:cNvGraphicFramePr>
          <p:nvPr/>
        </p:nvGraphicFramePr>
        <p:xfrm>
          <a:off x="6427788" y="2278063"/>
          <a:ext cx="2097087" cy="4359277"/>
        </p:xfrm>
        <a:graphic>
          <a:graphicData uri="http://schemas.openxmlformats.org/drawingml/2006/table">
            <a:tbl>
              <a:tblPr/>
              <a:tblGrid>
                <a:gridCol w="105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6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0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"ant"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Console" pitchFamily="49" charset="0"/>
                        </a:rPr>
                        <a:t>"bear"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"cat"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3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Console" pitchFamily="49" charset="0"/>
                        </a:rPr>
                        <a:t>"ape"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4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"emu"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5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6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7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…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...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22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"wolf"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23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"wasp"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24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"yak"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25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"zebra"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752804" y="4911851"/>
            <a:ext cx="3797929" cy="182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marL="333375" indent="-333375" algn="l" defTabSz="447675" rtl="0" eaLnBrk="0" fontAlgn="base" hangingPunct="0">
              <a:spcBef>
                <a:spcPts val="1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733425" indent="-276225" algn="l" defTabSz="447675" rtl="0" eaLnBrk="0" fontAlgn="base" hangingPunct="0">
              <a:spcBef>
                <a:spcPts val="5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Helvetica" panose="020B0604020202020204" pitchFamily="34" charset="0"/>
              <a:buChar char="–"/>
              <a:defRPr sz="2200">
                <a:solidFill>
                  <a:srgbClr val="000000"/>
                </a:solidFill>
                <a:latin typeface="+mn-lt"/>
              </a:defRPr>
            </a:lvl2pPr>
            <a:lvl3pPr marL="1076325" indent="-161925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000">
                <a:solidFill>
                  <a:srgbClr val="000000"/>
                </a:solidFill>
                <a:latin typeface="+mn-lt"/>
              </a:defRPr>
            </a:lvl3pPr>
            <a:lvl4pPr marL="1600200" indent="-228600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Helvetica" panose="020B0604020202020204" pitchFamily="34" charset="0"/>
              <a:buChar char="–"/>
              <a:defRPr sz="2000">
                <a:solidFill>
                  <a:srgbClr val="000000"/>
                </a:solidFill>
                <a:latin typeface="+mn-lt"/>
              </a:defRPr>
            </a:lvl4pPr>
            <a:lvl5pPr marL="2057400" indent="-228600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+mn-lt"/>
              </a:defRPr>
            </a:lvl5pPr>
            <a:lvl6pPr marL="2514600" indent="-228600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Char char="»"/>
              <a:defRPr sz="2000">
                <a:solidFill>
                  <a:srgbClr val="000000"/>
                </a:solidFill>
                <a:latin typeface="+mn-lt"/>
              </a:defRPr>
            </a:lvl6pPr>
            <a:lvl7pPr marL="2971800" indent="-228600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Char char="»"/>
              <a:defRPr sz="2000">
                <a:solidFill>
                  <a:srgbClr val="000000"/>
                </a:solidFill>
                <a:latin typeface="+mn-lt"/>
              </a:defRPr>
            </a:lvl7pPr>
            <a:lvl8pPr marL="3429000" indent="-228600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Char char="»"/>
              <a:defRPr sz="2000">
                <a:solidFill>
                  <a:srgbClr val="000000"/>
                </a:solidFill>
                <a:latin typeface="+mn-lt"/>
              </a:defRPr>
            </a:lvl8pPr>
            <a:lvl9pPr marL="3886200" indent="-228600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Char char="»"/>
              <a:defRPr sz="2000">
                <a:solidFill>
                  <a:srgbClr val="000000"/>
                </a:solidFill>
                <a:latin typeface="+mn-lt"/>
              </a:defRPr>
            </a:lvl9pPr>
          </a:lstStyle>
          <a:p>
            <a:pPr marL="457200" marR="0" lvl="0" indent="-457200" algn="l" defTabSz="447675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+mj-lt"/>
              <a:buAutoNum type="alphaUcPeriod"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 </a:t>
            </a: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5</a:t>
            </a:r>
          </a:p>
          <a:p>
            <a:pPr marL="457200" marR="0" lvl="0" indent="-457200" algn="l" defTabSz="447675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+mj-lt"/>
              <a:buAutoNum type="alphaUcPeriod"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 </a:t>
            </a: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6</a:t>
            </a:r>
          </a:p>
          <a:p>
            <a:pPr marL="457200" marR="0" lvl="0" indent="-457200" algn="l" defTabSz="447675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+mj-lt"/>
              <a:buAutoNum type="alphaUcPeriod"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 </a:t>
            </a: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7</a:t>
            </a:r>
          </a:p>
          <a:p>
            <a:pPr marL="457200" marR="0" lvl="0" indent="-457200" algn="l" defTabSz="447675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+mj-lt"/>
              <a:buAutoNum type="alphaUcPeriod"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 none of the above</a:t>
            </a:r>
          </a:p>
          <a:p>
            <a:pPr marL="0" marR="0" lvl="0" indent="0" algn="l" defTabSz="447675" rtl="0" eaLnBrk="0" fontAlgn="base" latinLnBrk="0" hangingPunct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  <a:p>
            <a:pPr marL="333375" marR="0" lvl="0" indent="-333375" algn="l" defTabSz="447675" rtl="0" eaLnBrk="0" fontAlgn="base" latinLnBrk="0" hangingPunct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  <a:p>
            <a:pPr marL="333375" marR="0" lvl="0" indent="-333375" algn="l" defTabSz="447675" rtl="0" eaLnBrk="0" fontAlgn="base" latinLnBrk="0" hangingPunct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  <a:p>
            <a:pPr marL="333375" marR="0" lvl="0" indent="-333375" algn="l" defTabSz="447675" rtl="0" eaLnBrk="0" fontAlgn="base" latinLnBrk="0" hangingPunct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  <a:p>
            <a:pPr marL="333375" marR="0" lvl="0" indent="-333375" algn="l" defTabSz="447675" rtl="0" eaLnBrk="0" fontAlgn="base" latinLnBrk="0" hangingPunct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  <a:p>
            <a:pPr marL="333375" marR="0" lvl="0" indent="-333375" algn="l" defTabSz="447675" rtl="0" eaLnBrk="0" fontAlgn="base" latinLnBrk="0" hangingPunct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  <a:p>
            <a:pPr marL="333375" marR="0" lvl="0" indent="-333375" algn="l" defTabSz="447675" rtl="0" eaLnBrk="0" fontAlgn="base" latinLnBrk="0" hangingPunct="0">
              <a:lnSpc>
                <a:spcPct val="100000"/>
              </a:lnSpc>
              <a:spcBef>
                <a:spcPts val="2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7" name="Rectangle 54"/>
          <p:cNvSpPr>
            <a:spLocks noChangeArrowheads="1"/>
          </p:cNvSpPr>
          <p:nvPr/>
        </p:nvSpPr>
        <p:spPr bwMode="auto">
          <a:xfrm>
            <a:off x="7505700" y="4649788"/>
            <a:ext cx="995363" cy="280987"/>
          </a:xfrm>
          <a:prstGeom prst="rect">
            <a:avLst/>
          </a:prstGeom>
          <a:noFill/>
          <a:ln w="38100" algn="ctr">
            <a:solidFill>
              <a:srgbClr val="CC0099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>
              <a:spcBef>
                <a:spcPts val="1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 algn="l">
              <a:spcBef>
                <a:spcPts val="525"/>
              </a:spcBef>
              <a:buClr>
                <a:srgbClr val="000000"/>
              </a:buClr>
              <a:buSzPct val="10000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Helvetica" panose="020B0604020202020204" pitchFamily="34" charset="0"/>
              <a:buChar char="–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55755812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Double Hashing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458200" cy="5614988"/>
          </a:xfrm>
        </p:spPr>
        <p:txBody>
          <a:bodyPr/>
          <a:lstStyle/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Use two hash functions:</a:t>
            </a:r>
          </a:p>
          <a:p>
            <a:pPr lvl="1"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dirty="0"/>
              <a:t>h1 computes the hash code</a:t>
            </a:r>
          </a:p>
          <a:p>
            <a:pPr lvl="1"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dirty="0"/>
              <a:t>h2 computes the increment for probing</a:t>
            </a:r>
          </a:p>
          <a:p>
            <a:pPr lvl="1"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dirty="0"/>
              <a:t>probe sequence:  h1, h1 + h2, h1 + 2*h2, …</a:t>
            </a:r>
          </a:p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Examples: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h1 = our previous h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h2 = number of characters in the string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"ape" (h1 = 0, h2 = 3): try 0, 0 + 3 – open! 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"bear" (h1 = 1, h2 = 4): </a:t>
            </a:r>
            <a:r>
              <a:rPr lang="en-US" altLang="en-US" sz="2000" dirty="0">
                <a:solidFill>
                  <a:schemeClr val="tx1"/>
                </a:solidFill>
              </a:rPr>
              <a:t>try 1 – open!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b="1" dirty="0">
                <a:solidFill>
                  <a:srgbClr val="0000FF"/>
                </a:solidFill>
              </a:rPr>
              <a:t>"zebu"? </a:t>
            </a:r>
            <a:r>
              <a:rPr lang="en-US" altLang="en-US" sz="2000" b="1" dirty="0">
                <a:solidFill>
                  <a:srgbClr val="FF0000"/>
                </a:solidFill>
                <a:ea typeface="+mn-ea"/>
                <a:cs typeface="+mn-cs"/>
              </a:rPr>
              <a:t>try 25, (25 + 4) % 26,</a:t>
            </a:r>
            <a:r>
              <a:rPr lang="en-US" altLang="en-US" sz="2000" dirty="0">
                <a:solidFill>
                  <a:srgbClr val="FF0000"/>
                </a:solidFill>
                <a:ea typeface="+mn-ea"/>
                <a:cs typeface="+mn-cs"/>
              </a:rPr>
              <a:t> </a:t>
            </a:r>
            <a:r>
              <a:rPr lang="en-US" altLang="en-US" sz="2000" b="1" dirty="0">
                <a:solidFill>
                  <a:srgbClr val="FF0000"/>
                </a:solidFill>
                <a:ea typeface="+mn-ea"/>
                <a:cs typeface="+mn-cs"/>
              </a:rPr>
              <a:t>(25 + 8) % 26 – open!</a:t>
            </a:r>
            <a:endParaRPr lang="en-US" altLang="en-US" b="1" i="1" dirty="0">
              <a:solidFill>
                <a:srgbClr val="FF0000"/>
              </a:solidFill>
            </a:endParaRPr>
          </a:p>
        </p:txBody>
      </p:sp>
      <p:graphicFrame>
        <p:nvGraphicFramePr>
          <p:cNvPr id="2194437" name="Group 5"/>
          <p:cNvGraphicFramePr>
            <a:graphicFrameLocks noGrp="1"/>
          </p:cNvGraphicFramePr>
          <p:nvPr/>
        </p:nvGraphicFramePr>
        <p:xfrm>
          <a:off x="6427788" y="2278063"/>
          <a:ext cx="2097087" cy="4359277"/>
        </p:xfrm>
        <a:graphic>
          <a:graphicData uri="http://schemas.openxmlformats.org/drawingml/2006/table">
            <a:tbl>
              <a:tblPr/>
              <a:tblGrid>
                <a:gridCol w="105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6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0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"ant"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Console" pitchFamily="49" charset="0"/>
                        </a:rPr>
                        <a:t>"bear"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"cat"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3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Console" pitchFamily="49" charset="0"/>
                        </a:rPr>
                        <a:t>"ape"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4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"emu"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5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6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7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Console" pitchFamily="49" charset="0"/>
                        </a:rPr>
                        <a:t>"zebu"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…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...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22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"wolf"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23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"wasp"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24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"yak"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25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"zebra"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752804" y="4911851"/>
            <a:ext cx="3797929" cy="182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marL="333375" indent="-333375" algn="l" defTabSz="447675" rtl="0" eaLnBrk="0" fontAlgn="base" hangingPunct="0">
              <a:spcBef>
                <a:spcPts val="1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733425" indent="-276225" algn="l" defTabSz="447675" rtl="0" eaLnBrk="0" fontAlgn="base" hangingPunct="0">
              <a:spcBef>
                <a:spcPts val="5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Helvetica" panose="020B0604020202020204" pitchFamily="34" charset="0"/>
              <a:buChar char="–"/>
              <a:defRPr sz="2200">
                <a:solidFill>
                  <a:srgbClr val="000000"/>
                </a:solidFill>
                <a:latin typeface="+mn-lt"/>
              </a:defRPr>
            </a:lvl2pPr>
            <a:lvl3pPr marL="1076325" indent="-161925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000">
                <a:solidFill>
                  <a:srgbClr val="000000"/>
                </a:solidFill>
                <a:latin typeface="+mn-lt"/>
              </a:defRPr>
            </a:lvl3pPr>
            <a:lvl4pPr marL="1600200" indent="-228600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Helvetica" panose="020B0604020202020204" pitchFamily="34" charset="0"/>
              <a:buChar char="–"/>
              <a:defRPr sz="2000">
                <a:solidFill>
                  <a:srgbClr val="000000"/>
                </a:solidFill>
                <a:latin typeface="+mn-lt"/>
              </a:defRPr>
            </a:lvl4pPr>
            <a:lvl5pPr marL="2057400" indent="-228600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+mn-lt"/>
              </a:defRPr>
            </a:lvl5pPr>
            <a:lvl6pPr marL="2514600" indent="-228600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Char char="»"/>
              <a:defRPr sz="2000">
                <a:solidFill>
                  <a:srgbClr val="000000"/>
                </a:solidFill>
                <a:latin typeface="+mn-lt"/>
              </a:defRPr>
            </a:lvl6pPr>
            <a:lvl7pPr marL="2971800" indent="-228600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Char char="»"/>
              <a:defRPr sz="2000">
                <a:solidFill>
                  <a:srgbClr val="000000"/>
                </a:solidFill>
                <a:latin typeface="+mn-lt"/>
              </a:defRPr>
            </a:lvl7pPr>
            <a:lvl8pPr marL="3429000" indent="-228600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Char char="»"/>
              <a:defRPr sz="2000">
                <a:solidFill>
                  <a:srgbClr val="000000"/>
                </a:solidFill>
                <a:latin typeface="+mn-lt"/>
              </a:defRPr>
            </a:lvl8pPr>
            <a:lvl9pPr marL="3886200" indent="-228600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Char char="»"/>
              <a:defRPr sz="2000">
                <a:solidFill>
                  <a:srgbClr val="000000"/>
                </a:solidFill>
                <a:latin typeface="+mn-lt"/>
              </a:defRPr>
            </a:lvl9pPr>
          </a:lstStyle>
          <a:p>
            <a:pPr marL="457200" marR="0" lvl="0" indent="-457200" algn="l" defTabSz="447675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+mj-lt"/>
              <a:buAutoNum type="alphaUcPeriod"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 </a:t>
            </a: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5</a:t>
            </a:r>
          </a:p>
          <a:p>
            <a:pPr marL="457200" marR="0" lvl="0" indent="-457200" algn="l" defTabSz="447675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+mj-lt"/>
              <a:buAutoNum type="alphaUcPeriod"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 </a:t>
            </a: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6</a:t>
            </a:r>
          </a:p>
          <a:p>
            <a:pPr marL="457200" marR="0" lvl="0" indent="-457200" algn="l" defTabSz="447675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+mj-lt"/>
              <a:buAutoNum type="alphaUcPeriod"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 </a:t>
            </a: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7</a:t>
            </a:r>
          </a:p>
          <a:p>
            <a:pPr marL="457200" marR="0" lvl="0" indent="-457200" algn="l" defTabSz="447675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+mj-lt"/>
              <a:buAutoNum type="alphaUcPeriod"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 none of the above</a:t>
            </a:r>
          </a:p>
          <a:p>
            <a:pPr marL="0" marR="0" lvl="0" indent="0" algn="l" defTabSz="447675" rtl="0" eaLnBrk="0" fontAlgn="base" latinLnBrk="0" hangingPunct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  <a:p>
            <a:pPr marL="333375" marR="0" lvl="0" indent="-333375" algn="l" defTabSz="447675" rtl="0" eaLnBrk="0" fontAlgn="base" latinLnBrk="0" hangingPunct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  <a:p>
            <a:pPr marL="333375" marR="0" lvl="0" indent="-333375" algn="l" defTabSz="447675" rtl="0" eaLnBrk="0" fontAlgn="base" latinLnBrk="0" hangingPunct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  <a:p>
            <a:pPr marL="333375" marR="0" lvl="0" indent="-333375" algn="l" defTabSz="447675" rtl="0" eaLnBrk="0" fontAlgn="base" latinLnBrk="0" hangingPunct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  <a:p>
            <a:pPr marL="333375" marR="0" lvl="0" indent="-333375" algn="l" defTabSz="447675" rtl="0" eaLnBrk="0" fontAlgn="base" latinLnBrk="0" hangingPunct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  <a:p>
            <a:pPr marL="333375" marR="0" lvl="0" indent="-333375" algn="l" defTabSz="447675" rtl="0" eaLnBrk="0" fontAlgn="base" latinLnBrk="0" hangingPunct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  <a:p>
            <a:pPr marL="333375" marR="0" lvl="0" indent="-333375" algn="l" defTabSz="447675" rtl="0" eaLnBrk="0" fontAlgn="base" latinLnBrk="0" hangingPunct="0">
              <a:lnSpc>
                <a:spcPct val="100000"/>
              </a:lnSpc>
              <a:spcBef>
                <a:spcPts val="2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7" name="Rectangle 54"/>
          <p:cNvSpPr>
            <a:spLocks noChangeArrowheads="1"/>
          </p:cNvSpPr>
          <p:nvPr/>
        </p:nvSpPr>
        <p:spPr bwMode="auto">
          <a:xfrm>
            <a:off x="7505700" y="4649788"/>
            <a:ext cx="995363" cy="280987"/>
          </a:xfrm>
          <a:prstGeom prst="rect">
            <a:avLst/>
          </a:prstGeom>
          <a:noFill/>
          <a:ln w="38100" algn="ctr">
            <a:solidFill>
              <a:srgbClr val="CC0099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>
              <a:spcBef>
                <a:spcPts val="1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 algn="l">
              <a:spcBef>
                <a:spcPts val="525"/>
              </a:spcBef>
              <a:buClr>
                <a:srgbClr val="000000"/>
              </a:buClr>
              <a:buSzPct val="10000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Helvetica" panose="020B0604020202020204" pitchFamily="34" charset="0"/>
              <a:buChar char="–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95211890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87375" y="4695092"/>
            <a:ext cx="6376133" cy="216290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Double Hashing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458200" cy="5614988"/>
          </a:xfrm>
        </p:spPr>
        <p:txBody>
          <a:bodyPr/>
          <a:lstStyle/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Use two hash functions:</a:t>
            </a:r>
          </a:p>
          <a:p>
            <a:pPr lvl="1"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dirty="0"/>
              <a:t>h1 computes the hash code</a:t>
            </a:r>
          </a:p>
          <a:p>
            <a:pPr lvl="1"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dirty="0"/>
              <a:t>h2 computes the increment for probing</a:t>
            </a:r>
          </a:p>
          <a:p>
            <a:pPr lvl="1"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dirty="0"/>
              <a:t>probe sequence:  h1, h1 + h2, h1 + 2*h2, …</a:t>
            </a:r>
          </a:p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Examples: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h1 = our previous h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h2 = number of characters in the string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"ape" (h1 = 0, h2 = 3): try 0, 0 + 3 – open! 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"bear" (h1 = 1, h2 = 4): try 1 – open!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"zebu"? try 25, (25 + 4) % 26, (25 + 8) % 26 – open!</a:t>
            </a:r>
            <a:endParaRPr lang="en-US" altLang="en-US" dirty="0"/>
          </a:p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Combines the good features of linear and</a:t>
            </a:r>
            <a:br>
              <a:rPr lang="en-US" altLang="en-US" dirty="0"/>
            </a:br>
            <a:r>
              <a:rPr lang="en-US" altLang="en-US" dirty="0"/>
              <a:t>quadratic probing:</a:t>
            </a:r>
          </a:p>
          <a:p>
            <a:pPr lvl="1"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dirty="0">
                <a:solidFill>
                  <a:srgbClr val="0000FF"/>
                </a:solidFill>
              </a:rPr>
              <a:t>reduces clustering</a:t>
            </a:r>
          </a:p>
          <a:p>
            <a:pPr lvl="1"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dirty="0"/>
              <a:t>will find an open position if there is one,</a:t>
            </a:r>
            <a:br>
              <a:rPr lang="en-US" altLang="en-US" dirty="0"/>
            </a:br>
            <a:r>
              <a:rPr lang="en-US" altLang="en-US" dirty="0"/>
              <a:t>provided the table size is a prime number</a:t>
            </a:r>
          </a:p>
        </p:txBody>
      </p:sp>
      <p:graphicFrame>
        <p:nvGraphicFramePr>
          <p:cNvPr id="2204677" name="Group 5"/>
          <p:cNvGraphicFramePr>
            <a:graphicFrameLocks noGrp="1"/>
          </p:cNvGraphicFramePr>
          <p:nvPr/>
        </p:nvGraphicFramePr>
        <p:xfrm>
          <a:off x="6427788" y="2278063"/>
          <a:ext cx="2097087" cy="4359277"/>
        </p:xfrm>
        <a:graphic>
          <a:graphicData uri="http://schemas.openxmlformats.org/drawingml/2006/table">
            <a:tbl>
              <a:tblPr/>
              <a:tblGrid>
                <a:gridCol w="105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6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0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"ant"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Console" pitchFamily="49" charset="0"/>
                        </a:rPr>
                        <a:t>"bear"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"cat"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3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Console" pitchFamily="49" charset="0"/>
                        </a:rPr>
                        <a:t>"ape"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4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"emu"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5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6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7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Console" pitchFamily="49" charset="0"/>
                        </a:rPr>
                        <a:t>"zebu"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…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...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22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"wolf"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23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"wasp"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24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"yak"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25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"zebra"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 b="1" dirty="0"/>
              <a:t>Removing</a:t>
            </a:r>
            <a:r>
              <a:rPr lang="en-US" altLang="en-US" dirty="0"/>
              <a:t> Items Under Open Addressing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458200" cy="5614988"/>
          </a:xfrm>
        </p:spPr>
        <p:txBody>
          <a:bodyPr/>
          <a:lstStyle/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Consider the following scenario: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using </a:t>
            </a:r>
            <a:r>
              <a:rPr lang="en-US" altLang="en-US" sz="2000" b="1" dirty="0">
                <a:solidFill>
                  <a:schemeClr val="tx1"/>
                </a:solidFill>
              </a:rPr>
              <a:t>linear</a:t>
            </a:r>
            <a:r>
              <a:rPr lang="en-US" altLang="en-US" sz="2000" dirty="0"/>
              <a:t> probing</a:t>
            </a:r>
          </a:p>
          <a:p>
            <a:pPr marL="457200" lvl="1" indent="0">
              <a:lnSpc>
                <a:spcPct val="90000"/>
              </a:lnSpc>
              <a:spcBef>
                <a:spcPts val="500"/>
              </a:spcBef>
              <a:buNone/>
              <a:tabLst>
                <a:tab pos="569913" algn="l"/>
                <a:tab pos="793750" algn="l"/>
              </a:tabLst>
            </a:pPr>
            <a:endParaRPr lang="en-US" altLang="en-US" sz="2000" dirty="0"/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endParaRPr lang="en-US" altLang="en-US" sz="2000" dirty="0"/>
          </a:p>
        </p:txBody>
      </p:sp>
      <p:graphicFrame>
        <p:nvGraphicFramePr>
          <p:cNvPr id="2208773" name="Group 5"/>
          <p:cNvGraphicFramePr>
            <a:graphicFrameLocks noGrp="1"/>
          </p:cNvGraphicFramePr>
          <p:nvPr/>
        </p:nvGraphicFramePr>
        <p:xfrm>
          <a:off x="6634163" y="976313"/>
          <a:ext cx="2097087" cy="3687794"/>
        </p:xfrm>
        <a:graphic>
          <a:graphicData uri="http://schemas.openxmlformats.org/drawingml/2006/table">
            <a:tbl>
              <a:tblPr/>
              <a:tblGrid>
                <a:gridCol w="105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6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0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"ant"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"cat"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3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4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"emu"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5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…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...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22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"wolf"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23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"wasp"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24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"yak"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25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"zebra"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9872455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 b="1" dirty="0"/>
              <a:t>Removing</a:t>
            </a:r>
            <a:r>
              <a:rPr lang="en-US" altLang="en-US" dirty="0"/>
              <a:t> Items Under Open Addressing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458200" cy="5614988"/>
          </a:xfrm>
        </p:spPr>
        <p:txBody>
          <a:bodyPr/>
          <a:lstStyle/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Consider the following scenario: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using </a:t>
            </a:r>
            <a:r>
              <a:rPr lang="en-US" altLang="en-US" sz="2000" b="1" dirty="0">
                <a:solidFill>
                  <a:schemeClr val="tx1"/>
                </a:solidFill>
              </a:rPr>
              <a:t>linear</a:t>
            </a:r>
            <a:r>
              <a:rPr lang="en-US" altLang="en-US" sz="2000" dirty="0"/>
              <a:t> probing</a:t>
            </a:r>
          </a:p>
          <a:p>
            <a:pPr marL="457200" lvl="1" indent="0">
              <a:lnSpc>
                <a:spcPct val="90000"/>
              </a:lnSpc>
              <a:spcBef>
                <a:spcPts val="500"/>
              </a:spcBef>
              <a:buNone/>
              <a:tabLst>
                <a:tab pos="569913" algn="l"/>
                <a:tab pos="793750" algn="l"/>
              </a:tabLst>
            </a:pPr>
            <a:r>
              <a:rPr lang="en-US" altLang="en-US" sz="2000" dirty="0"/>
              <a:t> 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endParaRPr lang="en-US" altLang="en-US" sz="2000" dirty="0"/>
          </a:p>
        </p:txBody>
      </p:sp>
      <p:graphicFrame>
        <p:nvGraphicFramePr>
          <p:cNvPr id="2208773" name="Group 5"/>
          <p:cNvGraphicFramePr>
            <a:graphicFrameLocks noGrp="1"/>
          </p:cNvGraphicFramePr>
          <p:nvPr/>
        </p:nvGraphicFramePr>
        <p:xfrm>
          <a:off x="6634163" y="976313"/>
          <a:ext cx="2097087" cy="3687794"/>
        </p:xfrm>
        <a:graphic>
          <a:graphicData uri="http://schemas.openxmlformats.org/drawingml/2006/table">
            <a:tbl>
              <a:tblPr/>
              <a:tblGrid>
                <a:gridCol w="105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6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0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"ant"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"cat"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3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4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"emu"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5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…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...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22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"wolf"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23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"wasp"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24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"yak"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25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"zebra"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2" name="Cloud Callout 1"/>
          <p:cNvSpPr/>
          <p:nvPr/>
        </p:nvSpPr>
        <p:spPr bwMode="auto">
          <a:xfrm>
            <a:off x="1603353" y="2011680"/>
            <a:ext cx="5030809" cy="1694046"/>
          </a:xfrm>
          <a:prstGeom prst="cloudCallout">
            <a:avLst>
              <a:gd name="adj1" fmla="val 53964"/>
              <a:gd name="adj2" fmla="val -86706"/>
            </a:avLst>
          </a:prstGeom>
          <a:solidFill>
            <a:schemeClr val="bg1">
              <a:lumMod val="95000"/>
            </a:schemeClr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Narrow" pitchFamily="34" charset="0"/>
              </a:rPr>
              <a:t>Before we remove an item we first need</a:t>
            </a:r>
            <a:r>
              <a:rPr kumimoji="0" lang="en-US" sz="2400" b="0" i="0" u="none" strike="noStrike" cap="none" normalizeH="0" dirty="0">
                <a:ln>
                  <a:noFill/>
                </a:ln>
                <a:solidFill>
                  <a:srgbClr val="000000"/>
                </a:solidFill>
                <a:effectLst/>
                <a:latin typeface="Arial Narrow" pitchFamily="34" charset="0"/>
              </a:rPr>
              <a:t> to?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5072032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 b="1" dirty="0"/>
              <a:t>Removing</a:t>
            </a:r>
            <a:r>
              <a:rPr lang="en-US" altLang="en-US" dirty="0"/>
              <a:t> Items Under Open Addressing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458200" cy="5614988"/>
          </a:xfrm>
        </p:spPr>
        <p:txBody>
          <a:bodyPr/>
          <a:lstStyle/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Consider the following scenario: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using </a:t>
            </a:r>
            <a:r>
              <a:rPr lang="en-US" altLang="en-US" sz="2000" b="1" dirty="0">
                <a:solidFill>
                  <a:schemeClr val="tx1"/>
                </a:solidFill>
              </a:rPr>
              <a:t>linear</a:t>
            </a:r>
            <a:r>
              <a:rPr lang="en-US" altLang="en-US" sz="2000" dirty="0"/>
              <a:t> probing</a:t>
            </a:r>
          </a:p>
          <a:p>
            <a:pPr marL="457200" lvl="1" indent="0">
              <a:lnSpc>
                <a:spcPct val="90000"/>
              </a:lnSpc>
              <a:spcBef>
                <a:spcPts val="500"/>
              </a:spcBef>
              <a:buNone/>
              <a:tabLst>
                <a:tab pos="569913" algn="l"/>
                <a:tab pos="793750" algn="l"/>
              </a:tabLst>
            </a:pPr>
            <a:endParaRPr lang="en-US" altLang="en-US" sz="2000" dirty="0"/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endParaRPr lang="en-US" altLang="en-US" sz="2000" dirty="0"/>
          </a:p>
        </p:txBody>
      </p:sp>
      <p:graphicFrame>
        <p:nvGraphicFramePr>
          <p:cNvPr id="2208773" name="Group 5"/>
          <p:cNvGraphicFramePr>
            <a:graphicFrameLocks noGrp="1"/>
          </p:cNvGraphicFramePr>
          <p:nvPr/>
        </p:nvGraphicFramePr>
        <p:xfrm>
          <a:off x="6634163" y="976313"/>
          <a:ext cx="2097087" cy="3687794"/>
        </p:xfrm>
        <a:graphic>
          <a:graphicData uri="http://schemas.openxmlformats.org/drawingml/2006/table">
            <a:tbl>
              <a:tblPr/>
              <a:tblGrid>
                <a:gridCol w="105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6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0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"ant"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"cat"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3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4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"emu"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5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…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...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22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"wolf"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23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"wasp"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24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"yak"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25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"zebra"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2" name="Cloud Callout 1"/>
          <p:cNvSpPr/>
          <p:nvPr/>
        </p:nvSpPr>
        <p:spPr bwMode="auto">
          <a:xfrm>
            <a:off x="2107928" y="2541069"/>
            <a:ext cx="4820194" cy="3409406"/>
          </a:xfrm>
          <a:prstGeom prst="cloudCallout">
            <a:avLst>
              <a:gd name="adj1" fmla="val -42874"/>
              <a:gd name="adj2" fmla="val -78269"/>
            </a:avLst>
          </a:prstGeom>
          <a:solidFill>
            <a:schemeClr val="bg1">
              <a:lumMod val="95000"/>
            </a:schemeClr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Arial Narrow" pitchFamily="34" charset="0"/>
              </a:rPr>
              <a:t>Search </a:t>
            </a:r>
            <a:r>
              <a:rPr kumimoji="0" lang="en-US" sz="24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rPr>
              <a:t>and find it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rPr>
              <a:t>!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200" i="1" dirty="0"/>
              <a:t>Recall from earlier that we need to use the same probing method to search for an item as we do for inserting an item into the table!</a:t>
            </a:r>
            <a:endParaRPr kumimoji="0" lang="en-US" sz="2200" b="0" i="1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991983420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Removing Items Under Open Addressing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458200" cy="5614988"/>
          </a:xfrm>
        </p:spPr>
        <p:txBody>
          <a:bodyPr/>
          <a:lstStyle/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b="1" dirty="0"/>
              <a:t>Consider the following scenario: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using linear probing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>
                <a:solidFill>
                  <a:schemeClr val="accent2"/>
                </a:solidFill>
              </a:rPr>
              <a:t>insert "ape" (h = 0): try 0 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endParaRPr lang="en-US" altLang="en-US" sz="2000" dirty="0"/>
          </a:p>
        </p:txBody>
      </p:sp>
      <p:graphicFrame>
        <p:nvGraphicFramePr>
          <p:cNvPr id="2208773" name="Group 5"/>
          <p:cNvGraphicFramePr>
            <a:graphicFrameLocks noGrp="1"/>
          </p:cNvGraphicFramePr>
          <p:nvPr/>
        </p:nvGraphicFramePr>
        <p:xfrm>
          <a:off x="6634163" y="976313"/>
          <a:ext cx="2097087" cy="3687794"/>
        </p:xfrm>
        <a:graphic>
          <a:graphicData uri="http://schemas.openxmlformats.org/drawingml/2006/table">
            <a:tbl>
              <a:tblPr/>
              <a:tblGrid>
                <a:gridCol w="105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6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0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"ant"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"cat"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3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4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"emu"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5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…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...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22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"wolf"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23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"wasp"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24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"yak"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25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"zebra"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24774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Removing Items Under Open Addressing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458200" cy="5614988"/>
          </a:xfrm>
        </p:spPr>
        <p:txBody>
          <a:bodyPr/>
          <a:lstStyle/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b="1" dirty="0"/>
              <a:t>Consider the following scenario: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using linear probing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>
                <a:solidFill>
                  <a:schemeClr val="accent2"/>
                </a:solidFill>
              </a:rPr>
              <a:t>insert "ape" (h = 0): try 0 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endParaRPr lang="en-US" altLang="en-US" sz="2000" dirty="0"/>
          </a:p>
        </p:txBody>
      </p:sp>
      <p:graphicFrame>
        <p:nvGraphicFramePr>
          <p:cNvPr id="2208773" name="Group 5"/>
          <p:cNvGraphicFramePr>
            <a:graphicFrameLocks noGrp="1"/>
          </p:cNvGraphicFramePr>
          <p:nvPr/>
        </p:nvGraphicFramePr>
        <p:xfrm>
          <a:off x="6634163" y="976313"/>
          <a:ext cx="2097087" cy="3687794"/>
        </p:xfrm>
        <a:graphic>
          <a:graphicData uri="http://schemas.openxmlformats.org/drawingml/2006/table">
            <a:tbl>
              <a:tblPr/>
              <a:tblGrid>
                <a:gridCol w="105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6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0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"ant"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"cat"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3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4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"emu"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5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…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...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22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"wolf"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23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"wasp"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24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"yak"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25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"zebra"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" name="Rectangle 54"/>
          <p:cNvSpPr>
            <a:spLocks noChangeArrowheads="1"/>
          </p:cNvSpPr>
          <p:nvPr/>
        </p:nvSpPr>
        <p:spPr bwMode="auto">
          <a:xfrm>
            <a:off x="7718352" y="1002808"/>
            <a:ext cx="995363" cy="280987"/>
          </a:xfrm>
          <a:prstGeom prst="rect">
            <a:avLst/>
          </a:prstGeom>
          <a:noFill/>
          <a:ln w="38100" algn="ctr">
            <a:solidFill>
              <a:srgbClr val="CC0099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>
              <a:spcBef>
                <a:spcPts val="1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 algn="l">
              <a:spcBef>
                <a:spcPts val="525"/>
              </a:spcBef>
              <a:buClr>
                <a:srgbClr val="000000"/>
              </a:buClr>
              <a:buSzPct val="10000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Helvetica" panose="020B0604020202020204" pitchFamily="34" charset="0"/>
              <a:buChar char="–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76304661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Removing Items Under Open Addressing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458200" cy="5614988"/>
          </a:xfrm>
        </p:spPr>
        <p:txBody>
          <a:bodyPr/>
          <a:lstStyle/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Consider the following scenario: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using linear probing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insert "ape" (h = 0): try 0, 0 + 1 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endParaRPr lang="en-US" altLang="en-US" sz="2000" dirty="0"/>
          </a:p>
        </p:txBody>
      </p:sp>
      <p:graphicFrame>
        <p:nvGraphicFramePr>
          <p:cNvPr id="2208773" name="Group 5"/>
          <p:cNvGraphicFramePr>
            <a:graphicFrameLocks noGrp="1"/>
          </p:cNvGraphicFramePr>
          <p:nvPr/>
        </p:nvGraphicFramePr>
        <p:xfrm>
          <a:off x="6634163" y="976313"/>
          <a:ext cx="2097087" cy="3687794"/>
        </p:xfrm>
        <a:graphic>
          <a:graphicData uri="http://schemas.openxmlformats.org/drawingml/2006/table">
            <a:tbl>
              <a:tblPr/>
              <a:tblGrid>
                <a:gridCol w="105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6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0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"ant"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"cat"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3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4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"emu"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5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…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...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22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"wolf"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23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"wasp"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24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"yak"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25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"zebra"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" name="Rectangle 54"/>
          <p:cNvSpPr>
            <a:spLocks noChangeArrowheads="1"/>
          </p:cNvSpPr>
          <p:nvPr/>
        </p:nvSpPr>
        <p:spPr bwMode="auto">
          <a:xfrm>
            <a:off x="7718352" y="1343054"/>
            <a:ext cx="995363" cy="280987"/>
          </a:xfrm>
          <a:prstGeom prst="rect">
            <a:avLst/>
          </a:prstGeom>
          <a:noFill/>
          <a:ln w="38100" algn="ctr">
            <a:solidFill>
              <a:srgbClr val="CC0099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>
              <a:spcBef>
                <a:spcPts val="1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 algn="l">
              <a:spcBef>
                <a:spcPts val="525"/>
              </a:spcBef>
              <a:buClr>
                <a:srgbClr val="000000"/>
              </a:buClr>
              <a:buSzPct val="10000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Helvetica" panose="020B0604020202020204" pitchFamily="34" charset="0"/>
              <a:buChar char="–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24606596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Removing Items Under Open Addressing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458200" cy="5614988"/>
          </a:xfrm>
        </p:spPr>
        <p:txBody>
          <a:bodyPr/>
          <a:lstStyle/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Consider the following scenario: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using linear probing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insert "ape" (h = 0): try 0, 0 + 1 – open! 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endParaRPr lang="en-US" altLang="en-US" sz="2000" dirty="0"/>
          </a:p>
        </p:txBody>
      </p:sp>
      <p:graphicFrame>
        <p:nvGraphicFramePr>
          <p:cNvPr id="2208773" name="Group 5"/>
          <p:cNvGraphicFramePr>
            <a:graphicFrameLocks noGrp="1"/>
          </p:cNvGraphicFramePr>
          <p:nvPr/>
        </p:nvGraphicFramePr>
        <p:xfrm>
          <a:off x="6634163" y="976313"/>
          <a:ext cx="2097087" cy="3687794"/>
        </p:xfrm>
        <a:graphic>
          <a:graphicData uri="http://schemas.openxmlformats.org/drawingml/2006/table">
            <a:tbl>
              <a:tblPr/>
              <a:tblGrid>
                <a:gridCol w="105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6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0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"ant"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Console" pitchFamily="49" charset="0"/>
                        </a:rPr>
                        <a:t>"ape"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"cat"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3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4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"emu"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5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…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...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22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"wolf"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23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"wasp"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24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"yak"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25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"zebra"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" name="Rectangle 54"/>
          <p:cNvSpPr>
            <a:spLocks noChangeArrowheads="1"/>
          </p:cNvSpPr>
          <p:nvPr/>
        </p:nvSpPr>
        <p:spPr bwMode="auto">
          <a:xfrm>
            <a:off x="7718352" y="1343054"/>
            <a:ext cx="995363" cy="280987"/>
          </a:xfrm>
          <a:prstGeom prst="rect">
            <a:avLst/>
          </a:prstGeom>
          <a:noFill/>
          <a:ln w="38100" algn="ctr">
            <a:solidFill>
              <a:srgbClr val="CC0099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>
              <a:spcBef>
                <a:spcPts val="1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 algn="l">
              <a:spcBef>
                <a:spcPts val="525"/>
              </a:spcBef>
              <a:buClr>
                <a:srgbClr val="000000"/>
              </a:buClr>
              <a:buSzPct val="10000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Helvetica" panose="020B0604020202020204" pitchFamily="34" charset="0"/>
              <a:buChar char="–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89872042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Removing Items Under Open Addressing</a:t>
            </a:r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458200" cy="5614988"/>
          </a:xfrm>
        </p:spPr>
        <p:txBody>
          <a:bodyPr/>
          <a:lstStyle/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Consider the following scenario: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using linear probing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insert "ape" (h = 0): try 0, 0 + 1 – open! 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insert "bear" (h = 1):</a:t>
            </a:r>
          </a:p>
        </p:txBody>
      </p:sp>
      <p:graphicFrame>
        <p:nvGraphicFramePr>
          <p:cNvPr id="3045380" name="Group 4"/>
          <p:cNvGraphicFramePr>
            <a:graphicFrameLocks noGrp="1"/>
          </p:cNvGraphicFramePr>
          <p:nvPr/>
        </p:nvGraphicFramePr>
        <p:xfrm>
          <a:off x="6634163" y="976313"/>
          <a:ext cx="2097087" cy="3687794"/>
        </p:xfrm>
        <a:graphic>
          <a:graphicData uri="http://schemas.openxmlformats.org/drawingml/2006/table">
            <a:tbl>
              <a:tblPr/>
              <a:tblGrid>
                <a:gridCol w="105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6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0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"ant"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Console" pitchFamily="49" charset="0"/>
                        </a:rPr>
                        <a:t>"ape"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"cat"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3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4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"emu"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5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…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...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22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"wolf"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23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"wasp"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24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"yak"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25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"zebra"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8302243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Removing Items Under Open Addressing</a:t>
            </a:r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458200" cy="5614988"/>
          </a:xfrm>
        </p:spPr>
        <p:txBody>
          <a:bodyPr/>
          <a:lstStyle/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Consider the following scenario: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using linear probing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insert "ape" (h = 0): try 0, 0 + 1 – open! 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insert "bear" (h = 1): try 1</a:t>
            </a:r>
          </a:p>
        </p:txBody>
      </p:sp>
      <p:graphicFrame>
        <p:nvGraphicFramePr>
          <p:cNvPr id="3045380" name="Group 4"/>
          <p:cNvGraphicFramePr>
            <a:graphicFrameLocks noGrp="1"/>
          </p:cNvGraphicFramePr>
          <p:nvPr/>
        </p:nvGraphicFramePr>
        <p:xfrm>
          <a:off x="6634163" y="976313"/>
          <a:ext cx="2097087" cy="3687794"/>
        </p:xfrm>
        <a:graphic>
          <a:graphicData uri="http://schemas.openxmlformats.org/drawingml/2006/table">
            <a:tbl>
              <a:tblPr/>
              <a:tblGrid>
                <a:gridCol w="105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6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0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"ant"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Console" pitchFamily="49" charset="0"/>
                        </a:rPr>
                        <a:t>"ape"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"cat"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3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4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"emu"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5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…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...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22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"wolf"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23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"wasp"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24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"yak"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25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"zebra"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" name="Rectangle 54"/>
          <p:cNvSpPr>
            <a:spLocks noChangeArrowheads="1"/>
          </p:cNvSpPr>
          <p:nvPr/>
        </p:nvSpPr>
        <p:spPr bwMode="auto">
          <a:xfrm>
            <a:off x="7718352" y="1343054"/>
            <a:ext cx="995363" cy="280987"/>
          </a:xfrm>
          <a:prstGeom prst="rect">
            <a:avLst/>
          </a:prstGeom>
          <a:noFill/>
          <a:ln w="38100" algn="ctr">
            <a:solidFill>
              <a:srgbClr val="CC0099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>
              <a:spcBef>
                <a:spcPts val="1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 algn="l">
              <a:spcBef>
                <a:spcPts val="525"/>
              </a:spcBef>
              <a:buClr>
                <a:srgbClr val="000000"/>
              </a:buClr>
              <a:buSzPct val="10000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Helvetica" panose="020B0604020202020204" pitchFamily="34" charset="0"/>
              <a:buChar char="–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92873778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Removing Items Under Open Addressing</a:t>
            </a:r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458200" cy="5614988"/>
          </a:xfrm>
        </p:spPr>
        <p:txBody>
          <a:bodyPr/>
          <a:lstStyle/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Consider the following scenario: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using linear probing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insert "ape" (h = 0): try 0, 0 + 1 – open! 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insert "bear" (h = 1): try 1, 1 + 1</a:t>
            </a:r>
          </a:p>
        </p:txBody>
      </p:sp>
      <p:graphicFrame>
        <p:nvGraphicFramePr>
          <p:cNvPr id="3045380" name="Group 4"/>
          <p:cNvGraphicFramePr>
            <a:graphicFrameLocks noGrp="1"/>
          </p:cNvGraphicFramePr>
          <p:nvPr/>
        </p:nvGraphicFramePr>
        <p:xfrm>
          <a:off x="6634163" y="976313"/>
          <a:ext cx="2097087" cy="3687794"/>
        </p:xfrm>
        <a:graphic>
          <a:graphicData uri="http://schemas.openxmlformats.org/drawingml/2006/table">
            <a:tbl>
              <a:tblPr/>
              <a:tblGrid>
                <a:gridCol w="105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6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0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"ant"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Console" pitchFamily="49" charset="0"/>
                        </a:rPr>
                        <a:t>"ape"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"cat"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3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4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"emu"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5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…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...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22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"wolf"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23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"wasp"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24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"yak"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25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"zebra"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" name="Rectangle 54"/>
          <p:cNvSpPr>
            <a:spLocks noChangeArrowheads="1"/>
          </p:cNvSpPr>
          <p:nvPr/>
        </p:nvSpPr>
        <p:spPr bwMode="auto">
          <a:xfrm>
            <a:off x="7718352" y="1672667"/>
            <a:ext cx="995363" cy="280987"/>
          </a:xfrm>
          <a:prstGeom prst="rect">
            <a:avLst/>
          </a:prstGeom>
          <a:noFill/>
          <a:ln w="38100" algn="ctr">
            <a:solidFill>
              <a:srgbClr val="CC0099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>
              <a:spcBef>
                <a:spcPts val="1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 algn="l">
              <a:spcBef>
                <a:spcPts val="525"/>
              </a:spcBef>
              <a:buClr>
                <a:srgbClr val="000000"/>
              </a:buClr>
              <a:buSzPct val="10000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Helvetica" panose="020B0604020202020204" pitchFamily="34" charset="0"/>
              <a:buChar char="–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06103888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Removing Items Under Open Addressing</a:t>
            </a:r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458200" cy="5614988"/>
          </a:xfrm>
        </p:spPr>
        <p:txBody>
          <a:bodyPr/>
          <a:lstStyle/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Consider the following scenario: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using linear probing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insert "ape" (h = 0): try 0, 0 + 1 – open! 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insert "bear" (h = 1): try 1, 1 + 1, 1 + 2</a:t>
            </a:r>
          </a:p>
        </p:txBody>
      </p:sp>
      <p:graphicFrame>
        <p:nvGraphicFramePr>
          <p:cNvPr id="3045380" name="Group 4"/>
          <p:cNvGraphicFramePr>
            <a:graphicFrameLocks noGrp="1"/>
          </p:cNvGraphicFramePr>
          <p:nvPr/>
        </p:nvGraphicFramePr>
        <p:xfrm>
          <a:off x="6634163" y="976313"/>
          <a:ext cx="2097087" cy="3687794"/>
        </p:xfrm>
        <a:graphic>
          <a:graphicData uri="http://schemas.openxmlformats.org/drawingml/2006/table">
            <a:tbl>
              <a:tblPr/>
              <a:tblGrid>
                <a:gridCol w="105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6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0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"ant"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Console" pitchFamily="49" charset="0"/>
                        </a:rPr>
                        <a:t>"ape"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"cat"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3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4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"emu"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5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…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...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22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"wolf"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23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"wasp"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24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"yak"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25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"zebra"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" name="Rectangle 54"/>
          <p:cNvSpPr>
            <a:spLocks noChangeArrowheads="1"/>
          </p:cNvSpPr>
          <p:nvPr/>
        </p:nvSpPr>
        <p:spPr bwMode="auto">
          <a:xfrm>
            <a:off x="7718352" y="2012911"/>
            <a:ext cx="995363" cy="280987"/>
          </a:xfrm>
          <a:prstGeom prst="rect">
            <a:avLst/>
          </a:prstGeom>
          <a:noFill/>
          <a:ln w="38100" algn="ctr">
            <a:solidFill>
              <a:srgbClr val="CC0099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>
              <a:spcBef>
                <a:spcPts val="1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 algn="l">
              <a:spcBef>
                <a:spcPts val="525"/>
              </a:spcBef>
              <a:buClr>
                <a:srgbClr val="000000"/>
              </a:buClr>
              <a:buSzPct val="10000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Helvetica" panose="020B0604020202020204" pitchFamily="34" charset="0"/>
              <a:buChar char="–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93834108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Removing Items Under Open Addressing</a:t>
            </a:r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458200" cy="5614988"/>
          </a:xfrm>
        </p:spPr>
        <p:txBody>
          <a:bodyPr/>
          <a:lstStyle/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Consider the following scenario: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using linear probing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insert "ape" (h = 0): try 0, 0 + 1 – open! 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insert "bear" (h = 1): try 1, 1 + 1, 1 + 2 – open!</a:t>
            </a:r>
          </a:p>
        </p:txBody>
      </p:sp>
      <p:graphicFrame>
        <p:nvGraphicFramePr>
          <p:cNvPr id="3045380" name="Group 4"/>
          <p:cNvGraphicFramePr>
            <a:graphicFrameLocks noGrp="1"/>
          </p:cNvGraphicFramePr>
          <p:nvPr/>
        </p:nvGraphicFramePr>
        <p:xfrm>
          <a:off x="6634163" y="976313"/>
          <a:ext cx="2097087" cy="3687794"/>
        </p:xfrm>
        <a:graphic>
          <a:graphicData uri="http://schemas.openxmlformats.org/drawingml/2006/table">
            <a:tbl>
              <a:tblPr/>
              <a:tblGrid>
                <a:gridCol w="105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6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0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"ant"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Console" pitchFamily="49" charset="0"/>
                        </a:rPr>
                        <a:t>"ape"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"cat"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3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Console" pitchFamily="49" charset="0"/>
                        </a:rPr>
                        <a:t>"bear"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4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"emu"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5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…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...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22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"wolf"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23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"wasp"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24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"yak"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25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"zebra"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" name="Rectangle 54"/>
          <p:cNvSpPr>
            <a:spLocks noChangeArrowheads="1"/>
          </p:cNvSpPr>
          <p:nvPr/>
        </p:nvSpPr>
        <p:spPr bwMode="auto">
          <a:xfrm>
            <a:off x="7718352" y="2012911"/>
            <a:ext cx="995363" cy="280987"/>
          </a:xfrm>
          <a:prstGeom prst="rect">
            <a:avLst/>
          </a:prstGeom>
          <a:noFill/>
          <a:ln w="38100" algn="ctr">
            <a:solidFill>
              <a:srgbClr val="CC0099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>
              <a:spcBef>
                <a:spcPts val="1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 algn="l">
              <a:spcBef>
                <a:spcPts val="525"/>
              </a:spcBef>
              <a:buClr>
                <a:srgbClr val="000000"/>
              </a:buClr>
              <a:buSzPct val="10000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Helvetica" panose="020B0604020202020204" pitchFamily="34" charset="0"/>
              <a:buChar char="–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31939813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06905" y="2261937"/>
            <a:ext cx="4862821" cy="43313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458200" cy="5614988"/>
          </a:xfrm>
        </p:spPr>
        <p:txBody>
          <a:bodyPr/>
          <a:lstStyle/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Consider the following scenario: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using linear probing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insert "ape" (h = 0): try 0, 0 + 1 – open! 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insert "bear" (h = 1): try 1, 1 + 1, 1 + 2 – open!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remove "ape“ – </a:t>
            </a:r>
            <a:r>
              <a:rPr lang="en-US" altLang="en-US" sz="2000" i="1" dirty="0"/>
              <a:t>assume no longer in table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buFontTx/>
              <a:buNone/>
              <a:tabLst>
                <a:tab pos="569913" algn="l"/>
                <a:tab pos="793750" algn="l"/>
              </a:tabLst>
            </a:pPr>
            <a:endParaRPr lang="en-US" altLang="en-US" sz="2000" b="1" dirty="0">
              <a:solidFill>
                <a:schemeClr val="accent2"/>
              </a:solidFill>
            </a:endParaRPr>
          </a:p>
        </p:txBody>
      </p:sp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Removing Items Under Open Addressing</a:t>
            </a:r>
          </a:p>
        </p:txBody>
      </p:sp>
      <p:graphicFrame>
        <p:nvGraphicFramePr>
          <p:cNvPr id="2212869" name="Group 5"/>
          <p:cNvGraphicFramePr>
            <a:graphicFrameLocks noGrp="1"/>
          </p:cNvGraphicFramePr>
          <p:nvPr/>
        </p:nvGraphicFramePr>
        <p:xfrm>
          <a:off x="6634163" y="976313"/>
          <a:ext cx="2097087" cy="3687794"/>
        </p:xfrm>
        <a:graphic>
          <a:graphicData uri="http://schemas.openxmlformats.org/drawingml/2006/table">
            <a:tbl>
              <a:tblPr/>
              <a:tblGrid>
                <a:gridCol w="105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6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0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"ant"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Console" pitchFamily="49" charset="0"/>
                        </a:rPr>
                        <a:t>"ape"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"cat"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3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Console" pitchFamily="49" charset="0"/>
                        </a:rPr>
                        <a:t>"bear"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4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"emu"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5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…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...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22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"wolf"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23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"wasp"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24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"yak"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25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"zebra"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6345633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106905" y="2261937"/>
            <a:ext cx="1700463" cy="43313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Removing Items Under Open Addressing</a:t>
            </a:r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458200" cy="5614988"/>
          </a:xfrm>
        </p:spPr>
        <p:txBody>
          <a:bodyPr/>
          <a:lstStyle/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Consider the following scenario: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using linear probing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insert "ape" (h = 0): try 0, 0 + 1 – open! 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insert "bear" (h = 1): try 1, 1 + 1, 1 + 2 – open!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remove "ape"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buFontTx/>
              <a:buNone/>
              <a:tabLst>
                <a:tab pos="569913" algn="l"/>
                <a:tab pos="793750" algn="l"/>
              </a:tabLst>
            </a:pPr>
            <a:endParaRPr lang="en-US" altLang="en-US" sz="2000" b="1" dirty="0">
              <a:solidFill>
                <a:schemeClr val="accent2"/>
              </a:solidFill>
            </a:endParaRPr>
          </a:p>
        </p:txBody>
      </p:sp>
      <p:graphicFrame>
        <p:nvGraphicFramePr>
          <p:cNvPr id="2212869" name="Group 5"/>
          <p:cNvGraphicFramePr>
            <a:graphicFrameLocks noGrp="1"/>
          </p:cNvGraphicFramePr>
          <p:nvPr/>
        </p:nvGraphicFramePr>
        <p:xfrm>
          <a:off x="6634163" y="976313"/>
          <a:ext cx="2097087" cy="3687794"/>
        </p:xfrm>
        <a:graphic>
          <a:graphicData uri="http://schemas.openxmlformats.org/drawingml/2006/table">
            <a:tbl>
              <a:tblPr/>
              <a:tblGrid>
                <a:gridCol w="105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6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0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"ant"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"cat"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3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Console" pitchFamily="49" charset="0"/>
                        </a:rPr>
                        <a:t>"bear"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4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"emu"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5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…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...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22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"wolf"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23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"wasp"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24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"yak"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25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"zebra"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89995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Removing Items Under Open Addressing</a:t>
            </a:r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458200" cy="5614988"/>
          </a:xfrm>
        </p:spPr>
        <p:txBody>
          <a:bodyPr/>
          <a:lstStyle/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Consider the following scenario: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using linear probing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insert "ape" (h = 0): try 0, 0 + 1 – open! 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insert "bear" (h = 1): try 1, 1 + 1, 1 + 2 – open!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remove "ape"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search for "ape": try 0</a:t>
            </a:r>
            <a:endParaRPr lang="en-US" altLang="en-US" sz="2000" b="1" dirty="0">
              <a:solidFill>
                <a:schemeClr val="accent2"/>
              </a:solidFill>
            </a:endParaRPr>
          </a:p>
        </p:txBody>
      </p:sp>
      <p:graphicFrame>
        <p:nvGraphicFramePr>
          <p:cNvPr id="2219013" name="Group 5"/>
          <p:cNvGraphicFramePr>
            <a:graphicFrameLocks noGrp="1"/>
          </p:cNvGraphicFramePr>
          <p:nvPr/>
        </p:nvGraphicFramePr>
        <p:xfrm>
          <a:off x="6634163" y="976313"/>
          <a:ext cx="2097087" cy="3687794"/>
        </p:xfrm>
        <a:graphic>
          <a:graphicData uri="http://schemas.openxmlformats.org/drawingml/2006/table">
            <a:tbl>
              <a:tblPr/>
              <a:tblGrid>
                <a:gridCol w="105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6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0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"ant"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"cat"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3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Console" pitchFamily="49" charset="0"/>
                        </a:rPr>
                        <a:t>"bear"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4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"emu"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5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…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...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22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"wolf"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23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"wasp"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24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"yak"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25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"zebra"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2265" name="Rectangle 48"/>
          <p:cNvSpPr>
            <a:spLocks noChangeArrowheads="1"/>
          </p:cNvSpPr>
          <p:nvPr/>
        </p:nvSpPr>
        <p:spPr bwMode="auto">
          <a:xfrm>
            <a:off x="7715250" y="994842"/>
            <a:ext cx="995363" cy="280987"/>
          </a:xfrm>
          <a:prstGeom prst="rect">
            <a:avLst/>
          </a:prstGeom>
          <a:noFill/>
          <a:ln w="38100" algn="ctr">
            <a:solidFill>
              <a:srgbClr val="CC0099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>
              <a:spcBef>
                <a:spcPts val="1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 algn="l">
              <a:spcBef>
                <a:spcPts val="525"/>
              </a:spcBef>
              <a:buClr>
                <a:srgbClr val="000000"/>
              </a:buClr>
              <a:buSzPct val="10000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Helvetica" panose="020B0604020202020204" pitchFamily="34" charset="0"/>
              <a:buChar char="–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92577980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Removing Items Under Open Addressing</a:t>
            </a:r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458200" cy="5614988"/>
          </a:xfrm>
        </p:spPr>
        <p:txBody>
          <a:bodyPr/>
          <a:lstStyle/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Consider the following scenario: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using linear probing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insert "ape" (h = 0): try 0, 0 + 1 – open! 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insert "bear" (h = 1): try 1, 1 + 1, 1 + 2 – open!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remove "ape"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search for "ape": try 0, </a:t>
            </a:r>
            <a:r>
              <a:rPr lang="en-US" altLang="en-US" sz="2000" dirty="0">
                <a:solidFill>
                  <a:schemeClr val="tx1"/>
                </a:solidFill>
              </a:rPr>
              <a:t>0 + 1</a:t>
            </a:r>
          </a:p>
        </p:txBody>
      </p:sp>
      <p:graphicFrame>
        <p:nvGraphicFramePr>
          <p:cNvPr id="2219013" name="Group 5"/>
          <p:cNvGraphicFramePr>
            <a:graphicFrameLocks noGrp="1"/>
          </p:cNvGraphicFramePr>
          <p:nvPr/>
        </p:nvGraphicFramePr>
        <p:xfrm>
          <a:off x="6634163" y="976313"/>
          <a:ext cx="2097087" cy="3687794"/>
        </p:xfrm>
        <a:graphic>
          <a:graphicData uri="http://schemas.openxmlformats.org/drawingml/2006/table">
            <a:tbl>
              <a:tblPr/>
              <a:tblGrid>
                <a:gridCol w="105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6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0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"ant"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"cat"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3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Console" pitchFamily="49" charset="0"/>
                        </a:rPr>
                        <a:t>"bear"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4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"emu"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5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…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...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22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"wolf"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23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"wasp"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24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"yak"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25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"zebra"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2265" name="Rectangle 48"/>
          <p:cNvSpPr>
            <a:spLocks noChangeArrowheads="1"/>
          </p:cNvSpPr>
          <p:nvPr/>
        </p:nvSpPr>
        <p:spPr bwMode="auto">
          <a:xfrm>
            <a:off x="7715250" y="1335088"/>
            <a:ext cx="995363" cy="280987"/>
          </a:xfrm>
          <a:prstGeom prst="rect">
            <a:avLst/>
          </a:prstGeom>
          <a:noFill/>
          <a:ln w="38100" algn="ctr">
            <a:solidFill>
              <a:srgbClr val="CC0099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>
              <a:spcBef>
                <a:spcPts val="1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 algn="l">
              <a:spcBef>
                <a:spcPts val="525"/>
              </a:spcBef>
              <a:buClr>
                <a:srgbClr val="000000"/>
              </a:buClr>
              <a:buSzPct val="10000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Helvetica" panose="020B0604020202020204" pitchFamily="34" charset="0"/>
              <a:buChar char="–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7201468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Removing Items Under Open Addressing</a:t>
            </a:r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458200" cy="5614988"/>
          </a:xfrm>
        </p:spPr>
        <p:txBody>
          <a:bodyPr/>
          <a:lstStyle/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Consider the following scenario: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using linear probing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insert "ape" (h = 0): try 0, 0 + 1 – open! 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insert "bear" (h = 1): try 1, 1 + 1, 1 + 2 – open!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remove "ape"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search for "ape": try 0, </a:t>
            </a:r>
            <a:r>
              <a:rPr lang="en-US" altLang="en-US" sz="2000" dirty="0">
                <a:solidFill>
                  <a:schemeClr val="tx1"/>
                </a:solidFill>
              </a:rPr>
              <a:t>0 + 1</a:t>
            </a:r>
            <a:r>
              <a:rPr lang="en-US" altLang="en-US" sz="2000" b="1" dirty="0">
                <a:solidFill>
                  <a:schemeClr val="accent2"/>
                </a:solidFill>
              </a:rPr>
              <a:t> – conclude not in table</a:t>
            </a:r>
          </a:p>
        </p:txBody>
      </p:sp>
      <p:graphicFrame>
        <p:nvGraphicFramePr>
          <p:cNvPr id="2219013" name="Group 5"/>
          <p:cNvGraphicFramePr>
            <a:graphicFrameLocks noGrp="1"/>
          </p:cNvGraphicFramePr>
          <p:nvPr/>
        </p:nvGraphicFramePr>
        <p:xfrm>
          <a:off x="6634163" y="976313"/>
          <a:ext cx="2097087" cy="3687794"/>
        </p:xfrm>
        <a:graphic>
          <a:graphicData uri="http://schemas.openxmlformats.org/drawingml/2006/table">
            <a:tbl>
              <a:tblPr/>
              <a:tblGrid>
                <a:gridCol w="105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6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0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"ant"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"cat"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3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Console" pitchFamily="49" charset="0"/>
                        </a:rPr>
                        <a:t>"bear"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4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"emu"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5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…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...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22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"wolf"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23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"wasp"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24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"yak"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25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"zebra"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2265" name="Rectangle 48"/>
          <p:cNvSpPr>
            <a:spLocks noChangeArrowheads="1"/>
          </p:cNvSpPr>
          <p:nvPr/>
        </p:nvSpPr>
        <p:spPr bwMode="auto">
          <a:xfrm>
            <a:off x="7715250" y="1335088"/>
            <a:ext cx="995363" cy="280987"/>
          </a:xfrm>
          <a:prstGeom prst="rect">
            <a:avLst/>
          </a:prstGeom>
          <a:noFill/>
          <a:ln w="38100" algn="ctr">
            <a:solidFill>
              <a:srgbClr val="CC0099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>
              <a:spcBef>
                <a:spcPts val="1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 algn="l">
              <a:spcBef>
                <a:spcPts val="525"/>
              </a:spcBef>
              <a:buClr>
                <a:srgbClr val="000000"/>
              </a:buClr>
              <a:buSzPct val="10000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Helvetica" panose="020B0604020202020204" pitchFamily="34" charset="0"/>
              <a:buChar char="–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52206895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Removing Items Under Open Addressing</a:t>
            </a:r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458200" cy="5614988"/>
          </a:xfrm>
        </p:spPr>
        <p:txBody>
          <a:bodyPr/>
          <a:lstStyle/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Consider the following scenario: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using linear probing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insert "ape" (h = 0): try 0, 0 + 1 – open! 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insert "bear" (h = 1): try 1, 1 + 1, 1 + 2 – open!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remove "ape"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search for "ape": try 0, </a:t>
            </a:r>
            <a:r>
              <a:rPr lang="en-US" altLang="en-US" sz="2000" dirty="0">
                <a:solidFill>
                  <a:schemeClr val="tx1"/>
                </a:solidFill>
              </a:rPr>
              <a:t>0 + 1</a:t>
            </a:r>
            <a:r>
              <a:rPr lang="en-US" altLang="en-US" sz="2000" b="1" dirty="0">
                <a:solidFill>
                  <a:schemeClr val="accent2"/>
                </a:solidFill>
              </a:rPr>
              <a:t> – correct! In this case!</a:t>
            </a:r>
          </a:p>
        </p:txBody>
      </p:sp>
      <p:graphicFrame>
        <p:nvGraphicFramePr>
          <p:cNvPr id="2219013" name="Group 5"/>
          <p:cNvGraphicFramePr>
            <a:graphicFrameLocks noGrp="1"/>
          </p:cNvGraphicFramePr>
          <p:nvPr/>
        </p:nvGraphicFramePr>
        <p:xfrm>
          <a:off x="6634163" y="976313"/>
          <a:ext cx="2097087" cy="3687794"/>
        </p:xfrm>
        <a:graphic>
          <a:graphicData uri="http://schemas.openxmlformats.org/drawingml/2006/table">
            <a:tbl>
              <a:tblPr/>
              <a:tblGrid>
                <a:gridCol w="105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6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0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"ant"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"cat"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3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Console" pitchFamily="49" charset="0"/>
                        </a:rPr>
                        <a:t>"bear"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4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"emu"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5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…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...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22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"wolf"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23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"wasp"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24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"yak"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25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"zebra"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2265" name="Rectangle 48"/>
          <p:cNvSpPr>
            <a:spLocks noChangeArrowheads="1"/>
          </p:cNvSpPr>
          <p:nvPr/>
        </p:nvSpPr>
        <p:spPr bwMode="auto">
          <a:xfrm>
            <a:off x="7715250" y="1335088"/>
            <a:ext cx="995363" cy="280987"/>
          </a:xfrm>
          <a:prstGeom prst="rect">
            <a:avLst/>
          </a:prstGeom>
          <a:noFill/>
          <a:ln w="38100" algn="ctr">
            <a:solidFill>
              <a:srgbClr val="CC0099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>
              <a:spcBef>
                <a:spcPts val="1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 algn="l">
              <a:spcBef>
                <a:spcPts val="525"/>
              </a:spcBef>
              <a:buClr>
                <a:srgbClr val="000000"/>
              </a:buClr>
              <a:buSzPct val="10000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Helvetica" panose="020B0604020202020204" pitchFamily="34" charset="0"/>
              <a:buChar char="–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72264409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Removing Items Under Open Addressing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458200" cy="5614988"/>
          </a:xfrm>
        </p:spPr>
        <p:txBody>
          <a:bodyPr/>
          <a:lstStyle/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Consider the following scenario: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using linear probing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insert "ape" (h = 0): try 0, 0 + 1 – open! 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insert "bear" (h = 1): try 1, 1 + 1, 1 + 2 – open!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remove "ape"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search for "ape": try 0, 0 + 1 – conclude not in table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search for "bear":</a:t>
            </a:r>
            <a:r>
              <a:rPr lang="en-US" altLang="en-US" sz="2000" b="1" dirty="0">
                <a:solidFill>
                  <a:schemeClr val="accent2"/>
                </a:solidFill>
              </a:rPr>
              <a:t> </a:t>
            </a:r>
            <a:br>
              <a:rPr lang="en-US" altLang="en-US" sz="2000" b="1" dirty="0">
                <a:solidFill>
                  <a:schemeClr val="accent2"/>
                </a:solidFill>
              </a:rPr>
            </a:br>
            <a:endParaRPr lang="en-US" altLang="en-US" b="1" dirty="0">
              <a:solidFill>
                <a:schemeClr val="accent2"/>
              </a:solidFill>
            </a:endParaRPr>
          </a:p>
        </p:txBody>
      </p:sp>
      <p:graphicFrame>
        <p:nvGraphicFramePr>
          <p:cNvPr id="2223109" name="Group 5"/>
          <p:cNvGraphicFramePr>
            <a:graphicFrameLocks noGrp="1"/>
          </p:cNvGraphicFramePr>
          <p:nvPr/>
        </p:nvGraphicFramePr>
        <p:xfrm>
          <a:off x="6634163" y="976313"/>
          <a:ext cx="2097087" cy="3687794"/>
        </p:xfrm>
        <a:graphic>
          <a:graphicData uri="http://schemas.openxmlformats.org/drawingml/2006/table">
            <a:tbl>
              <a:tblPr/>
              <a:tblGrid>
                <a:gridCol w="105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6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0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"ant"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"cat"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3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"bear"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4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"emu"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5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…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...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22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"wolf"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23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"wasp"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24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"yak"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25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"zebra"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0779348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Removing Items Under Open Addressing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458200" cy="5614988"/>
          </a:xfrm>
        </p:spPr>
        <p:txBody>
          <a:bodyPr/>
          <a:lstStyle/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Consider the following scenario: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using linear probing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insert "ape" (h = 0): try 0, 0 + 1 – open! 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insert "bear" (h = 1): try 1, 1 + 1, 1 + 2 – open!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remove "ape"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search for "ape": try 0, 0 + 1 – conclude not in table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search for "bear": </a:t>
            </a:r>
            <a:r>
              <a:rPr lang="en-US" altLang="en-US" sz="2000" dirty="0">
                <a:solidFill>
                  <a:schemeClr val="tx1"/>
                </a:solidFill>
              </a:rPr>
              <a:t>try 1</a:t>
            </a:r>
            <a:r>
              <a:rPr lang="en-US" altLang="en-US" sz="2000" b="1" dirty="0">
                <a:solidFill>
                  <a:schemeClr val="accent2"/>
                </a:solidFill>
              </a:rPr>
              <a:t> </a:t>
            </a:r>
            <a:br>
              <a:rPr lang="en-US" altLang="en-US" sz="2000" b="1" dirty="0">
                <a:solidFill>
                  <a:schemeClr val="accent2"/>
                </a:solidFill>
              </a:rPr>
            </a:br>
            <a:endParaRPr lang="en-US" altLang="en-US" b="1" dirty="0">
              <a:solidFill>
                <a:schemeClr val="accent2"/>
              </a:solidFill>
            </a:endParaRPr>
          </a:p>
        </p:txBody>
      </p:sp>
      <p:graphicFrame>
        <p:nvGraphicFramePr>
          <p:cNvPr id="2223109" name="Group 5"/>
          <p:cNvGraphicFramePr>
            <a:graphicFrameLocks noGrp="1"/>
          </p:cNvGraphicFramePr>
          <p:nvPr/>
        </p:nvGraphicFramePr>
        <p:xfrm>
          <a:off x="6634163" y="976313"/>
          <a:ext cx="2097087" cy="3687794"/>
        </p:xfrm>
        <a:graphic>
          <a:graphicData uri="http://schemas.openxmlformats.org/drawingml/2006/table">
            <a:tbl>
              <a:tblPr/>
              <a:tblGrid>
                <a:gridCol w="105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6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0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"ant"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"cat"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3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"bear"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4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"emu"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5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…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...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22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"wolf"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23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"wasp"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24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"yak"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25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"zebra"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3289" name="Rectangle 48"/>
          <p:cNvSpPr>
            <a:spLocks noChangeArrowheads="1"/>
          </p:cNvSpPr>
          <p:nvPr/>
        </p:nvSpPr>
        <p:spPr bwMode="auto">
          <a:xfrm>
            <a:off x="7715250" y="1335088"/>
            <a:ext cx="995363" cy="280987"/>
          </a:xfrm>
          <a:prstGeom prst="rect">
            <a:avLst/>
          </a:prstGeom>
          <a:noFill/>
          <a:ln w="38100" algn="ctr">
            <a:solidFill>
              <a:srgbClr val="CC0099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>
              <a:spcBef>
                <a:spcPts val="1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 algn="l">
              <a:spcBef>
                <a:spcPts val="525"/>
              </a:spcBef>
              <a:buClr>
                <a:srgbClr val="000000"/>
              </a:buClr>
              <a:buSzPct val="10000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Helvetica" panose="020B0604020202020204" pitchFamily="34" charset="0"/>
              <a:buChar char="–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64673910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Removing Items Under Open Addressing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458200" cy="5614988"/>
          </a:xfrm>
        </p:spPr>
        <p:txBody>
          <a:bodyPr/>
          <a:lstStyle/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Consider the following scenario: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using linear probing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insert "ape" (h = 0): try 0, 0 + 1 – open! 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insert "bear" (h = 1): try 1, 1 + 1, 1 + 2 – open!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remove "ape"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search for "ape": try 0, 0 + 1 – conclude not in table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search for "bear": </a:t>
            </a:r>
            <a:r>
              <a:rPr lang="en-US" altLang="en-US" sz="2000" dirty="0">
                <a:solidFill>
                  <a:schemeClr val="tx1"/>
                </a:solidFill>
              </a:rPr>
              <a:t>try 1</a:t>
            </a:r>
            <a:r>
              <a:rPr lang="en-US" altLang="en-US" sz="2000" b="1" dirty="0">
                <a:solidFill>
                  <a:schemeClr val="accent2"/>
                </a:solidFill>
              </a:rPr>
              <a:t> – conclude not in table </a:t>
            </a:r>
            <a:br>
              <a:rPr lang="en-US" altLang="en-US" sz="2000" b="1" dirty="0">
                <a:solidFill>
                  <a:schemeClr val="accent2"/>
                </a:solidFill>
              </a:rPr>
            </a:br>
            <a:endParaRPr lang="en-US" altLang="en-US" b="1" dirty="0">
              <a:solidFill>
                <a:schemeClr val="accent2"/>
              </a:solidFill>
            </a:endParaRPr>
          </a:p>
        </p:txBody>
      </p:sp>
      <p:graphicFrame>
        <p:nvGraphicFramePr>
          <p:cNvPr id="2223109" name="Group 5"/>
          <p:cNvGraphicFramePr>
            <a:graphicFrameLocks noGrp="1"/>
          </p:cNvGraphicFramePr>
          <p:nvPr/>
        </p:nvGraphicFramePr>
        <p:xfrm>
          <a:off x="6634163" y="976313"/>
          <a:ext cx="2097087" cy="3687794"/>
        </p:xfrm>
        <a:graphic>
          <a:graphicData uri="http://schemas.openxmlformats.org/drawingml/2006/table">
            <a:tbl>
              <a:tblPr/>
              <a:tblGrid>
                <a:gridCol w="105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6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0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"ant"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"cat"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3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"bear"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4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"emu"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5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…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...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22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"wolf"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23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"wasp"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24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"yak"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25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"zebra"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3289" name="Rectangle 48"/>
          <p:cNvSpPr>
            <a:spLocks noChangeArrowheads="1"/>
          </p:cNvSpPr>
          <p:nvPr/>
        </p:nvSpPr>
        <p:spPr bwMode="auto">
          <a:xfrm>
            <a:off x="7715250" y="1335088"/>
            <a:ext cx="995363" cy="280987"/>
          </a:xfrm>
          <a:prstGeom prst="rect">
            <a:avLst/>
          </a:prstGeom>
          <a:noFill/>
          <a:ln w="38100" algn="ctr">
            <a:solidFill>
              <a:srgbClr val="CC0099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>
              <a:spcBef>
                <a:spcPts val="1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 algn="l">
              <a:spcBef>
                <a:spcPts val="525"/>
              </a:spcBef>
              <a:buClr>
                <a:srgbClr val="000000"/>
              </a:buClr>
              <a:buSzPct val="10000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Helvetica" panose="020B0604020202020204" pitchFamily="34" charset="0"/>
              <a:buChar char="–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45410244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Removing Items Under Open Addressing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458200" cy="5614988"/>
          </a:xfrm>
        </p:spPr>
        <p:txBody>
          <a:bodyPr/>
          <a:lstStyle/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Consider the following scenario: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using linear probing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insert "ape" (h = 0): try 0, 0 + 1 – open! 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insert "bear" (h = 1): try 1, 1 + 1, 1 + 2 – open!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remove "ape"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search for "ape": try 0, 0 + 1 – conclude not in table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search for "bear": </a:t>
            </a:r>
            <a:r>
              <a:rPr lang="en-US" altLang="en-US" sz="2000" dirty="0">
                <a:solidFill>
                  <a:schemeClr val="tx1"/>
                </a:solidFill>
              </a:rPr>
              <a:t>try 1</a:t>
            </a:r>
            <a:r>
              <a:rPr lang="en-US" altLang="en-US" sz="2000" b="1" dirty="0">
                <a:solidFill>
                  <a:schemeClr val="accent2"/>
                </a:solidFill>
              </a:rPr>
              <a:t> </a:t>
            </a:r>
            <a:r>
              <a:rPr lang="en-US" altLang="en-US" sz="2000" b="1" dirty="0">
                <a:solidFill>
                  <a:schemeClr val="tx1"/>
                </a:solidFill>
              </a:rPr>
              <a:t>– incorrect, </a:t>
            </a:r>
            <a:br>
              <a:rPr lang="en-US" altLang="en-US" sz="2000" b="1" dirty="0">
                <a:solidFill>
                  <a:schemeClr val="accent2"/>
                </a:solidFill>
              </a:rPr>
            </a:br>
            <a:r>
              <a:rPr lang="en-US" altLang="en-US" sz="2000" b="1" dirty="0">
                <a:solidFill>
                  <a:schemeClr val="accent2"/>
                </a:solidFill>
              </a:rPr>
              <a:t>"bear" is further down in the table!</a:t>
            </a:r>
            <a:endParaRPr lang="en-US" altLang="en-US" b="1" dirty="0">
              <a:solidFill>
                <a:schemeClr val="accent2"/>
              </a:solidFill>
            </a:endParaRPr>
          </a:p>
        </p:txBody>
      </p:sp>
      <p:graphicFrame>
        <p:nvGraphicFramePr>
          <p:cNvPr id="2223109" name="Group 5"/>
          <p:cNvGraphicFramePr>
            <a:graphicFrameLocks noGrp="1"/>
          </p:cNvGraphicFramePr>
          <p:nvPr/>
        </p:nvGraphicFramePr>
        <p:xfrm>
          <a:off x="6634163" y="976313"/>
          <a:ext cx="2097087" cy="3687794"/>
        </p:xfrm>
        <a:graphic>
          <a:graphicData uri="http://schemas.openxmlformats.org/drawingml/2006/table">
            <a:tbl>
              <a:tblPr/>
              <a:tblGrid>
                <a:gridCol w="105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6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0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"ant"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"cat"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3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Console" pitchFamily="49" charset="0"/>
                        </a:rPr>
                        <a:t>"bear"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4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"emu"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5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…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...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22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"wolf"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23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"wasp"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24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"yak"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25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"zebra"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3289" name="Rectangle 48"/>
          <p:cNvSpPr>
            <a:spLocks noChangeArrowheads="1"/>
          </p:cNvSpPr>
          <p:nvPr/>
        </p:nvSpPr>
        <p:spPr bwMode="auto">
          <a:xfrm>
            <a:off x="7715250" y="1335088"/>
            <a:ext cx="995363" cy="280987"/>
          </a:xfrm>
          <a:prstGeom prst="rect">
            <a:avLst/>
          </a:prstGeom>
          <a:noFill/>
          <a:ln w="38100" algn="ctr">
            <a:solidFill>
              <a:srgbClr val="CC0099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>
              <a:spcBef>
                <a:spcPts val="1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 algn="l">
              <a:spcBef>
                <a:spcPts val="525"/>
              </a:spcBef>
              <a:buClr>
                <a:srgbClr val="000000"/>
              </a:buClr>
              <a:buSzPct val="10000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Helvetica" panose="020B0604020202020204" pitchFamily="34" charset="0"/>
              <a:buChar char="–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22075193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Removing Items Under Open Addressing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458200" cy="5614988"/>
          </a:xfrm>
        </p:spPr>
        <p:txBody>
          <a:bodyPr/>
          <a:lstStyle/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Consider the following scenario: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using linear probing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insert "ape" (h = 0): try 0, 0 + 1 – open! 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insert "bear" (h = 1): try 1, 1 + 1, 1 + 2 – open!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remove "ape"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search for "ape": try 0, 0 + 1 – conclude not in table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search for "bear": </a:t>
            </a:r>
            <a:r>
              <a:rPr lang="en-US" altLang="en-US" sz="2000" dirty="0">
                <a:solidFill>
                  <a:schemeClr val="tx1"/>
                </a:solidFill>
              </a:rPr>
              <a:t>try 1</a:t>
            </a:r>
            <a:r>
              <a:rPr lang="en-US" altLang="en-US" sz="2000" b="1" dirty="0">
                <a:solidFill>
                  <a:schemeClr val="accent2"/>
                </a:solidFill>
              </a:rPr>
              <a:t> </a:t>
            </a:r>
            <a:r>
              <a:rPr lang="en-US" altLang="en-US" sz="2000" b="1" dirty="0">
                <a:solidFill>
                  <a:schemeClr val="tx1"/>
                </a:solidFill>
              </a:rPr>
              <a:t>– conclude not in table, </a:t>
            </a:r>
            <a:br>
              <a:rPr lang="en-US" altLang="en-US" sz="2000" b="1" dirty="0">
                <a:solidFill>
                  <a:schemeClr val="accent2"/>
                </a:solidFill>
              </a:rPr>
            </a:br>
            <a:r>
              <a:rPr lang="en-US" altLang="en-US" sz="2000" b="1" dirty="0">
                <a:solidFill>
                  <a:schemeClr val="accent2"/>
                </a:solidFill>
              </a:rPr>
              <a:t>but "bear" is further down in the table!</a:t>
            </a:r>
            <a:endParaRPr lang="en-US" altLang="en-US" b="1" dirty="0">
              <a:solidFill>
                <a:schemeClr val="accent2"/>
              </a:solidFill>
            </a:endParaRPr>
          </a:p>
        </p:txBody>
      </p:sp>
      <p:graphicFrame>
        <p:nvGraphicFramePr>
          <p:cNvPr id="2223109" name="Group 5"/>
          <p:cNvGraphicFramePr>
            <a:graphicFrameLocks noGrp="1"/>
          </p:cNvGraphicFramePr>
          <p:nvPr/>
        </p:nvGraphicFramePr>
        <p:xfrm>
          <a:off x="6634163" y="976313"/>
          <a:ext cx="2097087" cy="3687794"/>
        </p:xfrm>
        <a:graphic>
          <a:graphicData uri="http://schemas.openxmlformats.org/drawingml/2006/table">
            <a:tbl>
              <a:tblPr/>
              <a:tblGrid>
                <a:gridCol w="105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6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0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"ant"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"cat"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3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Console" pitchFamily="49" charset="0"/>
                        </a:rPr>
                        <a:t>"bear"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4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"emu"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5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…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...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22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"wolf"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23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"wasp"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24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"yak"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25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"zebra"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3289" name="Rectangle 48"/>
          <p:cNvSpPr>
            <a:spLocks noChangeArrowheads="1"/>
          </p:cNvSpPr>
          <p:nvPr/>
        </p:nvSpPr>
        <p:spPr bwMode="auto">
          <a:xfrm>
            <a:off x="7715250" y="1335088"/>
            <a:ext cx="995363" cy="280987"/>
          </a:xfrm>
          <a:prstGeom prst="rect">
            <a:avLst/>
          </a:prstGeom>
          <a:noFill/>
          <a:ln w="38100" algn="ctr">
            <a:solidFill>
              <a:srgbClr val="CC0099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>
              <a:spcBef>
                <a:spcPts val="1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 algn="l">
              <a:spcBef>
                <a:spcPts val="525"/>
              </a:spcBef>
              <a:buClr>
                <a:srgbClr val="000000"/>
              </a:buClr>
              <a:buSzPct val="10000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Helvetica" panose="020B0604020202020204" pitchFamily="34" charset="0"/>
              <a:buChar char="–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+mn-cs"/>
            </a:endParaRPr>
          </a:p>
        </p:txBody>
      </p:sp>
      <p:sp>
        <p:nvSpPr>
          <p:cNvPr id="2" name="Cloud Callout 1"/>
          <p:cNvSpPr/>
          <p:nvPr/>
        </p:nvSpPr>
        <p:spPr bwMode="auto">
          <a:xfrm>
            <a:off x="3552092" y="3780692"/>
            <a:ext cx="3640016" cy="3077308"/>
          </a:xfrm>
          <a:prstGeom prst="cloudCallout">
            <a:avLst>
              <a:gd name="adj1" fmla="val -58031"/>
              <a:gd name="adj2" fmla="val -52099"/>
            </a:avLst>
          </a:prstGeom>
          <a:solidFill>
            <a:schemeClr val="bg1">
              <a:lumMod val="85000"/>
            </a:schemeClr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2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Narrow" pitchFamily="34" charset="0"/>
              </a:rPr>
              <a:t>We need to distinguish between an </a:t>
            </a:r>
            <a:r>
              <a:rPr kumimoji="0" lang="en-US" sz="2200" b="0" i="1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Arial Narrow" pitchFamily="34" charset="0"/>
              </a:rPr>
              <a:t>open</a:t>
            </a:r>
            <a:r>
              <a:rPr kumimoji="0" lang="en-US" sz="22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Narrow" pitchFamily="34" charset="0"/>
              </a:rPr>
              <a:t> position and a position that is </a:t>
            </a:r>
            <a:r>
              <a:rPr kumimoji="0" lang="en-US" sz="2200" b="0" i="1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Arial Narrow" pitchFamily="34" charset="0"/>
              </a:rPr>
              <a:t>open because the</a:t>
            </a:r>
            <a:r>
              <a:rPr kumimoji="0" lang="en-US" sz="2200" b="0" i="1" u="none" strike="noStrike" cap="none" normalizeH="0" dirty="0">
                <a:ln>
                  <a:noFill/>
                </a:ln>
                <a:solidFill>
                  <a:schemeClr val="accent2"/>
                </a:solidFill>
                <a:effectLst/>
                <a:latin typeface="Arial Narrow" pitchFamily="34" charset="0"/>
              </a:rPr>
              <a:t> item was removed</a:t>
            </a:r>
            <a:r>
              <a:rPr kumimoji="0" lang="en-US" sz="1800" b="0" i="0" u="none" strike="noStrike" cap="none" normalizeH="0" dirty="0">
                <a:ln>
                  <a:noFill/>
                </a:ln>
                <a:solidFill>
                  <a:srgbClr val="000000"/>
                </a:solidFill>
                <a:effectLst/>
                <a:latin typeface="Arial Narrow" pitchFamily="34" charset="0"/>
              </a:rPr>
              <a:t>!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281277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87375" y="3657600"/>
            <a:ext cx="6411302" cy="133643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Removing Items Under Open Addressing</a:t>
            </a:r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458200" cy="5614988"/>
          </a:xfrm>
        </p:spPr>
        <p:txBody>
          <a:bodyPr/>
          <a:lstStyle/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Consider the following scenario: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using linear probing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insert "ape" (h = 0): try 0, 0 + 1 – open! 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insert "bear" (h = 1): try 1, 1 + 1, 1 + 2 – open!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remove "ape"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search for "ape": try 0, 0 + 1 – conclude not in table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search for "bear": </a:t>
            </a:r>
            <a:r>
              <a:rPr lang="en-US" altLang="en-US" sz="2000" dirty="0">
                <a:solidFill>
                  <a:schemeClr val="tx1"/>
                </a:solidFill>
              </a:rPr>
              <a:t>try 1 – conclude not in table, </a:t>
            </a:r>
            <a:br>
              <a:rPr lang="en-US" altLang="en-US" sz="2000" dirty="0">
                <a:solidFill>
                  <a:schemeClr val="tx1"/>
                </a:solidFill>
              </a:rPr>
            </a:br>
            <a:r>
              <a:rPr lang="en-US" altLang="en-US" sz="2000" dirty="0">
                <a:solidFill>
                  <a:schemeClr val="tx1"/>
                </a:solidFill>
              </a:rPr>
              <a:t>but "bear" is further down in the table!</a:t>
            </a:r>
            <a:endParaRPr lang="en-US" altLang="en-US" dirty="0">
              <a:solidFill>
                <a:schemeClr val="tx1"/>
              </a:solidFill>
            </a:endParaRPr>
          </a:p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When we remove an item from a position, we</a:t>
            </a:r>
            <a:br>
              <a:rPr lang="en-US" altLang="en-US" dirty="0"/>
            </a:br>
            <a:r>
              <a:rPr lang="en-US" altLang="en-US" dirty="0"/>
              <a:t>need to leave something in that position </a:t>
            </a:r>
            <a:br>
              <a:rPr lang="en-US" altLang="en-US" dirty="0"/>
            </a:br>
            <a:r>
              <a:rPr lang="en-US" altLang="en-US" dirty="0"/>
              <a:t>to indicate that an item was removed.</a:t>
            </a:r>
          </a:p>
        </p:txBody>
      </p:sp>
      <p:graphicFrame>
        <p:nvGraphicFramePr>
          <p:cNvPr id="2227205" name="Group 5"/>
          <p:cNvGraphicFramePr>
            <a:graphicFrameLocks noGrp="1"/>
          </p:cNvGraphicFramePr>
          <p:nvPr/>
        </p:nvGraphicFramePr>
        <p:xfrm>
          <a:off x="6634163" y="976313"/>
          <a:ext cx="2097087" cy="3687794"/>
        </p:xfrm>
        <a:graphic>
          <a:graphicData uri="http://schemas.openxmlformats.org/drawingml/2006/table">
            <a:tbl>
              <a:tblPr/>
              <a:tblGrid>
                <a:gridCol w="105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6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0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"ant"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"cat"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3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Console" pitchFamily="49" charset="0"/>
                        </a:rPr>
                        <a:t>"bear"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4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"emu"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5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…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...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22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"wolf"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23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"wasp"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24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"yak"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25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"zebra"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8041935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87375" y="4833257"/>
            <a:ext cx="7302591" cy="57476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Removing Items Under Open Addressing</a:t>
            </a:r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458200" cy="5614988"/>
          </a:xfrm>
        </p:spPr>
        <p:txBody>
          <a:bodyPr/>
          <a:lstStyle/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Consider the following scenario: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using linear probing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insert "ape" (h = 0): try 0, 0 + 1 – open! 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insert "bear" (h = 1): try 1, 1 + 1, 1 + 2 – open!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remove "ape"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search for "ape": try 0, 0 + 1 – conclude not in table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search for "bear": </a:t>
            </a:r>
            <a:r>
              <a:rPr lang="en-US" altLang="en-US" sz="2000" dirty="0">
                <a:solidFill>
                  <a:schemeClr val="tx1"/>
                </a:solidFill>
              </a:rPr>
              <a:t>try 1 – conclude not in table, </a:t>
            </a:r>
            <a:br>
              <a:rPr lang="en-US" altLang="en-US" sz="2000" dirty="0">
                <a:solidFill>
                  <a:schemeClr val="tx1"/>
                </a:solidFill>
              </a:rPr>
            </a:br>
            <a:r>
              <a:rPr lang="en-US" altLang="en-US" sz="2000" dirty="0">
                <a:solidFill>
                  <a:schemeClr val="tx1"/>
                </a:solidFill>
              </a:rPr>
              <a:t>but "bear" is further down in the table!</a:t>
            </a:r>
            <a:endParaRPr lang="en-US" altLang="en-US" dirty="0">
              <a:solidFill>
                <a:schemeClr val="tx1"/>
              </a:solidFill>
            </a:endParaRPr>
          </a:p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When we remove an item from a position, we</a:t>
            </a:r>
            <a:br>
              <a:rPr lang="en-US" altLang="en-US" dirty="0"/>
            </a:br>
            <a:r>
              <a:rPr lang="en-US" altLang="en-US" dirty="0"/>
              <a:t>need to leave something in that position </a:t>
            </a:r>
            <a:br>
              <a:rPr lang="en-US" altLang="en-US" dirty="0"/>
            </a:br>
            <a:r>
              <a:rPr lang="en-US" altLang="en-US" dirty="0"/>
              <a:t>to indicate that an item was removed.</a:t>
            </a:r>
          </a:p>
          <a:p>
            <a:pPr>
              <a:spcBef>
                <a:spcPts val="10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Three types of positions: </a:t>
            </a:r>
            <a:r>
              <a:rPr lang="en-US" altLang="en-US" i="1" dirty="0">
                <a:solidFill>
                  <a:schemeClr val="accent2"/>
                </a:solidFill>
              </a:rPr>
              <a:t>occupied</a:t>
            </a:r>
            <a:r>
              <a:rPr lang="en-US" altLang="en-US" dirty="0"/>
              <a:t>, </a:t>
            </a:r>
            <a:r>
              <a:rPr lang="en-US" altLang="en-US" i="1" dirty="0">
                <a:solidFill>
                  <a:schemeClr val="accent2"/>
                </a:solidFill>
              </a:rPr>
              <a:t>empty</a:t>
            </a:r>
            <a:r>
              <a:rPr lang="en-US" altLang="en-US" dirty="0"/>
              <a:t>, </a:t>
            </a:r>
            <a:r>
              <a:rPr lang="en-US" altLang="en-US" i="1" dirty="0">
                <a:solidFill>
                  <a:schemeClr val="accent2"/>
                </a:solidFill>
              </a:rPr>
              <a:t>removed</a:t>
            </a:r>
            <a:r>
              <a:rPr lang="en-US" altLang="en-US" dirty="0"/>
              <a:t>.</a:t>
            </a:r>
          </a:p>
        </p:txBody>
      </p:sp>
      <p:graphicFrame>
        <p:nvGraphicFramePr>
          <p:cNvPr id="2227205" name="Group 5"/>
          <p:cNvGraphicFramePr>
            <a:graphicFrameLocks noGrp="1"/>
          </p:cNvGraphicFramePr>
          <p:nvPr/>
        </p:nvGraphicFramePr>
        <p:xfrm>
          <a:off x="6634163" y="976313"/>
          <a:ext cx="2097087" cy="3687794"/>
        </p:xfrm>
        <a:graphic>
          <a:graphicData uri="http://schemas.openxmlformats.org/drawingml/2006/table">
            <a:tbl>
              <a:tblPr/>
              <a:tblGrid>
                <a:gridCol w="105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6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0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"ant"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"cat"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3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Console" pitchFamily="49" charset="0"/>
                        </a:rPr>
                        <a:t>"bear"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4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"emu"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5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…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...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22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"wolf"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23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"wasp"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24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"yak"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25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"zebra"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cxnSp>
        <p:nvCxnSpPr>
          <p:cNvPr id="6" name="Straight Connector 5"/>
          <p:cNvCxnSpPr/>
          <p:nvPr/>
        </p:nvCxnSpPr>
        <p:spPr bwMode="auto">
          <a:xfrm>
            <a:off x="3825431" y="5235696"/>
            <a:ext cx="1216832" cy="251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3299533756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587375" y="4833257"/>
            <a:ext cx="7302591" cy="57476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Removing Items Under Open Addressing</a:t>
            </a:r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458200" cy="5614988"/>
          </a:xfrm>
        </p:spPr>
        <p:txBody>
          <a:bodyPr/>
          <a:lstStyle/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Consider the following scenario: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using linear probing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insert "ape" (h = 0): try 0, 0 + 1 – open! 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insert "bear" (h = 1): try 1, 1 + 1, 1 + 2 – open!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remove "ape"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search for "ape": try 0, 0 + 1 – conclude not in table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search for "bear": </a:t>
            </a:r>
            <a:r>
              <a:rPr lang="en-US" altLang="en-US" sz="2000" dirty="0">
                <a:solidFill>
                  <a:schemeClr val="tx1"/>
                </a:solidFill>
              </a:rPr>
              <a:t>try 1 – conclude not in table, </a:t>
            </a:r>
            <a:br>
              <a:rPr lang="en-US" altLang="en-US" sz="2000" dirty="0">
                <a:solidFill>
                  <a:schemeClr val="tx1"/>
                </a:solidFill>
              </a:rPr>
            </a:br>
            <a:r>
              <a:rPr lang="en-US" altLang="en-US" sz="2000" dirty="0">
                <a:solidFill>
                  <a:schemeClr val="tx1"/>
                </a:solidFill>
              </a:rPr>
              <a:t>but "bear" is further down in the table!</a:t>
            </a:r>
            <a:endParaRPr lang="en-US" altLang="en-US" dirty="0">
              <a:solidFill>
                <a:schemeClr val="tx1"/>
              </a:solidFill>
            </a:endParaRPr>
          </a:p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When we remove an item from a position, we</a:t>
            </a:r>
            <a:br>
              <a:rPr lang="en-US" altLang="en-US" dirty="0"/>
            </a:br>
            <a:r>
              <a:rPr lang="en-US" altLang="en-US" dirty="0"/>
              <a:t>need to leave something in that position </a:t>
            </a:r>
            <a:br>
              <a:rPr lang="en-US" altLang="en-US" dirty="0"/>
            </a:br>
            <a:r>
              <a:rPr lang="en-US" altLang="en-US" dirty="0"/>
              <a:t>to indicate that an item was removed.</a:t>
            </a:r>
          </a:p>
          <a:p>
            <a:pPr>
              <a:spcBef>
                <a:spcPts val="10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Three types of positions: </a:t>
            </a:r>
            <a:r>
              <a:rPr lang="en-US" altLang="en-US" i="1" dirty="0">
                <a:solidFill>
                  <a:schemeClr val="accent2"/>
                </a:solidFill>
              </a:rPr>
              <a:t>occupied</a:t>
            </a:r>
            <a:r>
              <a:rPr lang="en-US" altLang="en-US" dirty="0"/>
              <a:t>, </a:t>
            </a:r>
            <a:r>
              <a:rPr lang="en-US" altLang="en-US" i="1" dirty="0">
                <a:solidFill>
                  <a:schemeClr val="accent2"/>
                </a:solidFill>
              </a:rPr>
              <a:t>empty</a:t>
            </a:r>
            <a:r>
              <a:rPr lang="en-US" altLang="en-US" dirty="0"/>
              <a:t>, </a:t>
            </a:r>
            <a:r>
              <a:rPr lang="en-US" altLang="en-US" i="1" dirty="0">
                <a:solidFill>
                  <a:schemeClr val="accent2"/>
                </a:solidFill>
              </a:rPr>
              <a:t>removed</a:t>
            </a:r>
            <a:r>
              <a:rPr lang="en-US" altLang="en-US" dirty="0"/>
              <a:t>.</a:t>
            </a:r>
          </a:p>
        </p:txBody>
      </p:sp>
      <p:graphicFrame>
        <p:nvGraphicFramePr>
          <p:cNvPr id="2227205" name="Group 5"/>
          <p:cNvGraphicFramePr>
            <a:graphicFrameLocks noGrp="1"/>
          </p:cNvGraphicFramePr>
          <p:nvPr/>
        </p:nvGraphicFramePr>
        <p:xfrm>
          <a:off x="6634163" y="976313"/>
          <a:ext cx="2097087" cy="3687794"/>
        </p:xfrm>
        <a:graphic>
          <a:graphicData uri="http://schemas.openxmlformats.org/drawingml/2006/table">
            <a:tbl>
              <a:tblPr/>
              <a:tblGrid>
                <a:gridCol w="105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6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0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"ant"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"cat"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3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Console" pitchFamily="49" charset="0"/>
                        </a:rPr>
                        <a:t>"bear"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4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"emu"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5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…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...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22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"wolf"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23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"wasp"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24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"yak"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25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"zebra"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cxnSp>
        <p:nvCxnSpPr>
          <p:cNvPr id="3" name="Straight Connector 2"/>
          <p:cNvCxnSpPr/>
          <p:nvPr/>
        </p:nvCxnSpPr>
        <p:spPr bwMode="auto">
          <a:xfrm flipV="1">
            <a:off x="5155222" y="5222631"/>
            <a:ext cx="826477" cy="1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121870026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587375" y="4833257"/>
            <a:ext cx="7302591" cy="57476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Removing Items Under Open Addressing</a:t>
            </a:r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458200" cy="5614988"/>
          </a:xfrm>
        </p:spPr>
        <p:txBody>
          <a:bodyPr/>
          <a:lstStyle/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Consider the following scenario: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using linear probing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insert "ape" (h = 0): try 0, 0 + 1 – open! 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insert "bear" (h = 1): try 1, 1 + 1, 1 + 2 – open!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remove "ape"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search for "ape": try 0, 0 + 1 – conclude not in table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search for "bear": </a:t>
            </a:r>
            <a:r>
              <a:rPr lang="en-US" altLang="en-US" sz="2000" dirty="0">
                <a:solidFill>
                  <a:schemeClr val="tx1"/>
                </a:solidFill>
              </a:rPr>
              <a:t>try 1 – conclude not in table, </a:t>
            </a:r>
            <a:br>
              <a:rPr lang="en-US" altLang="en-US" sz="2000" dirty="0">
                <a:solidFill>
                  <a:schemeClr val="tx1"/>
                </a:solidFill>
              </a:rPr>
            </a:br>
            <a:r>
              <a:rPr lang="en-US" altLang="en-US" sz="2000" dirty="0">
                <a:solidFill>
                  <a:schemeClr val="tx1"/>
                </a:solidFill>
              </a:rPr>
              <a:t>but "bear" is further down in the table!</a:t>
            </a:r>
            <a:endParaRPr lang="en-US" altLang="en-US" dirty="0">
              <a:solidFill>
                <a:schemeClr val="tx1"/>
              </a:solidFill>
            </a:endParaRPr>
          </a:p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When we remove an item from a position, we</a:t>
            </a:r>
            <a:br>
              <a:rPr lang="en-US" altLang="en-US" dirty="0"/>
            </a:br>
            <a:r>
              <a:rPr lang="en-US" altLang="en-US" dirty="0"/>
              <a:t>need to leave something in that position </a:t>
            </a:r>
            <a:br>
              <a:rPr lang="en-US" altLang="en-US" dirty="0"/>
            </a:br>
            <a:r>
              <a:rPr lang="en-US" altLang="en-US" dirty="0"/>
              <a:t>to indicate that an item was removed.</a:t>
            </a:r>
          </a:p>
          <a:p>
            <a:pPr>
              <a:spcBef>
                <a:spcPts val="10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Three types of positions: </a:t>
            </a:r>
            <a:r>
              <a:rPr lang="en-US" altLang="en-US" i="1" dirty="0">
                <a:solidFill>
                  <a:schemeClr val="accent2"/>
                </a:solidFill>
              </a:rPr>
              <a:t>occupied</a:t>
            </a:r>
            <a:r>
              <a:rPr lang="en-US" altLang="en-US" dirty="0"/>
              <a:t>, </a:t>
            </a:r>
            <a:r>
              <a:rPr lang="en-US" altLang="en-US" i="1" dirty="0">
                <a:solidFill>
                  <a:schemeClr val="accent2"/>
                </a:solidFill>
              </a:rPr>
              <a:t>empty</a:t>
            </a:r>
            <a:r>
              <a:rPr lang="en-US" altLang="en-US" dirty="0"/>
              <a:t>, </a:t>
            </a:r>
            <a:r>
              <a:rPr lang="en-US" altLang="en-US" i="1" dirty="0">
                <a:solidFill>
                  <a:schemeClr val="accent2"/>
                </a:solidFill>
              </a:rPr>
              <a:t>removed</a:t>
            </a:r>
            <a:r>
              <a:rPr lang="en-US" altLang="en-US" dirty="0"/>
              <a:t>.</a:t>
            </a:r>
          </a:p>
        </p:txBody>
      </p:sp>
      <p:graphicFrame>
        <p:nvGraphicFramePr>
          <p:cNvPr id="2227205" name="Group 5"/>
          <p:cNvGraphicFramePr>
            <a:graphicFrameLocks noGrp="1"/>
          </p:cNvGraphicFramePr>
          <p:nvPr/>
        </p:nvGraphicFramePr>
        <p:xfrm>
          <a:off x="6634163" y="976313"/>
          <a:ext cx="2097087" cy="3687794"/>
        </p:xfrm>
        <a:graphic>
          <a:graphicData uri="http://schemas.openxmlformats.org/drawingml/2006/table">
            <a:tbl>
              <a:tblPr/>
              <a:tblGrid>
                <a:gridCol w="105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6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0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"ant"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"cat"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3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Console" pitchFamily="49" charset="0"/>
                        </a:rPr>
                        <a:t>"bear"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4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"emu"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5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…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...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22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"wolf"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23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"wasp"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24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"yak"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25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"zebra"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cxnSp>
        <p:nvCxnSpPr>
          <p:cNvPr id="9" name="Straight Connector 8"/>
          <p:cNvCxnSpPr/>
          <p:nvPr/>
        </p:nvCxnSpPr>
        <p:spPr bwMode="auto">
          <a:xfrm>
            <a:off x="6060830" y="5222631"/>
            <a:ext cx="1131278" cy="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4081045231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87375" y="5257800"/>
            <a:ext cx="7396040" cy="89681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Removing Items Under Open Addressing</a:t>
            </a:r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458200" cy="5614988"/>
          </a:xfrm>
        </p:spPr>
        <p:txBody>
          <a:bodyPr/>
          <a:lstStyle/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Consider the following scenario: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using linear probing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insert "ape" (h = 0): try 0, 0 + 1 – open! 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insert "bear" (h = 1): try 1, 1 + 1, 1 + 2 – open!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remove "ape"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search for "ape": try 0, 0 + 1 – conclude not in table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search for "bear": </a:t>
            </a:r>
            <a:r>
              <a:rPr lang="en-US" altLang="en-US" sz="2000" dirty="0">
                <a:solidFill>
                  <a:schemeClr val="tx1"/>
                </a:solidFill>
              </a:rPr>
              <a:t>try 1 –</a:t>
            </a:r>
            <a:r>
              <a:rPr lang="en-US" altLang="en-US" sz="2000" b="1" dirty="0">
                <a:solidFill>
                  <a:schemeClr val="accent2"/>
                </a:solidFill>
              </a:rPr>
              <a:t> </a:t>
            </a:r>
            <a:r>
              <a:rPr lang="en-US" altLang="en-US" sz="2000" dirty="0">
                <a:solidFill>
                  <a:schemeClr val="tx1"/>
                </a:solidFill>
              </a:rPr>
              <a:t>conclude not in table, </a:t>
            </a:r>
            <a:br>
              <a:rPr lang="en-US" altLang="en-US" sz="2000" dirty="0">
                <a:solidFill>
                  <a:schemeClr val="tx1"/>
                </a:solidFill>
              </a:rPr>
            </a:br>
            <a:r>
              <a:rPr lang="en-US" altLang="en-US" sz="2000" dirty="0">
                <a:solidFill>
                  <a:schemeClr val="tx1"/>
                </a:solidFill>
              </a:rPr>
              <a:t>but "bear" is further down in the table!</a:t>
            </a:r>
            <a:endParaRPr lang="en-US" altLang="en-US" dirty="0">
              <a:solidFill>
                <a:schemeClr val="tx1"/>
              </a:solidFill>
            </a:endParaRPr>
          </a:p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When we remove an item from a position, we</a:t>
            </a:r>
            <a:br>
              <a:rPr lang="en-US" altLang="en-US" dirty="0"/>
            </a:br>
            <a:r>
              <a:rPr lang="en-US" altLang="en-US" dirty="0"/>
              <a:t>need to leave something in that position </a:t>
            </a:r>
            <a:br>
              <a:rPr lang="en-US" altLang="en-US" dirty="0"/>
            </a:br>
            <a:r>
              <a:rPr lang="en-US" altLang="en-US" dirty="0"/>
              <a:t>to indicate that an item was removed.</a:t>
            </a:r>
          </a:p>
          <a:p>
            <a:pPr>
              <a:spcBef>
                <a:spcPts val="10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Three types of positions: occupied, empty, </a:t>
            </a:r>
            <a:r>
              <a:rPr lang="en-US" altLang="en-US" i="1" dirty="0"/>
              <a:t>removed</a:t>
            </a:r>
            <a:r>
              <a:rPr lang="en-US" altLang="en-US" dirty="0"/>
              <a:t>.</a:t>
            </a:r>
          </a:p>
          <a:p>
            <a:pPr>
              <a:spcBef>
                <a:spcPts val="10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We stop probing when we encounter an </a:t>
            </a:r>
            <a:r>
              <a:rPr lang="en-US" altLang="en-US" b="1" dirty="0">
                <a:solidFill>
                  <a:schemeClr val="accent2"/>
                </a:solidFill>
              </a:rPr>
              <a:t>empty</a:t>
            </a:r>
            <a:r>
              <a:rPr lang="en-US" altLang="en-US" dirty="0"/>
              <a:t> position, </a:t>
            </a:r>
            <a:br>
              <a:rPr lang="en-US" altLang="en-US" dirty="0"/>
            </a:br>
            <a:r>
              <a:rPr lang="en-US" altLang="en-US" dirty="0"/>
              <a:t>but not when we encounter a </a:t>
            </a:r>
            <a:r>
              <a:rPr lang="en-US" altLang="en-US" i="1" dirty="0"/>
              <a:t>removed</a:t>
            </a:r>
            <a:r>
              <a:rPr lang="en-US" altLang="en-US" dirty="0"/>
              <a:t> position.</a:t>
            </a:r>
          </a:p>
        </p:txBody>
      </p:sp>
      <p:graphicFrame>
        <p:nvGraphicFramePr>
          <p:cNvPr id="2227205" name="Group 5"/>
          <p:cNvGraphicFramePr>
            <a:graphicFrameLocks noGrp="1"/>
          </p:cNvGraphicFramePr>
          <p:nvPr/>
        </p:nvGraphicFramePr>
        <p:xfrm>
          <a:off x="6634163" y="976313"/>
          <a:ext cx="2097087" cy="3687794"/>
        </p:xfrm>
        <a:graphic>
          <a:graphicData uri="http://schemas.openxmlformats.org/drawingml/2006/table">
            <a:tbl>
              <a:tblPr/>
              <a:tblGrid>
                <a:gridCol w="105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6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0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"ant"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"cat"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3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Console" pitchFamily="49" charset="0"/>
                        </a:rPr>
                        <a:t>"bear"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4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"emu"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5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…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...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22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"wolf"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23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"wasp"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24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"yak"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25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"zebra"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59397168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Removing Items Under Open Addressing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458200" cy="5614988"/>
          </a:xfrm>
        </p:spPr>
        <p:txBody>
          <a:bodyPr/>
          <a:lstStyle/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Consider the following scenario: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using linear probing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insert "ape" (h = 0): try 0, 0 + 1 – open! 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insert "bear" (h = 1): try 1, 1 + 1, 1 + 2 – open!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remove "ape"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search for "ape": try 0, 0 + 1 – conclude not in table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search for "bear": </a:t>
            </a:r>
            <a:r>
              <a:rPr lang="en-US" altLang="en-US" sz="2000" dirty="0">
                <a:solidFill>
                  <a:schemeClr val="tx1"/>
                </a:solidFill>
              </a:rPr>
              <a:t>try 1 –</a:t>
            </a:r>
            <a:r>
              <a:rPr lang="en-US" altLang="en-US" sz="2000" b="1" dirty="0">
                <a:solidFill>
                  <a:schemeClr val="accent2"/>
                </a:solidFill>
              </a:rPr>
              <a:t> </a:t>
            </a:r>
            <a:r>
              <a:rPr lang="en-US" altLang="en-US" sz="2000" dirty="0">
                <a:solidFill>
                  <a:schemeClr val="tx1"/>
                </a:solidFill>
              </a:rPr>
              <a:t>conclude not in table, </a:t>
            </a:r>
            <a:br>
              <a:rPr lang="en-US" altLang="en-US" sz="2000" dirty="0">
                <a:solidFill>
                  <a:schemeClr val="tx1"/>
                </a:solidFill>
              </a:rPr>
            </a:br>
            <a:r>
              <a:rPr lang="en-US" altLang="en-US" sz="2000" dirty="0">
                <a:solidFill>
                  <a:schemeClr val="tx1"/>
                </a:solidFill>
              </a:rPr>
              <a:t>but "bear" is further down in the table!</a:t>
            </a:r>
            <a:endParaRPr lang="en-US" altLang="en-US" dirty="0">
              <a:solidFill>
                <a:schemeClr val="tx1"/>
              </a:solidFill>
            </a:endParaRPr>
          </a:p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When we remove an item from a position, we</a:t>
            </a:r>
            <a:br>
              <a:rPr lang="en-US" altLang="en-US" dirty="0"/>
            </a:br>
            <a:r>
              <a:rPr lang="en-US" altLang="en-US" dirty="0"/>
              <a:t>need to leave something in that position </a:t>
            </a:r>
            <a:br>
              <a:rPr lang="en-US" altLang="en-US" dirty="0"/>
            </a:br>
            <a:r>
              <a:rPr lang="en-US" altLang="en-US" dirty="0"/>
              <a:t>to indicate that an item was removed.</a:t>
            </a:r>
          </a:p>
          <a:p>
            <a:pPr>
              <a:spcBef>
                <a:spcPts val="10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Three types of positions: occupied, empty, </a:t>
            </a:r>
            <a:r>
              <a:rPr lang="en-US" altLang="en-US" i="1" dirty="0"/>
              <a:t>removed</a:t>
            </a:r>
            <a:r>
              <a:rPr lang="en-US" altLang="en-US" dirty="0"/>
              <a:t>.</a:t>
            </a:r>
          </a:p>
          <a:p>
            <a:pPr>
              <a:spcBef>
                <a:spcPts val="10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We stop probing when we encounter an empty position, </a:t>
            </a:r>
            <a:br>
              <a:rPr lang="en-US" altLang="en-US" dirty="0"/>
            </a:br>
            <a:r>
              <a:rPr lang="en-US" altLang="en-US" dirty="0"/>
              <a:t>but not when we encounter a removed position.  </a:t>
            </a:r>
            <a:br>
              <a:rPr lang="en-US" altLang="en-US" dirty="0"/>
            </a:br>
            <a:r>
              <a:rPr lang="en-US" altLang="en-US" sz="2000" b="1" dirty="0">
                <a:solidFill>
                  <a:schemeClr val="accent2"/>
                </a:solidFill>
              </a:rPr>
              <a:t>ex: search for "bear":</a:t>
            </a:r>
          </a:p>
        </p:txBody>
      </p:sp>
      <p:graphicFrame>
        <p:nvGraphicFramePr>
          <p:cNvPr id="2231301" name="Group 5"/>
          <p:cNvGraphicFramePr>
            <a:graphicFrameLocks noGrp="1"/>
          </p:cNvGraphicFramePr>
          <p:nvPr/>
        </p:nvGraphicFramePr>
        <p:xfrm>
          <a:off x="6634163" y="976313"/>
          <a:ext cx="2097087" cy="3687794"/>
        </p:xfrm>
        <a:graphic>
          <a:graphicData uri="http://schemas.openxmlformats.org/drawingml/2006/table">
            <a:tbl>
              <a:tblPr/>
              <a:tblGrid>
                <a:gridCol w="105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6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0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"ant"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"cat"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3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Console" pitchFamily="49" charset="0"/>
                        </a:rPr>
                        <a:t>"bear"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4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"emu"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5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…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...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22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"wolf"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23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"wasp"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24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"yak"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25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"zebra"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2369046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Removing Items Under Open Addressing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458200" cy="5614988"/>
          </a:xfrm>
        </p:spPr>
        <p:txBody>
          <a:bodyPr/>
          <a:lstStyle/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Consider the following scenario: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using linear probing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insert "ape" (h = 0): try 0, 0 + 1 – open! 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insert "bear" (h = 1): try 1, 1 + 1, 1 + 2 – open!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remove "ape"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search for "ape": try 0, 0 + 1 – conclude not in table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search for "bear": </a:t>
            </a:r>
            <a:r>
              <a:rPr lang="en-US" altLang="en-US" sz="2000" dirty="0">
                <a:solidFill>
                  <a:schemeClr val="tx1"/>
                </a:solidFill>
              </a:rPr>
              <a:t>try 1 –</a:t>
            </a:r>
            <a:r>
              <a:rPr lang="en-US" altLang="en-US" sz="2000" b="1" dirty="0">
                <a:solidFill>
                  <a:schemeClr val="accent2"/>
                </a:solidFill>
              </a:rPr>
              <a:t> </a:t>
            </a:r>
            <a:r>
              <a:rPr lang="en-US" altLang="en-US" sz="2000" dirty="0">
                <a:solidFill>
                  <a:schemeClr val="tx1"/>
                </a:solidFill>
              </a:rPr>
              <a:t>conclude not in table, </a:t>
            </a:r>
            <a:br>
              <a:rPr lang="en-US" altLang="en-US" sz="2000" dirty="0">
                <a:solidFill>
                  <a:schemeClr val="tx1"/>
                </a:solidFill>
              </a:rPr>
            </a:br>
            <a:r>
              <a:rPr lang="en-US" altLang="en-US" sz="2000" dirty="0">
                <a:solidFill>
                  <a:schemeClr val="tx1"/>
                </a:solidFill>
              </a:rPr>
              <a:t>but "bear" is further down in the table!</a:t>
            </a:r>
            <a:endParaRPr lang="en-US" altLang="en-US" dirty="0">
              <a:solidFill>
                <a:schemeClr val="tx1"/>
              </a:solidFill>
            </a:endParaRPr>
          </a:p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When we remove an item from a position, we</a:t>
            </a:r>
            <a:br>
              <a:rPr lang="en-US" altLang="en-US" dirty="0"/>
            </a:br>
            <a:r>
              <a:rPr lang="en-US" altLang="en-US" dirty="0"/>
              <a:t>need to leave something in that position </a:t>
            </a:r>
            <a:br>
              <a:rPr lang="en-US" altLang="en-US" dirty="0"/>
            </a:br>
            <a:r>
              <a:rPr lang="en-US" altLang="en-US" dirty="0"/>
              <a:t>to indicate that an item was removed.</a:t>
            </a:r>
          </a:p>
          <a:p>
            <a:pPr>
              <a:spcBef>
                <a:spcPts val="10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Three types of positions: occupied, empty, </a:t>
            </a:r>
            <a:r>
              <a:rPr lang="en-US" altLang="en-US" i="1" dirty="0"/>
              <a:t>removed</a:t>
            </a:r>
            <a:r>
              <a:rPr lang="en-US" altLang="en-US" dirty="0"/>
              <a:t>.</a:t>
            </a:r>
          </a:p>
          <a:p>
            <a:pPr>
              <a:spcBef>
                <a:spcPts val="10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We stop probing when we encounter an empty position, </a:t>
            </a:r>
            <a:br>
              <a:rPr lang="en-US" altLang="en-US" dirty="0"/>
            </a:br>
            <a:r>
              <a:rPr lang="en-US" altLang="en-US" dirty="0"/>
              <a:t>but not when we encounter a removed position.  </a:t>
            </a:r>
            <a:br>
              <a:rPr lang="en-US" altLang="en-US" dirty="0"/>
            </a:br>
            <a:r>
              <a:rPr lang="en-US" altLang="en-US" sz="2000" b="1" dirty="0">
                <a:solidFill>
                  <a:schemeClr val="accent2"/>
                </a:solidFill>
              </a:rPr>
              <a:t>ex: search for "bear": try 1</a:t>
            </a:r>
          </a:p>
        </p:txBody>
      </p:sp>
      <p:graphicFrame>
        <p:nvGraphicFramePr>
          <p:cNvPr id="2231301" name="Group 5"/>
          <p:cNvGraphicFramePr>
            <a:graphicFrameLocks noGrp="1"/>
          </p:cNvGraphicFramePr>
          <p:nvPr/>
        </p:nvGraphicFramePr>
        <p:xfrm>
          <a:off x="6634163" y="976313"/>
          <a:ext cx="2097087" cy="3687794"/>
        </p:xfrm>
        <a:graphic>
          <a:graphicData uri="http://schemas.openxmlformats.org/drawingml/2006/table">
            <a:tbl>
              <a:tblPr/>
              <a:tblGrid>
                <a:gridCol w="105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6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0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"ant"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"cat"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3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Console" pitchFamily="49" charset="0"/>
                        </a:rPr>
                        <a:t>"bear"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4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"emu"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5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…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...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22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"wolf"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23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"wasp"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24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"yak"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25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"zebra"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5337" name="Rectangle 48"/>
          <p:cNvSpPr>
            <a:spLocks noChangeArrowheads="1"/>
          </p:cNvSpPr>
          <p:nvPr/>
        </p:nvSpPr>
        <p:spPr bwMode="auto">
          <a:xfrm>
            <a:off x="7715250" y="1335087"/>
            <a:ext cx="995363" cy="280987"/>
          </a:xfrm>
          <a:prstGeom prst="rect">
            <a:avLst/>
          </a:prstGeom>
          <a:noFill/>
          <a:ln w="38100" algn="ctr">
            <a:solidFill>
              <a:srgbClr val="CC0099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>
              <a:spcBef>
                <a:spcPts val="1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 algn="l">
              <a:spcBef>
                <a:spcPts val="525"/>
              </a:spcBef>
              <a:buClr>
                <a:srgbClr val="000000"/>
              </a:buClr>
              <a:buSzPct val="10000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Helvetica" panose="020B0604020202020204" pitchFamily="34" charset="0"/>
              <a:buChar char="–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69892212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Removing Items Under Open Addressing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458200" cy="5614988"/>
          </a:xfrm>
        </p:spPr>
        <p:txBody>
          <a:bodyPr/>
          <a:lstStyle/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Consider the following scenario: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using linear probing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insert "ape" (h = 0): try 0, 0 + 1 – open! 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insert "bear" (h = 1): try 1, 1 + 1, 1 + 2 – open!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remove "ape"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search for "ape": try 0, 0 + 1 – conclude not in table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search for "bear": </a:t>
            </a:r>
            <a:r>
              <a:rPr lang="en-US" altLang="en-US" sz="2000" dirty="0">
                <a:solidFill>
                  <a:schemeClr val="tx1"/>
                </a:solidFill>
              </a:rPr>
              <a:t>try 1 –</a:t>
            </a:r>
            <a:r>
              <a:rPr lang="en-US" altLang="en-US" sz="2000" b="1" dirty="0">
                <a:solidFill>
                  <a:schemeClr val="accent2"/>
                </a:solidFill>
              </a:rPr>
              <a:t> </a:t>
            </a:r>
            <a:r>
              <a:rPr lang="en-US" altLang="en-US" sz="2000" dirty="0">
                <a:solidFill>
                  <a:schemeClr val="tx1"/>
                </a:solidFill>
              </a:rPr>
              <a:t>conclude not in table, </a:t>
            </a:r>
            <a:br>
              <a:rPr lang="en-US" altLang="en-US" sz="2000" dirty="0">
                <a:solidFill>
                  <a:schemeClr val="tx1"/>
                </a:solidFill>
              </a:rPr>
            </a:br>
            <a:r>
              <a:rPr lang="en-US" altLang="en-US" sz="2000" dirty="0">
                <a:solidFill>
                  <a:schemeClr val="tx1"/>
                </a:solidFill>
              </a:rPr>
              <a:t>but "bear" is further down in the table!</a:t>
            </a:r>
            <a:endParaRPr lang="en-US" altLang="en-US" dirty="0">
              <a:solidFill>
                <a:schemeClr val="tx1"/>
              </a:solidFill>
            </a:endParaRPr>
          </a:p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When we remove an item from a position, we</a:t>
            </a:r>
            <a:br>
              <a:rPr lang="en-US" altLang="en-US" dirty="0"/>
            </a:br>
            <a:r>
              <a:rPr lang="en-US" altLang="en-US" dirty="0"/>
              <a:t>need to leave something in that position </a:t>
            </a:r>
            <a:br>
              <a:rPr lang="en-US" altLang="en-US" dirty="0"/>
            </a:br>
            <a:r>
              <a:rPr lang="en-US" altLang="en-US" dirty="0"/>
              <a:t>to indicate that an item was removed.</a:t>
            </a:r>
          </a:p>
          <a:p>
            <a:pPr>
              <a:spcBef>
                <a:spcPts val="10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Three types of positions: occupied, empty, </a:t>
            </a:r>
            <a:r>
              <a:rPr lang="en-US" altLang="en-US" i="1" dirty="0"/>
              <a:t>removed</a:t>
            </a:r>
            <a:r>
              <a:rPr lang="en-US" altLang="en-US" dirty="0"/>
              <a:t>.</a:t>
            </a:r>
          </a:p>
          <a:p>
            <a:pPr>
              <a:spcBef>
                <a:spcPts val="10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We stop probing when we encounter an empty position, </a:t>
            </a:r>
            <a:br>
              <a:rPr lang="en-US" altLang="en-US" dirty="0"/>
            </a:br>
            <a:r>
              <a:rPr lang="en-US" altLang="en-US" dirty="0"/>
              <a:t>but not when we encounter a removed position.  </a:t>
            </a:r>
            <a:br>
              <a:rPr lang="en-US" altLang="en-US" dirty="0"/>
            </a:br>
            <a:r>
              <a:rPr lang="en-US" altLang="en-US" sz="2000" b="1" dirty="0">
                <a:solidFill>
                  <a:schemeClr val="accent2"/>
                </a:solidFill>
              </a:rPr>
              <a:t>ex: search for "bear": try 1 (removed)</a:t>
            </a:r>
          </a:p>
        </p:txBody>
      </p:sp>
      <p:graphicFrame>
        <p:nvGraphicFramePr>
          <p:cNvPr id="2231301" name="Group 5"/>
          <p:cNvGraphicFramePr>
            <a:graphicFrameLocks noGrp="1"/>
          </p:cNvGraphicFramePr>
          <p:nvPr/>
        </p:nvGraphicFramePr>
        <p:xfrm>
          <a:off x="6634163" y="976313"/>
          <a:ext cx="2097087" cy="3687794"/>
        </p:xfrm>
        <a:graphic>
          <a:graphicData uri="http://schemas.openxmlformats.org/drawingml/2006/table">
            <a:tbl>
              <a:tblPr/>
              <a:tblGrid>
                <a:gridCol w="105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6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0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"ant"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"cat"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3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Console" pitchFamily="49" charset="0"/>
                        </a:rPr>
                        <a:t>"bear"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4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"emu"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5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…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...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22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"wolf"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23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"wasp"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24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"yak"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25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"zebra"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5337" name="Rectangle 48"/>
          <p:cNvSpPr>
            <a:spLocks noChangeArrowheads="1"/>
          </p:cNvSpPr>
          <p:nvPr/>
        </p:nvSpPr>
        <p:spPr bwMode="auto">
          <a:xfrm>
            <a:off x="7715250" y="1335087"/>
            <a:ext cx="995363" cy="280987"/>
          </a:xfrm>
          <a:prstGeom prst="rect">
            <a:avLst/>
          </a:prstGeom>
          <a:noFill/>
          <a:ln w="38100" algn="ctr">
            <a:solidFill>
              <a:srgbClr val="CC0099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>
              <a:spcBef>
                <a:spcPts val="1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 algn="l">
              <a:spcBef>
                <a:spcPts val="525"/>
              </a:spcBef>
              <a:buClr>
                <a:srgbClr val="000000"/>
              </a:buClr>
              <a:buSzPct val="10000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Helvetica" panose="020B0604020202020204" pitchFamily="34" charset="0"/>
              <a:buChar char="–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9432971"/>
      </p:ext>
    </p:ext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Removing Items Under Open Addressing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458200" cy="5614988"/>
          </a:xfrm>
        </p:spPr>
        <p:txBody>
          <a:bodyPr/>
          <a:lstStyle/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Consider the following scenario: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using linear probing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insert "ape" (h = 0): try 0, 0 + 1 – open! 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insert "bear" (h = 1): try 1, 1 + 1, 1 + 2 – open!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remove "ape"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search for "ape": try 0, 0 + 1 – conclude not in table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search for "bear": </a:t>
            </a:r>
            <a:r>
              <a:rPr lang="en-US" altLang="en-US" sz="2000" dirty="0">
                <a:solidFill>
                  <a:schemeClr val="tx1"/>
                </a:solidFill>
              </a:rPr>
              <a:t>try 1 –</a:t>
            </a:r>
            <a:r>
              <a:rPr lang="en-US" altLang="en-US" sz="2000" b="1" dirty="0">
                <a:solidFill>
                  <a:schemeClr val="accent2"/>
                </a:solidFill>
              </a:rPr>
              <a:t> </a:t>
            </a:r>
            <a:r>
              <a:rPr lang="en-US" altLang="en-US" sz="2000" dirty="0">
                <a:solidFill>
                  <a:schemeClr val="tx1"/>
                </a:solidFill>
              </a:rPr>
              <a:t>conclude not in table, </a:t>
            </a:r>
            <a:br>
              <a:rPr lang="en-US" altLang="en-US" sz="2000" dirty="0">
                <a:solidFill>
                  <a:schemeClr val="tx1"/>
                </a:solidFill>
              </a:rPr>
            </a:br>
            <a:r>
              <a:rPr lang="en-US" altLang="en-US" sz="2000" dirty="0">
                <a:solidFill>
                  <a:schemeClr val="tx1"/>
                </a:solidFill>
              </a:rPr>
              <a:t>but "bear" is further down in the table!</a:t>
            </a:r>
            <a:endParaRPr lang="en-US" altLang="en-US" dirty="0">
              <a:solidFill>
                <a:schemeClr val="tx1"/>
              </a:solidFill>
            </a:endParaRPr>
          </a:p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When we remove an item from a position, we</a:t>
            </a:r>
            <a:br>
              <a:rPr lang="en-US" altLang="en-US" dirty="0"/>
            </a:br>
            <a:r>
              <a:rPr lang="en-US" altLang="en-US" dirty="0"/>
              <a:t>need to leave something in that position </a:t>
            </a:r>
            <a:br>
              <a:rPr lang="en-US" altLang="en-US" dirty="0"/>
            </a:br>
            <a:r>
              <a:rPr lang="en-US" altLang="en-US" dirty="0"/>
              <a:t>to indicate that an item was removed.</a:t>
            </a:r>
          </a:p>
          <a:p>
            <a:pPr>
              <a:spcBef>
                <a:spcPts val="10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Three types of positions: occupied, empty, </a:t>
            </a:r>
            <a:r>
              <a:rPr lang="en-US" altLang="en-US" i="1" dirty="0"/>
              <a:t>removed</a:t>
            </a:r>
            <a:r>
              <a:rPr lang="en-US" altLang="en-US" dirty="0"/>
              <a:t>.</a:t>
            </a:r>
          </a:p>
          <a:p>
            <a:pPr>
              <a:spcBef>
                <a:spcPts val="10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We stop probing when we encounter an empty position, </a:t>
            </a:r>
            <a:br>
              <a:rPr lang="en-US" altLang="en-US" dirty="0"/>
            </a:br>
            <a:r>
              <a:rPr lang="en-US" altLang="en-US" dirty="0"/>
              <a:t>but not when we encounter a removed position.  </a:t>
            </a:r>
            <a:br>
              <a:rPr lang="en-US" altLang="en-US" dirty="0"/>
            </a:br>
            <a:r>
              <a:rPr lang="en-US" altLang="en-US" sz="2000" b="1" dirty="0">
                <a:solidFill>
                  <a:schemeClr val="accent2"/>
                </a:solidFill>
              </a:rPr>
              <a:t>ex: search for "bear": try 1 (removed), 1 + 1</a:t>
            </a:r>
          </a:p>
        </p:txBody>
      </p:sp>
      <p:graphicFrame>
        <p:nvGraphicFramePr>
          <p:cNvPr id="2231301" name="Group 5"/>
          <p:cNvGraphicFramePr>
            <a:graphicFrameLocks noGrp="1"/>
          </p:cNvGraphicFramePr>
          <p:nvPr/>
        </p:nvGraphicFramePr>
        <p:xfrm>
          <a:off x="6634163" y="976313"/>
          <a:ext cx="2097087" cy="3687794"/>
        </p:xfrm>
        <a:graphic>
          <a:graphicData uri="http://schemas.openxmlformats.org/drawingml/2006/table">
            <a:tbl>
              <a:tblPr/>
              <a:tblGrid>
                <a:gridCol w="105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6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0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"ant"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"cat"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3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Console" pitchFamily="49" charset="0"/>
                        </a:rPr>
                        <a:t>"bear"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4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"emu"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5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…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...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22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"wolf"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23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"wasp"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24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"yak"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25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"zebra"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5337" name="Rectangle 48"/>
          <p:cNvSpPr>
            <a:spLocks noChangeArrowheads="1"/>
          </p:cNvSpPr>
          <p:nvPr/>
        </p:nvSpPr>
        <p:spPr bwMode="auto">
          <a:xfrm>
            <a:off x="7715250" y="1675333"/>
            <a:ext cx="995363" cy="280987"/>
          </a:xfrm>
          <a:prstGeom prst="rect">
            <a:avLst/>
          </a:prstGeom>
          <a:noFill/>
          <a:ln w="38100" algn="ctr">
            <a:solidFill>
              <a:srgbClr val="CC0099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>
              <a:spcBef>
                <a:spcPts val="1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 algn="l">
              <a:spcBef>
                <a:spcPts val="525"/>
              </a:spcBef>
              <a:buClr>
                <a:srgbClr val="000000"/>
              </a:buClr>
              <a:buSzPct val="10000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Helvetica" panose="020B0604020202020204" pitchFamily="34" charset="0"/>
              <a:buChar char="–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45602826"/>
      </p:ext>
    </p:extLst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Removing Items Under Open Addressing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458200" cy="5614988"/>
          </a:xfrm>
        </p:spPr>
        <p:txBody>
          <a:bodyPr/>
          <a:lstStyle/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Consider the following scenario: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using linear probing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insert "ape" (h = 0): try 0, 0 + 1 – open! 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insert "bear" (h = 1): try 1, 1 + 1, 1 + 2 – open!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remove "ape"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search for "ape": try 0, 0 + 1 – conclude not in table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search for "bear": </a:t>
            </a:r>
            <a:r>
              <a:rPr lang="en-US" altLang="en-US" sz="2000" dirty="0">
                <a:solidFill>
                  <a:schemeClr val="tx1"/>
                </a:solidFill>
              </a:rPr>
              <a:t>try 1 –</a:t>
            </a:r>
            <a:r>
              <a:rPr lang="en-US" altLang="en-US" sz="2000" b="1" dirty="0">
                <a:solidFill>
                  <a:schemeClr val="accent2"/>
                </a:solidFill>
              </a:rPr>
              <a:t> </a:t>
            </a:r>
            <a:r>
              <a:rPr lang="en-US" altLang="en-US" sz="2000" dirty="0">
                <a:solidFill>
                  <a:schemeClr val="tx1"/>
                </a:solidFill>
              </a:rPr>
              <a:t>conclude not in table, </a:t>
            </a:r>
            <a:br>
              <a:rPr lang="en-US" altLang="en-US" sz="2000" dirty="0">
                <a:solidFill>
                  <a:schemeClr val="tx1"/>
                </a:solidFill>
              </a:rPr>
            </a:br>
            <a:r>
              <a:rPr lang="en-US" altLang="en-US" sz="2000" dirty="0">
                <a:solidFill>
                  <a:schemeClr val="tx1"/>
                </a:solidFill>
              </a:rPr>
              <a:t>but "bear" is further down in the table!</a:t>
            </a:r>
            <a:endParaRPr lang="en-US" altLang="en-US" dirty="0">
              <a:solidFill>
                <a:schemeClr val="tx1"/>
              </a:solidFill>
            </a:endParaRPr>
          </a:p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When we remove an item from a position, we</a:t>
            </a:r>
            <a:br>
              <a:rPr lang="en-US" altLang="en-US" dirty="0"/>
            </a:br>
            <a:r>
              <a:rPr lang="en-US" altLang="en-US" dirty="0"/>
              <a:t>need to leave something in that position </a:t>
            </a:r>
            <a:br>
              <a:rPr lang="en-US" altLang="en-US" dirty="0"/>
            </a:br>
            <a:r>
              <a:rPr lang="en-US" altLang="en-US" dirty="0"/>
              <a:t>to indicate that an item was removed.</a:t>
            </a:r>
          </a:p>
          <a:p>
            <a:pPr>
              <a:spcBef>
                <a:spcPts val="10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Three types of positions: occupied, empty, </a:t>
            </a:r>
            <a:r>
              <a:rPr lang="en-US" altLang="en-US" i="1" dirty="0"/>
              <a:t>removed</a:t>
            </a:r>
            <a:r>
              <a:rPr lang="en-US" altLang="en-US" dirty="0"/>
              <a:t>.</a:t>
            </a:r>
          </a:p>
          <a:p>
            <a:pPr>
              <a:spcBef>
                <a:spcPts val="10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We stop probing when we encounter an empty position, </a:t>
            </a:r>
            <a:br>
              <a:rPr lang="en-US" altLang="en-US" dirty="0"/>
            </a:br>
            <a:r>
              <a:rPr lang="en-US" altLang="en-US" dirty="0"/>
              <a:t>but not when we encounter a removed position.  </a:t>
            </a:r>
            <a:br>
              <a:rPr lang="en-US" altLang="en-US" dirty="0"/>
            </a:br>
            <a:r>
              <a:rPr lang="en-US" altLang="en-US" sz="2000" b="1" dirty="0">
                <a:solidFill>
                  <a:schemeClr val="accent2"/>
                </a:solidFill>
              </a:rPr>
              <a:t>ex: search for "bear": try 1 (removed), 1 + 1, 1 + 2</a:t>
            </a:r>
          </a:p>
        </p:txBody>
      </p:sp>
      <p:graphicFrame>
        <p:nvGraphicFramePr>
          <p:cNvPr id="2231301" name="Group 5"/>
          <p:cNvGraphicFramePr>
            <a:graphicFrameLocks noGrp="1"/>
          </p:cNvGraphicFramePr>
          <p:nvPr/>
        </p:nvGraphicFramePr>
        <p:xfrm>
          <a:off x="6634163" y="976313"/>
          <a:ext cx="2097087" cy="3687794"/>
        </p:xfrm>
        <a:graphic>
          <a:graphicData uri="http://schemas.openxmlformats.org/drawingml/2006/table">
            <a:tbl>
              <a:tblPr/>
              <a:tblGrid>
                <a:gridCol w="105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6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0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"ant"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"cat"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3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Console" pitchFamily="49" charset="0"/>
                        </a:rPr>
                        <a:t>"bear"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4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"emu"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5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…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...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22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"wolf"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23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"wasp"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24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"yak"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25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"zebra"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5337" name="Rectangle 48"/>
          <p:cNvSpPr>
            <a:spLocks noChangeArrowheads="1"/>
          </p:cNvSpPr>
          <p:nvPr/>
        </p:nvSpPr>
        <p:spPr bwMode="auto">
          <a:xfrm>
            <a:off x="7715250" y="2004946"/>
            <a:ext cx="995363" cy="280987"/>
          </a:xfrm>
          <a:prstGeom prst="rect">
            <a:avLst/>
          </a:prstGeom>
          <a:noFill/>
          <a:ln w="38100" algn="ctr">
            <a:solidFill>
              <a:srgbClr val="CC0099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>
              <a:spcBef>
                <a:spcPts val="1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 algn="l">
              <a:spcBef>
                <a:spcPts val="525"/>
              </a:spcBef>
              <a:buClr>
                <a:srgbClr val="000000"/>
              </a:buClr>
              <a:buSzPct val="10000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Helvetica" panose="020B0604020202020204" pitchFamily="34" charset="0"/>
              <a:buChar char="–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17856007"/>
      </p:ext>
    </p:extLst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Removing Items Under Open Addressing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458200" cy="5614988"/>
          </a:xfrm>
        </p:spPr>
        <p:txBody>
          <a:bodyPr/>
          <a:lstStyle/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Consider the following scenario: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using linear probing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insert "ape" (h = 0): try 0, 0 + 1 – open! 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insert "bear" (h = 1): try 1, 1 + 1, 1 + 2 – open!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remove "ape"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search for "ape": try 0, 0 + 1 – conclude not in table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search for "bear": </a:t>
            </a:r>
            <a:r>
              <a:rPr lang="en-US" altLang="en-US" sz="2000" dirty="0">
                <a:solidFill>
                  <a:schemeClr val="tx1"/>
                </a:solidFill>
              </a:rPr>
              <a:t>try 1 –</a:t>
            </a:r>
            <a:r>
              <a:rPr lang="en-US" altLang="en-US" sz="2000" b="1" dirty="0">
                <a:solidFill>
                  <a:schemeClr val="accent2"/>
                </a:solidFill>
              </a:rPr>
              <a:t> </a:t>
            </a:r>
            <a:r>
              <a:rPr lang="en-US" altLang="en-US" sz="2000" dirty="0">
                <a:solidFill>
                  <a:schemeClr val="tx1"/>
                </a:solidFill>
              </a:rPr>
              <a:t>conclude not in table, </a:t>
            </a:r>
            <a:br>
              <a:rPr lang="en-US" altLang="en-US" sz="2000" dirty="0">
                <a:solidFill>
                  <a:schemeClr val="tx1"/>
                </a:solidFill>
              </a:rPr>
            </a:br>
            <a:r>
              <a:rPr lang="en-US" altLang="en-US" sz="2000" dirty="0">
                <a:solidFill>
                  <a:schemeClr val="tx1"/>
                </a:solidFill>
              </a:rPr>
              <a:t>but "bear" is further down in the table!</a:t>
            </a:r>
            <a:endParaRPr lang="en-US" altLang="en-US" dirty="0">
              <a:solidFill>
                <a:schemeClr val="tx1"/>
              </a:solidFill>
            </a:endParaRPr>
          </a:p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When we remove an item from a position, we</a:t>
            </a:r>
            <a:br>
              <a:rPr lang="en-US" altLang="en-US" dirty="0"/>
            </a:br>
            <a:r>
              <a:rPr lang="en-US" altLang="en-US" dirty="0"/>
              <a:t>need to leave something in that position </a:t>
            </a:r>
            <a:br>
              <a:rPr lang="en-US" altLang="en-US" dirty="0"/>
            </a:br>
            <a:r>
              <a:rPr lang="en-US" altLang="en-US" dirty="0"/>
              <a:t>to indicate that an item was removed.</a:t>
            </a:r>
          </a:p>
          <a:p>
            <a:pPr>
              <a:spcBef>
                <a:spcPts val="10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Three types of positions: occupied, empty, </a:t>
            </a:r>
            <a:r>
              <a:rPr lang="en-US" altLang="en-US" i="1" dirty="0"/>
              <a:t>removed</a:t>
            </a:r>
            <a:r>
              <a:rPr lang="en-US" altLang="en-US" dirty="0"/>
              <a:t>.</a:t>
            </a:r>
          </a:p>
          <a:p>
            <a:pPr>
              <a:spcBef>
                <a:spcPts val="10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We stop probing when we encounter an empty position, </a:t>
            </a:r>
            <a:br>
              <a:rPr lang="en-US" altLang="en-US" dirty="0"/>
            </a:br>
            <a:r>
              <a:rPr lang="en-US" altLang="en-US" dirty="0"/>
              <a:t>but not when we encounter a removed position.  </a:t>
            </a:r>
            <a:br>
              <a:rPr lang="en-US" altLang="en-US" dirty="0"/>
            </a:br>
            <a:r>
              <a:rPr lang="en-US" altLang="en-US" sz="2000" b="1" dirty="0">
                <a:solidFill>
                  <a:schemeClr val="accent2"/>
                </a:solidFill>
              </a:rPr>
              <a:t>ex: search for "bear": try 1 (removed), 1 + 1, 1 + 2 – found! </a:t>
            </a:r>
          </a:p>
        </p:txBody>
      </p:sp>
      <p:graphicFrame>
        <p:nvGraphicFramePr>
          <p:cNvPr id="2231301" name="Group 5"/>
          <p:cNvGraphicFramePr>
            <a:graphicFrameLocks noGrp="1"/>
          </p:cNvGraphicFramePr>
          <p:nvPr/>
        </p:nvGraphicFramePr>
        <p:xfrm>
          <a:off x="6634163" y="976313"/>
          <a:ext cx="2097087" cy="3687794"/>
        </p:xfrm>
        <a:graphic>
          <a:graphicData uri="http://schemas.openxmlformats.org/drawingml/2006/table">
            <a:tbl>
              <a:tblPr/>
              <a:tblGrid>
                <a:gridCol w="105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6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0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"ant"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"cat"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3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Console" pitchFamily="49" charset="0"/>
                        </a:rPr>
                        <a:t>"bear"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4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"emu"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5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…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...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22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"wolf"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23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"wasp"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24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"yak"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25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"zebra"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5337" name="Rectangle 48"/>
          <p:cNvSpPr>
            <a:spLocks noChangeArrowheads="1"/>
          </p:cNvSpPr>
          <p:nvPr/>
        </p:nvSpPr>
        <p:spPr bwMode="auto">
          <a:xfrm>
            <a:off x="7715250" y="2004946"/>
            <a:ext cx="995363" cy="280987"/>
          </a:xfrm>
          <a:prstGeom prst="rect">
            <a:avLst/>
          </a:prstGeom>
          <a:noFill/>
          <a:ln w="38100" algn="ctr">
            <a:solidFill>
              <a:srgbClr val="CC0099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>
              <a:spcBef>
                <a:spcPts val="1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 algn="l">
              <a:spcBef>
                <a:spcPts val="525"/>
              </a:spcBef>
              <a:buClr>
                <a:srgbClr val="000000"/>
              </a:buClr>
              <a:buSzPct val="10000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Helvetica" panose="020B0604020202020204" pitchFamily="34" charset="0"/>
              <a:buChar char="–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70830945"/>
      </p:ext>
    </p:extLst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87375" y="6312877"/>
            <a:ext cx="7861300" cy="54512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Removing Items Under Open Addressing</a:t>
            </a:r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458200" cy="5614988"/>
          </a:xfrm>
        </p:spPr>
        <p:txBody>
          <a:bodyPr/>
          <a:lstStyle/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Consider the following scenario: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using linear probing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insert "ape" (h = 0): try 0, 0 + 1 – open! 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insert "bear" (h = 1): try 1, 1 + 1, 1 + 2 – open!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remove "ape"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search for "ape": try 0, 0 + 1 – conclude not in table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569913" algn="l"/>
                <a:tab pos="793750" algn="l"/>
              </a:tabLst>
            </a:pPr>
            <a:r>
              <a:rPr lang="en-US" altLang="en-US" sz="2000" dirty="0"/>
              <a:t>search for "bear": </a:t>
            </a:r>
            <a:r>
              <a:rPr lang="en-US" altLang="en-US" sz="2000" dirty="0">
                <a:solidFill>
                  <a:schemeClr val="tx1"/>
                </a:solidFill>
              </a:rPr>
              <a:t>try 1 – conclude not in table, </a:t>
            </a:r>
            <a:br>
              <a:rPr lang="en-US" altLang="en-US" sz="2000" dirty="0">
                <a:solidFill>
                  <a:schemeClr val="tx1"/>
                </a:solidFill>
              </a:rPr>
            </a:br>
            <a:r>
              <a:rPr lang="en-US" altLang="en-US" sz="2000" dirty="0">
                <a:solidFill>
                  <a:schemeClr val="tx1"/>
                </a:solidFill>
              </a:rPr>
              <a:t>but "bear" is further down in the table!</a:t>
            </a:r>
            <a:endParaRPr lang="en-US" altLang="en-US" dirty="0">
              <a:solidFill>
                <a:schemeClr val="tx1"/>
              </a:solidFill>
            </a:endParaRPr>
          </a:p>
          <a:p>
            <a:pPr>
              <a:spcBef>
                <a:spcPts val="14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When we remove an item from a position, we</a:t>
            </a:r>
            <a:br>
              <a:rPr lang="en-US" altLang="en-US" dirty="0"/>
            </a:br>
            <a:r>
              <a:rPr lang="en-US" altLang="en-US" dirty="0"/>
              <a:t>need to leave something in that position </a:t>
            </a:r>
            <a:br>
              <a:rPr lang="en-US" altLang="en-US" dirty="0"/>
            </a:br>
            <a:r>
              <a:rPr lang="en-US" altLang="en-US" dirty="0"/>
              <a:t>to indicate that an item was removed.</a:t>
            </a:r>
          </a:p>
          <a:p>
            <a:pPr>
              <a:spcBef>
                <a:spcPts val="10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Three types of positions: occupied, empty, </a:t>
            </a:r>
            <a:r>
              <a:rPr lang="en-US" altLang="en-US" i="1" dirty="0"/>
              <a:t>removed</a:t>
            </a:r>
            <a:r>
              <a:rPr lang="en-US" altLang="en-US" dirty="0"/>
              <a:t>.</a:t>
            </a:r>
          </a:p>
          <a:p>
            <a:pPr>
              <a:spcBef>
                <a:spcPts val="10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We stop probing when we encounter an empty position, </a:t>
            </a:r>
            <a:br>
              <a:rPr lang="en-US" altLang="en-US" dirty="0"/>
            </a:br>
            <a:r>
              <a:rPr lang="en-US" altLang="en-US" dirty="0"/>
              <a:t>but not when we encounter a removed position.  </a:t>
            </a:r>
            <a:br>
              <a:rPr lang="en-US" altLang="en-US" dirty="0"/>
            </a:br>
            <a:r>
              <a:rPr lang="en-US" altLang="en-US" sz="2000" b="1" dirty="0">
                <a:solidFill>
                  <a:schemeClr val="accent2"/>
                </a:solidFill>
              </a:rPr>
              <a:t>ex: search for "bear": try 1 (removed), 1 + 1, 1 + 2 – found!</a:t>
            </a:r>
            <a:endParaRPr lang="en-US" altLang="en-US" dirty="0"/>
          </a:p>
          <a:p>
            <a:pPr>
              <a:spcBef>
                <a:spcPts val="1000"/>
              </a:spcBef>
              <a:buFontTx/>
              <a:buChar char="•"/>
              <a:tabLst>
                <a:tab pos="569913" algn="l"/>
                <a:tab pos="793750" algn="l"/>
              </a:tabLst>
            </a:pPr>
            <a:r>
              <a:rPr lang="en-US" altLang="en-US" dirty="0"/>
              <a:t>We can insert items in either empty or removed positions.</a:t>
            </a:r>
          </a:p>
        </p:txBody>
      </p:sp>
      <p:graphicFrame>
        <p:nvGraphicFramePr>
          <p:cNvPr id="2235397" name="Group 5"/>
          <p:cNvGraphicFramePr>
            <a:graphicFrameLocks noGrp="1"/>
          </p:cNvGraphicFramePr>
          <p:nvPr/>
        </p:nvGraphicFramePr>
        <p:xfrm>
          <a:off x="6634163" y="976313"/>
          <a:ext cx="2097087" cy="3687794"/>
        </p:xfrm>
        <a:graphic>
          <a:graphicData uri="http://schemas.openxmlformats.org/drawingml/2006/table">
            <a:tbl>
              <a:tblPr/>
              <a:tblGrid>
                <a:gridCol w="105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6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0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"ant"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"cat"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3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Console" pitchFamily="49" charset="0"/>
                        </a:rPr>
                        <a:t>"bear"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4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"emu"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5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…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...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22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"wolf"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23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"wasp"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24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"yak"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25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"zebra"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37453155"/>
      </p:ext>
    </p:extLst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87375" y="745588"/>
            <a:ext cx="4716145" cy="61897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Insertion</a:t>
            </a:r>
          </a:p>
        </p:txBody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802687" cy="5614988"/>
          </a:xfrm>
        </p:spPr>
        <p:txBody>
          <a:bodyPr/>
          <a:lstStyle/>
          <a:p>
            <a:r>
              <a:rPr lang="en-US" altLang="en-US" dirty="0"/>
              <a:t>We begin by probing for the key.</a:t>
            </a:r>
          </a:p>
          <a:p>
            <a:r>
              <a:rPr lang="en-US" altLang="en-US" dirty="0"/>
              <a:t>Several cases:</a:t>
            </a:r>
          </a:p>
          <a:p>
            <a:pPr marL="793750" lvl="1" indent="-336550">
              <a:buFontTx/>
              <a:buNone/>
            </a:pPr>
            <a:r>
              <a:rPr lang="en-US" altLang="en-US" dirty="0"/>
              <a:t>1.	 the key is already in the table (we're inserting a duplicate)</a:t>
            </a:r>
          </a:p>
          <a:p>
            <a:pPr marL="793750" lvl="1" indent="-336550">
              <a:buFontTx/>
              <a:buNone/>
            </a:pPr>
            <a:r>
              <a:rPr lang="en-US" altLang="en-US" dirty="0"/>
              <a:t>		</a:t>
            </a:r>
            <a:r>
              <a:rPr lang="en-US" altLang="en-US" dirty="0">
                <a:sym typeface="Wingdings" panose="05000000000000000000" pitchFamily="2" charset="2"/>
              </a:rPr>
              <a:t> add the value to the values in the key's </a:t>
            </a:r>
            <a:r>
              <a:rPr lang="en-US" altLang="en-US" sz="2000" dirty="0">
                <a:latin typeface="Lucida Console" panose="020B0609040504020204" pitchFamily="49" charset="0"/>
                <a:sym typeface="Wingdings" panose="05000000000000000000" pitchFamily="2" charset="2"/>
              </a:rPr>
              <a:t>Entry</a:t>
            </a:r>
            <a:endParaRPr lang="en-US" altLang="en-US" dirty="0"/>
          </a:p>
          <a:p>
            <a:pPr marL="793750" lvl="1" indent="-336550">
              <a:spcBef>
                <a:spcPts val="200"/>
              </a:spcBef>
              <a:buFontTx/>
              <a:buNone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504068044"/>
      </p:ext>
    </p:extLst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06233" y="1789612"/>
            <a:ext cx="8072846" cy="9666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587375" y="745588"/>
            <a:ext cx="4716145" cy="61897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Insertion</a:t>
            </a:r>
          </a:p>
        </p:txBody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802687" cy="5614988"/>
          </a:xfrm>
        </p:spPr>
        <p:txBody>
          <a:bodyPr/>
          <a:lstStyle/>
          <a:p>
            <a:r>
              <a:rPr lang="en-US" altLang="en-US" dirty="0"/>
              <a:t>We begin by probing for the key.</a:t>
            </a:r>
          </a:p>
          <a:p>
            <a:r>
              <a:rPr lang="en-US" altLang="en-US" dirty="0"/>
              <a:t>Several cases:</a:t>
            </a:r>
          </a:p>
          <a:p>
            <a:pPr marL="793750" lvl="1" indent="-336550">
              <a:buFontTx/>
              <a:buNone/>
            </a:pPr>
            <a:r>
              <a:rPr lang="en-US" altLang="en-US" dirty="0"/>
              <a:t>1.	 the key is already in the table (we're inserting a duplicate)</a:t>
            </a:r>
          </a:p>
          <a:p>
            <a:pPr marL="793750" lvl="1" indent="-336550">
              <a:buFontTx/>
              <a:buNone/>
            </a:pPr>
            <a:r>
              <a:rPr lang="en-US" altLang="en-US" dirty="0"/>
              <a:t>		</a:t>
            </a:r>
            <a:r>
              <a:rPr lang="en-US" altLang="en-US" dirty="0">
                <a:sym typeface="Wingdings" panose="05000000000000000000" pitchFamily="2" charset="2"/>
              </a:rPr>
              <a:t> add the value to the values in the key's </a:t>
            </a:r>
            <a:r>
              <a:rPr lang="en-US" altLang="en-US" sz="2000" dirty="0">
                <a:latin typeface="Lucida Console" panose="020B0609040504020204" pitchFamily="49" charset="0"/>
                <a:sym typeface="Wingdings" panose="05000000000000000000" pitchFamily="2" charset="2"/>
              </a:rPr>
              <a:t>Entry</a:t>
            </a:r>
            <a:endParaRPr lang="en-US" altLang="en-US" dirty="0"/>
          </a:p>
          <a:p>
            <a:pPr marL="793750" lvl="1" indent="-336550">
              <a:spcBef>
                <a:spcPts val="200"/>
              </a:spcBef>
              <a:buFontTx/>
              <a:buNone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68439788"/>
      </p:ext>
    </p:extLst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686639" y="2743200"/>
            <a:ext cx="8112034" cy="387966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802687" cy="5614988"/>
          </a:xfrm>
        </p:spPr>
        <p:txBody>
          <a:bodyPr/>
          <a:lstStyle/>
          <a:p>
            <a:r>
              <a:rPr lang="en-US" altLang="en-US" dirty="0"/>
              <a:t>We begin by probing for the key.</a:t>
            </a:r>
          </a:p>
          <a:p>
            <a:r>
              <a:rPr lang="en-US" altLang="en-US" dirty="0"/>
              <a:t>Several cases:</a:t>
            </a:r>
          </a:p>
          <a:p>
            <a:pPr marL="793750" lvl="1" indent="-336550">
              <a:buFontTx/>
              <a:buNone/>
            </a:pPr>
            <a:r>
              <a:rPr lang="en-US" altLang="en-US" dirty="0"/>
              <a:t>1.	 the key is already in the table (we're inserting a duplicate)</a:t>
            </a:r>
          </a:p>
          <a:p>
            <a:pPr marL="793750" lvl="1" indent="-336550">
              <a:buFontTx/>
              <a:buNone/>
            </a:pPr>
            <a:r>
              <a:rPr lang="en-US" altLang="en-US" dirty="0"/>
              <a:t>		</a:t>
            </a:r>
            <a:r>
              <a:rPr lang="en-US" altLang="en-US" dirty="0">
                <a:sym typeface="Wingdings" panose="05000000000000000000" pitchFamily="2" charset="2"/>
              </a:rPr>
              <a:t> add the value to the values in the key's </a:t>
            </a:r>
            <a:r>
              <a:rPr lang="en-US" altLang="en-US" sz="2000" dirty="0">
                <a:latin typeface="Lucida Console" panose="020B0609040504020204" pitchFamily="49" charset="0"/>
                <a:sym typeface="Wingdings" panose="05000000000000000000" pitchFamily="2" charset="2"/>
              </a:rPr>
              <a:t>Entry</a:t>
            </a:r>
            <a:endParaRPr lang="en-US" altLang="en-US" dirty="0"/>
          </a:p>
          <a:p>
            <a:pPr marL="793750" lvl="1" indent="-336550">
              <a:spcBef>
                <a:spcPts val="2000"/>
              </a:spcBef>
              <a:buFontTx/>
              <a:buNone/>
            </a:pPr>
            <a:r>
              <a:rPr lang="en-US" altLang="en-US" dirty="0"/>
              <a:t>2.	 the key is not in the table: </a:t>
            </a:r>
            <a:r>
              <a:rPr lang="en-US" altLang="en-US" dirty="0">
                <a:solidFill>
                  <a:srgbClr val="0000FF"/>
                </a:solidFill>
              </a:rPr>
              <a:t>three subcases</a:t>
            </a:r>
            <a:r>
              <a:rPr lang="en-US" altLang="en-US" dirty="0"/>
              <a:t>:</a:t>
            </a:r>
          </a:p>
          <a:p>
            <a:pPr marL="793750" lvl="1" indent="-336550">
              <a:spcBef>
                <a:spcPts val="500"/>
              </a:spcBef>
              <a:buFontTx/>
              <a:buNone/>
            </a:pPr>
            <a:r>
              <a:rPr lang="en-US" altLang="en-US" dirty="0"/>
              <a:t>		</a:t>
            </a:r>
            <a:r>
              <a:rPr lang="en-US" altLang="en-US" dirty="0">
                <a:sym typeface="Wingdings" panose="05000000000000000000" pitchFamily="2" charset="2"/>
              </a:rPr>
              <a:t>					</a:t>
            </a:r>
          </a:p>
          <a:p>
            <a:pPr marL="793750" lvl="1" indent="-336550">
              <a:spcBef>
                <a:spcPts val="200"/>
              </a:spcBef>
              <a:buFontTx/>
              <a:buNone/>
            </a:pPr>
            <a:endParaRPr lang="en-US" altLang="en-US" dirty="0"/>
          </a:p>
        </p:txBody>
      </p:sp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Insertion</a:t>
            </a:r>
          </a:p>
        </p:txBody>
      </p:sp>
    </p:spTree>
    <p:extLst>
      <p:ext uri="{BB962C8B-B14F-4D97-AF65-F5344CB8AC3E}">
        <p14:creationId xmlns:p14="http://schemas.microsoft.com/office/powerpoint/2010/main" val="1007121777"/>
      </p:ext>
    </p:extLst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86639" y="2743200"/>
            <a:ext cx="8112034" cy="387966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Insertion</a:t>
            </a:r>
          </a:p>
        </p:txBody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802687" cy="5614988"/>
          </a:xfrm>
        </p:spPr>
        <p:txBody>
          <a:bodyPr/>
          <a:lstStyle/>
          <a:p>
            <a:r>
              <a:rPr lang="en-US" altLang="en-US" dirty="0"/>
              <a:t>We begin by probing for the key.</a:t>
            </a:r>
          </a:p>
          <a:p>
            <a:r>
              <a:rPr lang="en-US" altLang="en-US" dirty="0"/>
              <a:t>Several cases:</a:t>
            </a:r>
          </a:p>
          <a:p>
            <a:pPr marL="793750" lvl="1" indent="-336550">
              <a:buFontTx/>
              <a:buNone/>
            </a:pPr>
            <a:r>
              <a:rPr lang="en-US" altLang="en-US" dirty="0"/>
              <a:t>1.	 the key is already in the table (we're inserting a duplicate)</a:t>
            </a:r>
          </a:p>
          <a:p>
            <a:pPr marL="793750" lvl="1" indent="-336550">
              <a:buFontTx/>
              <a:buNone/>
            </a:pPr>
            <a:r>
              <a:rPr lang="en-US" altLang="en-US" dirty="0"/>
              <a:t>		</a:t>
            </a:r>
            <a:r>
              <a:rPr lang="en-US" altLang="en-US" dirty="0">
                <a:sym typeface="Wingdings" panose="05000000000000000000" pitchFamily="2" charset="2"/>
              </a:rPr>
              <a:t> add the value to the values in the key's </a:t>
            </a:r>
            <a:r>
              <a:rPr lang="en-US" altLang="en-US" sz="2000" dirty="0">
                <a:latin typeface="Lucida Console" panose="020B0609040504020204" pitchFamily="49" charset="0"/>
                <a:sym typeface="Wingdings" panose="05000000000000000000" pitchFamily="2" charset="2"/>
              </a:rPr>
              <a:t>Entry</a:t>
            </a:r>
            <a:endParaRPr lang="en-US" altLang="en-US" dirty="0"/>
          </a:p>
          <a:p>
            <a:pPr marL="793750" lvl="1" indent="-336550">
              <a:spcBef>
                <a:spcPts val="2000"/>
              </a:spcBef>
              <a:buFontTx/>
              <a:buNone/>
            </a:pPr>
            <a:r>
              <a:rPr lang="en-US" altLang="en-US" dirty="0"/>
              <a:t>2.	 the key is not in the table: </a:t>
            </a:r>
            <a:r>
              <a:rPr lang="en-US" altLang="en-US" dirty="0">
                <a:solidFill>
                  <a:srgbClr val="0000FF"/>
                </a:solidFill>
              </a:rPr>
              <a:t>three subcases</a:t>
            </a:r>
            <a:r>
              <a:rPr lang="en-US" altLang="en-US" dirty="0"/>
              <a:t>:</a:t>
            </a:r>
          </a:p>
          <a:p>
            <a:pPr marL="793750" lvl="1" indent="-336550">
              <a:spcBef>
                <a:spcPts val="500"/>
              </a:spcBef>
              <a:buFontTx/>
              <a:buNone/>
            </a:pPr>
            <a:r>
              <a:rPr lang="en-US" altLang="en-US" dirty="0"/>
              <a:t>		a.  encountered 1 or more removed positions while probing</a:t>
            </a:r>
          </a:p>
          <a:p>
            <a:pPr marL="793750" lvl="1" indent="-336550">
              <a:spcBef>
                <a:spcPts val="200"/>
              </a:spcBef>
              <a:buFontTx/>
              <a:buNone/>
            </a:pPr>
            <a:r>
              <a:rPr lang="en-US" altLang="en-US" dirty="0"/>
              <a:t>			</a:t>
            </a:r>
            <a:r>
              <a:rPr lang="en-US" altLang="en-US" dirty="0">
                <a:sym typeface="Wingdings" panose="05000000000000000000" pitchFamily="2" charset="2"/>
              </a:rPr>
              <a:t> put the (key, value) pair in the </a:t>
            </a:r>
            <a:r>
              <a:rPr lang="en-US" altLang="en-US" i="1" dirty="0">
                <a:sym typeface="Wingdings" panose="05000000000000000000" pitchFamily="2" charset="2"/>
              </a:rPr>
              <a:t>first</a:t>
            </a:r>
            <a:r>
              <a:rPr lang="en-US" altLang="en-US" dirty="0">
                <a:sym typeface="Wingdings" panose="05000000000000000000" pitchFamily="2" charset="2"/>
              </a:rPr>
              <a:t> removed position</a:t>
            </a:r>
            <a:br>
              <a:rPr lang="en-US" altLang="en-US" dirty="0">
                <a:sym typeface="Wingdings" panose="05000000000000000000" pitchFamily="2" charset="2"/>
              </a:rPr>
            </a:br>
            <a:r>
              <a:rPr lang="en-US" altLang="en-US" dirty="0">
                <a:sym typeface="Wingdings" panose="05000000000000000000" pitchFamily="2" charset="2"/>
              </a:rPr>
              <a:t>		     seen during probing. </a:t>
            </a:r>
            <a:r>
              <a:rPr lang="en-US" altLang="en-US" b="1" dirty="0">
                <a:sym typeface="Wingdings" panose="05000000000000000000" pitchFamily="2" charset="2"/>
              </a:rPr>
              <a:t>why?</a:t>
            </a:r>
          </a:p>
          <a:p>
            <a:pPr marL="793750" lvl="1" indent="-336550">
              <a:spcBef>
                <a:spcPts val="200"/>
              </a:spcBef>
              <a:buFontTx/>
              <a:buNone/>
            </a:pPr>
            <a:r>
              <a:rPr lang="en-US" altLang="en-US" dirty="0">
                <a:sym typeface="Wingdings" panose="05000000000000000000" pitchFamily="2" charset="2"/>
              </a:rPr>
              <a:t>					</a:t>
            </a:r>
          </a:p>
          <a:p>
            <a:pPr marL="793750" lvl="1" indent="-336550">
              <a:spcBef>
                <a:spcPts val="200"/>
              </a:spcBef>
              <a:buFontTx/>
              <a:buNone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612345555"/>
      </p:ext>
    </p:extLst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86639" y="2743200"/>
            <a:ext cx="8112034" cy="387966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75778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Insertion</a:t>
            </a:r>
          </a:p>
        </p:txBody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802687" cy="5614988"/>
          </a:xfrm>
        </p:spPr>
        <p:txBody>
          <a:bodyPr/>
          <a:lstStyle/>
          <a:p>
            <a:r>
              <a:rPr lang="en-US" altLang="en-US" dirty="0"/>
              <a:t>We begin by probing for the key.</a:t>
            </a:r>
          </a:p>
          <a:p>
            <a:r>
              <a:rPr lang="en-US" altLang="en-US" dirty="0"/>
              <a:t>Several cases:</a:t>
            </a:r>
          </a:p>
          <a:p>
            <a:pPr marL="793750" lvl="1" indent="-336550">
              <a:buFontTx/>
              <a:buNone/>
            </a:pPr>
            <a:r>
              <a:rPr lang="en-US" altLang="en-US" dirty="0"/>
              <a:t>1.	 the key is already in the table (we're inserting a duplicate)</a:t>
            </a:r>
          </a:p>
          <a:p>
            <a:pPr marL="793750" lvl="1" indent="-336550">
              <a:buFontTx/>
              <a:buNone/>
            </a:pPr>
            <a:r>
              <a:rPr lang="en-US" altLang="en-US" dirty="0"/>
              <a:t>		</a:t>
            </a:r>
            <a:r>
              <a:rPr lang="en-US" altLang="en-US" dirty="0">
                <a:sym typeface="Wingdings" panose="05000000000000000000" pitchFamily="2" charset="2"/>
              </a:rPr>
              <a:t> add the value to the values in the </a:t>
            </a:r>
            <a:r>
              <a:rPr lang="en-US" altLang="en-US" dirty="0">
                <a:ea typeface="+mn-ea"/>
                <a:cs typeface="+mn-cs"/>
                <a:sym typeface="Wingdings" panose="05000000000000000000" pitchFamily="2" charset="2"/>
              </a:rPr>
              <a:t>key's </a:t>
            </a:r>
            <a:r>
              <a:rPr lang="en-US" altLang="en-US" sz="2000" dirty="0">
                <a:latin typeface="Lucida Console" panose="020B0609040504020204" pitchFamily="49" charset="0"/>
                <a:ea typeface="+mn-ea"/>
                <a:cs typeface="+mn-cs"/>
                <a:sym typeface="Wingdings" panose="05000000000000000000" pitchFamily="2" charset="2"/>
              </a:rPr>
              <a:t>Entry</a:t>
            </a:r>
            <a:endParaRPr lang="en-US" altLang="en-US" dirty="0"/>
          </a:p>
          <a:p>
            <a:pPr marL="793750" lvl="1" indent="-336550">
              <a:spcBef>
                <a:spcPts val="2000"/>
              </a:spcBef>
              <a:buFontTx/>
              <a:buNone/>
            </a:pPr>
            <a:r>
              <a:rPr lang="en-US" altLang="en-US" dirty="0"/>
              <a:t>2.	 the key is not in the table: three subcases:</a:t>
            </a:r>
          </a:p>
          <a:p>
            <a:pPr marL="793750" lvl="1" indent="-336550">
              <a:spcBef>
                <a:spcPts val="500"/>
              </a:spcBef>
              <a:buFontTx/>
              <a:buNone/>
            </a:pPr>
            <a:r>
              <a:rPr lang="en-US" altLang="en-US" dirty="0"/>
              <a:t>		a.  encountered 1 or more removed positions while probing</a:t>
            </a:r>
          </a:p>
          <a:p>
            <a:pPr marL="793750" lvl="1" indent="-336550">
              <a:spcBef>
                <a:spcPts val="200"/>
              </a:spcBef>
              <a:buFontTx/>
              <a:buNone/>
            </a:pPr>
            <a:r>
              <a:rPr lang="en-US" altLang="en-US" dirty="0"/>
              <a:t>			</a:t>
            </a:r>
            <a:r>
              <a:rPr lang="en-US" altLang="en-US" dirty="0">
                <a:sym typeface="Wingdings" panose="05000000000000000000" pitchFamily="2" charset="2"/>
              </a:rPr>
              <a:t> put the (key, value) pair in the </a:t>
            </a:r>
            <a:r>
              <a:rPr lang="en-US" altLang="en-US" i="1" dirty="0">
                <a:sym typeface="Wingdings" panose="05000000000000000000" pitchFamily="2" charset="2"/>
              </a:rPr>
              <a:t>first</a:t>
            </a:r>
            <a:r>
              <a:rPr lang="en-US" altLang="en-US" dirty="0">
                <a:sym typeface="Wingdings" panose="05000000000000000000" pitchFamily="2" charset="2"/>
              </a:rPr>
              <a:t> removed position</a:t>
            </a:r>
            <a:br>
              <a:rPr lang="en-US" altLang="en-US" dirty="0">
                <a:sym typeface="Wingdings" panose="05000000000000000000" pitchFamily="2" charset="2"/>
              </a:rPr>
            </a:br>
            <a:r>
              <a:rPr lang="en-US" altLang="en-US" dirty="0">
                <a:sym typeface="Wingdings" panose="05000000000000000000" pitchFamily="2" charset="2"/>
              </a:rPr>
              <a:t>		     seen during probing. why?</a:t>
            </a:r>
          </a:p>
          <a:p>
            <a:pPr marL="793750" lvl="1" indent="-336550">
              <a:spcBef>
                <a:spcPts val="200"/>
              </a:spcBef>
              <a:buFontTx/>
              <a:buNone/>
            </a:pPr>
            <a:r>
              <a:rPr lang="en-US" altLang="en-US" dirty="0"/>
              <a:t>			     </a:t>
            </a:r>
            <a:r>
              <a:rPr lang="en-US" altLang="en-US" dirty="0">
                <a:solidFill>
                  <a:srgbClr val="0000FF"/>
                </a:solidFill>
              </a:rPr>
              <a:t>we'll find it sooner in subsequent searches</a:t>
            </a:r>
          </a:p>
          <a:p>
            <a:pPr>
              <a:buFont typeface="Times New Roman" panose="02020603050405020304" pitchFamily="18" charset="0"/>
              <a:buNone/>
            </a:pPr>
            <a:r>
              <a:rPr lang="en-US" altLang="en-US" sz="2000" dirty="0"/>
              <a:t>	</a:t>
            </a:r>
            <a:r>
              <a:rPr lang="en-US" altLang="en-US" dirty="0"/>
              <a:t>		</a:t>
            </a:r>
            <a:endParaRPr lang="en-US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092791196"/>
      </p:ext>
    </p:extLst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86639" y="2743200"/>
            <a:ext cx="8112034" cy="387966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75778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Insertion</a:t>
            </a:r>
          </a:p>
        </p:txBody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802687" cy="5614988"/>
          </a:xfrm>
        </p:spPr>
        <p:txBody>
          <a:bodyPr/>
          <a:lstStyle/>
          <a:p>
            <a:r>
              <a:rPr lang="en-US" altLang="en-US" dirty="0"/>
              <a:t>We begin by probing for the key.</a:t>
            </a:r>
          </a:p>
          <a:p>
            <a:r>
              <a:rPr lang="en-US" altLang="en-US" dirty="0"/>
              <a:t>Several cases:</a:t>
            </a:r>
          </a:p>
          <a:p>
            <a:pPr marL="793750" lvl="1" indent="-336550">
              <a:buFontTx/>
              <a:buNone/>
            </a:pPr>
            <a:r>
              <a:rPr lang="en-US" altLang="en-US" dirty="0"/>
              <a:t>1.	 the key is already in the table (we're inserting a duplicate)</a:t>
            </a:r>
          </a:p>
          <a:p>
            <a:pPr marL="793750" lvl="1" indent="-336550">
              <a:buFontTx/>
              <a:buNone/>
            </a:pPr>
            <a:r>
              <a:rPr lang="en-US" altLang="en-US" dirty="0"/>
              <a:t>		</a:t>
            </a:r>
            <a:r>
              <a:rPr lang="en-US" altLang="en-US" dirty="0">
                <a:sym typeface="Wingdings" panose="05000000000000000000" pitchFamily="2" charset="2"/>
              </a:rPr>
              <a:t> add the value to the values in the key's </a:t>
            </a:r>
            <a:r>
              <a:rPr lang="en-US" altLang="en-US" sz="2000" dirty="0">
                <a:latin typeface="Lucida Console" panose="020B0609040504020204" pitchFamily="49" charset="0"/>
                <a:sym typeface="Wingdings" panose="05000000000000000000" pitchFamily="2" charset="2"/>
              </a:rPr>
              <a:t>Entry</a:t>
            </a:r>
            <a:endParaRPr lang="en-US" altLang="en-US" dirty="0"/>
          </a:p>
          <a:p>
            <a:pPr marL="793750" lvl="1" indent="-336550">
              <a:spcBef>
                <a:spcPts val="2000"/>
              </a:spcBef>
              <a:buFontTx/>
              <a:buNone/>
            </a:pPr>
            <a:r>
              <a:rPr lang="en-US" altLang="en-US" dirty="0"/>
              <a:t>2.	 the key is not in the table: three subcases:</a:t>
            </a:r>
          </a:p>
          <a:p>
            <a:pPr marL="793750" lvl="1" indent="-336550">
              <a:spcBef>
                <a:spcPts val="500"/>
              </a:spcBef>
              <a:buFontTx/>
              <a:buNone/>
            </a:pPr>
            <a:r>
              <a:rPr lang="en-US" altLang="en-US" dirty="0"/>
              <a:t>		a.  encountered 1 or more removed positions while probing</a:t>
            </a:r>
          </a:p>
          <a:p>
            <a:pPr marL="793750" lvl="1" indent="-336550">
              <a:spcBef>
                <a:spcPts val="200"/>
              </a:spcBef>
              <a:buFontTx/>
              <a:buNone/>
            </a:pPr>
            <a:r>
              <a:rPr lang="en-US" altLang="en-US" dirty="0"/>
              <a:t>			</a:t>
            </a:r>
            <a:r>
              <a:rPr lang="en-US" altLang="en-US" dirty="0">
                <a:sym typeface="Wingdings" panose="05000000000000000000" pitchFamily="2" charset="2"/>
              </a:rPr>
              <a:t> put the (key, value) pair in the </a:t>
            </a:r>
            <a:r>
              <a:rPr lang="en-US" altLang="en-US" i="1" dirty="0">
                <a:sym typeface="Wingdings" panose="05000000000000000000" pitchFamily="2" charset="2"/>
              </a:rPr>
              <a:t>first</a:t>
            </a:r>
            <a:r>
              <a:rPr lang="en-US" altLang="en-US" dirty="0">
                <a:sym typeface="Wingdings" panose="05000000000000000000" pitchFamily="2" charset="2"/>
              </a:rPr>
              <a:t> removed position</a:t>
            </a:r>
            <a:br>
              <a:rPr lang="en-US" altLang="en-US" dirty="0">
                <a:sym typeface="Wingdings" panose="05000000000000000000" pitchFamily="2" charset="2"/>
              </a:rPr>
            </a:br>
            <a:r>
              <a:rPr lang="en-US" altLang="en-US" dirty="0">
                <a:sym typeface="Wingdings" panose="05000000000000000000" pitchFamily="2" charset="2"/>
              </a:rPr>
              <a:t>		     seen during probing. why?</a:t>
            </a:r>
          </a:p>
          <a:p>
            <a:pPr marL="793750" lvl="1" indent="-336550">
              <a:spcBef>
                <a:spcPts val="200"/>
              </a:spcBef>
              <a:buFontTx/>
              <a:buNone/>
            </a:pPr>
            <a:r>
              <a:rPr lang="en-US" altLang="en-US" dirty="0"/>
              <a:t>			     </a:t>
            </a:r>
            <a:r>
              <a:rPr lang="en-US" altLang="en-US" dirty="0">
                <a:solidFill>
                  <a:schemeClr val="tx1"/>
                </a:solidFill>
              </a:rPr>
              <a:t>we'll find it sooner in subsequent searches</a:t>
            </a:r>
          </a:p>
          <a:p>
            <a:pPr>
              <a:buFont typeface="Times New Roman" panose="02020603050405020304" pitchFamily="18" charset="0"/>
              <a:buNone/>
            </a:pPr>
            <a:r>
              <a:rPr lang="en-US" altLang="en-US" sz="2000" dirty="0"/>
              <a:t>	</a:t>
            </a:r>
            <a:r>
              <a:rPr lang="en-US" altLang="en-US" dirty="0"/>
              <a:t>		b.  no removed position; reached an empty position </a:t>
            </a:r>
          </a:p>
          <a:p>
            <a:pPr marL="793750" lvl="1" indent="-336550">
              <a:spcBef>
                <a:spcPts val="200"/>
              </a:spcBef>
              <a:buFontTx/>
              <a:buNone/>
            </a:pPr>
            <a:r>
              <a:rPr lang="en-US" altLang="en-US" dirty="0"/>
              <a:t>			</a:t>
            </a:r>
            <a:r>
              <a:rPr lang="en-US" altLang="en-US" dirty="0">
                <a:sym typeface="Wingdings" panose="05000000000000000000" pitchFamily="2" charset="2"/>
              </a:rPr>
              <a:t> put the (key, value) pair in the empty position</a:t>
            </a:r>
            <a:endParaRPr lang="en-US" altLang="en-US" dirty="0"/>
          </a:p>
          <a:p>
            <a:pPr>
              <a:buFont typeface="Times New Roman" panose="02020603050405020304" pitchFamily="18" charset="0"/>
              <a:buNone/>
            </a:pPr>
            <a:r>
              <a:rPr lang="en-US" altLang="en-US" dirty="0"/>
              <a:t>			</a:t>
            </a:r>
            <a:endParaRPr lang="en-US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796636159"/>
      </p:ext>
    </p:extLst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6639" y="2743200"/>
            <a:ext cx="8112034" cy="387966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75778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Insertion</a:t>
            </a:r>
          </a:p>
        </p:txBody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802687" cy="5614988"/>
          </a:xfrm>
        </p:spPr>
        <p:txBody>
          <a:bodyPr/>
          <a:lstStyle/>
          <a:p>
            <a:r>
              <a:rPr lang="en-US" altLang="en-US" dirty="0"/>
              <a:t>We begin by probing for the key.</a:t>
            </a:r>
          </a:p>
          <a:p>
            <a:r>
              <a:rPr lang="en-US" altLang="en-US" dirty="0"/>
              <a:t>Several cases:</a:t>
            </a:r>
          </a:p>
          <a:p>
            <a:pPr marL="793750" lvl="1" indent="-336550">
              <a:buFontTx/>
              <a:buNone/>
            </a:pPr>
            <a:r>
              <a:rPr lang="en-US" altLang="en-US" dirty="0"/>
              <a:t>1.	 the key is already in the table (we're inserting a duplicate)</a:t>
            </a:r>
          </a:p>
          <a:p>
            <a:pPr marL="793750" lvl="1" indent="-336550">
              <a:buFontTx/>
              <a:buNone/>
            </a:pPr>
            <a:r>
              <a:rPr lang="en-US" altLang="en-US" dirty="0"/>
              <a:t>		</a:t>
            </a:r>
            <a:r>
              <a:rPr lang="en-US" altLang="en-US" dirty="0">
                <a:sym typeface="Wingdings" panose="05000000000000000000" pitchFamily="2" charset="2"/>
              </a:rPr>
              <a:t> add the value to the values in the key's </a:t>
            </a:r>
            <a:r>
              <a:rPr lang="en-US" altLang="en-US" sz="2000" dirty="0">
                <a:latin typeface="Lucida Console" panose="020B0609040504020204" pitchFamily="49" charset="0"/>
                <a:sym typeface="Wingdings" panose="05000000000000000000" pitchFamily="2" charset="2"/>
              </a:rPr>
              <a:t>Entry</a:t>
            </a:r>
            <a:endParaRPr lang="en-US" altLang="en-US" dirty="0"/>
          </a:p>
          <a:p>
            <a:pPr marL="793750" lvl="1" indent="-336550">
              <a:spcBef>
                <a:spcPts val="2000"/>
              </a:spcBef>
              <a:buFontTx/>
              <a:buNone/>
            </a:pPr>
            <a:r>
              <a:rPr lang="en-US" altLang="en-US" dirty="0"/>
              <a:t>2.	 the key is not in the table: three subcases:</a:t>
            </a:r>
          </a:p>
          <a:p>
            <a:pPr marL="793750" lvl="1" indent="-336550">
              <a:spcBef>
                <a:spcPts val="500"/>
              </a:spcBef>
              <a:buFontTx/>
              <a:buNone/>
            </a:pPr>
            <a:r>
              <a:rPr lang="en-US" altLang="en-US" dirty="0"/>
              <a:t>		a.  encountered 1 or more removed positions while probing</a:t>
            </a:r>
          </a:p>
          <a:p>
            <a:pPr marL="793750" lvl="1" indent="-336550">
              <a:spcBef>
                <a:spcPts val="200"/>
              </a:spcBef>
              <a:buFontTx/>
              <a:buNone/>
            </a:pPr>
            <a:r>
              <a:rPr lang="en-US" altLang="en-US" dirty="0"/>
              <a:t>			</a:t>
            </a:r>
            <a:r>
              <a:rPr lang="en-US" altLang="en-US" dirty="0">
                <a:sym typeface="Wingdings" panose="05000000000000000000" pitchFamily="2" charset="2"/>
              </a:rPr>
              <a:t> put the (key, value) pair in the </a:t>
            </a:r>
            <a:r>
              <a:rPr lang="en-US" altLang="en-US" i="1" dirty="0">
                <a:sym typeface="Wingdings" panose="05000000000000000000" pitchFamily="2" charset="2"/>
              </a:rPr>
              <a:t>first</a:t>
            </a:r>
            <a:r>
              <a:rPr lang="en-US" altLang="en-US" dirty="0">
                <a:sym typeface="Wingdings" panose="05000000000000000000" pitchFamily="2" charset="2"/>
              </a:rPr>
              <a:t> removed position</a:t>
            </a:r>
            <a:br>
              <a:rPr lang="en-US" altLang="en-US" dirty="0">
                <a:sym typeface="Wingdings" panose="05000000000000000000" pitchFamily="2" charset="2"/>
              </a:rPr>
            </a:br>
            <a:r>
              <a:rPr lang="en-US" altLang="en-US" dirty="0">
                <a:sym typeface="Wingdings" panose="05000000000000000000" pitchFamily="2" charset="2"/>
              </a:rPr>
              <a:t>		     seen during probing. why?</a:t>
            </a:r>
          </a:p>
          <a:p>
            <a:pPr marL="793750" lvl="1" indent="-336550">
              <a:spcBef>
                <a:spcPts val="200"/>
              </a:spcBef>
              <a:buFontTx/>
              <a:buNone/>
            </a:pPr>
            <a:r>
              <a:rPr lang="en-US" altLang="en-US" dirty="0"/>
              <a:t>			     </a:t>
            </a:r>
            <a:r>
              <a:rPr lang="en-US" altLang="en-US" dirty="0">
                <a:solidFill>
                  <a:schemeClr val="tx1"/>
                </a:solidFill>
              </a:rPr>
              <a:t>we'll find it sooner in subsequent searches</a:t>
            </a:r>
          </a:p>
          <a:p>
            <a:pPr>
              <a:buFont typeface="Times New Roman" panose="02020603050405020304" pitchFamily="18" charset="0"/>
              <a:buNone/>
            </a:pPr>
            <a:r>
              <a:rPr lang="en-US" altLang="en-US" sz="2000" dirty="0"/>
              <a:t>	</a:t>
            </a:r>
            <a:r>
              <a:rPr lang="en-US" altLang="en-US" dirty="0"/>
              <a:t>		b.  no removed position; reached an empty position </a:t>
            </a:r>
          </a:p>
          <a:p>
            <a:pPr marL="793750" lvl="1" indent="-336550">
              <a:spcBef>
                <a:spcPts val="200"/>
              </a:spcBef>
              <a:buFontTx/>
              <a:buNone/>
            </a:pPr>
            <a:r>
              <a:rPr lang="en-US" altLang="en-US" dirty="0"/>
              <a:t>			</a:t>
            </a:r>
            <a:r>
              <a:rPr lang="en-US" altLang="en-US" dirty="0">
                <a:sym typeface="Wingdings" panose="05000000000000000000" pitchFamily="2" charset="2"/>
              </a:rPr>
              <a:t> put the (key, value) pair in the empty position</a:t>
            </a:r>
            <a:endParaRPr lang="en-US" altLang="en-US" dirty="0"/>
          </a:p>
          <a:p>
            <a:pPr>
              <a:buFont typeface="Times New Roman" panose="02020603050405020304" pitchFamily="18" charset="0"/>
              <a:buNone/>
            </a:pPr>
            <a:r>
              <a:rPr lang="en-US" altLang="en-US" dirty="0"/>
              <a:t>			c.  no removed position or empty position</a:t>
            </a:r>
          </a:p>
          <a:p>
            <a:pPr marL="793750" lvl="1" indent="-336550">
              <a:spcBef>
                <a:spcPts val="200"/>
              </a:spcBef>
              <a:buFontTx/>
              <a:buNone/>
            </a:pPr>
            <a:r>
              <a:rPr lang="en-US" altLang="en-US" dirty="0"/>
              <a:t>			</a:t>
            </a:r>
            <a:r>
              <a:rPr lang="en-US" altLang="en-US" dirty="0">
                <a:sym typeface="Wingdings" panose="05000000000000000000" pitchFamily="2" charset="2"/>
              </a:rPr>
              <a:t> </a:t>
            </a:r>
            <a:r>
              <a:rPr lang="en-US" altLang="en-US" dirty="0">
                <a:solidFill>
                  <a:srgbClr val="0000FF"/>
                </a:solidFill>
                <a:sym typeface="Wingdings" panose="05000000000000000000" pitchFamily="2" charset="2"/>
              </a:rPr>
              <a:t>overflow</a:t>
            </a:r>
            <a:r>
              <a:rPr lang="en-US" altLang="en-US" dirty="0">
                <a:sym typeface="Wingdings" panose="05000000000000000000" pitchFamily="2" charset="2"/>
              </a:rPr>
              <a:t>; return </a:t>
            </a:r>
            <a:r>
              <a:rPr lang="en-US" altLang="en-US" sz="2000" dirty="0">
                <a:latin typeface="Lucida Console" panose="020B0609040504020204" pitchFamily="49" charset="0"/>
                <a:sym typeface="Wingdings" panose="05000000000000000000" pitchFamily="2" charset="2"/>
              </a:rPr>
              <a:t>false</a:t>
            </a:r>
            <a:endParaRPr lang="en-US" altLang="en-US" sz="20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6894224"/>
      </p:ext>
    </p:extLst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Tracing Through Some Examples</a:t>
            </a:r>
          </a:p>
        </p:txBody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802687" cy="5614988"/>
          </a:xfrm>
        </p:spPr>
        <p:txBody>
          <a:bodyPr/>
          <a:lstStyle/>
          <a:p>
            <a:r>
              <a:rPr lang="en-US" altLang="en-US" dirty="0"/>
              <a:t>Start with the </a:t>
            </a:r>
            <a:r>
              <a:rPr lang="en-US" altLang="en-US" dirty="0" err="1"/>
              <a:t>hashtable</a:t>
            </a:r>
            <a:r>
              <a:rPr lang="en-US" altLang="en-US" dirty="0"/>
              <a:t> at right with:</a:t>
            </a:r>
          </a:p>
          <a:p>
            <a:pPr lvl="1"/>
            <a:r>
              <a:rPr lang="en-US" altLang="en-US" dirty="0"/>
              <a:t>double hashing</a:t>
            </a:r>
          </a:p>
          <a:p>
            <a:pPr lvl="1"/>
            <a:r>
              <a:rPr lang="en-US" altLang="en-US" dirty="0"/>
              <a:t>our earlier hash functions h1 and h2</a:t>
            </a:r>
          </a:p>
          <a:p>
            <a:pPr>
              <a:spcBef>
                <a:spcPts val="2400"/>
              </a:spcBef>
            </a:pPr>
            <a:r>
              <a:rPr lang="en-US" altLang="en-US" dirty="0"/>
              <a:t>Perform the following operations:</a:t>
            </a:r>
          </a:p>
          <a:p>
            <a:pPr lvl="1">
              <a:spcBef>
                <a:spcPts val="500"/>
              </a:spcBef>
            </a:pPr>
            <a:r>
              <a:rPr lang="en-US" altLang="en-US" dirty="0"/>
              <a:t>insert "bear"</a:t>
            </a:r>
          </a:p>
          <a:p>
            <a:pPr lvl="1">
              <a:spcBef>
                <a:spcPts val="500"/>
              </a:spcBef>
            </a:pPr>
            <a:r>
              <a:rPr lang="en-US" altLang="en-US" dirty="0"/>
              <a:t>insert "bison"</a:t>
            </a:r>
            <a:br>
              <a:rPr lang="en-US" altLang="en-US" dirty="0"/>
            </a:br>
            <a:endParaRPr lang="en-US" altLang="en-US" dirty="0"/>
          </a:p>
          <a:p>
            <a:pPr lvl="1">
              <a:spcBef>
                <a:spcPts val="500"/>
              </a:spcBef>
            </a:pPr>
            <a:r>
              <a:rPr lang="en-US" altLang="en-US" dirty="0"/>
              <a:t>insert "cow"</a:t>
            </a:r>
          </a:p>
          <a:p>
            <a:pPr marL="457200" lvl="1" indent="0">
              <a:spcBef>
                <a:spcPts val="500"/>
              </a:spcBef>
              <a:buNone/>
            </a:pPr>
            <a:endParaRPr lang="en-US" altLang="en-US" dirty="0"/>
          </a:p>
        </p:txBody>
      </p:sp>
      <p:graphicFrame>
        <p:nvGraphicFramePr>
          <p:cNvPr id="3274756" name="Group 4"/>
          <p:cNvGraphicFramePr>
            <a:graphicFrameLocks noGrp="1"/>
          </p:cNvGraphicFramePr>
          <p:nvPr/>
        </p:nvGraphicFramePr>
        <p:xfrm>
          <a:off x="5980113" y="1192213"/>
          <a:ext cx="2097087" cy="3687794"/>
        </p:xfrm>
        <a:graphic>
          <a:graphicData uri="http://schemas.openxmlformats.org/drawingml/2006/table">
            <a:tbl>
              <a:tblPr/>
              <a:tblGrid>
                <a:gridCol w="105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6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0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"ant"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"cat"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3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4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"emu"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5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"fox"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6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7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8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9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10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60795880"/>
      </p:ext>
    </p:extLst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Tracing Through Some Examples</a:t>
            </a:r>
          </a:p>
        </p:txBody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802687" cy="5614988"/>
          </a:xfrm>
        </p:spPr>
        <p:txBody>
          <a:bodyPr/>
          <a:lstStyle/>
          <a:p>
            <a:r>
              <a:rPr lang="en-US" altLang="en-US" dirty="0"/>
              <a:t>Start with the </a:t>
            </a:r>
            <a:r>
              <a:rPr lang="en-US" altLang="en-US" dirty="0" err="1"/>
              <a:t>hashtable</a:t>
            </a:r>
            <a:r>
              <a:rPr lang="en-US" altLang="en-US" dirty="0"/>
              <a:t> at right with:</a:t>
            </a:r>
          </a:p>
          <a:p>
            <a:pPr lvl="1"/>
            <a:r>
              <a:rPr lang="en-US" altLang="en-US" dirty="0"/>
              <a:t>double hashing</a:t>
            </a:r>
          </a:p>
          <a:p>
            <a:pPr lvl="1"/>
            <a:r>
              <a:rPr lang="en-US" altLang="en-US" dirty="0"/>
              <a:t>our earlier hash functions h1 and h2</a:t>
            </a:r>
          </a:p>
          <a:p>
            <a:pPr>
              <a:spcBef>
                <a:spcPts val="2400"/>
              </a:spcBef>
            </a:pPr>
            <a:r>
              <a:rPr lang="en-US" altLang="en-US" dirty="0"/>
              <a:t>Perform the following operations:</a:t>
            </a:r>
          </a:p>
          <a:p>
            <a:pPr lvl="1">
              <a:spcBef>
                <a:spcPts val="500"/>
              </a:spcBef>
            </a:pPr>
            <a:r>
              <a:rPr lang="en-US" altLang="en-US" dirty="0"/>
              <a:t>insert "bear" </a:t>
            </a:r>
            <a:r>
              <a:rPr lang="en-US" altLang="en-US" dirty="0">
                <a:solidFill>
                  <a:srgbClr val="0000FF"/>
                </a:solidFill>
              </a:rPr>
              <a:t>(h1 = 1, h2 = 4):</a:t>
            </a:r>
          </a:p>
          <a:p>
            <a:pPr lvl="1">
              <a:spcBef>
                <a:spcPts val="500"/>
              </a:spcBef>
            </a:pPr>
            <a:r>
              <a:rPr lang="en-US" altLang="en-US" dirty="0"/>
              <a:t>insert "bison"</a:t>
            </a:r>
            <a:br>
              <a:rPr lang="en-US" altLang="en-US" dirty="0"/>
            </a:br>
            <a:endParaRPr lang="en-US" altLang="en-US" dirty="0"/>
          </a:p>
          <a:p>
            <a:pPr lvl="1">
              <a:spcBef>
                <a:spcPts val="500"/>
              </a:spcBef>
            </a:pPr>
            <a:r>
              <a:rPr lang="en-US" altLang="en-US" dirty="0"/>
              <a:t>insert "cow"</a:t>
            </a:r>
          </a:p>
          <a:p>
            <a:pPr marL="457200" lvl="1" indent="0">
              <a:spcBef>
                <a:spcPts val="500"/>
              </a:spcBef>
              <a:buNone/>
            </a:pPr>
            <a:endParaRPr lang="en-US" altLang="en-US" dirty="0"/>
          </a:p>
        </p:txBody>
      </p:sp>
      <p:graphicFrame>
        <p:nvGraphicFramePr>
          <p:cNvPr id="3274756" name="Group 4"/>
          <p:cNvGraphicFramePr>
            <a:graphicFrameLocks noGrp="1"/>
          </p:cNvGraphicFramePr>
          <p:nvPr/>
        </p:nvGraphicFramePr>
        <p:xfrm>
          <a:off x="5980113" y="1192213"/>
          <a:ext cx="2097087" cy="3687794"/>
        </p:xfrm>
        <a:graphic>
          <a:graphicData uri="http://schemas.openxmlformats.org/drawingml/2006/table">
            <a:tbl>
              <a:tblPr/>
              <a:tblGrid>
                <a:gridCol w="105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6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0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"ant"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"cat"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3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4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"emu"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5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"fox"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6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7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8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9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10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4765420"/>
      </p:ext>
    </p:extLst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Tracing Through Some Examples</a:t>
            </a:r>
          </a:p>
        </p:txBody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802687" cy="5614988"/>
          </a:xfrm>
        </p:spPr>
        <p:txBody>
          <a:bodyPr/>
          <a:lstStyle/>
          <a:p>
            <a:r>
              <a:rPr lang="en-US" altLang="en-US" dirty="0"/>
              <a:t>Start with the </a:t>
            </a:r>
            <a:r>
              <a:rPr lang="en-US" altLang="en-US" dirty="0" err="1"/>
              <a:t>hashtable</a:t>
            </a:r>
            <a:r>
              <a:rPr lang="en-US" altLang="en-US" dirty="0"/>
              <a:t> at right with:</a:t>
            </a:r>
          </a:p>
          <a:p>
            <a:pPr lvl="1"/>
            <a:r>
              <a:rPr lang="en-US" altLang="en-US" dirty="0"/>
              <a:t>double hashing</a:t>
            </a:r>
          </a:p>
          <a:p>
            <a:pPr lvl="1"/>
            <a:r>
              <a:rPr lang="en-US" altLang="en-US" dirty="0"/>
              <a:t>our earlier hash functions h1 and h2</a:t>
            </a:r>
          </a:p>
          <a:p>
            <a:pPr>
              <a:spcBef>
                <a:spcPts val="2400"/>
              </a:spcBef>
            </a:pPr>
            <a:r>
              <a:rPr lang="en-US" altLang="en-US" dirty="0"/>
              <a:t>Perform the following operations:</a:t>
            </a:r>
          </a:p>
          <a:p>
            <a:pPr lvl="1">
              <a:spcBef>
                <a:spcPts val="500"/>
              </a:spcBef>
            </a:pPr>
            <a:r>
              <a:rPr lang="en-US" altLang="en-US" dirty="0"/>
              <a:t>insert "bear" </a:t>
            </a:r>
            <a:r>
              <a:rPr lang="en-US" altLang="en-US" dirty="0">
                <a:solidFill>
                  <a:srgbClr val="0000FF"/>
                </a:solidFill>
              </a:rPr>
              <a:t>(h1 = 1, h2 = 4): try 1</a:t>
            </a:r>
          </a:p>
          <a:p>
            <a:pPr lvl="1">
              <a:spcBef>
                <a:spcPts val="500"/>
              </a:spcBef>
            </a:pPr>
            <a:r>
              <a:rPr lang="en-US" altLang="en-US" dirty="0"/>
              <a:t>insert "bison"</a:t>
            </a:r>
            <a:br>
              <a:rPr lang="en-US" altLang="en-US" dirty="0"/>
            </a:br>
            <a:endParaRPr lang="en-US" altLang="en-US" dirty="0"/>
          </a:p>
          <a:p>
            <a:pPr lvl="1">
              <a:spcBef>
                <a:spcPts val="500"/>
              </a:spcBef>
            </a:pPr>
            <a:r>
              <a:rPr lang="en-US" altLang="en-US" dirty="0"/>
              <a:t>insert "cow"</a:t>
            </a:r>
          </a:p>
          <a:p>
            <a:pPr marL="457200" lvl="1" indent="0">
              <a:spcBef>
                <a:spcPts val="500"/>
              </a:spcBef>
              <a:buNone/>
            </a:pPr>
            <a:endParaRPr lang="en-US" altLang="en-US" dirty="0"/>
          </a:p>
          <a:p>
            <a:pPr marL="457200" lvl="1" indent="0">
              <a:spcBef>
                <a:spcPts val="500"/>
              </a:spcBef>
              <a:buNone/>
            </a:pPr>
            <a:endParaRPr lang="en-US" altLang="en-US" dirty="0"/>
          </a:p>
        </p:txBody>
      </p:sp>
      <p:graphicFrame>
        <p:nvGraphicFramePr>
          <p:cNvPr id="3274756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4667544"/>
              </p:ext>
            </p:extLst>
          </p:nvPr>
        </p:nvGraphicFramePr>
        <p:xfrm>
          <a:off x="5980113" y="1192213"/>
          <a:ext cx="2097087" cy="3687794"/>
        </p:xfrm>
        <a:graphic>
          <a:graphicData uri="http://schemas.openxmlformats.org/drawingml/2006/table">
            <a:tbl>
              <a:tblPr/>
              <a:tblGrid>
                <a:gridCol w="105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6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0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"ant"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"cat"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3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4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"emu"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5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"fox"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6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7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8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9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10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" name="Rectangle 48"/>
          <p:cNvSpPr>
            <a:spLocks noChangeArrowheads="1"/>
          </p:cNvSpPr>
          <p:nvPr/>
        </p:nvSpPr>
        <p:spPr bwMode="auto">
          <a:xfrm>
            <a:off x="7056028" y="1558375"/>
            <a:ext cx="995363" cy="280987"/>
          </a:xfrm>
          <a:prstGeom prst="rect">
            <a:avLst/>
          </a:prstGeom>
          <a:noFill/>
          <a:ln w="38100" algn="ctr">
            <a:solidFill>
              <a:srgbClr val="CC0099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>
              <a:spcBef>
                <a:spcPts val="1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 algn="l">
              <a:spcBef>
                <a:spcPts val="525"/>
              </a:spcBef>
              <a:buClr>
                <a:srgbClr val="000000"/>
              </a:buClr>
              <a:buSzPct val="10000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Helvetica" panose="020B0604020202020204" pitchFamily="34" charset="0"/>
              <a:buChar char="–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39263989"/>
      </p:ext>
    </p:extLst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Tracing Through Some Examples</a:t>
            </a:r>
          </a:p>
        </p:txBody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802687" cy="5614988"/>
          </a:xfrm>
        </p:spPr>
        <p:txBody>
          <a:bodyPr/>
          <a:lstStyle/>
          <a:p>
            <a:r>
              <a:rPr lang="en-US" altLang="en-US" dirty="0"/>
              <a:t>Start with the </a:t>
            </a:r>
            <a:r>
              <a:rPr lang="en-US" altLang="en-US" dirty="0" err="1"/>
              <a:t>hashtable</a:t>
            </a:r>
            <a:r>
              <a:rPr lang="en-US" altLang="en-US" dirty="0"/>
              <a:t> at right with:</a:t>
            </a:r>
          </a:p>
          <a:p>
            <a:pPr lvl="1"/>
            <a:r>
              <a:rPr lang="en-US" altLang="en-US" dirty="0"/>
              <a:t>double hashing</a:t>
            </a:r>
          </a:p>
          <a:p>
            <a:pPr lvl="1"/>
            <a:r>
              <a:rPr lang="en-US" altLang="en-US" dirty="0"/>
              <a:t>our earlier hash functions h1 and h2</a:t>
            </a:r>
          </a:p>
          <a:p>
            <a:pPr>
              <a:spcBef>
                <a:spcPts val="2400"/>
              </a:spcBef>
            </a:pPr>
            <a:r>
              <a:rPr lang="en-US" altLang="en-US" dirty="0"/>
              <a:t>Perform the following operations:</a:t>
            </a:r>
          </a:p>
          <a:p>
            <a:pPr lvl="1">
              <a:spcBef>
                <a:spcPts val="500"/>
              </a:spcBef>
            </a:pPr>
            <a:r>
              <a:rPr lang="en-US" altLang="en-US" dirty="0"/>
              <a:t>insert "bear" </a:t>
            </a:r>
            <a:r>
              <a:rPr lang="en-US" altLang="en-US" dirty="0">
                <a:solidFill>
                  <a:srgbClr val="0000FF"/>
                </a:solidFill>
              </a:rPr>
              <a:t>(h1 = 1, h2 = 4): try 1 – open!</a:t>
            </a:r>
          </a:p>
          <a:p>
            <a:pPr lvl="1">
              <a:spcBef>
                <a:spcPts val="500"/>
              </a:spcBef>
            </a:pPr>
            <a:r>
              <a:rPr lang="en-US" altLang="en-US" dirty="0"/>
              <a:t>insert "bison"</a:t>
            </a:r>
            <a:br>
              <a:rPr lang="en-US" altLang="en-US" dirty="0"/>
            </a:br>
            <a:endParaRPr lang="en-US" altLang="en-US" dirty="0"/>
          </a:p>
          <a:p>
            <a:pPr lvl="1">
              <a:spcBef>
                <a:spcPts val="500"/>
              </a:spcBef>
            </a:pPr>
            <a:r>
              <a:rPr lang="en-US" altLang="en-US" dirty="0"/>
              <a:t>insert "cow"</a:t>
            </a:r>
          </a:p>
          <a:p>
            <a:pPr marL="457200" lvl="1" indent="0">
              <a:spcBef>
                <a:spcPts val="500"/>
              </a:spcBef>
              <a:buNone/>
            </a:pPr>
            <a:endParaRPr lang="en-US" altLang="en-US" dirty="0"/>
          </a:p>
          <a:p>
            <a:pPr marL="457200" lvl="1" indent="0">
              <a:spcBef>
                <a:spcPts val="500"/>
              </a:spcBef>
              <a:buNone/>
            </a:pPr>
            <a:endParaRPr lang="en-US" altLang="en-US" dirty="0"/>
          </a:p>
        </p:txBody>
      </p:sp>
      <p:graphicFrame>
        <p:nvGraphicFramePr>
          <p:cNvPr id="3274756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8223923"/>
              </p:ext>
            </p:extLst>
          </p:nvPr>
        </p:nvGraphicFramePr>
        <p:xfrm>
          <a:off x="5980113" y="1192213"/>
          <a:ext cx="2097087" cy="3687794"/>
        </p:xfrm>
        <a:graphic>
          <a:graphicData uri="http://schemas.openxmlformats.org/drawingml/2006/table">
            <a:tbl>
              <a:tblPr/>
              <a:tblGrid>
                <a:gridCol w="105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6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0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"ant"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Lucida Console" pitchFamily="49" charset="0"/>
                        </a:rPr>
                        <a:t>"bear"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"cat"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3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4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"emu"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5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"fox"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6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7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8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9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10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" name="Rectangle 48"/>
          <p:cNvSpPr>
            <a:spLocks noChangeArrowheads="1"/>
          </p:cNvSpPr>
          <p:nvPr/>
        </p:nvSpPr>
        <p:spPr bwMode="auto">
          <a:xfrm>
            <a:off x="7056028" y="1558375"/>
            <a:ext cx="995363" cy="280987"/>
          </a:xfrm>
          <a:prstGeom prst="rect">
            <a:avLst/>
          </a:prstGeom>
          <a:noFill/>
          <a:ln w="38100" algn="ctr">
            <a:solidFill>
              <a:srgbClr val="CC0099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>
              <a:spcBef>
                <a:spcPts val="1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 algn="l">
              <a:spcBef>
                <a:spcPts val="525"/>
              </a:spcBef>
              <a:buClr>
                <a:srgbClr val="000000"/>
              </a:buClr>
              <a:buSzPct val="10000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Helvetica" panose="020B0604020202020204" pitchFamily="34" charset="0"/>
              <a:buChar char="–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60510712"/>
      </p:ext>
    </p:extLst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Tracing Through Some Examples</a:t>
            </a:r>
          </a:p>
        </p:txBody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802687" cy="5614988"/>
          </a:xfrm>
        </p:spPr>
        <p:txBody>
          <a:bodyPr/>
          <a:lstStyle/>
          <a:p>
            <a:r>
              <a:rPr lang="en-US" altLang="en-US" dirty="0"/>
              <a:t>Start with the </a:t>
            </a:r>
            <a:r>
              <a:rPr lang="en-US" altLang="en-US" dirty="0" err="1"/>
              <a:t>hashtable</a:t>
            </a:r>
            <a:r>
              <a:rPr lang="en-US" altLang="en-US" dirty="0"/>
              <a:t> at right with:</a:t>
            </a:r>
          </a:p>
          <a:p>
            <a:pPr lvl="1"/>
            <a:r>
              <a:rPr lang="en-US" altLang="en-US" dirty="0"/>
              <a:t>double hashing</a:t>
            </a:r>
          </a:p>
          <a:p>
            <a:pPr lvl="1"/>
            <a:r>
              <a:rPr lang="en-US" altLang="en-US" dirty="0"/>
              <a:t>our earlier hash functions h1 and h2</a:t>
            </a:r>
          </a:p>
          <a:p>
            <a:pPr>
              <a:spcBef>
                <a:spcPts val="2400"/>
              </a:spcBef>
            </a:pPr>
            <a:r>
              <a:rPr lang="en-US" altLang="en-US" dirty="0"/>
              <a:t>Perform the following operations:</a:t>
            </a:r>
          </a:p>
          <a:p>
            <a:pPr lvl="1">
              <a:spcBef>
                <a:spcPts val="500"/>
              </a:spcBef>
            </a:pPr>
            <a:r>
              <a:rPr lang="en-US" altLang="en-US" dirty="0"/>
              <a:t>insert "bear" (h1 = 1, h2 = 4): try 1 – open!</a:t>
            </a:r>
          </a:p>
          <a:p>
            <a:pPr lvl="1">
              <a:spcBef>
                <a:spcPts val="500"/>
              </a:spcBef>
            </a:pPr>
            <a:r>
              <a:rPr lang="en-US" altLang="en-US" dirty="0"/>
              <a:t>insert "bison"</a:t>
            </a:r>
            <a:br>
              <a:rPr lang="en-US" altLang="en-US" dirty="0"/>
            </a:br>
            <a:endParaRPr lang="en-US" altLang="en-US" dirty="0"/>
          </a:p>
          <a:p>
            <a:pPr lvl="1">
              <a:spcBef>
                <a:spcPts val="500"/>
              </a:spcBef>
            </a:pPr>
            <a:r>
              <a:rPr lang="en-US" altLang="en-US" dirty="0"/>
              <a:t>insert "cow"</a:t>
            </a:r>
          </a:p>
          <a:p>
            <a:pPr marL="457200" lvl="1" indent="0">
              <a:spcBef>
                <a:spcPts val="500"/>
              </a:spcBef>
              <a:buNone/>
            </a:pPr>
            <a:endParaRPr lang="en-US" altLang="en-US" dirty="0"/>
          </a:p>
        </p:txBody>
      </p:sp>
      <p:graphicFrame>
        <p:nvGraphicFramePr>
          <p:cNvPr id="3274756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8196434"/>
              </p:ext>
            </p:extLst>
          </p:nvPr>
        </p:nvGraphicFramePr>
        <p:xfrm>
          <a:off x="5980113" y="1192213"/>
          <a:ext cx="2097087" cy="3687794"/>
        </p:xfrm>
        <a:graphic>
          <a:graphicData uri="http://schemas.openxmlformats.org/drawingml/2006/table">
            <a:tbl>
              <a:tblPr/>
              <a:tblGrid>
                <a:gridCol w="105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6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0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"ant"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Lucida Console" pitchFamily="49" charset="0"/>
                        </a:rPr>
                        <a:t>"bear"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"cat"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3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4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"emu"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5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"fox"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6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7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8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9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10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24099731"/>
      </p:ext>
    </p:extLst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Tracing Through Some Examples</a:t>
            </a:r>
          </a:p>
        </p:txBody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802687" cy="5614988"/>
          </a:xfrm>
        </p:spPr>
        <p:txBody>
          <a:bodyPr/>
          <a:lstStyle/>
          <a:p>
            <a:r>
              <a:rPr lang="en-US" altLang="en-US" dirty="0"/>
              <a:t>Start with the </a:t>
            </a:r>
            <a:r>
              <a:rPr lang="en-US" altLang="en-US" dirty="0" err="1"/>
              <a:t>hashtable</a:t>
            </a:r>
            <a:r>
              <a:rPr lang="en-US" altLang="en-US" dirty="0"/>
              <a:t> at right with:</a:t>
            </a:r>
          </a:p>
          <a:p>
            <a:pPr lvl="1"/>
            <a:r>
              <a:rPr lang="en-US" altLang="en-US" dirty="0"/>
              <a:t>double hashing</a:t>
            </a:r>
          </a:p>
          <a:p>
            <a:pPr lvl="1"/>
            <a:r>
              <a:rPr lang="en-US" altLang="en-US" dirty="0"/>
              <a:t>our earlier hash functions h1 and h2</a:t>
            </a:r>
          </a:p>
          <a:p>
            <a:pPr>
              <a:spcBef>
                <a:spcPts val="2400"/>
              </a:spcBef>
            </a:pPr>
            <a:r>
              <a:rPr lang="en-US" altLang="en-US" dirty="0"/>
              <a:t>Perform the following operations:</a:t>
            </a:r>
          </a:p>
          <a:p>
            <a:pPr lvl="1">
              <a:spcBef>
                <a:spcPts val="500"/>
              </a:spcBef>
            </a:pPr>
            <a:r>
              <a:rPr lang="en-US" altLang="en-US" dirty="0"/>
              <a:t>insert "bear" (h1 = 1, h2 = 4): try 1 – open!</a:t>
            </a:r>
          </a:p>
          <a:p>
            <a:pPr lvl="1">
              <a:spcBef>
                <a:spcPts val="500"/>
              </a:spcBef>
            </a:pPr>
            <a:r>
              <a:rPr lang="en-US" altLang="en-US" dirty="0"/>
              <a:t>insert "bison" </a:t>
            </a:r>
            <a:r>
              <a:rPr lang="en-US" altLang="en-US" dirty="0">
                <a:solidFill>
                  <a:srgbClr val="0000FF"/>
                </a:solidFill>
              </a:rPr>
              <a:t>(h1 = 1, h2 = 5):</a:t>
            </a:r>
            <a:br>
              <a:rPr lang="en-US" altLang="en-US" dirty="0"/>
            </a:br>
            <a:endParaRPr lang="en-US" altLang="en-US" dirty="0"/>
          </a:p>
          <a:p>
            <a:pPr lvl="1">
              <a:spcBef>
                <a:spcPts val="500"/>
              </a:spcBef>
            </a:pPr>
            <a:r>
              <a:rPr lang="en-US" altLang="en-US" dirty="0"/>
              <a:t>insert "cow"</a:t>
            </a:r>
          </a:p>
          <a:p>
            <a:pPr marL="457200" lvl="1" indent="0">
              <a:spcBef>
                <a:spcPts val="500"/>
              </a:spcBef>
              <a:buNone/>
            </a:pPr>
            <a:endParaRPr lang="en-US" altLang="en-US" dirty="0"/>
          </a:p>
        </p:txBody>
      </p:sp>
      <p:graphicFrame>
        <p:nvGraphicFramePr>
          <p:cNvPr id="3274756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8196434"/>
              </p:ext>
            </p:extLst>
          </p:nvPr>
        </p:nvGraphicFramePr>
        <p:xfrm>
          <a:off x="5980113" y="1192213"/>
          <a:ext cx="2097087" cy="3687794"/>
        </p:xfrm>
        <a:graphic>
          <a:graphicData uri="http://schemas.openxmlformats.org/drawingml/2006/table">
            <a:tbl>
              <a:tblPr/>
              <a:tblGrid>
                <a:gridCol w="105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6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0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"ant"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Lucida Console" pitchFamily="49" charset="0"/>
                        </a:rPr>
                        <a:t>"bear"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"cat"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3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4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"emu"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5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"fox"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6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7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8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9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10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82102465"/>
      </p:ext>
    </p:extLst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Tracing Through Some Examples</a:t>
            </a:r>
          </a:p>
        </p:txBody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802687" cy="5614988"/>
          </a:xfrm>
        </p:spPr>
        <p:txBody>
          <a:bodyPr/>
          <a:lstStyle/>
          <a:p>
            <a:r>
              <a:rPr lang="en-US" altLang="en-US" dirty="0"/>
              <a:t>Start with the </a:t>
            </a:r>
            <a:r>
              <a:rPr lang="en-US" altLang="en-US" dirty="0" err="1"/>
              <a:t>hashtable</a:t>
            </a:r>
            <a:r>
              <a:rPr lang="en-US" altLang="en-US" dirty="0"/>
              <a:t> at right with:</a:t>
            </a:r>
          </a:p>
          <a:p>
            <a:pPr lvl="1"/>
            <a:r>
              <a:rPr lang="en-US" altLang="en-US" dirty="0"/>
              <a:t>double hashing</a:t>
            </a:r>
          </a:p>
          <a:p>
            <a:pPr lvl="1"/>
            <a:r>
              <a:rPr lang="en-US" altLang="en-US" dirty="0"/>
              <a:t>our earlier hash functions h1 and h2</a:t>
            </a:r>
          </a:p>
          <a:p>
            <a:pPr>
              <a:spcBef>
                <a:spcPts val="2400"/>
              </a:spcBef>
            </a:pPr>
            <a:r>
              <a:rPr lang="en-US" altLang="en-US" dirty="0"/>
              <a:t>Perform the following operations:</a:t>
            </a:r>
          </a:p>
          <a:p>
            <a:pPr lvl="1">
              <a:spcBef>
                <a:spcPts val="500"/>
              </a:spcBef>
            </a:pPr>
            <a:r>
              <a:rPr lang="en-US" altLang="en-US" dirty="0"/>
              <a:t>insert "bear" (h1 = 1, h2 = 4): try 1 – open!</a:t>
            </a:r>
          </a:p>
          <a:p>
            <a:pPr lvl="1">
              <a:spcBef>
                <a:spcPts val="500"/>
              </a:spcBef>
            </a:pPr>
            <a:r>
              <a:rPr lang="en-US" altLang="en-US" dirty="0"/>
              <a:t>insert "bison" </a:t>
            </a:r>
            <a:r>
              <a:rPr lang="en-US" altLang="en-US" dirty="0">
                <a:solidFill>
                  <a:srgbClr val="0000FF"/>
                </a:solidFill>
              </a:rPr>
              <a:t>(h1 = 1, h2 = 5):</a:t>
            </a:r>
            <a:br>
              <a:rPr lang="en-US" altLang="en-US" dirty="0">
                <a:solidFill>
                  <a:srgbClr val="0000FF"/>
                </a:solidFill>
              </a:rPr>
            </a:br>
            <a:r>
              <a:rPr lang="en-US" altLang="en-US" dirty="0">
                <a:solidFill>
                  <a:srgbClr val="0000FF"/>
                </a:solidFill>
              </a:rPr>
              <a:t>try 1</a:t>
            </a:r>
          </a:p>
          <a:p>
            <a:pPr lvl="1">
              <a:spcBef>
                <a:spcPts val="500"/>
              </a:spcBef>
            </a:pPr>
            <a:r>
              <a:rPr lang="en-US" altLang="en-US" dirty="0"/>
              <a:t>insert "cow"</a:t>
            </a:r>
          </a:p>
          <a:p>
            <a:pPr marL="457200" lvl="1" indent="0">
              <a:spcBef>
                <a:spcPts val="500"/>
              </a:spcBef>
              <a:buNone/>
            </a:pPr>
            <a:endParaRPr lang="en-US" altLang="en-US" dirty="0"/>
          </a:p>
        </p:txBody>
      </p:sp>
      <p:graphicFrame>
        <p:nvGraphicFramePr>
          <p:cNvPr id="3274756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8196434"/>
              </p:ext>
            </p:extLst>
          </p:nvPr>
        </p:nvGraphicFramePr>
        <p:xfrm>
          <a:off x="5980113" y="1192213"/>
          <a:ext cx="2097087" cy="3687794"/>
        </p:xfrm>
        <a:graphic>
          <a:graphicData uri="http://schemas.openxmlformats.org/drawingml/2006/table">
            <a:tbl>
              <a:tblPr/>
              <a:tblGrid>
                <a:gridCol w="105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6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0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"ant"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Lucida Console" pitchFamily="49" charset="0"/>
                        </a:rPr>
                        <a:t>"bear"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"cat"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3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4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"emu"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5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"fox"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6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7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8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9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10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" name="Rectangle 48"/>
          <p:cNvSpPr>
            <a:spLocks noChangeArrowheads="1"/>
          </p:cNvSpPr>
          <p:nvPr/>
        </p:nvSpPr>
        <p:spPr bwMode="auto">
          <a:xfrm>
            <a:off x="7056028" y="1558375"/>
            <a:ext cx="995363" cy="280987"/>
          </a:xfrm>
          <a:prstGeom prst="rect">
            <a:avLst/>
          </a:prstGeom>
          <a:noFill/>
          <a:ln w="38100" algn="ctr">
            <a:solidFill>
              <a:srgbClr val="CC0099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>
              <a:spcBef>
                <a:spcPts val="1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 algn="l">
              <a:spcBef>
                <a:spcPts val="525"/>
              </a:spcBef>
              <a:buClr>
                <a:srgbClr val="000000"/>
              </a:buClr>
              <a:buSzPct val="10000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Helvetica" panose="020B0604020202020204" pitchFamily="34" charset="0"/>
              <a:buChar char="–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09796101"/>
      </p:ext>
    </p:extLst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Tracing Through Some Examples</a:t>
            </a:r>
          </a:p>
        </p:txBody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802687" cy="5614988"/>
          </a:xfrm>
        </p:spPr>
        <p:txBody>
          <a:bodyPr/>
          <a:lstStyle/>
          <a:p>
            <a:r>
              <a:rPr lang="en-US" altLang="en-US" dirty="0"/>
              <a:t>Start with the </a:t>
            </a:r>
            <a:r>
              <a:rPr lang="en-US" altLang="en-US" dirty="0" err="1"/>
              <a:t>hashtable</a:t>
            </a:r>
            <a:r>
              <a:rPr lang="en-US" altLang="en-US" dirty="0"/>
              <a:t> at right with:</a:t>
            </a:r>
          </a:p>
          <a:p>
            <a:pPr lvl="1"/>
            <a:r>
              <a:rPr lang="en-US" altLang="en-US" dirty="0"/>
              <a:t>double hashing</a:t>
            </a:r>
          </a:p>
          <a:p>
            <a:pPr lvl="1"/>
            <a:r>
              <a:rPr lang="en-US" altLang="en-US" dirty="0"/>
              <a:t>our earlier hash functions h1 and h2</a:t>
            </a:r>
          </a:p>
          <a:p>
            <a:pPr>
              <a:spcBef>
                <a:spcPts val="2400"/>
              </a:spcBef>
            </a:pPr>
            <a:r>
              <a:rPr lang="en-US" altLang="en-US" dirty="0"/>
              <a:t>Perform the following operations:</a:t>
            </a:r>
          </a:p>
          <a:p>
            <a:pPr lvl="1">
              <a:spcBef>
                <a:spcPts val="500"/>
              </a:spcBef>
            </a:pPr>
            <a:r>
              <a:rPr lang="en-US" altLang="en-US" dirty="0"/>
              <a:t>insert "bear" (h1 = 1, h2 = 4): try 1 – open!</a:t>
            </a:r>
          </a:p>
          <a:p>
            <a:pPr lvl="1">
              <a:spcBef>
                <a:spcPts val="500"/>
              </a:spcBef>
            </a:pPr>
            <a:r>
              <a:rPr lang="en-US" altLang="en-US" dirty="0"/>
              <a:t>insert "bison" </a:t>
            </a:r>
            <a:r>
              <a:rPr lang="en-US" altLang="en-US" dirty="0">
                <a:solidFill>
                  <a:srgbClr val="0000FF"/>
                </a:solidFill>
              </a:rPr>
              <a:t>(h1 = 1, h2 = 5):</a:t>
            </a:r>
            <a:br>
              <a:rPr lang="en-US" altLang="en-US" dirty="0">
                <a:solidFill>
                  <a:srgbClr val="0000FF"/>
                </a:solidFill>
              </a:rPr>
            </a:br>
            <a:r>
              <a:rPr lang="en-US" altLang="en-US" dirty="0">
                <a:solidFill>
                  <a:srgbClr val="0000FF"/>
                </a:solidFill>
              </a:rPr>
              <a:t>try 1, </a:t>
            </a:r>
            <a:r>
              <a:rPr lang="en-US" altLang="en-US" b="1" dirty="0">
                <a:solidFill>
                  <a:srgbClr val="0000FF"/>
                </a:solidFill>
              </a:rPr>
              <a:t>(1 + 5) % 26</a:t>
            </a:r>
          </a:p>
          <a:p>
            <a:pPr lvl="1">
              <a:spcBef>
                <a:spcPts val="500"/>
              </a:spcBef>
            </a:pPr>
            <a:r>
              <a:rPr lang="en-US" altLang="en-US" dirty="0"/>
              <a:t>insert "cow"</a:t>
            </a:r>
          </a:p>
          <a:p>
            <a:pPr marL="457200" lvl="1" indent="0">
              <a:spcBef>
                <a:spcPts val="500"/>
              </a:spcBef>
              <a:buNone/>
            </a:pPr>
            <a:endParaRPr lang="en-US" altLang="en-US" dirty="0"/>
          </a:p>
        </p:txBody>
      </p:sp>
      <p:graphicFrame>
        <p:nvGraphicFramePr>
          <p:cNvPr id="3274756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8196434"/>
              </p:ext>
            </p:extLst>
          </p:nvPr>
        </p:nvGraphicFramePr>
        <p:xfrm>
          <a:off x="5980113" y="1192213"/>
          <a:ext cx="2097087" cy="3687794"/>
        </p:xfrm>
        <a:graphic>
          <a:graphicData uri="http://schemas.openxmlformats.org/drawingml/2006/table">
            <a:tbl>
              <a:tblPr/>
              <a:tblGrid>
                <a:gridCol w="105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6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0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"ant"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Lucida Console" pitchFamily="49" charset="0"/>
                        </a:rPr>
                        <a:t>"bear"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"cat"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3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4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"emu"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5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"fox"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6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7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8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9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10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" name="Rectangle 48"/>
          <p:cNvSpPr>
            <a:spLocks noChangeArrowheads="1"/>
          </p:cNvSpPr>
          <p:nvPr/>
        </p:nvSpPr>
        <p:spPr bwMode="auto">
          <a:xfrm>
            <a:off x="7056028" y="3227685"/>
            <a:ext cx="995363" cy="280987"/>
          </a:xfrm>
          <a:prstGeom prst="rect">
            <a:avLst/>
          </a:prstGeom>
          <a:noFill/>
          <a:ln w="38100" algn="ctr">
            <a:solidFill>
              <a:srgbClr val="CC0099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>
              <a:spcBef>
                <a:spcPts val="1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 algn="l">
              <a:spcBef>
                <a:spcPts val="525"/>
              </a:spcBef>
              <a:buClr>
                <a:srgbClr val="000000"/>
              </a:buClr>
              <a:buSzPct val="10000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Helvetica" panose="020B0604020202020204" pitchFamily="34" charset="0"/>
              <a:buChar char="–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00368975"/>
      </p:ext>
    </p:extLst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Tracing Through Some Examples</a:t>
            </a:r>
          </a:p>
        </p:txBody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802687" cy="5614988"/>
          </a:xfrm>
        </p:spPr>
        <p:txBody>
          <a:bodyPr/>
          <a:lstStyle/>
          <a:p>
            <a:r>
              <a:rPr lang="en-US" altLang="en-US" dirty="0"/>
              <a:t>Start with the </a:t>
            </a:r>
            <a:r>
              <a:rPr lang="en-US" altLang="en-US" dirty="0" err="1"/>
              <a:t>hashtable</a:t>
            </a:r>
            <a:r>
              <a:rPr lang="en-US" altLang="en-US" dirty="0"/>
              <a:t> at right with:</a:t>
            </a:r>
          </a:p>
          <a:p>
            <a:pPr lvl="1"/>
            <a:r>
              <a:rPr lang="en-US" altLang="en-US" dirty="0"/>
              <a:t>double hashing</a:t>
            </a:r>
          </a:p>
          <a:p>
            <a:pPr lvl="1"/>
            <a:r>
              <a:rPr lang="en-US" altLang="en-US" dirty="0"/>
              <a:t>our earlier hash functions h1 and h2</a:t>
            </a:r>
          </a:p>
          <a:p>
            <a:pPr>
              <a:spcBef>
                <a:spcPts val="2400"/>
              </a:spcBef>
            </a:pPr>
            <a:r>
              <a:rPr lang="en-US" altLang="en-US" dirty="0"/>
              <a:t>Perform the following operations:</a:t>
            </a:r>
          </a:p>
          <a:p>
            <a:pPr lvl="1">
              <a:spcBef>
                <a:spcPts val="500"/>
              </a:spcBef>
            </a:pPr>
            <a:r>
              <a:rPr lang="en-US" altLang="en-US" dirty="0"/>
              <a:t>insert "bear" (h1 = 1, h2 = 4): try 1 – open!</a:t>
            </a:r>
          </a:p>
          <a:p>
            <a:pPr lvl="1">
              <a:spcBef>
                <a:spcPts val="500"/>
              </a:spcBef>
            </a:pPr>
            <a:r>
              <a:rPr lang="en-US" altLang="en-US" dirty="0"/>
              <a:t>insert "bison" </a:t>
            </a:r>
            <a:r>
              <a:rPr lang="en-US" altLang="en-US" dirty="0">
                <a:solidFill>
                  <a:srgbClr val="0000FF"/>
                </a:solidFill>
              </a:rPr>
              <a:t>(h1 = 1, h2 = 5):</a:t>
            </a:r>
            <a:br>
              <a:rPr lang="en-US" altLang="en-US" dirty="0">
                <a:solidFill>
                  <a:srgbClr val="0000FF"/>
                </a:solidFill>
              </a:rPr>
            </a:br>
            <a:r>
              <a:rPr lang="en-US" altLang="en-US" dirty="0">
                <a:solidFill>
                  <a:srgbClr val="0000FF"/>
                </a:solidFill>
              </a:rPr>
              <a:t>try 1, </a:t>
            </a:r>
            <a:r>
              <a:rPr lang="en-US" altLang="en-US" b="1" dirty="0">
                <a:solidFill>
                  <a:srgbClr val="0000FF"/>
                </a:solidFill>
              </a:rPr>
              <a:t>(1 + 5) % 26 – open!</a:t>
            </a:r>
          </a:p>
          <a:p>
            <a:pPr lvl="1">
              <a:spcBef>
                <a:spcPts val="500"/>
              </a:spcBef>
            </a:pPr>
            <a:r>
              <a:rPr lang="en-US" altLang="en-US" dirty="0"/>
              <a:t>insert "cow"</a:t>
            </a:r>
          </a:p>
          <a:p>
            <a:pPr marL="457200" lvl="1" indent="0">
              <a:spcBef>
                <a:spcPts val="500"/>
              </a:spcBef>
              <a:buNone/>
            </a:pPr>
            <a:endParaRPr lang="en-US" altLang="en-US" dirty="0"/>
          </a:p>
        </p:txBody>
      </p:sp>
      <p:graphicFrame>
        <p:nvGraphicFramePr>
          <p:cNvPr id="3274756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3445565"/>
              </p:ext>
            </p:extLst>
          </p:nvPr>
        </p:nvGraphicFramePr>
        <p:xfrm>
          <a:off x="5980113" y="1192213"/>
          <a:ext cx="2097087" cy="3687794"/>
        </p:xfrm>
        <a:graphic>
          <a:graphicData uri="http://schemas.openxmlformats.org/drawingml/2006/table">
            <a:tbl>
              <a:tblPr/>
              <a:tblGrid>
                <a:gridCol w="105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6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0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"ant"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Lucida Console" pitchFamily="49" charset="0"/>
                        </a:rPr>
                        <a:t>"bear"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"cat"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3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4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"emu"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5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"fox"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6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Lucida Console" pitchFamily="49" charset="0"/>
                        </a:rPr>
                        <a:t>"bison"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7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8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9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10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" name="Rectangle 48"/>
          <p:cNvSpPr>
            <a:spLocks noChangeArrowheads="1"/>
          </p:cNvSpPr>
          <p:nvPr/>
        </p:nvSpPr>
        <p:spPr bwMode="auto">
          <a:xfrm>
            <a:off x="7056028" y="3227685"/>
            <a:ext cx="995363" cy="280987"/>
          </a:xfrm>
          <a:prstGeom prst="rect">
            <a:avLst/>
          </a:prstGeom>
          <a:noFill/>
          <a:ln w="38100" algn="ctr">
            <a:solidFill>
              <a:srgbClr val="CC0099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>
              <a:spcBef>
                <a:spcPts val="1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 algn="l">
              <a:spcBef>
                <a:spcPts val="525"/>
              </a:spcBef>
              <a:buClr>
                <a:srgbClr val="000000"/>
              </a:buClr>
              <a:buSzPct val="10000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Helvetica" panose="020B0604020202020204" pitchFamily="34" charset="0"/>
              <a:buChar char="–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46554275"/>
      </p:ext>
    </p:extLst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Tracing Through Some Examples</a:t>
            </a:r>
          </a:p>
        </p:txBody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802687" cy="5614988"/>
          </a:xfrm>
        </p:spPr>
        <p:txBody>
          <a:bodyPr/>
          <a:lstStyle/>
          <a:p>
            <a:r>
              <a:rPr lang="en-US" altLang="en-US" dirty="0"/>
              <a:t>Start with the </a:t>
            </a:r>
            <a:r>
              <a:rPr lang="en-US" altLang="en-US" dirty="0" err="1"/>
              <a:t>hashtable</a:t>
            </a:r>
            <a:r>
              <a:rPr lang="en-US" altLang="en-US" dirty="0"/>
              <a:t> at right with:</a:t>
            </a:r>
          </a:p>
          <a:p>
            <a:pPr lvl="1"/>
            <a:r>
              <a:rPr lang="en-US" altLang="en-US" dirty="0"/>
              <a:t>double hashing</a:t>
            </a:r>
          </a:p>
          <a:p>
            <a:pPr lvl="1"/>
            <a:r>
              <a:rPr lang="en-US" altLang="en-US" dirty="0"/>
              <a:t>our earlier hash functions h1 and h2</a:t>
            </a:r>
          </a:p>
          <a:p>
            <a:pPr>
              <a:spcBef>
                <a:spcPts val="2400"/>
              </a:spcBef>
            </a:pPr>
            <a:r>
              <a:rPr lang="en-US" altLang="en-US" dirty="0"/>
              <a:t>Perform the following operations:</a:t>
            </a:r>
          </a:p>
          <a:p>
            <a:pPr lvl="1">
              <a:spcBef>
                <a:spcPts val="500"/>
              </a:spcBef>
            </a:pPr>
            <a:r>
              <a:rPr lang="en-US" altLang="en-US" dirty="0"/>
              <a:t>insert "bear" (h1 = 1, h2 = 4): try 1 – open!</a:t>
            </a:r>
          </a:p>
          <a:p>
            <a:pPr lvl="1">
              <a:spcBef>
                <a:spcPts val="500"/>
              </a:spcBef>
            </a:pPr>
            <a:r>
              <a:rPr lang="en-US" altLang="en-US" dirty="0"/>
              <a:t>insert "bison" (h1 = 1, h2 = 5):</a:t>
            </a:r>
            <a:br>
              <a:rPr lang="en-US" altLang="en-US" dirty="0"/>
            </a:br>
            <a:r>
              <a:rPr lang="en-US" altLang="en-US" dirty="0"/>
              <a:t>try 1, (1 + 5) % 26 – open!</a:t>
            </a:r>
          </a:p>
          <a:p>
            <a:pPr lvl="1">
              <a:spcBef>
                <a:spcPts val="500"/>
              </a:spcBef>
            </a:pPr>
            <a:r>
              <a:rPr lang="en-US" altLang="en-US" dirty="0"/>
              <a:t>insert "cow"</a:t>
            </a:r>
          </a:p>
          <a:p>
            <a:pPr marL="457200" lvl="1" indent="0">
              <a:spcBef>
                <a:spcPts val="500"/>
              </a:spcBef>
              <a:buNone/>
            </a:pPr>
            <a:endParaRPr lang="en-US" altLang="en-US" dirty="0"/>
          </a:p>
        </p:txBody>
      </p:sp>
      <p:graphicFrame>
        <p:nvGraphicFramePr>
          <p:cNvPr id="3274756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8068672"/>
              </p:ext>
            </p:extLst>
          </p:nvPr>
        </p:nvGraphicFramePr>
        <p:xfrm>
          <a:off x="5980113" y="1192213"/>
          <a:ext cx="2097087" cy="3687794"/>
        </p:xfrm>
        <a:graphic>
          <a:graphicData uri="http://schemas.openxmlformats.org/drawingml/2006/table">
            <a:tbl>
              <a:tblPr/>
              <a:tblGrid>
                <a:gridCol w="105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6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0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"ant"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Lucida Console" pitchFamily="49" charset="0"/>
                        </a:rPr>
                        <a:t>"bear"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"cat"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3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4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"emu"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5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"fox"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6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Lucida Console" pitchFamily="49" charset="0"/>
                        </a:rPr>
                        <a:t>"bison"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7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8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9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10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3902964"/>
      </p:ext>
    </p:extLst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Tracing Through Some Examples</a:t>
            </a:r>
          </a:p>
        </p:txBody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802687" cy="5614988"/>
          </a:xfrm>
        </p:spPr>
        <p:txBody>
          <a:bodyPr/>
          <a:lstStyle/>
          <a:p>
            <a:r>
              <a:rPr lang="en-US" altLang="en-US" dirty="0"/>
              <a:t>Start with the </a:t>
            </a:r>
            <a:r>
              <a:rPr lang="en-US" altLang="en-US" dirty="0" err="1"/>
              <a:t>hashtable</a:t>
            </a:r>
            <a:r>
              <a:rPr lang="en-US" altLang="en-US" dirty="0"/>
              <a:t> at right with:</a:t>
            </a:r>
          </a:p>
          <a:p>
            <a:pPr lvl="1"/>
            <a:r>
              <a:rPr lang="en-US" altLang="en-US" dirty="0"/>
              <a:t>double hashing</a:t>
            </a:r>
          </a:p>
          <a:p>
            <a:pPr lvl="1"/>
            <a:r>
              <a:rPr lang="en-US" altLang="en-US" dirty="0"/>
              <a:t>our earlier hash functions h1 and h2</a:t>
            </a:r>
          </a:p>
          <a:p>
            <a:pPr>
              <a:spcBef>
                <a:spcPts val="2400"/>
              </a:spcBef>
            </a:pPr>
            <a:r>
              <a:rPr lang="en-US" altLang="en-US" dirty="0"/>
              <a:t>Perform the following operations:</a:t>
            </a:r>
          </a:p>
          <a:p>
            <a:pPr lvl="1">
              <a:spcBef>
                <a:spcPts val="500"/>
              </a:spcBef>
            </a:pPr>
            <a:r>
              <a:rPr lang="en-US" altLang="en-US" dirty="0"/>
              <a:t>insert "bear" (h1 = 1, h2 = 4): try 1 – open!</a:t>
            </a:r>
          </a:p>
          <a:p>
            <a:pPr lvl="1">
              <a:spcBef>
                <a:spcPts val="500"/>
              </a:spcBef>
            </a:pPr>
            <a:r>
              <a:rPr lang="en-US" altLang="en-US" dirty="0"/>
              <a:t>insert "bison" (h1 = 1, h2 = 5):</a:t>
            </a:r>
            <a:br>
              <a:rPr lang="en-US" altLang="en-US" dirty="0"/>
            </a:br>
            <a:r>
              <a:rPr lang="en-US" altLang="en-US" dirty="0"/>
              <a:t>try 1, (1 + 5) % 26 – open!</a:t>
            </a:r>
          </a:p>
          <a:p>
            <a:pPr lvl="1">
              <a:spcBef>
                <a:spcPts val="500"/>
              </a:spcBef>
            </a:pPr>
            <a:r>
              <a:rPr lang="en-US" altLang="en-US" dirty="0"/>
              <a:t>insert "cow" </a:t>
            </a:r>
            <a:r>
              <a:rPr lang="en-US" altLang="en-US" dirty="0">
                <a:solidFill>
                  <a:srgbClr val="0000FF"/>
                </a:solidFill>
              </a:rPr>
              <a:t>(h1 = 2, h2 = 3):</a:t>
            </a:r>
          </a:p>
          <a:p>
            <a:pPr marL="457200" lvl="1" indent="0">
              <a:spcBef>
                <a:spcPts val="500"/>
              </a:spcBef>
              <a:buNone/>
            </a:pPr>
            <a:endParaRPr lang="en-US" altLang="en-US" dirty="0"/>
          </a:p>
        </p:txBody>
      </p:sp>
      <p:graphicFrame>
        <p:nvGraphicFramePr>
          <p:cNvPr id="3274756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8068672"/>
              </p:ext>
            </p:extLst>
          </p:nvPr>
        </p:nvGraphicFramePr>
        <p:xfrm>
          <a:off x="5980113" y="1192213"/>
          <a:ext cx="2097087" cy="3687794"/>
        </p:xfrm>
        <a:graphic>
          <a:graphicData uri="http://schemas.openxmlformats.org/drawingml/2006/table">
            <a:tbl>
              <a:tblPr/>
              <a:tblGrid>
                <a:gridCol w="105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6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0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"ant"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Lucida Console" pitchFamily="49" charset="0"/>
                        </a:rPr>
                        <a:t>"bear"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"cat"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3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4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"emu"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5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"fox"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6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Lucida Console" pitchFamily="49" charset="0"/>
                        </a:rPr>
                        <a:t>"bison"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7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8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9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10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8213390"/>
      </p:ext>
    </p:extLst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Tracing Through Some Examples</a:t>
            </a:r>
          </a:p>
        </p:txBody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802687" cy="5614988"/>
          </a:xfrm>
        </p:spPr>
        <p:txBody>
          <a:bodyPr/>
          <a:lstStyle/>
          <a:p>
            <a:r>
              <a:rPr lang="en-US" altLang="en-US" dirty="0"/>
              <a:t>Start with the </a:t>
            </a:r>
            <a:r>
              <a:rPr lang="en-US" altLang="en-US" dirty="0" err="1"/>
              <a:t>hashtable</a:t>
            </a:r>
            <a:r>
              <a:rPr lang="en-US" altLang="en-US" dirty="0"/>
              <a:t> at right with:</a:t>
            </a:r>
          </a:p>
          <a:p>
            <a:pPr lvl="1"/>
            <a:r>
              <a:rPr lang="en-US" altLang="en-US" dirty="0"/>
              <a:t>double hashing</a:t>
            </a:r>
          </a:p>
          <a:p>
            <a:pPr lvl="1"/>
            <a:r>
              <a:rPr lang="en-US" altLang="en-US" dirty="0"/>
              <a:t>our earlier hash functions h1 and h2</a:t>
            </a:r>
          </a:p>
          <a:p>
            <a:pPr>
              <a:spcBef>
                <a:spcPts val="2400"/>
              </a:spcBef>
            </a:pPr>
            <a:r>
              <a:rPr lang="en-US" altLang="en-US" dirty="0"/>
              <a:t>Perform the following operations:</a:t>
            </a:r>
          </a:p>
          <a:p>
            <a:pPr lvl="1">
              <a:spcBef>
                <a:spcPts val="500"/>
              </a:spcBef>
            </a:pPr>
            <a:r>
              <a:rPr lang="en-US" altLang="en-US" dirty="0"/>
              <a:t>insert "bear" (h1 = 1, h2 = 4): try 1 – open!</a:t>
            </a:r>
          </a:p>
          <a:p>
            <a:pPr lvl="1">
              <a:spcBef>
                <a:spcPts val="500"/>
              </a:spcBef>
            </a:pPr>
            <a:r>
              <a:rPr lang="en-US" altLang="en-US" dirty="0"/>
              <a:t>insert "bison" (h1 = 1, h2 = 5):</a:t>
            </a:r>
            <a:br>
              <a:rPr lang="en-US" altLang="en-US" dirty="0"/>
            </a:br>
            <a:r>
              <a:rPr lang="en-US" altLang="en-US" dirty="0"/>
              <a:t>try 1, (1 + 5) % 26 – open!</a:t>
            </a:r>
          </a:p>
          <a:p>
            <a:pPr lvl="1">
              <a:spcBef>
                <a:spcPts val="500"/>
              </a:spcBef>
            </a:pPr>
            <a:r>
              <a:rPr lang="en-US" altLang="en-US" dirty="0"/>
              <a:t>insert "cow" </a:t>
            </a:r>
            <a:r>
              <a:rPr lang="en-US" altLang="en-US" dirty="0">
                <a:solidFill>
                  <a:srgbClr val="0000FF"/>
                </a:solidFill>
              </a:rPr>
              <a:t>(h1 = 2, h2 = 3):</a:t>
            </a:r>
            <a:br>
              <a:rPr lang="en-US" altLang="en-US" dirty="0">
                <a:solidFill>
                  <a:srgbClr val="0000FF"/>
                </a:solidFill>
              </a:rPr>
            </a:br>
            <a:r>
              <a:rPr lang="en-US" altLang="en-US" b="1" dirty="0">
                <a:solidFill>
                  <a:srgbClr val="0000FF"/>
                </a:solidFill>
              </a:rPr>
              <a:t>try 2</a:t>
            </a:r>
          </a:p>
          <a:p>
            <a:pPr marL="457200" lvl="1" indent="0">
              <a:spcBef>
                <a:spcPts val="500"/>
              </a:spcBef>
              <a:buNone/>
            </a:pPr>
            <a:endParaRPr lang="en-US" altLang="en-US" dirty="0"/>
          </a:p>
        </p:txBody>
      </p:sp>
      <p:graphicFrame>
        <p:nvGraphicFramePr>
          <p:cNvPr id="3274756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8068672"/>
              </p:ext>
            </p:extLst>
          </p:nvPr>
        </p:nvGraphicFramePr>
        <p:xfrm>
          <a:off x="5980113" y="1192213"/>
          <a:ext cx="2097087" cy="3687794"/>
        </p:xfrm>
        <a:graphic>
          <a:graphicData uri="http://schemas.openxmlformats.org/drawingml/2006/table">
            <a:tbl>
              <a:tblPr/>
              <a:tblGrid>
                <a:gridCol w="105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6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0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"ant"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Lucida Console" pitchFamily="49" charset="0"/>
                        </a:rPr>
                        <a:t>"bear"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"cat"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3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4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"emu"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5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"fox"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6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Lucida Console" pitchFamily="49" charset="0"/>
                        </a:rPr>
                        <a:t>"bison"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7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8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9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10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" name="Rectangle 48"/>
          <p:cNvSpPr>
            <a:spLocks noChangeArrowheads="1"/>
          </p:cNvSpPr>
          <p:nvPr/>
        </p:nvSpPr>
        <p:spPr bwMode="auto">
          <a:xfrm>
            <a:off x="7056028" y="1887992"/>
            <a:ext cx="995363" cy="280987"/>
          </a:xfrm>
          <a:prstGeom prst="rect">
            <a:avLst/>
          </a:prstGeom>
          <a:noFill/>
          <a:ln w="38100" algn="ctr">
            <a:solidFill>
              <a:srgbClr val="CC0099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>
              <a:spcBef>
                <a:spcPts val="1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 algn="l">
              <a:spcBef>
                <a:spcPts val="525"/>
              </a:spcBef>
              <a:buClr>
                <a:srgbClr val="000000"/>
              </a:buClr>
              <a:buSzPct val="10000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Helvetica" panose="020B0604020202020204" pitchFamily="34" charset="0"/>
              <a:buChar char="–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00894388"/>
      </p:ext>
    </p:extLst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Tracing Through Some Examples</a:t>
            </a:r>
          </a:p>
        </p:txBody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802687" cy="5614988"/>
          </a:xfrm>
        </p:spPr>
        <p:txBody>
          <a:bodyPr/>
          <a:lstStyle/>
          <a:p>
            <a:r>
              <a:rPr lang="en-US" altLang="en-US" dirty="0"/>
              <a:t>Start with the </a:t>
            </a:r>
            <a:r>
              <a:rPr lang="en-US" altLang="en-US" dirty="0" err="1"/>
              <a:t>hashtable</a:t>
            </a:r>
            <a:r>
              <a:rPr lang="en-US" altLang="en-US" dirty="0"/>
              <a:t> at right with:</a:t>
            </a:r>
          </a:p>
          <a:p>
            <a:pPr lvl="1"/>
            <a:r>
              <a:rPr lang="en-US" altLang="en-US" dirty="0"/>
              <a:t>double hashing</a:t>
            </a:r>
          </a:p>
          <a:p>
            <a:pPr lvl="1"/>
            <a:r>
              <a:rPr lang="en-US" altLang="en-US" dirty="0"/>
              <a:t>our earlier hash functions h1 and h2</a:t>
            </a:r>
          </a:p>
          <a:p>
            <a:pPr>
              <a:spcBef>
                <a:spcPts val="2400"/>
              </a:spcBef>
            </a:pPr>
            <a:r>
              <a:rPr lang="en-US" altLang="en-US" dirty="0"/>
              <a:t>Perform the following operations:</a:t>
            </a:r>
          </a:p>
          <a:p>
            <a:pPr lvl="1">
              <a:spcBef>
                <a:spcPts val="500"/>
              </a:spcBef>
            </a:pPr>
            <a:r>
              <a:rPr lang="en-US" altLang="en-US" dirty="0"/>
              <a:t>insert "bear" (h1 = 1, h2 = 4): try 1 – open!</a:t>
            </a:r>
          </a:p>
          <a:p>
            <a:pPr lvl="1">
              <a:spcBef>
                <a:spcPts val="500"/>
              </a:spcBef>
            </a:pPr>
            <a:r>
              <a:rPr lang="en-US" altLang="en-US" dirty="0"/>
              <a:t>insert "bison" (h1 = 1, h2 = 5):</a:t>
            </a:r>
            <a:br>
              <a:rPr lang="en-US" altLang="en-US" dirty="0"/>
            </a:br>
            <a:r>
              <a:rPr lang="en-US" altLang="en-US" dirty="0"/>
              <a:t>try 1, (1 + 5) % 26 – open!</a:t>
            </a:r>
          </a:p>
          <a:p>
            <a:pPr lvl="1">
              <a:spcBef>
                <a:spcPts val="500"/>
              </a:spcBef>
            </a:pPr>
            <a:r>
              <a:rPr lang="en-US" altLang="en-US" dirty="0"/>
              <a:t>insert "cow" </a:t>
            </a:r>
            <a:r>
              <a:rPr lang="en-US" altLang="en-US" dirty="0">
                <a:solidFill>
                  <a:srgbClr val="0000FF"/>
                </a:solidFill>
              </a:rPr>
              <a:t>(h1 = 2, h2 = 3):</a:t>
            </a:r>
            <a:br>
              <a:rPr lang="en-US" altLang="en-US" dirty="0">
                <a:solidFill>
                  <a:srgbClr val="0000FF"/>
                </a:solidFill>
              </a:rPr>
            </a:br>
            <a:r>
              <a:rPr lang="en-US" altLang="en-US" dirty="0">
                <a:solidFill>
                  <a:srgbClr val="0000FF"/>
                </a:solidFill>
              </a:rPr>
              <a:t>try 2, </a:t>
            </a:r>
            <a:r>
              <a:rPr lang="en-US" altLang="en-US" b="1" dirty="0">
                <a:solidFill>
                  <a:srgbClr val="0000FF"/>
                </a:solidFill>
              </a:rPr>
              <a:t>(2 + 3) % 26</a:t>
            </a:r>
          </a:p>
          <a:p>
            <a:pPr marL="457200" lvl="1" indent="0">
              <a:spcBef>
                <a:spcPts val="500"/>
              </a:spcBef>
              <a:buNone/>
            </a:pPr>
            <a:endParaRPr lang="en-US" altLang="en-US" dirty="0"/>
          </a:p>
        </p:txBody>
      </p:sp>
      <p:graphicFrame>
        <p:nvGraphicFramePr>
          <p:cNvPr id="3274756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8068672"/>
              </p:ext>
            </p:extLst>
          </p:nvPr>
        </p:nvGraphicFramePr>
        <p:xfrm>
          <a:off x="5980113" y="1192213"/>
          <a:ext cx="2097087" cy="3687794"/>
        </p:xfrm>
        <a:graphic>
          <a:graphicData uri="http://schemas.openxmlformats.org/drawingml/2006/table">
            <a:tbl>
              <a:tblPr/>
              <a:tblGrid>
                <a:gridCol w="105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6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0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"ant"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Lucida Console" pitchFamily="49" charset="0"/>
                        </a:rPr>
                        <a:t>"bear"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"cat"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3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4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"emu"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5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"fox"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6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Lucida Console" pitchFamily="49" charset="0"/>
                        </a:rPr>
                        <a:t>"bison"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7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8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9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10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" name="Rectangle 48"/>
          <p:cNvSpPr>
            <a:spLocks noChangeArrowheads="1"/>
          </p:cNvSpPr>
          <p:nvPr/>
        </p:nvSpPr>
        <p:spPr bwMode="auto">
          <a:xfrm>
            <a:off x="7056028" y="2898083"/>
            <a:ext cx="995363" cy="280987"/>
          </a:xfrm>
          <a:prstGeom prst="rect">
            <a:avLst/>
          </a:prstGeom>
          <a:noFill/>
          <a:ln w="38100" algn="ctr">
            <a:solidFill>
              <a:srgbClr val="CC0099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>
              <a:spcBef>
                <a:spcPts val="1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 algn="l">
              <a:spcBef>
                <a:spcPts val="525"/>
              </a:spcBef>
              <a:buClr>
                <a:srgbClr val="000000"/>
              </a:buClr>
              <a:buSzPct val="10000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Helvetica" panose="020B0604020202020204" pitchFamily="34" charset="0"/>
              <a:buChar char="–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79103190"/>
      </p:ext>
    </p:extLst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Tracing Through Some Examples</a:t>
            </a:r>
          </a:p>
        </p:txBody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802687" cy="5614988"/>
          </a:xfrm>
        </p:spPr>
        <p:txBody>
          <a:bodyPr/>
          <a:lstStyle/>
          <a:p>
            <a:r>
              <a:rPr lang="en-US" altLang="en-US" dirty="0"/>
              <a:t>Start with the </a:t>
            </a:r>
            <a:r>
              <a:rPr lang="en-US" altLang="en-US" dirty="0" err="1"/>
              <a:t>hashtable</a:t>
            </a:r>
            <a:r>
              <a:rPr lang="en-US" altLang="en-US" dirty="0"/>
              <a:t> at right with:</a:t>
            </a:r>
          </a:p>
          <a:p>
            <a:pPr lvl="1"/>
            <a:r>
              <a:rPr lang="en-US" altLang="en-US" dirty="0"/>
              <a:t>double hashing</a:t>
            </a:r>
          </a:p>
          <a:p>
            <a:pPr lvl="1"/>
            <a:r>
              <a:rPr lang="en-US" altLang="en-US" dirty="0"/>
              <a:t>our earlier hash functions h1 and h2</a:t>
            </a:r>
          </a:p>
          <a:p>
            <a:pPr>
              <a:spcBef>
                <a:spcPts val="2400"/>
              </a:spcBef>
            </a:pPr>
            <a:r>
              <a:rPr lang="en-US" altLang="en-US" dirty="0"/>
              <a:t>Perform the following operations:</a:t>
            </a:r>
          </a:p>
          <a:p>
            <a:pPr lvl="1">
              <a:spcBef>
                <a:spcPts val="500"/>
              </a:spcBef>
            </a:pPr>
            <a:r>
              <a:rPr lang="en-US" altLang="en-US" dirty="0"/>
              <a:t>insert "bear" (h1 = 1, h2 = 4): try 1 – open!</a:t>
            </a:r>
          </a:p>
          <a:p>
            <a:pPr lvl="1">
              <a:spcBef>
                <a:spcPts val="500"/>
              </a:spcBef>
            </a:pPr>
            <a:r>
              <a:rPr lang="en-US" altLang="en-US" dirty="0"/>
              <a:t>insert "bison" (h1 = 1, h2 = 5):</a:t>
            </a:r>
            <a:br>
              <a:rPr lang="en-US" altLang="en-US" dirty="0"/>
            </a:br>
            <a:r>
              <a:rPr lang="en-US" altLang="en-US" dirty="0"/>
              <a:t>try 1, (1 + 5) % 26 – open!</a:t>
            </a:r>
          </a:p>
          <a:p>
            <a:pPr lvl="1">
              <a:spcBef>
                <a:spcPts val="500"/>
              </a:spcBef>
            </a:pPr>
            <a:r>
              <a:rPr lang="en-US" altLang="en-US" dirty="0"/>
              <a:t>insert "cow" </a:t>
            </a:r>
            <a:r>
              <a:rPr lang="en-US" altLang="en-US" dirty="0">
                <a:solidFill>
                  <a:srgbClr val="0000FF"/>
                </a:solidFill>
              </a:rPr>
              <a:t>(h1 = 2, h2 = 3):</a:t>
            </a:r>
            <a:br>
              <a:rPr lang="en-US" altLang="en-US" dirty="0">
                <a:solidFill>
                  <a:srgbClr val="0000FF"/>
                </a:solidFill>
              </a:rPr>
            </a:br>
            <a:r>
              <a:rPr lang="en-US" altLang="en-US" dirty="0">
                <a:solidFill>
                  <a:srgbClr val="0000FF"/>
                </a:solidFill>
              </a:rPr>
              <a:t>try 2, (2 + 3) % 26, </a:t>
            </a:r>
            <a:r>
              <a:rPr lang="en-US" altLang="en-US" b="1" dirty="0">
                <a:solidFill>
                  <a:srgbClr val="0000FF"/>
                </a:solidFill>
              </a:rPr>
              <a:t>(2 + 2*3) % 26</a:t>
            </a:r>
          </a:p>
          <a:p>
            <a:pPr marL="457200" lvl="1" indent="0">
              <a:spcBef>
                <a:spcPts val="500"/>
              </a:spcBef>
              <a:buNone/>
            </a:pPr>
            <a:endParaRPr lang="en-US" altLang="en-US" dirty="0"/>
          </a:p>
        </p:txBody>
      </p:sp>
      <p:graphicFrame>
        <p:nvGraphicFramePr>
          <p:cNvPr id="3274756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8068672"/>
              </p:ext>
            </p:extLst>
          </p:nvPr>
        </p:nvGraphicFramePr>
        <p:xfrm>
          <a:off x="5980113" y="1192213"/>
          <a:ext cx="2097087" cy="3687794"/>
        </p:xfrm>
        <a:graphic>
          <a:graphicData uri="http://schemas.openxmlformats.org/drawingml/2006/table">
            <a:tbl>
              <a:tblPr/>
              <a:tblGrid>
                <a:gridCol w="105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6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0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"ant"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Lucida Console" pitchFamily="49" charset="0"/>
                        </a:rPr>
                        <a:t>"bear"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"cat"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3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4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"emu"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5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"fox"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6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Lucida Console" pitchFamily="49" charset="0"/>
                        </a:rPr>
                        <a:t>"bison"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7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8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9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10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" name="Rectangle 48"/>
          <p:cNvSpPr>
            <a:spLocks noChangeArrowheads="1"/>
          </p:cNvSpPr>
          <p:nvPr/>
        </p:nvSpPr>
        <p:spPr bwMode="auto">
          <a:xfrm>
            <a:off x="7056028" y="3897549"/>
            <a:ext cx="995363" cy="280987"/>
          </a:xfrm>
          <a:prstGeom prst="rect">
            <a:avLst/>
          </a:prstGeom>
          <a:noFill/>
          <a:ln w="38100" algn="ctr">
            <a:solidFill>
              <a:srgbClr val="CC0099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>
              <a:spcBef>
                <a:spcPts val="1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 algn="l">
              <a:spcBef>
                <a:spcPts val="525"/>
              </a:spcBef>
              <a:buClr>
                <a:srgbClr val="000000"/>
              </a:buClr>
              <a:buSzPct val="10000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Helvetica" panose="020B0604020202020204" pitchFamily="34" charset="0"/>
              <a:buChar char="–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43770715"/>
      </p:ext>
    </p:extLst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Tracing Through Some Examples</a:t>
            </a:r>
          </a:p>
        </p:txBody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802687" cy="5614988"/>
          </a:xfrm>
        </p:spPr>
        <p:txBody>
          <a:bodyPr/>
          <a:lstStyle/>
          <a:p>
            <a:r>
              <a:rPr lang="en-US" altLang="en-US" dirty="0"/>
              <a:t>Start with the </a:t>
            </a:r>
            <a:r>
              <a:rPr lang="en-US" altLang="en-US" dirty="0" err="1"/>
              <a:t>hashtable</a:t>
            </a:r>
            <a:r>
              <a:rPr lang="en-US" altLang="en-US" dirty="0"/>
              <a:t> at right with:</a:t>
            </a:r>
          </a:p>
          <a:p>
            <a:pPr lvl="1"/>
            <a:r>
              <a:rPr lang="en-US" altLang="en-US" dirty="0"/>
              <a:t>double hashing</a:t>
            </a:r>
          </a:p>
          <a:p>
            <a:pPr lvl="1"/>
            <a:r>
              <a:rPr lang="en-US" altLang="en-US" dirty="0"/>
              <a:t>our earlier hash functions h1 and h2</a:t>
            </a:r>
          </a:p>
          <a:p>
            <a:pPr>
              <a:spcBef>
                <a:spcPts val="2400"/>
              </a:spcBef>
            </a:pPr>
            <a:r>
              <a:rPr lang="en-US" altLang="en-US" dirty="0"/>
              <a:t>Perform the following operations:</a:t>
            </a:r>
          </a:p>
          <a:p>
            <a:pPr lvl="1">
              <a:spcBef>
                <a:spcPts val="500"/>
              </a:spcBef>
            </a:pPr>
            <a:r>
              <a:rPr lang="en-US" altLang="en-US" dirty="0"/>
              <a:t>insert "bear" (h1 = 1, h2 = 4): try 1 – open!</a:t>
            </a:r>
          </a:p>
          <a:p>
            <a:pPr lvl="1">
              <a:spcBef>
                <a:spcPts val="500"/>
              </a:spcBef>
            </a:pPr>
            <a:r>
              <a:rPr lang="en-US" altLang="en-US" dirty="0"/>
              <a:t>insert "bison" (h1 = 1, h2 = 5):</a:t>
            </a:r>
            <a:br>
              <a:rPr lang="en-US" altLang="en-US" dirty="0"/>
            </a:br>
            <a:r>
              <a:rPr lang="en-US" altLang="en-US" dirty="0"/>
              <a:t>try 1, (1 + 5) % 26 – open!</a:t>
            </a:r>
          </a:p>
          <a:p>
            <a:pPr lvl="1">
              <a:spcBef>
                <a:spcPts val="500"/>
              </a:spcBef>
            </a:pPr>
            <a:r>
              <a:rPr lang="en-US" altLang="en-US" dirty="0"/>
              <a:t>insert "cow" </a:t>
            </a:r>
            <a:r>
              <a:rPr lang="en-US" altLang="en-US" dirty="0">
                <a:solidFill>
                  <a:srgbClr val="0000FF"/>
                </a:solidFill>
              </a:rPr>
              <a:t>(h1 = 2, h2 = 3):</a:t>
            </a:r>
            <a:br>
              <a:rPr lang="en-US" altLang="en-US" dirty="0">
                <a:solidFill>
                  <a:srgbClr val="0000FF"/>
                </a:solidFill>
              </a:rPr>
            </a:br>
            <a:r>
              <a:rPr lang="en-US" altLang="en-US" dirty="0">
                <a:solidFill>
                  <a:srgbClr val="0000FF"/>
                </a:solidFill>
              </a:rPr>
              <a:t>try 2, (2 + 3) % 26, </a:t>
            </a:r>
            <a:r>
              <a:rPr lang="en-US" altLang="en-US" b="1" dirty="0">
                <a:solidFill>
                  <a:srgbClr val="0000FF"/>
                </a:solidFill>
              </a:rPr>
              <a:t>(2 + 2*3) % 26 – open!</a:t>
            </a:r>
          </a:p>
          <a:p>
            <a:pPr marL="457200" lvl="1" indent="0">
              <a:spcBef>
                <a:spcPts val="500"/>
              </a:spcBef>
              <a:buNone/>
            </a:pPr>
            <a:endParaRPr lang="en-US" altLang="en-US" dirty="0"/>
          </a:p>
        </p:txBody>
      </p:sp>
      <p:graphicFrame>
        <p:nvGraphicFramePr>
          <p:cNvPr id="3274756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0811404"/>
              </p:ext>
            </p:extLst>
          </p:nvPr>
        </p:nvGraphicFramePr>
        <p:xfrm>
          <a:off x="5980113" y="1192213"/>
          <a:ext cx="2097087" cy="3687794"/>
        </p:xfrm>
        <a:graphic>
          <a:graphicData uri="http://schemas.openxmlformats.org/drawingml/2006/table">
            <a:tbl>
              <a:tblPr/>
              <a:tblGrid>
                <a:gridCol w="105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6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0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"ant"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Lucida Console" pitchFamily="49" charset="0"/>
                        </a:rPr>
                        <a:t>"bear"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"cat"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3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4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"emu"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5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"fox"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6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Lucida Console" pitchFamily="49" charset="0"/>
                        </a:rPr>
                        <a:t>"bison"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7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8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Lucida Console" pitchFamily="49" charset="0"/>
                        </a:rPr>
                        <a:t>"cow"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9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10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" name="Rectangle 48"/>
          <p:cNvSpPr>
            <a:spLocks noChangeArrowheads="1"/>
          </p:cNvSpPr>
          <p:nvPr/>
        </p:nvSpPr>
        <p:spPr bwMode="auto">
          <a:xfrm>
            <a:off x="7056028" y="3897549"/>
            <a:ext cx="995363" cy="280987"/>
          </a:xfrm>
          <a:prstGeom prst="rect">
            <a:avLst/>
          </a:prstGeom>
          <a:noFill/>
          <a:ln w="38100" algn="ctr">
            <a:solidFill>
              <a:srgbClr val="CC0099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>
              <a:spcBef>
                <a:spcPts val="1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 algn="l">
              <a:spcBef>
                <a:spcPts val="525"/>
              </a:spcBef>
              <a:buClr>
                <a:srgbClr val="000000"/>
              </a:buClr>
              <a:buSzPct val="10000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Helvetica" panose="020B0604020202020204" pitchFamily="34" charset="0"/>
              <a:buChar char="–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58806460"/>
      </p:ext>
    </p:extLst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Tracing Through Some Examples</a:t>
            </a:r>
          </a:p>
        </p:txBody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802687" cy="5614988"/>
          </a:xfrm>
        </p:spPr>
        <p:txBody>
          <a:bodyPr/>
          <a:lstStyle/>
          <a:p>
            <a:r>
              <a:rPr lang="en-US" altLang="en-US" dirty="0"/>
              <a:t>Start with the </a:t>
            </a:r>
            <a:r>
              <a:rPr lang="en-US" altLang="en-US" dirty="0" err="1"/>
              <a:t>hashtable</a:t>
            </a:r>
            <a:r>
              <a:rPr lang="en-US" altLang="en-US" dirty="0"/>
              <a:t> at right with:</a:t>
            </a:r>
          </a:p>
          <a:p>
            <a:pPr lvl="1"/>
            <a:r>
              <a:rPr lang="en-US" altLang="en-US" dirty="0"/>
              <a:t>double hashing</a:t>
            </a:r>
          </a:p>
          <a:p>
            <a:pPr lvl="1"/>
            <a:r>
              <a:rPr lang="en-US" altLang="en-US" dirty="0"/>
              <a:t>our earlier hash functions h1 and h2</a:t>
            </a:r>
          </a:p>
          <a:p>
            <a:pPr>
              <a:spcBef>
                <a:spcPts val="2400"/>
              </a:spcBef>
            </a:pPr>
            <a:r>
              <a:rPr lang="en-US" altLang="en-US" dirty="0"/>
              <a:t>Perform the following operations:</a:t>
            </a:r>
          </a:p>
          <a:p>
            <a:pPr lvl="1">
              <a:spcBef>
                <a:spcPts val="500"/>
              </a:spcBef>
            </a:pPr>
            <a:r>
              <a:rPr lang="en-US" altLang="en-US" dirty="0"/>
              <a:t>insert "bear" (h1 = 1, h2 = 4): try 1 – open!</a:t>
            </a:r>
          </a:p>
          <a:p>
            <a:pPr lvl="1">
              <a:spcBef>
                <a:spcPts val="500"/>
              </a:spcBef>
            </a:pPr>
            <a:r>
              <a:rPr lang="en-US" altLang="en-US" dirty="0"/>
              <a:t>insert "bison" (h1 = 1, h2 = 5):</a:t>
            </a:r>
            <a:br>
              <a:rPr lang="en-US" altLang="en-US" dirty="0"/>
            </a:br>
            <a:r>
              <a:rPr lang="en-US" altLang="en-US" dirty="0"/>
              <a:t>try 1, (1 + 5) % 26 – open!</a:t>
            </a:r>
          </a:p>
          <a:p>
            <a:pPr lvl="1">
              <a:spcBef>
                <a:spcPts val="500"/>
              </a:spcBef>
            </a:pPr>
            <a:r>
              <a:rPr lang="en-US" altLang="en-US" dirty="0"/>
              <a:t>insert "cow" (h1 = 2, h2 = 3):</a:t>
            </a:r>
            <a:br>
              <a:rPr lang="en-US" altLang="en-US" dirty="0"/>
            </a:br>
            <a:r>
              <a:rPr lang="en-US" altLang="en-US" dirty="0"/>
              <a:t>try 2, (2 + 3) % 26, (2 + 2*3) % 26 – open!</a:t>
            </a:r>
          </a:p>
          <a:p>
            <a:pPr lvl="1">
              <a:spcBef>
                <a:spcPts val="500"/>
              </a:spcBef>
            </a:pPr>
            <a:r>
              <a:rPr lang="en-US" altLang="en-US" dirty="0"/>
              <a:t>delete "emu"</a:t>
            </a:r>
          </a:p>
          <a:p>
            <a:pPr marL="457200" lvl="1" indent="0">
              <a:spcBef>
                <a:spcPts val="500"/>
              </a:spcBef>
              <a:buNone/>
            </a:pPr>
            <a:endParaRPr lang="en-US" altLang="en-US" dirty="0"/>
          </a:p>
        </p:txBody>
      </p:sp>
      <p:graphicFrame>
        <p:nvGraphicFramePr>
          <p:cNvPr id="3274756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0811404"/>
              </p:ext>
            </p:extLst>
          </p:nvPr>
        </p:nvGraphicFramePr>
        <p:xfrm>
          <a:off x="5980113" y="1192213"/>
          <a:ext cx="2097087" cy="3687794"/>
        </p:xfrm>
        <a:graphic>
          <a:graphicData uri="http://schemas.openxmlformats.org/drawingml/2006/table">
            <a:tbl>
              <a:tblPr/>
              <a:tblGrid>
                <a:gridCol w="105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6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0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"ant"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Lucida Console" pitchFamily="49" charset="0"/>
                        </a:rPr>
                        <a:t>"bear"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"cat"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3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4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"emu"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5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"fox"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6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Lucida Console" pitchFamily="49" charset="0"/>
                        </a:rPr>
                        <a:t>"bison"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7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8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Lucida Console" pitchFamily="49" charset="0"/>
                        </a:rPr>
                        <a:t>"cow"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9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10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04930063"/>
      </p:ext>
    </p:extLst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Tracing Through Some Examples</a:t>
            </a:r>
          </a:p>
        </p:txBody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802687" cy="5614988"/>
          </a:xfrm>
        </p:spPr>
        <p:txBody>
          <a:bodyPr/>
          <a:lstStyle/>
          <a:p>
            <a:r>
              <a:rPr lang="en-US" altLang="en-US" dirty="0"/>
              <a:t>Start with the </a:t>
            </a:r>
            <a:r>
              <a:rPr lang="en-US" altLang="en-US" dirty="0" err="1"/>
              <a:t>hashtable</a:t>
            </a:r>
            <a:r>
              <a:rPr lang="en-US" altLang="en-US" dirty="0"/>
              <a:t> at right with:</a:t>
            </a:r>
          </a:p>
          <a:p>
            <a:pPr lvl="1"/>
            <a:r>
              <a:rPr lang="en-US" altLang="en-US" dirty="0"/>
              <a:t>double hashing</a:t>
            </a:r>
          </a:p>
          <a:p>
            <a:pPr lvl="1"/>
            <a:r>
              <a:rPr lang="en-US" altLang="en-US" dirty="0"/>
              <a:t>our earlier hash functions h1 and h2</a:t>
            </a:r>
          </a:p>
          <a:p>
            <a:pPr>
              <a:spcBef>
                <a:spcPts val="2400"/>
              </a:spcBef>
            </a:pPr>
            <a:r>
              <a:rPr lang="en-US" altLang="en-US" dirty="0"/>
              <a:t>Perform the following operations:</a:t>
            </a:r>
          </a:p>
          <a:p>
            <a:pPr lvl="1">
              <a:spcBef>
                <a:spcPts val="500"/>
              </a:spcBef>
            </a:pPr>
            <a:r>
              <a:rPr lang="en-US" altLang="en-US" dirty="0"/>
              <a:t>insert "bear" (h1 = 1, h2 = 4): try 1 – open!</a:t>
            </a:r>
          </a:p>
          <a:p>
            <a:pPr lvl="1">
              <a:spcBef>
                <a:spcPts val="500"/>
              </a:spcBef>
            </a:pPr>
            <a:r>
              <a:rPr lang="en-US" altLang="en-US" dirty="0"/>
              <a:t>insert "bison" (h1 = 1, h2 = 5):</a:t>
            </a:r>
            <a:br>
              <a:rPr lang="en-US" altLang="en-US" dirty="0"/>
            </a:br>
            <a:r>
              <a:rPr lang="en-US" altLang="en-US" dirty="0"/>
              <a:t>try 1, (1 + 5) % 26 – open!</a:t>
            </a:r>
          </a:p>
          <a:p>
            <a:pPr lvl="1">
              <a:spcBef>
                <a:spcPts val="500"/>
              </a:spcBef>
            </a:pPr>
            <a:r>
              <a:rPr lang="en-US" altLang="en-US" dirty="0"/>
              <a:t>insert "cow" (h1 = 2, h2 = 3):</a:t>
            </a:r>
            <a:br>
              <a:rPr lang="en-US" altLang="en-US" dirty="0"/>
            </a:br>
            <a:r>
              <a:rPr lang="en-US" altLang="en-US" dirty="0"/>
              <a:t>try 2, (2 + 3) % 26, (2 + 2*3) % 26 – open!</a:t>
            </a:r>
          </a:p>
          <a:p>
            <a:pPr lvl="1">
              <a:spcBef>
                <a:spcPts val="500"/>
              </a:spcBef>
            </a:pPr>
            <a:r>
              <a:rPr lang="en-US" altLang="en-US" dirty="0"/>
              <a:t>delete "emu" </a:t>
            </a:r>
            <a:r>
              <a:rPr lang="en-US" altLang="en-US" dirty="0">
                <a:solidFill>
                  <a:srgbClr val="0000FF"/>
                </a:solidFill>
              </a:rPr>
              <a:t>(h1 = 4, h2 = 3):</a:t>
            </a:r>
          </a:p>
          <a:p>
            <a:pPr marL="457200" lvl="1" indent="0">
              <a:spcBef>
                <a:spcPts val="500"/>
              </a:spcBef>
              <a:buNone/>
            </a:pPr>
            <a:endParaRPr lang="en-US" altLang="en-US" dirty="0"/>
          </a:p>
        </p:txBody>
      </p:sp>
      <p:graphicFrame>
        <p:nvGraphicFramePr>
          <p:cNvPr id="3274756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0811404"/>
              </p:ext>
            </p:extLst>
          </p:nvPr>
        </p:nvGraphicFramePr>
        <p:xfrm>
          <a:off x="5980113" y="1192213"/>
          <a:ext cx="2097087" cy="3687794"/>
        </p:xfrm>
        <a:graphic>
          <a:graphicData uri="http://schemas.openxmlformats.org/drawingml/2006/table">
            <a:tbl>
              <a:tblPr/>
              <a:tblGrid>
                <a:gridCol w="105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6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0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"ant"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Lucida Console" pitchFamily="49" charset="0"/>
                        </a:rPr>
                        <a:t>"bear"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"cat"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3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4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"emu"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5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"fox"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6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Lucida Console" pitchFamily="49" charset="0"/>
                        </a:rPr>
                        <a:t>"bison"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7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8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Lucida Console" pitchFamily="49" charset="0"/>
                        </a:rPr>
                        <a:t>"cow"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9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10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55263844"/>
      </p:ext>
    </p:extLst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Tracing Through Some Examples</a:t>
            </a:r>
          </a:p>
        </p:txBody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802687" cy="5614988"/>
          </a:xfrm>
        </p:spPr>
        <p:txBody>
          <a:bodyPr/>
          <a:lstStyle/>
          <a:p>
            <a:r>
              <a:rPr lang="en-US" altLang="en-US" dirty="0"/>
              <a:t>Start with the </a:t>
            </a:r>
            <a:r>
              <a:rPr lang="en-US" altLang="en-US" dirty="0" err="1"/>
              <a:t>hashtable</a:t>
            </a:r>
            <a:r>
              <a:rPr lang="en-US" altLang="en-US" dirty="0"/>
              <a:t> at right with:</a:t>
            </a:r>
          </a:p>
          <a:p>
            <a:pPr lvl="1"/>
            <a:r>
              <a:rPr lang="en-US" altLang="en-US" dirty="0"/>
              <a:t>double hashing</a:t>
            </a:r>
          </a:p>
          <a:p>
            <a:pPr lvl="1"/>
            <a:r>
              <a:rPr lang="en-US" altLang="en-US" dirty="0"/>
              <a:t>our earlier hash functions h1 and h2</a:t>
            </a:r>
          </a:p>
          <a:p>
            <a:pPr>
              <a:spcBef>
                <a:spcPts val="2400"/>
              </a:spcBef>
            </a:pPr>
            <a:r>
              <a:rPr lang="en-US" altLang="en-US" dirty="0"/>
              <a:t>Perform the following operations:</a:t>
            </a:r>
          </a:p>
          <a:p>
            <a:pPr lvl="1">
              <a:spcBef>
                <a:spcPts val="500"/>
              </a:spcBef>
            </a:pPr>
            <a:r>
              <a:rPr lang="en-US" altLang="en-US" dirty="0"/>
              <a:t>insert "bear" (h1 = 1, h2 = 4): try 1 – open!</a:t>
            </a:r>
          </a:p>
          <a:p>
            <a:pPr lvl="1">
              <a:spcBef>
                <a:spcPts val="500"/>
              </a:spcBef>
            </a:pPr>
            <a:r>
              <a:rPr lang="en-US" altLang="en-US" dirty="0"/>
              <a:t>insert "bison" (h1 = 1, h2 = 5):</a:t>
            </a:r>
            <a:br>
              <a:rPr lang="en-US" altLang="en-US" dirty="0"/>
            </a:br>
            <a:r>
              <a:rPr lang="en-US" altLang="en-US" dirty="0"/>
              <a:t>try 1, (1 + 5) % 26 – open!</a:t>
            </a:r>
          </a:p>
          <a:p>
            <a:pPr lvl="1">
              <a:spcBef>
                <a:spcPts val="500"/>
              </a:spcBef>
            </a:pPr>
            <a:r>
              <a:rPr lang="en-US" altLang="en-US" dirty="0"/>
              <a:t>insert "cow" (h1 = 2, h2 = 3):</a:t>
            </a:r>
            <a:br>
              <a:rPr lang="en-US" altLang="en-US" dirty="0"/>
            </a:br>
            <a:r>
              <a:rPr lang="en-US" altLang="en-US" dirty="0"/>
              <a:t>try 2, (2 + 3) % 26, (2 + 2*3) % 26 – open!</a:t>
            </a:r>
          </a:p>
          <a:p>
            <a:pPr lvl="1">
              <a:spcBef>
                <a:spcPts val="500"/>
              </a:spcBef>
            </a:pPr>
            <a:r>
              <a:rPr lang="en-US" altLang="en-US" dirty="0"/>
              <a:t>delete "emu" </a:t>
            </a:r>
            <a:r>
              <a:rPr lang="en-US" altLang="en-US" dirty="0">
                <a:solidFill>
                  <a:srgbClr val="0000FF"/>
                </a:solidFill>
              </a:rPr>
              <a:t>(h1 = 4, h2 = 3):</a:t>
            </a:r>
            <a:br>
              <a:rPr lang="en-US" altLang="en-US" dirty="0">
                <a:solidFill>
                  <a:srgbClr val="0000FF"/>
                </a:solidFill>
              </a:rPr>
            </a:br>
            <a:r>
              <a:rPr lang="en-US" altLang="en-US" b="1" dirty="0">
                <a:solidFill>
                  <a:srgbClr val="0000FF"/>
                </a:solidFill>
              </a:rPr>
              <a:t>try 4</a:t>
            </a:r>
          </a:p>
          <a:p>
            <a:pPr marL="457200" lvl="1" indent="0">
              <a:spcBef>
                <a:spcPts val="500"/>
              </a:spcBef>
              <a:buNone/>
            </a:pPr>
            <a:endParaRPr lang="en-US" altLang="en-US" dirty="0"/>
          </a:p>
        </p:txBody>
      </p:sp>
      <p:graphicFrame>
        <p:nvGraphicFramePr>
          <p:cNvPr id="3274756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0811404"/>
              </p:ext>
            </p:extLst>
          </p:nvPr>
        </p:nvGraphicFramePr>
        <p:xfrm>
          <a:off x="5980113" y="1192213"/>
          <a:ext cx="2097087" cy="3687794"/>
        </p:xfrm>
        <a:graphic>
          <a:graphicData uri="http://schemas.openxmlformats.org/drawingml/2006/table">
            <a:tbl>
              <a:tblPr/>
              <a:tblGrid>
                <a:gridCol w="105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6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0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"ant"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Lucida Console" pitchFamily="49" charset="0"/>
                        </a:rPr>
                        <a:t>"bear"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"cat"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3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4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"emu"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5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"fox"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6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Lucida Console" pitchFamily="49" charset="0"/>
                        </a:rPr>
                        <a:t>"bison"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7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8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Lucida Console" pitchFamily="49" charset="0"/>
                        </a:rPr>
                        <a:t>"cow"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9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10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" name="Rectangle 48"/>
          <p:cNvSpPr>
            <a:spLocks noChangeArrowheads="1"/>
          </p:cNvSpPr>
          <p:nvPr/>
        </p:nvSpPr>
        <p:spPr bwMode="auto">
          <a:xfrm>
            <a:off x="7056028" y="2557837"/>
            <a:ext cx="995363" cy="280987"/>
          </a:xfrm>
          <a:prstGeom prst="rect">
            <a:avLst/>
          </a:prstGeom>
          <a:noFill/>
          <a:ln w="38100" algn="ctr">
            <a:solidFill>
              <a:srgbClr val="CC0099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>
              <a:spcBef>
                <a:spcPts val="1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 algn="l">
              <a:spcBef>
                <a:spcPts val="525"/>
              </a:spcBef>
              <a:buClr>
                <a:srgbClr val="000000"/>
              </a:buClr>
              <a:buSzPct val="10000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Helvetica" panose="020B0604020202020204" pitchFamily="34" charset="0"/>
              <a:buChar char="–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72828468"/>
      </p:ext>
    </p:extLst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Tracing Through Some Examples</a:t>
            </a:r>
          </a:p>
        </p:txBody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802687" cy="5614988"/>
          </a:xfrm>
        </p:spPr>
        <p:txBody>
          <a:bodyPr/>
          <a:lstStyle/>
          <a:p>
            <a:r>
              <a:rPr lang="en-US" altLang="en-US" dirty="0"/>
              <a:t>Start with the </a:t>
            </a:r>
            <a:r>
              <a:rPr lang="en-US" altLang="en-US" dirty="0" err="1"/>
              <a:t>hashtable</a:t>
            </a:r>
            <a:r>
              <a:rPr lang="en-US" altLang="en-US" dirty="0"/>
              <a:t> at right with:</a:t>
            </a:r>
          </a:p>
          <a:p>
            <a:pPr lvl="1"/>
            <a:r>
              <a:rPr lang="en-US" altLang="en-US" dirty="0"/>
              <a:t>double hashing</a:t>
            </a:r>
          </a:p>
          <a:p>
            <a:pPr lvl="1"/>
            <a:r>
              <a:rPr lang="en-US" altLang="en-US" dirty="0"/>
              <a:t>our earlier hash functions h1 and h2</a:t>
            </a:r>
          </a:p>
          <a:p>
            <a:pPr>
              <a:spcBef>
                <a:spcPts val="2400"/>
              </a:spcBef>
            </a:pPr>
            <a:r>
              <a:rPr lang="en-US" altLang="en-US" dirty="0"/>
              <a:t>Perform the following operations:</a:t>
            </a:r>
          </a:p>
          <a:p>
            <a:pPr lvl="1">
              <a:spcBef>
                <a:spcPts val="500"/>
              </a:spcBef>
            </a:pPr>
            <a:r>
              <a:rPr lang="en-US" altLang="en-US" dirty="0"/>
              <a:t>insert "bear" (h1 = 1, h2 = 4): try 1 – open!</a:t>
            </a:r>
          </a:p>
          <a:p>
            <a:pPr lvl="1">
              <a:spcBef>
                <a:spcPts val="500"/>
              </a:spcBef>
            </a:pPr>
            <a:r>
              <a:rPr lang="en-US" altLang="en-US" dirty="0"/>
              <a:t>insert "bison" (h1 = 1, h2 = 5):</a:t>
            </a:r>
            <a:br>
              <a:rPr lang="en-US" altLang="en-US" dirty="0"/>
            </a:br>
            <a:r>
              <a:rPr lang="en-US" altLang="en-US" dirty="0"/>
              <a:t>try 1, (1 + 5) % 26 – open!</a:t>
            </a:r>
          </a:p>
          <a:p>
            <a:pPr lvl="1">
              <a:spcBef>
                <a:spcPts val="500"/>
              </a:spcBef>
            </a:pPr>
            <a:r>
              <a:rPr lang="en-US" altLang="en-US" dirty="0"/>
              <a:t>insert "cow" (h1 = 2, h2 = 3):</a:t>
            </a:r>
            <a:br>
              <a:rPr lang="en-US" altLang="en-US" dirty="0"/>
            </a:br>
            <a:r>
              <a:rPr lang="en-US" altLang="en-US" dirty="0"/>
              <a:t>try 2, (2 + 3) % 26, (2 + 2*3) % 26 – open!</a:t>
            </a:r>
          </a:p>
          <a:p>
            <a:pPr lvl="1">
              <a:spcBef>
                <a:spcPts val="500"/>
              </a:spcBef>
            </a:pPr>
            <a:r>
              <a:rPr lang="en-US" altLang="en-US" dirty="0"/>
              <a:t>delete "emu" </a:t>
            </a:r>
            <a:r>
              <a:rPr lang="en-US" altLang="en-US" dirty="0">
                <a:solidFill>
                  <a:srgbClr val="0000FF"/>
                </a:solidFill>
              </a:rPr>
              <a:t>(h1 = 4, h2 = 3):</a:t>
            </a:r>
            <a:br>
              <a:rPr lang="en-US" altLang="en-US" dirty="0">
                <a:solidFill>
                  <a:srgbClr val="0000FF"/>
                </a:solidFill>
              </a:rPr>
            </a:br>
            <a:r>
              <a:rPr lang="en-US" altLang="en-US" b="1" dirty="0">
                <a:solidFill>
                  <a:srgbClr val="0000FF"/>
                </a:solidFill>
              </a:rPr>
              <a:t>try 4 – found!</a:t>
            </a:r>
          </a:p>
          <a:p>
            <a:pPr marL="457200" lvl="1" indent="0">
              <a:spcBef>
                <a:spcPts val="500"/>
              </a:spcBef>
              <a:buNone/>
            </a:pPr>
            <a:endParaRPr lang="en-US" altLang="en-US" dirty="0"/>
          </a:p>
        </p:txBody>
      </p:sp>
      <p:graphicFrame>
        <p:nvGraphicFramePr>
          <p:cNvPr id="3274756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0811404"/>
              </p:ext>
            </p:extLst>
          </p:nvPr>
        </p:nvGraphicFramePr>
        <p:xfrm>
          <a:off x="5980113" y="1192213"/>
          <a:ext cx="2097087" cy="3687794"/>
        </p:xfrm>
        <a:graphic>
          <a:graphicData uri="http://schemas.openxmlformats.org/drawingml/2006/table">
            <a:tbl>
              <a:tblPr/>
              <a:tblGrid>
                <a:gridCol w="105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6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0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"ant"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Lucida Console" pitchFamily="49" charset="0"/>
                        </a:rPr>
                        <a:t>"bear"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"cat"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3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4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"emu"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5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"fox"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6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Lucida Console" pitchFamily="49" charset="0"/>
                        </a:rPr>
                        <a:t>"bison"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7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8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Lucida Console" pitchFamily="49" charset="0"/>
                        </a:rPr>
                        <a:t>"cow"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9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10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" name="Rectangle 48"/>
          <p:cNvSpPr>
            <a:spLocks noChangeArrowheads="1"/>
          </p:cNvSpPr>
          <p:nvPr/>
        </p:nvSpPr>
        <p:spPr bwMode="auto">
          <a:xfrm>
            <a:off x="7056028" y="2557837"/>
            <a:ext cx="995363" cy="280987"/>
          </a:xfrm>
          <a:prstGeom prst="rect">
            <a:avLst/>
          </a:prstGeom>
          <a:noFill/>
          <a:ln w="38100" algn="ctr">
            <a:solidFill>
              <a:srgbClr val="CC0099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>
              <a:spcBef>
                <a:spcPts val="1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 algn="l">
              <a:spcBef>
                <a:spcPts val="525"/>
              </a:spcBef>
              <a:buClr>
                <a:srgbClr val="000000"/>
              </a:buClr>
              <a:buSzPct val="10000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Helvetica" panose="020B0604020202020204" pitchFamily="34" charset="0"/>
              <a:buChar char="–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76664529"/>
      </p:ext>
    </p:extLst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Tracing Through Some Examples</a:t>
            </a:r>
          </a:p>
        </p:txBody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802687" cy="5614988"/>
          </a:xfrm>
        </p:spPr>
        <p:txBody>
          <a:bodyPr/>
          <a:lstStyle/>
          <a:p>
            <a:r>
              <a:rPr lang="en-US" altLang="en-US" dirty="0"/>
              <a:t>Start with the </a:t>
            </a:r>
            <a:r>
              <a:rPr lang="en-US" altLang="en-US" dirty="0" err="1"/>
              <a:t>hashtable</a:t>
            </a:r>
            <a:r>
              <a:rPr lang="en-US" altLang="en-US" dirty="0"/>
              <a:t> at right with:</a:t>
            </a:r>
          </a:p>
          <a:p>
            <a:pPr lvl="1"/>
            <a:r>
              <a:rPr lang="en-US" altLang="en-US" dirty="0"/>
              <a:t>double hashing</a:t>
            </a:r>
          </a:p>
          <a:p>
            <a:pPr lvl="1"/>
            <a:r>
              <a:rPr lang="en-US" altLang="en-US" dirty="0"/>
              <a:t>our earlier hash functions h1 and h2</a:t>
            </a:r>
          </a:p>
          <a:p>
            <a:pPr>
              <a:spcBef>
                <a:spcPts val="2400"/>
              </a:spcBef>
            </a:pPr>
            <a:r>
              <a:rPr lang="en-US" altLang="en-US" dirty="0"/>
              <a:t>Perform the following operations:</a:t>
            </a:r>
          </a:p>
          <a:p>
            <a:pPr lvl="1">
              <a:spcBef>
                <a:spcPts val="500"/>
              </a:spcBef>
            </a:pPr>
            <a:r>
              <a:rPr lang="en-US" altLang="en-US" dirty="0"/>
              <a:t>insert "bear" (h1 = 1, h2 = 4): try 1 – open!</a:t>
            </a:r>
          </a:p>
          <a:p>
            <a:pPr lvl="1">
              <a:spcBef>
                <a:spcPts val="500"/>
              </a:spcBef>
            </a:pPr>
            <a:r>
              <a:rPr lang="en-US" altLang="en-US" dirty="0"/>
              <a:t>insert "bison" (h1 = 1, h2 = 5):</a:t>
            </a:r>
            <a:br>
              <a:rPr lang="en-US" altLang="en-US" dirty="0"/>
            </a:br>
            <a:r>
              <a:rPr lang="en-US" altLang="en-US" dirty="0"/>
              <a:t>try 1, (1 + 5) % 26 – open!</a:t>
            </a:r>
          </a:p>
          <a:p>
            <a:pPr lvl="1">
              <a:spcBef>
                <a:spcPts val="500"/>
              </a:spcBef>
            </a:pPr>
            <a:r>
              <a:rPr lang="en-US" altLang="en-US" dirty="0"/>
              <a:t>insert "cow" (h1 = 2, h2 = 3):</a:t>
            </a:r>
            <a:br>
              <a:rPr lang="en-US" altLang="en-US" dirty="0"/>
            </a:br>
            <a:r>
              <a:rPr lang="en-US" altLang="en-US" dirty="0"/>
              <a:t>try 2, (2 + 3) % 26, (2 + 2*3) % 26 – open!</a:t>
            </a:r>
          </a:p>
          <a:p>
            <a:pPr lvl="1">
              <a:spcBef>
                <a:spcPts val="500"/>
              </a:spcBef>
            </a:pPr>
            <a:r>
              <a:rPr lang="en-US" altLang="en-US" dirty="0"/>
              <a:t>delete "emu" </a:t>
            </a:r>
            <a:r>
              <a:rPr lang="en-US" altLang="en-US" dirty="0">
                <a:solidFill>
                  <a:srgbClr val="0000FF"/>
                </a:solidFill>
              </a:rPr>
              <a:t>(h1 = 4, h2 = 3):</a:t>
            </a:r>
            <a:br>
              <a:rPr lang="en-US" altLang="en-US" dirty="0">
                <a:solidFill>
                  <a:srgbClr val="0000FF"/>
                </a:solidFill>
              </a:rPr>
            </a:br>
            <a:r>
              <a:rPr lang="en-US" altLang="en-US" dirty="0">
                <a:solidFill>
                  <a:srgbClr val="0000FF"/>
                </a:solidFill>
              </a:rPr>
              <a:t>try 4 – found! </a:t>
            </a:r>
            <a:r>
              <a:rPr lang="en-US" altLang="en-US" b="1" dirty="0">
                <a:solidFill>
                  <a:srgbClr val="0000FF"/>
                </a:solidFill>
              </a:rPr>
              <a:t>make it a removed cell</a:t>
            </a:r>
          </a:p>
          <a:p>
            <a:pPr lvl="1">
              <a:spcBef>
                <a:spcPts val="500"/>
              </a:spcBef>
            </a:pPr>
            <a:endParaRPr lang="en-US" altLang="en-US" dirty="0"/>
          </a:p>
          <a:p>
            <a:pPr marL="457200" lvl="1" indent="0">
              <a:spcBef>
                <a:spcPts val="500"/>
              </a:spcBef>
              <a:buNone/>
            </a:pPr>
            <a:endParaRPr lang="en-US" altLang="en-US" dirty="0"/>
          </a:p>
        </p:txBody>
      </p:sp>
      <p:graphicFrame>
        <p:nvGraphicFramePr>
          <p:cNvPr id="3274756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4652631"/>
              </p:ext>
            </p:extLst>
          </p:nvPr>
        </p:nvGraphicFramePr>
        <p:xfrm>
          <a:off x="5980113" y="1192213"/>
          <a:ext cx="2097087" cy="3687794"/>
        </p:xfrm>
        <a:graphic>
          <a:graphicData uri="http://schemas.openxmlformats.org/drawingml/2006/table">
            <a:tbl>
              <a:tblPr/>
              <a:tblGrid>
                <a:gridCol w="105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6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0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"ant"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Lucida Console" pitchFamily="49" charset="0"/>
                        </a:rPr>
                        <a:t>"bear"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"cat"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3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4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5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"fox"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6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Lucida Console" pitchFamily="49" charset="0"/>
                        </a:rPr>
                        <a:t>"bison"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7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8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Lucida Console" pitchFamily="49" charset="0"/>
                        </a:rPr>
                        <a:t>"cow"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9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10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" name="Rectangle 48"/>
          <p:cNvSpPr>
            <a:spLocks noChangeArrowheads="1"/>
          </p:cNvSpPr>
          <p:nvPr/>
        </p:nvSpPr>
        <p:spPr bwMode="auto">
          <a:xfrm>
            <a:off x="7056028" y="2557837"/>
            <a:ext cx="995363" cy="280987"/>
          </a:xfrm>
          <a:prstGeom prst="rect">
            <a:avLst/>
          </a:prstGeom>
          <a:noFill/>
          <a:ln w="38100" algn="ctr">
            <a:solidFill>
              <a:srgbClr val="CC0099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>
              <a:spcBef>
                <a:spcPts val="1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 algn="l">
              <a:spcBef>
                <a:spcPts val="525"/>
              </a:spcBef>
              <a:buClr>
                <a:srgbClr val="000000"/>
              </a:buClr>
              <a:buSzPct val="10000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Helvetica" panose="020B0604020202020204" pitchFamily="34" charset="0"/>
              <a:buChar char="–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55039173"/>
      </p:ext>
    </p:extLst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Tracing Through Some Examples</a:t>
            </a:r>
          </a:p>
        </p:txBody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802687" cy="5614988"/>
          </a:xfrm>
        </p:spPr>
        <p:txBody>
          <a:bodyPr/>
          <a:lstStyle/>
          <a:p>
            <a:r>
              <a:rPr lang="en-US" altLang="en-US" dirty="0"/>
              <a:t>Start with the </a:t>
            </a:r>
            <a:r>
              <a:rPr lang="en-US" altLang="en-US" dirty="0" err="1"/>
              <a:t>hashtable</a:t>
            </a:r>
            <a:r>
              <a:rPr lang="en-US" altLang="en-US" dirty="0"/>
              <a:t> at right with:</a:t>
            </a:r>
          </a:p>
          <a:p>
            <a:pPr lvl="1"/>
            <a:r>
              <a:rPr lang="en-US" altLang="en-US" dirty="0"/>
              <a:t>double hashing</a:t>
            </a:r>
          </a:p>
          <a:p>
            <a:pPr lvl="1"/>
            <a:r>
              <a:rPr lang="en-US" altLang="en-US" dirty="0"/>
              <a:t>our earlier hash functions h1 and h2</a:t>
            </a:r>
          </a:p>
          <a:p>
            <a:pPr>
              <a:spcBef>
                <a:spcPts val="2400"/>
              </a:spcBef>
            </a:pPr>
            <a:r>
              <a:rPr lang="en-US" altLang="en-US" dirty="0"/>
              <a:t>Perform the following operations:</a:t>
            </a:r>
          </a:p>
          <a:p>
            <a:pPr lvl="1">
              <a:spcBef>
                <a:spcPts val="500"/>
              </a:spcBef>
            </a:pPr>
            <a:r>
              <a:rPr lang="en-US" altLang="en-US" dirty="0"/>
              <a:t>insert "bear" (h1 = 1, h2 = 4): try 1 – open!</a:t>
            </a:r>
          </a:p>
          <a:p>
            <a:pPr lvl="1">
              <a:spcBef>
                <a:spcPts val="500"/>
              </a:spcBef>
            </a:pPr>
            <a:r>
              <a:rPr lang="en-US" altLang="en-US" dirty="0"/>
              <a:t>insert "bison" (h1 = 1, h2 = 5):</a:t>
            </a:r>
            <a:br>
              <a:rPr lang="en-US" altLang="en-US" dirty="0"/>
            </a:br>
            <a:r>
              <a:rPr lang="en-US" altLang="en-US" dirty="0"/>
              <a:t>try 1, (1 + 5) % 26 – open!</a:t>
            </a:r>
          </a:p>
          <a:p>
            <a:pPr lvl="1">
              <a:spcBef>
                <a:spcPts val="500"/>
              </a:spcBef>
            </a:pPr>
            <a:r>
              <a:rPr lang="en-US" altLang="en-US" dirty="0"/>
              <a:t>insert "cow" (h1 = 2, h2 = 3):</a:t>
            </a:r>
            <a:br>
              <a:rPr lang="en-US" altLang="en-US" dirty="0"/>
            </a:br>
            <a:r>
              <a:rPr lang="en-US" altLang="en-US" dirty="0"/>
              <a:t>try 2, (2 + 3) % 26, (2 + 2*3) % 26 – open!</a:t>
            </a:r>
          </a:p>
          <a:p>
            <a:pPr lvl="1">
              <a:spcBef>
                <a:spcPts val="500"/>
              </a:spcBef>
            </a:pPr>
            <a:r>
              <a:rPr lang="en-US" altLang="en-US" dirty="0"/>
              <a:t>delete "emu" (h1 = 4, h2 = 3):</a:t>
            </a:r>
            <a:br>
              <a:rPr lang="en-US" altLang="en-US" dirty="0"/>
            </a:br>
            <a:r>
              <a:rPr lang="en-US" altLang="en-US" dirty="0"/>
              <a:t>try 4 – found! make it a removed cell</a:t>
            </a:r>
          </a:p>
          <a:p>
            <a:pPr lvl="1">
              <a:spcBef>
                <a:spcPts val="500"/>
              </a:spcBef>
            </a:pPr>
            <a:r>
              <a:rPr lang="en-US" altLang="en-US" dirty="0"/>
              <a:t>search "eel"</a:t>
            </a:r>
          </a:p>
          <a:p>
            <a:pPr lvl="1">
              <a:spcBef>
                <a:spcPts val="500"/>
              </a:spcBef>
            </a:pPr>
            <a:endParaRPr lang="en-US" altLang="en-US" dirty="0"/>
          </a:p>
          <a:p>
            <a:pPr marL="457200" lvl="1" indent="0">
              <a:spcBef>
                <a:spcPts val="500"/>
              </a:spcBef>
              <a:buNone/>
            </a:pPr>
            <a:endParaRPr lang="en-US" altLang="en-US" dirty="0"/>
          </a:p>
        </p:txBody>
      </p:sp>
      <p:graphicFrame>
        <p:nvGraphicFramePr>
          <p:cNvPr id="3274756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4652631"/>
              </p:ext>
            </p:extLst>
          </p:nvPr>
        </p:nvGraphicFramePr>
        <p:xfrm>
          <a:off x="5980113" y="1192213"/>
          <a:ext cx="2097087" cy="3687794"/>
        </p:xfrm>
        <a:graphic>
          <a:graphicData uri="http://schemas.openxmlformats.org/drawingml/2006/table">
            <a:tbl>
              <a:tblPr/>
              <a:tblGrid>
                <a:gridCol w="105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6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0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"ant"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Lucida Console" pitchFamily="49" charset="0"/>
                        </a:rPr>
                        <a:t>"bear"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"cat"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3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4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5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"fox"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6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Lucida Console" pitchFamily="49" charset="0"/>
                        </a:rPr>
                        <a:t>"bison"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7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8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Lucida Console" pitchFamily="49" charset="0"/>
                        </a:rPr>
                        <a:t>"cow"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9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10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8231708"/>
      </p:ext>
    </p:extLst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Tracing Through Some Examples</a:t>
            </a:r>
          </a:p>
        </p:txBody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802687" cy="5614988"/>
          </a:xfrm>
        </p:spPr>
        <p:txBody>
          <a:bodyPr/>
          <a:lstStyle/>
          <a:p>
            <a:r>
              <a:rPr lang="en-US" altLang="en-US" dirty="0"/>
              <a:t>Start with the </a:t>
            </a:r>
            <a:r>
              <a:rPr lang="en-US" altLang="en-US" dirty="0" err="1"/>
              <a:t>hashtable</a:t>
            </a:r>
            <a:r>
              <a:rPr lang="en-US" altLang="en-US" dirty="0"/>
              <a:t> at right with:</a:t>
            </a:r>
          </a:p>
          <a:p>
            <a:pPr lvl="1"/>
            <a:r>
              <a:rPr lang="en-US" altLang="en-US" dirty="0"/>
              <a:t>double hashing</a:t>
            </a:r>
          </a:p>
          <a:p>
            <a:pPr lvl="1"/>
            <a:r>
              <a:rPr lang="en-US" altLang="en-US" dirty="0"/>
              <a:t>our earlier hash functions h1 and h2</a:t>
            </a:r>
          </a:p>
          <a:p>
            <a:pPr>
              <a:spcBef>
                <a:spcPts val="2400"/>
              </a:spcBef>
            </a:pPr>
            <a:r>
              <a:rPr lang="en-US" altLang="en-US" dirty="0"/>
              <a:t>Perform the following operations:</a:t>
            </a:r>
          </a:p>
          <a:p>
            <a:pPr lvl="1">
              <a:spcBef>
                <a:spcPts val="500"/>
              </a:spcBef>
            </a:pPr>
            <a:r>
              <a:rPr lang="en-US" altLang="en-US" dirty="0"/>
              <a:t>insert "bear" (h1 = 1, h2 = 4): try 1 – open!</a:t>
            </a:r>
          </a:p>
          <a:p>
            <a:pPr lvl="1">
              <a:spcBef>
                <a:spcPts val="500"/>
              </a:spcBef>
            </a:pPr>
            <a:r>
              <a:rPr lang="en-US" altLang="en-US" dirty="0"/>
              <a:t>insert "bison" (h1 = 1, h2 = 5):</a:t>
            </a:r>
            <a:br>
              <a:rPr lang="en-US" altLang="en-US" dirty="0"/>
            </a:br>
            <a:r>
              <a:rPr lang="en-US" altLang="en-US" dirty="0"/>
              <a:t>try 1, (1 + 5) % 26 – open!</a:t>
            </a:r>
          </a:p>
          <a:p>
            <a:pPr lvl="1">
              <a:spcBef>
                <a:spcPts val="500"/>
              </a:spcBef>
            </a:pPr>
            <a:r>
              <a:rPr lang="en-US" altLang="en-US" dirty="0"/>
              <a:t>insert "cow" (h1 = 2, h2 = 3):</a:t>
            </a:r>
            <a:br>
              <a:rPr lang="en-US" altLang="en-US" dirty="0"/>
            </a:br>
            <a:r>
              <a:rPr lang="en-US" altLang="en-US" dirty="0"/>
              <a:t>try 2, (2 + 3) % 26, (2 + 2*3) % 26 – open!</a:t>
            </a:r>
          </a:p>
          <a:p>
            <a:pPr lvl="1">
              <a:spcBef>
                <a:spcPts val="500"/>
              </a:spcBef>
            </a:pPr>
            <a:r>
              <a:rPr lang="en-US" altLang="en-US" dirty="0"/>
              <a:t>delete "emu" (h1 = 4, h2 = 3):</a:t>
            </a:r>
            <a:br>
              <a:rPr lang="en-US" altLang="en-US" dirty="0"/>
            </a:br>
            <a:r>
              <a:rPr lang="en-US" altLang="en-US" dirty="0"/>
              <a:t>try 4 – found! make it a removed cell</a:t>
            </a:r>
          </a:p>
          <a:p>
            <a:pPr lvl="1">
              <a:spcBef>
                <a:spcPts val="500"/>
              </a:spcBef>
            </a:pPr>
            <a:r>
              <a:rPr lang="en-US" altLang="en-US" dirty="0"/>
              <a:t>search "eel" </a:t>
            </a:r>
            <a:r>
              <a:rPr lang="en-US" altLang="en-US" dirty="0">
                <a:solidFill>
                  <a:srgbClr val="0000FF"/>
                </a:solidFill>
              </a:rPr>
              <a:t>(h1 = 4, h2 = 3):</a:t>
            </a:r>
          </a:p>
          <a:p>
            <a:pPr lvl="1">
              <a:spcBef>
                <a:spcPts val="500"/>
              </a:spcBef>
            </a:pPr>
            <a:endParaRPr lang="en-US" altLang="en-US" dirty="0"/>
          </a:p>
          <a:p>
            <a:pPr marL="457200" lvl="1" indent="0">
              <a:spcBef>
                <a:spcPts val="500"/>
              </a:spcBef>
              <a:buNone/>
            </a:pPr>
            <a:endParaRPr lang="en-US" altLang="en-US" dirty="0"/>
          </a:p>
        </p:txBody>
      </p:sp>
      <p:graphicFrame>
        <p:nvGraphicFramePr>
          <p:cNvPr id="3274756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4652631"/>
              </p:ext>
            </p:extLst>
          </p:nvPr>
        </p:nvGraphicFramePr>
        <p:xfrm>
          <a:off x="5980113" y="1192213"/>
          <a:ext cx="2097087" cy="3687794"/>
        </p:xfrm>
        <a:graphic>
          <a:graphicData uri="http://schemas.openxmlformats.org/drawingml/2006/table">
            <a:tbl>
              <a:tblPr/>
              <a:tblGrid>
                <a:gridCol w="105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6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0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"ant"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Lucida Console" pitchFamily="49" charset="0"/>
                        </a:rPr>
                        <a:t>"bear"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"cat"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3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4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5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"fox"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6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Lucida Console" pitchFamily="49" charset="0"/>
                        </a:rPr>
                        <a:t>"bison"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7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8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Lucida Console" pitchFamily="49" charset="0"/>
                        </a:rPr>
                        <a:t>"cow"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9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10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35200200"/>
      </p:ext>
    </p:extLst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Tracing Through Some Examples</a:t>
            </a:r>
          </a:p>
        </p:txBody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802687" cy="5614988"/>
          </a:xfrm>
        </p:spPr>
        <p:txBody>
          <a:bodyPr/>
          <a:lstStyle/>
          <a:p>
            <a:r>
              <a:rPr lang="en-US" altLang="en-US" dirty="0"/>
              <a:t>Start with the </a:t>
            </a:r>
            <a:r>
              <a:rPr lang="en-US" altLang="en-US" dirty="0" err="1"/>
              <a:t>hashtable</a:t>
            </a:r>
            <a:r>
              <a:rPr lang="en-US" altLang="en-US" dirty="0"/>
              <a:t> at right with:</a:t>
            </a:r>
          </a:p>
          <a:p>
            <a:pPr lvl="1"/>
            <a:r>
              <a:rPr lang="en-US" altLang="en-US" dirty="0"/>
              <a:t>double hashing</a:t>
            </a:r>
          </a:p>
          <a:p>
            <a:pPr lvl="1"/>
            <a:r>
              <a:rPr lang="en-US" altLang="en-US" dirty="0"/>
              <a:t>our earlier hash functions h1 and h2</a:t>
            </a:r>
          </a:p>
          <a:p>
            <a:pPr>
              <a:spcBef>
                <a:spcPts val="2400"/>
              </a:spcBef>
            </a:pPr>
            <a:r>
              <a:rPr lang="en-US" altLang="en-US" dirty="0"/>
              <a:t>Perform the following operations:</a:t>
            </a:r>
          </a:p>
          <a:p>
            <a:pPr lvl="1">
              <a:spcBef>
                <a:spcPts val="500"/>
              </a:spcBef>
            </a:pPr>
            <a:r>
              <a:rPr lang="en-US" altLang="en-US" dirty="0"/>
              <a:t>insert "bear" (h1 = 1, h2 = 4): try 1 – open!</a:t>
            </a:r>
          </a:p>
          <a:p>
            <a:pPr lvl="1">
              <a:spcBef>
                <a:spcPts val="500"/>
              </a:spcBef>
            </a:pPr>
            <a:r>
              <a:rPr lang="en-US" altLang="en-US" dirty="0"/>
              <a:t>insert "bison" (h1 = 1, h2 = 5):</a:t>
            </a:r>
            <a:br>
              <a:rPr lang="en-US" altLang="en-US" dirty="0"/>
            </a:br>
            <a:r>
              <a:rPr lang="en-US" altLang="en-US" dirty="0"/>
              <a:t>try 1, (1 + 5) % 26 – open!</a:t>
            </a:r>
          </a:p>
          <a:p>
            <a:pPr lvl="1">
              <a:spcBef>
                <a:spcPts val="500"/>
              </a:spcBef>
            </a:pPr>
            <a:r>
              <a:rPr lang="en-US" altLang="en-US" dirty="0"/>
              <a:t>insert "cow" (h1 = 2, h2 = 3):</a:t>
            </a:r>
            <a:br>
              <a:rPr lang="en-US" altLang="en-US" dirty="0"/>
            </a:br>
            <a:r>
              <a:rPr lang="en-US" altLang="en-US" dirty="0"/>
              <a:t>try 2, (2 + 3) % 26, (2 + 2*3) % 26 – open!</a:t>
            </a:r>
          </a:p>
          <a:p>
            <a:pPr lvl="1">
              <a:spcBef>
                <a:spcPts val="500"/>
              </a:spcBef>
            </a:pPr>
            <a:r>
              <a:rPr lang="en-US" altLang="en-US" dirty="0"/>
              <a:t>delete "emu" (h1 = 4, h2 = 3):</a:t>
            </a:r>
            <a:br>
              <a:rPr lang="en-US" altLang="en-US" dirty="0"/>
            </a:br>
            <a:r>
              <a:rPr lang="en-US" altLang="en-US" dirty="0"/>
              <a:t>try 4 – found! make it a removed cell</a:t>
            </a:r>
          </a:p>
          <a:p>
            <a:pPr lvl="1">
              <a:spcBef>
                <a:spcPts val="500"/>
              </a:spcBef>
            </a:pPr>
            <a:r>
              <a:rPr lang="en-US" altLang="en-US" dirty="0"/>
              <a:t>search "eel" </a:t>
            </a:r>
            <a:r>
              <a:rPr lang="en-US" altLang="en-US" dirty="0">
                <a:solidFill>
                  <a:srgbClr val="0000FF"/>
                </a:solidFill>
              </a:rPr>
              <a:t>(h1 = 4, h2 = 3):</a:t>
            </a:r>
            <a:br>
              <a:rPr lang="en-US" altLang="en-US" dirty="0">
                <a:solidFill>
                  <a:srgbClr val="0000FF"/>
                </a:solidFill>
              </a:rPr>
            </a:br>
            <a:r>
              <a:rPr lang="en-US" altLang="en-US" b="1" dirty="0">
                <a:solidFill>
                  <a:srgbClr val="0000FF"/>
                </a:solidFill>
              </a:rPr>
              <a:t>try 4</a:t>
            </a:r>
          </a:p>
          <a:p>
            <a:pPr lvl="1">
              <a:spcBef>
                <a:spcPts val="500"/>
              </a:spcBef>
            </a:pPr>
            <a:endParaRPr lang="en-US" altLang="en-US" dirty="0"/>
          </a:p>
          <a:p>
            <a:pPr marL="457200" lvl="1" indent="0">
              <a:spcBef>
                <a:spcPts val="500"/>
              </a:spcBef>
              <a:buNone/>
            </a:pPr>
            <a:endParaRPr lang="en-US" altLang="en-US" dirty="0"/>
          </a:p>
        </p:txBody>
      </p:sp>
      <p:graphicFrame>
        <p:nvGraphicFramePr>
          <p:cNvPr id="3274756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4652631"/>
              </p:ext>
            </p:extLst>
          </p:nvPr>
        </p:nvGraphicFramePr>
        <p:xfrm>
          <a:off x="5980113" y="1192213"/>
          <a:ext cx="2097087" cy="3687794"/>
        </p:xfrm>
        <a:graphic>
          <a:graphicData uri="http://schemas.openxmlformats.org/drawingml/2006/table">
            <a:tbl>
              <a:tblPr/>
              <a:tblGrid>
                <a:gridCol w="105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6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0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"ant"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Lucida Console" pitchFamily="49" charset="0"/>
                        </a:rPr>
                        <a:t>"bear"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"cat"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3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4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5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"fox"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6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Lucida Console" pitchFamily="49" charset="0"/>
                        </a:rPr>
                        <a:t>"bison"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7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8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Lucida Console" pitchFamily="49" charset="0"/>
                        </a:rPr>
                        <a:t>"cow"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9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10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" name="Rectangle 48"/>
          <p:cNvSpPr>
            <a:spLocks noChangeArrowheads="1"/>
          </p:cNvSpPr>
          <p:nvPr/>
        </p:nvSpPr>
        <p:spPr bwMode="auto">
          <a:xfrm>
            <a:off x="7056028" y="2557837"/>
            <a:ext cx="995363" cy="280987"/>
          </a:xfrm>
          <a:prstGeom prst="rect">
            <a:avLst/>
          </a:prstGeom>
          <a:noFill/>
          <a:ln w="38100" algn="ctr">
            <a:solidFill>
              <a:srgbClr val="CC0099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>
              <a:spcBef>
                <a:spcPts val="1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 algn="l">
              <a:spcBef>
                <a:spcPts val="525"/>
              </a:spcBef>
              <a:buClr>
                <a:srgbClr val="000000"/>
              </a:buClr>
              <a:buSzPct val="10000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Helvetica" panose="020B0604020202020204" pitchFamily="34" charset="0"/>
              <a:buChar char="–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09268628"/>
      </p:ext>
    </p:extLst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Tracing Through Some Examples</a:t>
            </a:r>
          </a:p>
        </p:txBody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802687" cy="5614988"/>
          </a:xfrm>
        </p:spPr>
        <p:txBody>
          <a:bodyPr/>
          <a:lstStyle/>
          <a:p>
            <a:r>
              <a:rPr lang="en-US" altLang="en-US" dirty="0"/>
              <a:t>Start with the </a:t>
            </a:r>
            <a:r>
              <a:rPr lang="en-US" altLang="en-US" dirty="0" err="1"/>
              <a:t>hashtable</a:t>
            </a:r>
            <a:r>
              <a:rPr lang="en-US" altLang="en-US" dirty="0"/>
              <a:t> at right with:</a:t>
            </a:r>
          </a:p>
          <a:p>
            <a:pPr lvl="1"/>
            <a:r>
              <a:rPr lang="en-US" altLang="en-US" dirty="0"/>
              <a:t>double hashing</a:t>
            </a:r>
          </a:p>
          <a:p>
            <a:pPr lvl="1"/>
            <a:r>
              <a:rPr lang="en-US" altLang="en-US" dirty="0"/>
              <a:t>our earlier hash functions h1 and h2</a:t>
            </a:r>
          </a:p>
          <a:p>
            <a:pPr>
              <a:spcBef>
                <a:spcPts val="2400"/>
              </a:spcBef>
            </a:pPr>
            <a:r>
              <a:rPr lang="en-US" altLang="en-US" dirty="0"/>
              <a:t>Perform the following operations:</a:t>
            </a:r>
          </a:p>
          <a:p>
            <a:pPr lvl="1">
              <a:spcBef>
                <a:spcPts val="500"/>
              </a:spcBef>
            </a:pPr>
            <a:r>
              <a:rPr lang="en-US" altLang="en-US" dirty="0"/>
              <a:t>insert "bear" (h1 = 1, h2 = 4): try 1 – open!</a:t>
            </a:r>
          </a:p>
          <a:p>
            <a:pPr lvl="1">
              <a:spcBef>
                <a:spcPts val="500"/>
              </a:spcBef>
            </a:pPr>
            <a:r>
              <a:rPr lang="en-US" altLang="en-US" dirty="0"/>
              <a:t>insert "bison" (h1 = 1, h2 = 5):</a:t>
            </a:r>
            <a:br>
              <a:rPr lang="en-US" altLang="en-US" dirty="0"/>
            </a:br>
            <a:r>
              <a:rPr lang="en-US" altLang="en-US" dirty="0"/>
              <a:t>try 1, (1 + 5) % 26 – open!</a:t>
            </a:r>
          </a:p>
          <a:p>
            <a:pPr lvl="1">
              <a:spcBef>
                <a:spcPts val="500"/>
              </a:spcBef>
            </a:pPr>
            <a:r>
              <a:rPr lang="en-US" altLang="en-US" dirty="0"/>
              <a:t>insert "cow" (h1 = 2, h2 = 3):</a:t>
            </a:r>
            <a:br>
              <a:rPr lang="en-US" altLang="en-US" dirty="0"/>
            </a:br>
            <a:r>
              <a:rPr lang="en-US" altLang="en-US" dirty="0"/>
              <a:t>try 2, (2 + 3) % 26, (2 + 2*3) % 26 – open!</a:t>
            </a:r>
          </a:p>
          <a:p>
            <a:pPr lvl="1">
              <a:spcBef>
                <a:spcPts val="500"/>
              </a:spcBef>
            </a:pPr>
            <a:r>
              <a:rPr lang="en-US" altLang="en-US" dirty="0"/>
              <a:t>delete "emu" (h1 = 4, h2 = 3):</a:t>
            </a:r>
            <a:br>
              <a:rPr lang="en-US" altLang="en-US" dirty="0"/>
            </a:br>
            <a:r>
              <a:rPr lang="en-US" altLang="en-US" dirty="0"/>
              <a:t>try 4 – found! make it a removed cell</a:t>
            </a:r>
          </a:p>
          <a:p>
            <a:pPr lvl="1">
              <a:spcBef>
                <a:spcPts val="500"/>
              </a:spcBef>
            </a:pPr>
            <a:r>
              <a:rPr lang="en-US" altLang="en-US" dirty="0"/>
              <a:t>search "eel" </a:t>
            </a:r>
            <a:r>
              <a:rPr lang="en-US" altLang="en-US" dirty="0">
                <a:solidFill>
                  <a:srgbClr val="0000FF"/>
                </a:solidFill>
              </a:rPr>
              <a:t>(h1 = 4, h2 = 3):</a:t>
            </a:r>
            <a:br>
              <a:rPr lang="en-US" altLang="en-US" dirty="0">
                <a:solidFill>
                  <a:srgbClr val="0000FF"/>
                </a:solidFill>
              </a:rPr>
            </a:br>
            <a:r>
              <a:rPr lang="en-US" altLang="en-US" b="1" dirty="0">
                <a:solidFill>
                  <a:srgbClr val="0000FF"/>
                </a:solidFill>
              </a:rPr>
              <a:t>try 4 (can't stop at removed)</a:t>
            </a:r>
          </a:p>
          <a:p>
            <a:pPr lvl="1">
              <a:spcBef>
                <a:spcPts val="500"/>
              </a:spcBef>
            </a:pPr>
            <a:endParaRPr lang="en-US" altLang="en-US" dirty="0"/>
          </a:p>
          <a:p>
            <a:pPr marL="457200" lvl="1" indent="0">
              <a:spcBef>
                <a:spcPts val="500"/>
              </a:spcBef>
              <a:buNone/>
            </a:pPr>
            <a:endParaRPr lang="en-US" altLang="en-US" dirty="0"/>
          </a:p>
        </p:txBody>
      </p:sp>
      <p:graphicFrame>
        <p:nvGraphicFramePr>
          <p:cNvPr id="3274756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4652631"/>
              </p:ext>
            </p:extLst>
          </p:nvPr>
        </p:nvGraphicFramePr>
        <p:xfrm>
          <a:off x="5980113" y="1192213"/>
          <a:ext cx="2097087" cy="3687794"/>
        </p:xfrm>
        <a:graphic>
          <a:graphicData uri="http://schemas.openxmlformats.org/drawingml/2006/table">
            <a:tbl>
              <a:tblPr/>
              <a:tblGrid>
                <a:gridCol w="105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6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0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"ant"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Lucida Console" pitchFamily="49" charset="0"/>
                        </a:rPr>
                        <a:t>"bear"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"cat"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3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4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5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"fox"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6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Lucida Console" pitchFamily="49" charset="0"/>
                        </a:rPr>
                        <a:t>"bison"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7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8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Lucida Console" pitchFamily="49" charset="0"/>
                        </a:rPr>
                        <a:t>"cow"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9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10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" name="Rectangle 48"/>
          <p:cNvSpPr>
            <a:spLocks noChangeArrowheads="1"/>
          </p:cNvSpPr>
          <p:nvPr/>
        </p:nvSpPr>
        <p:spPr bwMode="auto">
          <a:xfrm>
            <a:off x="7056028" y="2557837"/>
            <a:ext cx="995363" cy="280987"/>
          </a:xfrm>
          <a:prstGeom prst="rect">
            <a:avLst/>
          </a:prstGeom>
          <a:noFill/>
          <a:ln w="38100" algn="ctr">
            <a:solidFill>
              <a:srgbClr val="CC0099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>
              <a:spcBef>
                <a:spcPts val="1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 algn="l">
              <a:spcBef>
                <a:spcPts val="525"/>
              </a:spcBef>
              <a:buClr>
                <a:srgbClr val="000000"/>
              </a:buClr>
              <a:buSzPct val="10000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Helvetica" panose="020B0604020202020204" pitchFamily="34" charset="0"/>
              <a:buChar char="–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4805769"/>
      </p:ext>
    </p:extLst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Tracing Through Some Examples</a:t>
            </a:r>
          </a:p>
        </p:txBody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802687" cy="5614988"/>
          </a:xfrm>
        </p:spPr>
        <p:txBody>
          <a:bodyPr/>
          <a:lstStyle/>
          <a:p>
            <a:r>
              <a:rPr lang="en-US" altLang="en-US" dirty="0"/>
              <a:t>Start with the </a:t>
            </a:r>
            <a:r>
              <a:rPr lang="en-US" altLang="en-US" dirty="0" err="1"/>
              <a:t>hashtable</a:t>
            </a:r>
            <a:r>
              <a:rPr lang="en-US" altLang="en-US" dirty="0"/>
              <a:t> at right with:</a:t>
            </a:r>
          </a:p>
          <a:p>
            <a:pPr lvl="1"/>
            <a:r>
              <a:rPr lang="en-US" altLang="en-US" dirty="0"/>
              <a:t>double hashing</a:t>
            </a:r>
          </a:p>
          <a:p>
            <a:pPr lvl="1"/>
            <a:r>
              <a:rPr lang="en-US" altLang="en-US" dirty="0"/>
              <a:t>our earlier hash functions h1 and h2</a:t>
            </a:r>
          </a:p>
          <a:p>
            <a:pPr>
              <a:spcBef>
                <a:spcPts val="2400"/>
              </a:spcBef>
            </a:pPr>
            <a:r>
              <a:rPr lang="en-US" altLang="en-US" dirty="0"/>
              <a:t>Perform the following operations:</a:t>
            </a:r>
          </a:p>
          <a:p>
            <a:pPr lvl="1">
              <a:spcBef>
                <a:spcPts val="500"/>
              </a:spcBef>
            </a:pPr>
            <a:r>
              <a:rPr lang="en-US" altLang="en-US" dirty="0"/>
              <a:t>insert "bear" (h1 = 1, h2 = 4): try 1 – open!</a:t>
            </a:r>
          </a:p>
          <a:p>
            <a:pPr lvl="1">
              <a:spcBef>
                <a:spcPts val="500"/>
              </a:spcBef>
            </a:pPr>
            <a:r>
              <a:rPr lang="en-US" altLang="en-US" dirty="0"/>
              <a:t>insert "bison" (h1 = 1, h2 = 5):</a:t>
            </a:r>
            <a:br>
              <a:rPr lang="en-US" altLang="en-US" dirty="0"/>
            </a:br>
            <a:r>
              <a:rPr lang="en-US" altLang="en-US" dirty="0"/>
              <a:t>try 1, (1 + 5) % 26 – open!</a:t>
            </a:r>
          </a:p>
          <a:p>
            <a:pPr lvl="1">
              <a:spcBef>
                <a:spcPts val="500"/>
              </a:spcBef>
            </a:pPr>
            <a:r>
              <a:rPr lang="en-US" altLang="en-US" dirty="0"/>
              <a:t>insert "cow" (h1 = 2, h2 = 3):</a:t>
            </a:r>
            <a:br>
              <a:rPr lang="en-US" altLang="en-US" dirty="0"/>
            </a:br>
            <a:r>
              <a:rPr lang="en-US" altLang="en-US" dirty="0"/>
              <a:t>try 2, (2 + 3) % 26, (2 + 2*3) % 26 – open!</a:t>
            </a:r>
          </a:p>
          <a:p>
            <a:pPr lvl="1">
              <a:spcBef>
                <a:spcPts val="500"/>
              </a:spcBef>
            </a:pPr>
            <a:r>
              <a:rPr lang="en-US" altLang="en-US" dirty="0"/>
              <a:t>delete "emu" (h1 = 4, h2 = 3):</a:t>
            </a:r>
            <a:br>
              <a:rPr lang="en-US" altLang="en-US" dirty="0"/>
            </a:br>
            <a:r>
              <a:rPr lang="en-US" altLang="en-US" dirty="0"/>
              <a:t>try 4 – found! make it a removed cell</a:t>
            </a:r>
          </a:p>
          <a:p>
            <a:pPr lvl="1">
              <a:spcBef>
                <a:spcPts val="500"/>
              </a:spcBef>
            </a:pPr>
            <a:r>
              <a:rPr lang="en-US" altLang="en-US" dirty="0"/>
              <a:t>search "eel" </a:t>
            </a:r>
            <a:r>
              <a:rPr lang="en-US" altLang="en-US" dirty="0">
                <a:solidFill>
                  <a:srgbClr val="0000FF"/>
                </a:solidFill>
              </a:rPr>
              <a:t>(h1 = 4, h2 = 3):</a:t>
            </a:r>
            <a:br>
              <a:rPr lang="en-US" altLang="en-US" dirty="0">
                <a:solidFill>
                  <a:srgbClr val="0000FF"/>
                </a:solidFill>
              </a:rPr>
            </a:br>
            <a:r>
              <a:rPr lang="en-US" altLang="en-US" dirty="0">
                <a:solidFill>
                  <a:srgbClr val="0000FF"/>
                </a:solidFill>
              </a:rPr>
              <a:t>try 4 (can't stop at removed), </a:t>
            </a:r>
            <a:r>
              <a:rPr lang="en-US" altLang="en-US" b="1" dirty="0">
                <a:solidFill>
                  <a:srgbClr val="0000FF"/>
                </a:solidFill>
              </a:rPr>
              <a:t>(4 + 3)</a:t>
            </a:r>
            <a:r>
              <a:rPr lang="en-US" altLang="en-US" sz="1000" b="1" dirty="0">
                <a:solidFill>
                  <a:srgbClr val="0000FF"/>
                </a:solidFill>
              </a:rPr>
              <a:t> </a:t>
            </a:r>
            <a:r>
              <a:rPr lang="en-US" altLang="en-US" b="1" dirty="0">
                <a:solidFill>
                  <a:srgbClr val="0000FF"/>
                </a:solidFill>
              </a:rPr>
              <a:t>%</a:t>
            </a:r>
            <a:r>
              <a:rPr lang="en-US" altLang="en-US" sz="1000" b="1" dirty="0">
                <a:solidFill>
                  <a:srgbClr val="0000FF"/>
                </a:solidFill>
              </a:rPr>
              <a:t> </a:t>
            </a:r>
            <a:r>
              <a:rPr lang="en-US" altLang="en-US" b="1" dirty="0">
                <a:solidFill>
                  <a:srgbClr val="0000FF"/>
                </a:solidFill>
              </a:rPr>
              <a:t>26</a:t>
            </a:r>
          </a:p>
          <a:p>
            <a:pPr lvl="1">
              <a:spcBef>
                <a:spcPts val="500"/>
              </a:spcBef>
            </a:pPr>
            <a:endParaRPr lang="en-US" altLang="en-US" dirty="0"/>
          </a:p>
          <a:p>
            <a:pPr marL="457200" lvl="1" indent="0">
              <a:spcBef>
                <a:spcPts val="500"/>
              </a:spcBef>
              <a:buNone/>
            </a:pPr>
            <a:endParaRPr lang="en-US" altLang="en-US" dirty="0"/>
          </a:p>
        </p:txBody>
      </p:sp>
      <p:graphicFrame>
        <p:nvGraphicFramePr>
          <p:cNvPr id="3274756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4652631"/>
              </p:ext>
            </p:extLst>
          </p:nvPr>
        </p:nvGraphicFramePr>
        <p:xfrm>
          <a:off x="5980113" y="1192213"/>
          <a:ext cx="2097087" cy="3687794"/>
        </p:xfrm>
        <a:graphic>
          <a:graphicData uri="http://schemas.openxmlformats.org/drawingml/2006/table">
            <a:tbl>
              <a:tblPr/>
              <a:tblGrid>
                <a:gridCol w="105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6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0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"ant"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Lucida Console" pitchFamily="49" charset="0"/>
                        </a:rPr>
                        <a:t>"bear"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"cat"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3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4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5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"fox"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6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Lucida Console" pitchFamily="49" charset="0"/>
                        </a:rPr>
                        <a:t>"bison"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7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8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Lucida Console" pitchFamily="49" charset="0"/>
                        </a:rPr>
                        <a:t>"cow"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9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10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" name="Rectangle 48"/>
          <p:cNvSpPr>
            <a:spLocks noChangeArrowheads="1"/>
          </p:cNvSpPr>
          <p:nvPr/>
        </p:nvSpPr>
        <p:spPr bwMode="auto">
          <a:xfrm>
            <a:off x="7056028" y="3567932"/>
            <a:ext cx="995363" cy="280987"/>
          </a:xfrm>
          <a:prstGeom prst="rect">
            <a:avLst/>
          </a:prstGeom>
          <a:noFill/>
          <a:ln w="38100" algn="ctr">
            <a:solidFill>
              <a:srgbClr val="CC0099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>
              <a:spcBef>
                <a:spcPts val="1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 algn="l">
              <a:spcBef>
                <a:spcPts val="525"/>
              </a:spcBef>
              <a:buClr>
                <a:srgbClr val="000000"/>
              </a:buClr>
              <a:buSzPct val="10000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Helvetica" panose="020B0604020202020204" pitchFamily="34" charset="0"/>
              <a:buChar char="–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94420624"/>
      </p:ext>
    </p:extLst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Tracing Through Some Examples</a:t>
            </a:r>
          </a:p>
        </p:txBody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994073" cy="5614988"/>
          </a:xfrm>
        </p:spPr>
        <p:txBody>
          <a:bodyPr/>
          <a:lstStyle/>
          <a:p>
            <a:r>
              <a:rPr lang="en-US" altLang="en-US" dirty="0"/>
              <a:t>Start with the </a:t>
            </a:r>
            <a:r>
              <a:rPr lang="en-US" altLang="en-US" dirty="0" err="1"/>
              <a:t>hashtable</a:t>
            </a:r>
            <a:r>
              <a:rPr lang="en-US" altLang="en-US" dirty="0"/>
              <a:t> at right with:</a:t>
            </a:r>
          </a:p>
          <a:p>
            <a:pPr lvl="1"/>
            <a:r>
              <a:rPr lang="en-US" altLang="en-US" dirty="0"/>
              <a:t>double hashing</a:t>
            </a:r>
          </a:p>
          <a:p>
            <a:pPr lvl="1"/>
            <a:r>
              <a:rPr lang="en-US" altLang="en-US" dirty="0"/>
              <a:t>our earlier hash functions h1 and h2</a:t>
            </a:r>
          </a:p>
          <a:p>
            <a:pPr>
              <a:spcBef>
                <a:spcPts val="2400"/>
              </a:spcBef>
            </a:pPr>
            <a:r>
              <a:rPr lang="en-US" altLang="en-US" dirty="0"/>
              <a:t>Perform the following operations:</a:t>
            </a:r>
          </a:p>
          <a:p>
            <a:pPr lvl="1">
              <a:spcBef>
                <a:spcPts val="500"/>
              </a:spcBef>
            </a:pPr>
            <a:r>
              <a:rPr lang="en-US" altLang="en-US" dirty="0"/>
              <a:t>insert "bear" (h1 = 1, h2 = 4): try 1 – open!</a:t>
            </a:r>
          </a:p>
          <a:p>
            <a:pPr lvl="1">
              <a:spcBef>
                <a:spcPts val="500"/>
              </a:spcBef>
            </a:pPr>
            <a:r>
              <a:rPr lang="en-US" altLang="en-US" dirty="0"/>
              <a:t>insert "bison" (h1 = 1, h2 = 5):</a:t>
            </a:r>
            <a:br>
              <a:rPr lang="en-US" altLang="en-US" dirty="0"/>
            </a:br>
            <a:r>
              <a:rPr lang="en-US" altLang="en-US" dirty="0"/>
              <a:t>try 1, (1 + 5) % 26 – open!</a:t>
            </a:r>
          </a:p>
          <a:p>
            <a:pPr lvl="1">
              <a:spcBef>
                <a:spcPts val="500"/>
              </a:spcBef>
            </a:pPr>
            <a:r>
              <a:rPr lang="en-US" altLang="en-US" dirty="0"/>
              <a:t>insert "cow" (h1 = 2, h2 = 3):</a:t>
            </a:r>
            <a:br>
              <a:rPr lang="en-US" altLang="en-US" dirty="0"/>
            </a:br>
            <a:r>
              <a:rPr lang="en-US" altLang="en-US" dirty="0"/>
              <a:t>try 2, (2 + 3) % 26, (2 + 2*3) % 26 – open!</a:t>
            </a:r>
          </a:p>
          <a:p>
            <a:pPr lvl="1">
              <a:spcBef>
                <a:spcPts val="500"/>
              </a:spcBef>
            </a:pPr>
            <a:r>
              <a:rPr lang="en-US" altLang="en-US" dirty="0"/>
              <a:t>delete "emu" (h1 = 4, h2 = 3):</a:t>
            </a:r>
            <a:br>
              <a:rPr lang="en-US" altLang="en-US" dirty="0"/>
            </a:br>
            <a:r>
              <a:rPr lang="en-US" altLang="en-US" dirty="0"/>
              <a:t>try 4 – found! make it a removed cell</a:t>
            </a:r>
          </a:p>
          <a:p>
            <a:pPr lvl="1">
              <a:spcBef>
                <a:spcPts val="500"/>
              </a:spcBef>
            </a:pPr>
            <a:r>
              <a:rPr lang="en-US" altLang="en-US" dirty="0"/>
              <a:t>search "eel" </a:t>
            </a:r>
            <a:r>
              <a:rPr lang="en-US" altLang="en-US" dirty="0">
                <a:solidFill>
                  <a:srgbClr val="0000FF"/>
                </a:solidFill>
              </a:rPr>
              <a:t>(h1 = 4, h2 = 3):</a:t>
            </a:r>
            <a:br>
              <a:rPr lang="en-US" altLang="en-US" dirty="0">
                <a:solidFill>
                  <a:srgbClr val="0000FF"/>
                </a:solidFill>
              </a:rPr>
            </a:br>
            <a:r>
              <a:rPr lang="en-US" altLang="en-US" dirty="0">
                <a:solidFill>
                  <a:srgbClr val="0000FF"/>
                </a:solidFill>
              </a:rPr>
              <a:t>try 4 (can't stop at removed),</a:t>
            </a:r>
            <a:r>
              <a:rPr lang="en-US" altLang="en-US" dirty="0"/>
              <a:t> </a:t>
            </a:r>
            <a:r>
              <a:rPr lang="en-US" altLang="en-US" b="1" dirty="0">
                <a:solidFill>
                  <a:srgbClr val="0000FF"/>
                </a:solidFill>
              </a:rPr>
              <a:t>(4</a:t>
            </a:r>
            <a:r>
              <a:rPr lang="en-US" altLang="en-US" sz="1000" b="1" dirty="0">
                <a:solidFill>
                  <a:srgbClr val="0000FF"/>
                </a:solidFill>
              </a:rPr>
              <a:t> </a:t>
            </a:r>
            <a:r>
              <a:rPr lang="en-US" altLang="en-US" b="1" dirty="0">
                <a:solidFill>
                  <a:srgbClr val="0000FF"/>
                </a:solidFill>
              </a:rPr>
              <a:t>+</a:t>
            </a:r>
            <a:r>
              <a:rPr lang="en-US" altLang="en-US" sz="1000" b="1" dirty="0">
                <a:solidFill>
                  <a:srgbClr val="0000FF"/>
                </a:solidFill>
              </a:rPr>
              <a:t> </a:t>
            </a:r>
            <a:r>
              <a:rPr lang="en-US" altLang="en-US" b="1" dirty="0">
                <a:solidFill>
                  <a:srgbClr val="0000FF"/>
                </a:solidFill>
              </a:rPr>
              <a:t>3)</a:t>
            </a:r>
            <a:r>
              <a:rPr lang="en-US" altLang="en-US" sz="1000" b="1" dirty="0">
                <a:solidFill>
                  <a:srgbClr val="0000FF"/>
                </a:solidFill>
              </a:rPr>
              <a:t> </a:t>
            </a:r>
            <a:r>
              <a:rPr lang="en-US" altLang="en-US" b="1" dirty="0">
                <a:solidFill>
                  <a:srgbClr val="0000FF"/>
                </a:solidFill>
              </a:rPr>
              <a:t>%</a:t>
            </a:r>
            <a:r>
              <a:rPr lang="en-US" altLang="en-US" sz="1000" b="1" dirty="0">
                <a:solidFill>
                  <a:srgbClr val="0000FF"/>
                </a:solidFill>
              </a:rPr>
              <a:t> </a:t>
            </a:r>
            <a:r>
              <a:rPr lang="en-US" altLang="en-US" b="1" dirty="0">
                <a:solidFill>
                  <a:srgbClr val="0000FF"/>
                </a:solidFill>
              </a:rPr>
              <a:t>26</a:t>
            </a:r>
            <a:r>
              <a:rPr lang="en-US" altLang="en-US" sz="1000" b="1" dirty="0">
                <a:solidFill>
                  <a:srgbClr val="0000FF"/>
                </a:solidFill>
              </a:rPr>
              <a:t> </a:t>
            </a:r>
            <a:r>
              <a:rPr lang="en-US" altLang="en-US" b="1" dirty="0">
                <a:solidFill>
                  <a:srgbClr val="0000FF"/>
                </a:solidFill>
              </a:rPr>
              <a:t>–</a:t>
            </a:r>
            <a:r>
              <a:rPr lang="en-US" altLang="en-US" sz="1000" b="1" dirty="0">
                <a:solidFill>
                  <a:srgbClr val="0000FF"/>
                </a:solidFill>
              </a:rPr>
              <a:t> </a:t>
            </a:r>
            <a:r>
              <a:rPr lang="en-US" altLang="en-US" b="1" dirty="0">
                <a:solidFill>
                  <a:srgbClr val="0000FF"/>
                </a:solidFill>
              </a:rPr>
              <a:t>empty, so not found</a:t>
            </a:r>
          </a:p>
          <a:p>
            <a:pPr lvl="1">
              <a:spcBef>
                <a:spcPts val="500"/>
              </a:spcBef>
            </a:pPr>
            <a:endParaRPr lang="en-US" altLang="en-US" dirty="0"/>
          </a:p>
          <a:p>
            <a:pPr marL="457200" lvl="1" indent="0">
              <a:spcBef>
                <a:spcPts val="500"/>
              </a:spcBef>
              <a:buNone/>
            </a:pPr>
            <a:endParaRPr lang="en-US" altLang="en-US" dirty="0"/>
          </a:p>
        </p:txBody>
      </p:sp>
      <p:graphicFrame>
        <p:nvGraphicFramePr>
          <p:cNvPr id="3274756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4652631"/>
              </p:ext>
            </p:extLst>
          </p:nvPr>
        </p:nvGraphicFramePr>
        <p:xfrm>
          <a:off x="5980113" y="1192213"/>
          <a:ext cx="2097087" cy="3687794"/>
        </p:xfrm>
        <a:graphic>
          <a:graphicData uri="http://schemas.openxmlformats.org/drawingml/2006/table">
            <a:tbl>
              <a:tblPr/>
              <a:tblGrid>
                <a:gridCol w="105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6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0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"ant"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Lucida Console" pitchFamily="49" charset="0"/>
                        </a:rPr>
                        <a:t>"bear"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"cat"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3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4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5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"fox"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6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Lucida Console" pitchFamily="49" charset="0"/>
                        </a:rPr>
                        <a:t>"bison"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7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8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Lucida Console" pitchFamily="49" charset="0"/>
                        </a:rPr>
                        <a:t>"cow"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9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10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" name="Rectangle 48"/>
          <p:cNvSpPr>
            <a:spLocks noChangeArrowheads="1"/>
          </p:cNvSpPr>
          <p:nvPr/>
        </p:nvSpPr>
        <p:spPr bwMode="auto">
          <a:xfrm>
            <a:off x="7056028" y="3567932"/>
            <a:ext cx="995363" cy="280987"/>
          </a:xfrm>
          <a:prstGeom prst="rect">
            <a:avLst/>
          </a:prstGeom>
          <a:noFill/>
          <a:ln w="38100" algn="ctr">
            <a:solidFill>
              <a:srgbClr val="CC0099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>
              <a:spcBef>
                <a:spcPts val="1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 algn="l">
              <a:spcBef>
                <a:spcPts val="525"/>
              </a:spcBef>
              <a:buClr>
                <a:srgbClr val="000000"/>
              </a:buClr>
              <a:buSzPct val="10000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Helvetica" panose="020B0604020202020204" pitchFamily="34" charset="0"/>
              <a:buChar char="–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22030755"/>
      </p:ext>
    </p:extLst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Tracing Through Some Examples</a:t>
            </a:r>
          </a:p>
        </p:txBody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802687" cy="5614988"/>
          </a:xfrm>
        </p:spPr>
        <p:txBody>
          <a:bodyPr/>
          <a:lstStyle/>
          <a:p>
            <a:r>
              <a:rPr lang="en-US" altLang="en-US" dirty="0"/>
              <a:t>Start with the </a:t>
            </a:r>
            <a:r>
              <a:rPr lang="en-US" altLang="en-US" dirty="0" err="1"/>
              <a:t>hashtable</a:t>
            </a:r>
            <a:r>
              <a:rPr lang="en-US" altLang="en-US" dirty="0"/>
              <a:t> at right with:</a:t>
            </a:r>
          </a:p>
          <a:p>
            <a:pPr lvl="1"/>
            <a:r>
              <a:rPr lang="en-US" altLang="en-US" dirty="0"/>
              <a:t>double hashing</a:t>
            </a:r>
          </a:p>
          <a:p>
            <a:pPr lvl="1"/>
            <a:r>
              <a:rPr lang="en-US" altLang="en-US" dirty="0"/>
              <a:t>our earlier hash functions h1 and h2</a:t>
            </a:r>
          </a:p>
          <a:p>
            <a:pPr>
              <a:spcBef>
                <a:spcPts val="2400"/>
              </a:spcBef>
            </a:pPr>
            <a:r>
              <a:rPr lang="en-US" altLang="en-US" dirty="0"/>
              <a:t>Perform the following operations:</a:t>
            </a:r>
          </a:p>
          <a:p>
            <a:pPr lvl="1">
              <a:spcBef>
                <a:spcPts val="500"/>
              </a:spcBef>
            </a:pPr>
            <a:r>
              <a:rPr lang="en-US" altLang="en-US" dirty="0"/>
              <a:t>insert "bear" (h1 = 1, h2 = 4): try 1 – open!</a:t>
            </a:r>
          </a:p>
          <a:p>
            <a:pPr lvl="1">
              <a:spcBef>
                <a:spcPts val="500"/>
              </a:spcBef>
            </a:pPr>
            <a:r>
              <a:rPr lang="en-US" altLang="en-US" dirty="0"/>
              <a:t>insert "bison" (h1 = 1, h2 = 5):</a:t>
            </a:r>
            <a:br>
              <a:rPr lang="en-US" altLang="en-US" dirty="0"/>
            </a:br>
            <a:r>
              <a:rPr lang="en-US" altLang="en-US" dirty="0"/>
              <a:t>try 1, (1 + 5) % 26 – open!</a:t>
            </a:r>
          </a:p>
          <a:p>
            <a:pPr lvl="1">
              <a:spcBef>
                <a:spcPts val="500"/>
              </a:spcBef>
            </a:pPr>
            <a:r>
              <a:rPr lang="en-US" altLang="en-US" dirty="0"/>
              <a:t>insert "cow" (h1 = 2, h2 = 3):</a:t>
            </a:r>
            <a:br>
              <a:rPr lang="en-US" altLang="en-US" dirty="0"/>
            </a:br>
            <a:r>
              <a:rPr lang="en-US" altLang="en-US" dirty="0"/>
              <a:t>try 2, (2 + 3) % 26, (2 + 2*3) % 26 – open!</a:t>
            </a:r>
          </a:p>
          <a:p>
            <a:pPr lvl="1">
              <a:spcBef>
                <a:spcPts val="500"/>
              </a:spcBef>
            </a:pPr>
            <a:r>
              <a:rPr lang="en-US" altLang="en-US" dirty="0"/>
              <a:t>delete "emu" (h1 = 4, h2 = 3):</a:t>
            </a:r>
            <a:br>
              <a:rPr lang="en-US" altLang="en-US" dirty="0"/>
            </a:br>
            <a:r>
              <a:rPr lang="en-US" altLang="en-US" dirty="0"/>
              <a:t>try 4 – found! make it a removed cell</a:t>
            </a:r>
          </a:p>
          <a:p>
            <a:pPr lvl="1">
              <a:spcBef>
                <a:spcPts val="500"/>
              </a:spcBef>
            </a:pPr>
            <a:r>
              <a:rPr lang="en-US" altLang="en-US" dirty="0"/>
              <a:t>search "eel" (h1 = 4, h2 = 3):</a:t>
            </a:r>
            <a:br>
              <a:rPr lang="en-US" altLang="en-US" dirty="0"/>
            </a:br>
            <a:r>
              <a:rPr lang="en-US" altLang="en-US" dirty="0"/>
              <a:t>try 4 (can't stop at removed), </a:t>
            </a:r>
            <a:r>
              <a:rPr lang="en-US" altLang="en-US" dirty="0">
                <a:solidFill>
                  <a:schemeClr val="tx1"/>
                </a:solidFill>
              </a:rPr>
              <a:t>(4</a:t>
            </a:r>
            <a:r>
              <a:rPr lang="en-US" altLang="en-US" sz="1000" dirty="0">
                <a:solidFill>
                  <a:schemeClr val="tx1"/>
                </a:solidFill>
              </a:rPr>
              <a:t> </a:t>
            </a:r>
            <a:r>
              <a:rPr lang="en-US" altLang="en-US" dirty="0">
                <a:solidFill>
                  <a:schemeClr val="tx1"/>
                </a:solidFill>
              </a:rPr>
              <a:t>+</a:t>
            </a:r>
            <a:r>
              <a:rPr lang="en-US" altLang="en-US" sz="1000" dirty="0">
                <a:solidFill>
                  <a:schemeClr val="tx1"/>
                </a:solidFill>
              </a:rPr>
              <a:t> </a:t>
            </a:r>
            <a:r>
              <a:rPr lang="en-US" altLang="en-US" dirty="0">
                <a:solidFill>
                  <a:schemeClr val="tx1"/>
                </a:solidFill>
              </a:rPr>
              <a:t>3)</a:t>
            </a:r>
            <a:r>
              <a:rPr lang="en-US" altLang="en-US" sz="1000" dirty="0">
                <a:solidFill>
                  <a:schemeClr val="tx1"/>
                </a:solidFill>
              </a:rPr>
              <a:t> </a:t>
            </a:r>
            <a:r>
              <a:rPr lang="en-US" altLang="en-US" dirty="0">
                <a:solidFill>
                  <a:schemeClr val="tx1"/>
                </a:solidFill>
              </a:rPr>
              <a:t>%</a:t>
            </a:r>
            <a:r>
              <a:rPr lang="en-US" altLang="en-US" sz="1000" dirty="0">
                <a:solidFill>
                  <a:schemeClr val="tx1"/>
                </a:solidFill>
              </a:rPr>
              <a:t> </a:t>
            </a:r>
            <a:r>
              <a:rPr lang="en-US" altLang="en-US" dirty="0">
                <a:solidFill>
                  <a:schemeClr val="tx1"/>
                </a:solidFill>
              </a:rPr>
              <a:t>26</a:t>
            </a:r>
            <a:r>
              <a:rPr lang="en-US" altLang="en-US" sz="1000" dirty="0">
                <a:solidFill>
                  <a:schemeClr val="tx1"/>
                </a:solidFill>
              </a:rPr>
              <a:t> </a:t>
            </a:r>
            <a:r>
              <a:rPr lang="en-US" altLang="en-US" dirty="0">
                <a:solidFill>
                  <a:schemeClr val="tx1"/>
                </a:solidFill>
              </a:rPr>
              <a:t>–</a:t>
            </a:r>
            <a:r>
              <a:rPr lang="en-US" altLang="en-US" sz="1000" dirty="0">
                <a:solidFill>
                  <a:schemeClr val="tx1"/>
                </a:solidFill>
              </a:rPr>
              <a:t> </a:t>
            </a:r>
            <a:r>
              <a:rPr lang="en-US" altLang="en-US" dirty="0">
                <a:solidFill>
                  <a:schemeClr val="tx1"/>
                </a:solidFill>
              </a:rPr>
              <a:t>e</a:t>
            </a:r>
            <a:r>
              <a:rPr lang="en-US" altLang="en-US" dirty="0"/>
              <a:t>mpty, so not found</a:t>
            </a:r>
          </a:p>
          <a:p>
            <a:pPr lvl="1">
              <a:spcBef>
                <a:spcPts val="500"/>
              </a:spcBef>
            </a:pPr>
            <a:r>
              <a:rPr lang="en-US" altLang="en-US" b="1" dirty="0">
                <a:solidFill>
                  <a:srgbClr val="0000FF"/>
                </a:solidFill>
              </a:rPr>
              <a:t>insert "bee".</a:t>
            </a:r>
            <a:r>
              <a:rPr lang="en-US" altLang="en-US" dirty="0"/>
              <a:t> </a:t>
            </a:r>
            <a:r>
              <a:rPr lang="en-US" altLang="en-US" b="1" dirty="0">
                <a:solidFill>
                  <a:srgbClr val="0000FF"/>
                </a:solidFill>
              </a:rPr>
              <a:t>in which position will it go?</a:t>
            </a:r>
            <a:br>
              <a:rPr lang="en-US" altLang="en-US" b="1" dirty="0">
                <a:solidFill>
                  <a:srgbClr val="0000FF"/>
                </a:solidFill>
              </a:rPr>
            </a:br>
            <a:r>
              <a:rPr lang="en-US" altLang="en-US" dirty="0">
                <a:solidFill>
                  <a:schemeClr val="tx1"/>
                </a:solidFill>
              </a:rPr>
              <a:t>A.      1		   B.      3			C.      4			D.      7</a:t>
            </a:r>
          </a:p>
          <a:p>
            <a:pPr lvl="1">
              <a:spcBef>
                <a:spcPts val="500"/>
              </a:spcBef>
            </a:pPr>
            <a:endParaRPr lang="en-US" altLang="en-US" dirty="0"/>
          </a:p>
          <a:p>
            <a:pPr marL="457200" lvl="1" indent="0">
              <a:spcBef>
                <a:spcPts val="500"/>
              </a:spcBef>
              <a:buNone/>
            </a:pPr>
            <a:endParaRPr lang="en-US" altLang="en-US" dirty="0"/>
          </a:p>
        </p:txBody>
      </p:sp>
      <p:graphicFrame>
        <p:nvGraphicFramePr>
          <p:cNvPr id="3274756" name="Group 4"/>
          <p:cNvGraphicFramePr>
            <a:graphicFrameLocks noGrp="1"/>
          </p:cNvGraphicFramePr>
          <p:nvPr/>
        </p:nvGraphicFramePr>
        <p:xfrm>
          <a:off x="5980113" y="1192213"/>
          <a:ext cx="2097087" cy="3687794"/>
        </p:xfrm>
        <a:graphic>
          <a:graphicData uri="http://schemas.openxmlformats.org/drawingml/2006/table">
            <a:tbl>
              <a:tblPr/>
              <a:tblGrid>
                <a:gridCol w="105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6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0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"ant"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Lucida Console" pitchFamily="49" charset="0"/>
                        </a:rPr>
                        <a:t>"bear"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"cat"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3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4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5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"fox"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6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Lucida Console" pitchFamily="49" charset="0"/>
                        </a:rPr>
                        <a:t>"bison"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7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8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Lucida Console" pitchFamily="49" charset="0"/>
                        </a:rPr>
                        <a:t>"cow"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9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10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60832952"/>
      </p:ext>
    </p:extLst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Tracing Through Some Examples</a:t>
            </a:r>
          </a:p>
        </p:txBody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802687" cy="5614988"/>
          </a:xfrm>
        </p:spPr>
        <p:txBody>
          <a:bodyPr/>
          <a:lstStyle/>
          <a:p>
            <a:r>
              <a:rPr lang="en-US" altLang="en-US" dirty="0"/>
              <a:t>Start with the </a:t>
            </a:r>
            <a:r>
              <a:rPr lang="en-US" altLang="en-US" dirty="0" err="1"/>
              <a:t>hashtable</a:t>
            </a:r>
            <a:r>
              <a:rPr lang="en-US" altLang="en-US" dirty="0"/>
              <a:t> at right with:</a:t>
            </a:r>
          </a:p>
          <a:p>
            <a:pPr lvl="1"/>
            <a:r>
              <a:rPr lang="en-US" altLang="en-US" dirty="0"/>
              <a:t>double hashing</a:t>
            </a:r>
          </a:p>
          <a:p>
            <a:pPr lvl="1"/>
            <a:r>
              <a:rPr lang="en-US" altLang="en-US" dirty="0"/>
              <a:t>our earlier hash functions h1 and h2</a:t>
            </a:r>
          </a:p>
          <a:p>
            <a:pPr>
              <a:spcBef>
                <a:spcPts val="2400"/>
              </a:spcBef>
            </a:pPr>
            <a:r>
              <a:rPr lang="en-US" altLang="en-US" dirty="0"/>
              <a:t>Perform the following operations:</a:t>
            </a:r>
          </a:p>
          <a:p>
            <a:pPr lvl="1">
              <a:spcBef>
                <a:spcPts val="500"/>
              </a:spcBef>
            </a:pPr>
            <a:r>
              <a:rPr lang="en-US" altLang="en-US" dirty="0"/>
              <a:t>insert "bear" (h1 = 1, h2 = 4): try 1 – open!</a:t>
            </a:r>
          </a:p>
          <a:p>
            <a:pPr lvl="1">
              <a:spcBef>
                <a:spcPts val="500"/>
              </a:spcBef>
            </a:pPr>
            <a:r>
              <a:rPr lang="en-US" altLang="en-US" dirty="0"/>
              <a:t>insert "bison" (h1 = 1, h2 = 5):</a:t>
            </a:r>
            <a:br>
              <a:rPr lang="en-US" altLang="en-US" dirty="0"/>
            </a:br>
            <a:r>
              <a:rPr lang="en-US" altLang="en-US" dirty="0"/>
              <a:t>try 1, (1 + 5) % 26 – open!</a:t>
            </a:r>
          </a:p>
          <a:p>
            <a:pPr lvl="1">
              <a:spcBef>
                <a:spcPts val="500"/>
              </a:spcBef>
            </a:pPr>
            <a:r>
              <a:rPr lang="en-US" altLang="en-US" dirty="0"/>
              <a:t>insert "cow" (h1 = 2, h2 = 3):</a:t>
            </a:r>
            <a:br>
              <a:rPr lang="en-US" altLang="en-US" dirty="0"/>
            </a:br>
            <a:r>
              <a:rPr lang="en-US" altLang="en-US" dirty="0"/>
              <a:t>try 2, (2 + 3) % 26, (2 + 2*3) % 26 – open!</a:t>
            </a:r>
          </a:p>
          <a:p>
            <a:pPr lvl="1">
              <a:spcBef>
                <a:spcPts val="500"/>
              </a:spcBef>
            </a:pPr>
            <a:r>
              <a:rPr lang="en-US" altLang="en-US" dirty="0"/>
              <a:t>delete "emu" (h1 = 4, h2 = 3):</a:t>
            </a:r>
            <a:br>
              <a:rPr lang="en-US" altLang="en-US" dirty="0"/>
            </a:br>
            <a:r>
              <a:rPr lang="en-US" altLang="en-US" dirty="0"/>
              <a:t>try 4 – found! make it a removed cell</a:t>
            </a:r>
          </a:p>
          <a:p>
            <a:pPr lvl="1">
              <a:spcBef>
                <a:spcPts val="500"/>
              </a:spcBef>
            </a:pPr>
            <a:r>
              <a:rPr lang="en-US" altLang="en-US" dirty="0"/>
              <a:t>search "eel" (h1 = 4, h2 = 3):</a:t>
            </a:r>
            <a:br>
              <a:rPr lang="en-US" altLang="en-US" dirty="0"/>
            </a:br>
            <a:r>
              <a:rPr lang="en-US" altLang="en-US" dirty="0"/>
              <a:t>try 4 (can't stop at removed), </a:t>
            </a:r>
            <a:r>
              <a:rPr lang="en-US" altLang="en-US" dirty="0">
                <a:solidFill>
                  <a:schemeClr val="tx1"/>
                </a:solidFill>
              </a:rPr>
              <a:t>(4</a:t>
            </a:r>
            <a:r>
              <a:rPr lang="en-US" altLang="en-US" sz="1000" dirty="0">
                <a:solidFill>
                  <a:schemeClr val="tx1"/>
                </a:solidFill>
              </a:rPr>
              <a:t> </a:t>
            </a:r>
            <a:r>
              <a:rPr lang="en-US" altLang="en-US" dirty="0">
                <a:solidFill>
                  <a:schemeClr val="tx1"/>
                </a:solidFill>
              </a:rPr>
              <a:t>+</a:t>
            </a:r>
            <a:r>
              <a:rPr lang="en-US" altLang="en-US" sz="1000" dirty="0">
                <a:solidFill>
                  <a:schemeClr val="tx1"/>
                </a:solidFill>
              </a:rPr>
              <a:t> </a:t>
            </a:r>
            <a:r>
              <a:rPr lang="en-US" altLang="en-US" dirty="0">
                <a:solidFill>
                  <a:schemeClr val="tx1"/>
                </a:solidFill>
              </a:rPr>
              <a:t>3)</a:t>
            </a:r>
            <a:r>
              <a:rPr lang="en-US" altLang="en-US" sz="1000" dirty="0">
                <a:solidFill>
                  <a:schemeClr val="tx1"/>
                </a:solidFill>
              </a:rPr>
              <a:t> </a:t>
            </a:r>
            <a:r>
              <a:rPr lang="en-US" altLang="en-US" dirty="0">
                <a:solidFill>
                  <a:schemeClr val="tx1"/>
                </a:solidFill>
              </a:rPr>
              <a:t>%</a:t>
            </a:r>
            <a:r>
              <a:rPr lang="en-US" altLang="en-US" sz="1000" dirty="0">
                <a:solidFill>
                  <a:schemeClr val="tx1"/>
                </a:solidFill>
              </a:rPr>
              <a:t> </a:t>
            </a:r>
            <a:r>
              <a:rPr lang="en-US" altLang="en-US" dirty="0">
                <a:solidFill>
                  <a:schemeClr val="tx1"/>
                </a:solidFill>
              </a:rPr>
              <a:t>26</a:t>
            </a:r>
            <a:r>
              <a:rPr lang="en-US" altLang="en-US" sz="1000" dirty="0">
                <a:solidFill>
                  <a:schemeClr val="tx1"/>
                </a:solidFill>
              </a:rPr>
              <a:t> </a:t>
            </a:r>
            <a:r>
              <a:rPr lang="en-US" altLang="en-US" dirty="0">
                <a:solidFill>
                  <a:schemeClr val="tx1"/>
                </a:solidFill>
              </a:rPr>
              <a:t>–</a:t>
            </a:r>
            <a:r>
              <a:rPr lang="en-US" altLang="en-US" sz="1000" dirty="0">
                <a:solidFill>
                  <a:schemeClr val="tx1"/>
                </a:solidFill>
              </a:rPr>
              <a:t> </a:t>
            </a:r>
            <a:r>
              <a:rPr lang="en-US" altLang="en-US" dirty="0">
                <a:solidFill>
                  <a:schemeClr val="tx1"/>
                </a:solidFill>
              </a:rPr>
              <a:t>e</a:t>
            </a:r>
            <a:r>
              <a:rPr lang="en-US" altLang="en-US" dirty="0"/>
              <a:t>mpty, so not found</a:t>
            </a:r>
          </a:p>
          <a:p>
            <a:pPr lvl="1">
              <a:spcBef>
                <a:spcPts val="500"/>
              </a:spcBef>
            </a:pPr>
            <a:r>
              <a:rPr lang="en-US" altLang="en-US" b="1" dirty="0">
                <a:solidFill>
                  <a:srgbClr val="0000FF"/>
                </a:solidFill>
              </a:rPr>
              <a:t>insert "bee".</a:t>
            </a:r>
            <a:r>
              <a:rPr lang="en-US" altLang="en-US" dirty="0"/>
              <a:t> </a:t>
            </a:r>
            <a:r>
              <a:rPr lang="en-US" altLang="en-US" b="1" dirty="0">
                <a:solidFill>
                  <a:srgbClr val="0000FF"/>
                </a:solidFill>
              </a:rPr>
              <a:t>in which position will it go?</a:t>
            </a:r>
            <a:br>
              <a:rPr lang="en-US" altLang="en-US" b="1" dirty="0">
                <a:solidFill>
                  <a:srgbClr val="0000FF"/>
                </a:solidFill>
              </a:rPr>
            </a:br>
            <a:r>
              <a:rPr lang="en-US" altLang="en-US" dirty="0">
                <a:solidFill>
                  <a:srgbClr val="FF0000"/>
                </a:solidFill>
              </a:rPr>
              <a:t>(h1 = 1, h2 = 3):</a:t>
            </a:r>
            <a:endParaRPr lang="en-US" altLang="en-US" b="1" dirty="0">
              <a:solidFill>
                <a:srgbClr val="FF0000"/>
              </a:solidFill>
            </a:endParaRPr>
          </a:p>
          <a:p>
            <a:pPr lvl="1">
              <a:spcBef>
                <a:spcPts val="500"/>
              </a:spcBef>
            </a:pPr>
            <a:endParaRPr lang="en-US" altLang="en-US" dirty="0"/>
          </a:p>
          <a:p>
            <a:pPr marL="457200" lvl="1" indent="0">
              <a:spcBef>
                <a:spcPts val="500"/>
              </a:spcBef>
              <a:buNone/>
            </a:pPr>
            <a:endParaRPr lang="en-US" altLang="en-US" dirty="0"/>
          </a:p>
        </p:txBody>
      </p:sp>
      <p:graphicFrame>
        <p:nvGraphicFramePr>
          <p:cNvPr id="3274756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4652631"/>
              </p:ext>
            </p:extLst>
          </p:nvPr>
        </p:nvGraphicFramePr>
        <p:xfrm>
          <a:off x="5980113" y="1192213"/>
          <a:ext cx="2097087" cy="3687794"/>
        </p:xfrm>
        <a:graphic>
          <a:graphicData uri="http://schemas.openxmlformats.org/drawingml/2006/table">
            <a:tbl>
              <a:tblPr/>
              <a:tblGrid>
                <a:gridCol w="105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6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0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"ant"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Lucida Console" pitchFamily="49" charset="0"/>
                        </a:rPr>
                        <a:t>"bear"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"cat"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3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4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5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"fox"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6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Lucida Console" pitchFamily="49" charset="0"/>
                        </a:rPr>
                        <a:t>"bison"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7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8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Lucida Console" pitchFamily="49" charset="0"/>
                        </a:rPr>
                        <a:t>"cow"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9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10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94336909"/>
      </p:ext>
    </p:extLst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Tracing Through Some Examples</a:t>
            </a:r>
          </a:p>
        </p:txBody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802687" cy="5614988"/>
          </a:xfrm>
        </p:spPr>
        <p:txBody>
          <a:bodyPr/>
          <a:lstStyle/>
          <a:p>
            <a:r>
              <a:rPr lang="en-US" altLang="en-US" dirty="0"/>
              <a:t>Start with the </a:t>
            </a:r>
            <a:r>
              <a:rPr lang="en-US" altLang="en-US" dirty="0" err="1"/>
              <a:t>hashtable</a:t>
            </a:r>
            <a:r>
              <a:rPr lang="en-US" altLang="en-US" dirty="0"/>
              <a:t> at right with:</a:t>
            </a:r>
          </a:p>
          <a:p>
            <a:pPr lvl="1"/>
            <a:r>
              <a:rPr lang="en-US" altLang="en-US" dirty="0"/>
              <a:t>double hashing</a:t>
            </a:r>
          </a:p>
          <a:p>
            <a:pPr lvl="1"/>
            <a:r>
              <a:rPr lang="en-US" altLang="en-US" dirty="0"/>
              <a:t>our earlier hash functions h1 and h2</a:t>
            </a:r>
          </a:p>
          <a:p>
            <a:pPr>
              <a:spcBef>
                <a:spcPts val="2400"/>
              </a:spcBef>
            </a:pPr>
            <a:r>
              <a:rPr lang="en-US" altLang="en-US" dirty="0"/>
              <a:t>Perform the following operations:</a:t>
            </a:r>
          </a:p>
          <a:p>
            <a:pPr lvl="1">
              <a:spcBef>
                <a:spcPts val="500"/>
              </a:spcBef>
            </a:pPr>
            <a:r>
              <a:rPr lang="en-US" altLang="en-US" dirty="0"/>
              <a:t>insert "bear" (h1 = 1, h2 = 4): try 1 – open!</a:t>
            </a:r>
          </a:p>
          <a:p>
            <a:pPr lvl="1">
              <a:spcBef>
                <a:spcPts val="500"/>
              </a:spcBef>
            </a:pPr>
            <a:r>
              <a:rPr lang="en-US" altLang="en-US" dirty="0"/>
              <a:t>insert "bison" (h1 = 1, h2 = 5):</a:t>
            </a:r>
            <a:br>
              <a:rPr lang="en-US" altLang="en-US" dirty="0"/>
            </a:br>
            <a:r>
              <a:rPr lang="en-US" altLang="en-US" dirty="0"/>
              <a:t>try 1, (1 + 5) % 26 – open!</a:t>
            </a:r>
          </a:p>
          <a:p>
            <a:pPr lvl="1">
              <a:spcBef>
                <a:spcPts val="500"/>
              </a:spcBef>
            </a:pPr>
            <a:r>
              <a:rPr lang="en-US" altLang="en-US" dirty="0"/>
              <a:t>insert "cow" (h1 = 2, h2 = 3):</a:t>
            </a:r>
            <a:br>
              <a:rPr lang="en-US" altLang="en-US" dirty="0"/>
            </a:br>
            <a:r>
              <a:rPr lang="en-US" altLang="en-US" dirty="0"/>
              <a:t>try 2, (2 + 3) % 26, (2 + 2*3) % 26 – open!</a:t>
            </a:r>
          </a:p>
          <a:p>
            <a:pPr lvl="1">
              <a:spcBef>
                <a:spcPts val="500"/>
              </a:spcBef>
            </a:pPr>
            <a:r>
              <a:rPr lang="en-US" altLang="en-US" dirty="0"/>
              <a:t>delete "emu" (h1 = 4, h2 = 3):</a:t>
            </a:r>
            <a:br>
              <a:rPr lang="en-US" altLang="en-US" dirty="0"/>
            </a:br>
            <a:r>
              <a:rPr lang="en-US" altLang="en-US" dirty="0"/>
              <a:t>try 4 – found! make it a removed cell</a:t>
            </a:r>
          </a:p>
          <a:p>
            <a:pPr lvl="1">
              <a:spcBef>
                <a:spcPts val="500"/>
              </a:spcBef>
            </a:pPr>
            <a:r>
              <a:rPr lang="en-US" altLang="en-US" dirty="0"/>
              <a:t>search "eel" (h1 = 4, h2 = 3):</a:t>
            </a:r>
            <a:br>
              <a:rPr lang="en-US" altLang="en-US" dirty="0"/>
            </a:br>
            <a:r>
              <a:rPr lang="en-US" altLang="en-US" dirty="0"/>
              <a:t>try 4 (can't stop at removed), </a:t>
            </a:r>
            <a:r>
              <a:rPr lang="en-US" altLang="en-US" dirty="0">
                <a:solidFill>
                  <a:schemeClr val="tx1"/>
                </a:solidFill>
              </a:rPr>
              <a:t>(4</a:t>
            </a:r>
            <a:r>
              <a:rPr lang="en-US" altLang="en-US" sz="1000" dirty="0">
                <a:solidFill>
                  <a:schemeClr val="tx1"/>
                </a:solidFill>
              </a:rPr>
              <a:t> </a:t>
            </a:r>
            <a:r>
              <a:rPr lang="en-US" altLang="en-US" dirty="0">
                <a:solidFill>
                  <a:schemeClr val="tx1"/>
                </a:solidFill>
              </a:rPr>
              <a:t>+</a:t>
            </a:r>
            <a:r>
              <a:rPr lang="en-US" altLang="en-US" sz="1000" dirty="0">
                <a:solidFill>
                  <a:schemeClr val="tx1"/>
                </a:solidFill>
              </a:rPr>
              <a:t> </a:t>
            </a:r>
            <a:r>
              <a:rPr lang="en-US" altLang="en-US" dirty="0">
                <a:solidFill>
                  <a:schemeClr val="tx1"/>
                </a:solidFill>
              </a:rPr>
              <a:t>3)</a:t>
            </a:r>
            <a:r>
              <a:rPr lang="en-US" altLang="en-US" sz="1000" dirty="0">
                <a:solidFill>
                  <a:schemeClr val="tx1"/>
                </a:solidFill>
              </a:rPr>
              <a:t> </a:t>
            </a:r>
            <a:r>
              <a:rPr lang="en-US" altLang="en-US" dirty="0">
                <a:solidFill>
                  <a:schemeClr val="tx1"/>
                </a:solidFill>
              </a:rPr>
              <a:t>%</a:t>
            </a:r>
            <a:r>
              <a:rPr lang="en-US" altLang="en-US" sz="1000" dirty="0">
                <a:solidFill>
                  <a:schemeClr val="tx1"/>
                </a:solidFill>
              </a:rPr>
              <a:t> </a:t>
            </a:r>
            <a:r>
              <a:rPr lang="en-US" altLang="en-US" dirty="0">
                <a:solidFill>
                  <a:schemeClr val="tx1"/>
                </a:solidFill>
              </a:rPr>
              <a:t>26</a:t>
            </a:r>
            <a:r>
              <a:rPr lang="en-US" altLang="en-US" sz="1000" dirty="0">
                <a:solidFill>
                  <a:schemeClr val="tx1"/>
                </a:solidFill>
              </a:rPr>
              <a:t> </a:t>
            </a:r>
            <a:r>
              <a:rPr lang="en-US" altLang="en-US" dirty="0">
                <a:solidFill>
                  <a:schemeClr val="tx1"/>
                </a:solidFill>
              </a:rPr>
              <a:t>–</a:t>
            </a:r>
            <a:r>
              <a:rPr lang="en-US" altLang="en-US" sz="1000" dirty="0">
                <a:solidFill>
                  <a:schemeClr val="tx1"/>
                </a:solidFill>
              </a:rPr>
              <a:t> </a:t>
            </a:r>
            <a:r>
              <a:rPr lang="en-US" altLang="en-US" dirty="0">
                <a:solidFill>
                  <a:schemeClr val="tx1"/>
                </a:solidFill>
              </a:rPr>
              <a:t>e</a:t>
            </a:r>
            <a:r>
              <a:rPr lang="en-US" altLang="en-US" dirty="0"/>
              <a:t>mpty, so not found</a:t>
            </a:r>
          </a:p>
          <a:p>
            <a:pPr lvl="1">
              <a:spcBef>
                <a:spcPts val="500"/>
              </a:spcBef>
            </a:pPr>
            <a:r>
              <a:rPr lang="en-US" altLang="en-US" b="1" dirty="0">
                <a:solidFill>
                  <a:srgbClr val="0000FF"/>
                </a:solidFill>
              </a:rPr>
              <a:t>insert "bee".</a:t>
            </a:r>
            <a:r>
              <a:rPr lang="en-US" altLang="en-US" dirty="0"/>
              <a:t> </a:t>
            </a:r>
            <a:r>
              <a:rPr lang="en-US" altLang="en-US" b="1" dirty="0">
                <a:solidFill>
                  <a:srgbClr val="0000FF"/>
                </a:solidFill>
              </a:rPr>
              <a:t>in which position will it go?</a:t>
            </a:r>
            <a:br>
              <a:rPr lang="en-US" altLang="en-US" b="1" dirty="0">
                <a:solidFill>
                  <a:srgbClr val="0000FF"/>
                </a:solidFill>
              </a:rPr>
            </a:br>
            <a:r>
              <a:rPr lang="en-US" altLang="en-US" dirty="0">
                <a:solidFill>
                  <a:srgbClr val="FF0000"/>
                </a:solidFill>
              </a:rPr>
              <a:t>(h1 = 1, h2 = 3): </a:t>
            </a:r>
            <a:r>
              <a:rPr lang="en-US" altLang="en-US" b="1" dirty="0">
                <a:solidFill>
                  <a:srgbClr val="FF0000"/>
                </a:solidFill>
              </a:rPr>
              <a:t>try 1</a:t>
            </a:r>
          </a:p>
          <a:p>
            <a:pPr lvl="1">
              <a:spcBef>
                <a:spcPts val="500"/>
              </a:spcBef>
            </a:pPr>
            <a:endParaRPr lang="en-US" altLang="en-US" dirty="0"/>
          </a:p>
          <a:p>
            <a:pPr marL="457200" lvl="1" indent="0">
              <a:spcBef>
                <a:spcPts val="500"/>
              </a:spcBef>
              <a:buNone/>
            </a:pPr>
            <a:endParaRPr lang="en-US" altLang="en-US" dirty="0"/>
          </a:p>
        </p:txBody>
      </p:sp>
      <p:graphicFrame>
        <p:nvGraphicFramePr>
          <p:cNvPr id="3274756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4652631"/>
              </p:ext>
            </p:extLst>
          </p:nvPr>
        </p:nvGraphicFramePr>
        <p:xfrm>
          <a:off x="5980113" y="1192213"/>
          <a:ext cx="2097087" cy="3687794"/>
        </p:xfrm>
        <a:graphic>
          <a:graphicData uri="http://schemas.openxmlformats.org/drawingml/2006/table">
            <a:tbl>
              <a:tblPr/>
              <a:tblGrid>
                <a:gridCol w="105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6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0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"ant"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Lucida Console" pitchFamily="49" charset="0"/>
                        </a:rPr>
                        <a:t>"bear"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"cat"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3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4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5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"fox"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6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Lucida Console" pitchFamily="49" charset="0"/>
                        </a:rPr>
                        <a:t>"bison"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7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8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Lucida Console" pitchFamily="49" charset="0"/>
                        </a:rPr>
                        <a:t>"cow"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9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10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" name="Rectangle 48"/>
          <p:cNvSpPr>
            <a:spLocks noChangeArrowheads="1"/>
          </p:cNvSpPr>
          <p:nvPr/>
        </p:nvSpPr>
        <p:spPr bwMode="auto">
          <a:xfrm>
            <a:off x="7056028" y="1558375"/>
            <a:ext cx="995363" cy="280987"/>
          </a:xfrm>
          <a:prstGeom prst="rect">
            <a:avLst/>
          </a:prstGeom>
          <a:noFill/>
          <a:ln w="38100" algn="ctr">
            <a:solidFill>
              <a:srgbClr val="CC0099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>
              <a:spcBef>
                <a:spcPts val="1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 algn="l">
              <a:spcBef>
                <a:spcPts val="525"/>
              </a:spcBef>
              <a:buClr>
                <a:srgbClr val="000000"/>
              </a:buClr>
              <a:buSzPct val="10000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Helvetica" panose="020B0604020202020204" pitchFamily="34" charset="0"/>
              <a:buChar char="–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40883688"/>
      </p:ext>
    </p:extLst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Tracing Through Some Examples</a:t>
            </a:r>
          </a:p>
        </p:txBody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802687" cy="5614988"/>
          </a:xfrm>
        </p:spPr>
        <p:txBody>
          <a:bodyPr/>
          <a:lstStyle/>
          <a:p>
            <a:r>
              <a:rPr lang="en-US" altLang="en-US" dirty="0"/>
              <a:t>Start with the </a:t>
            </a:r>
            <a:r>
              <a:rPr lang="en-US" altLang="en-US" dirty="0" err="1"/>
              <a:t>hashtable</a:t>
            </a:r>
            <a:r>
              <a:rPr lang="en-US" altLang="en-US" dirty="0"/>
              <a:t> at right with:</a:t>
            </a:r>
          </a:p>
          <a:p>
            <a:pPr lvl="1"/>
            <a:r>
              <a:rPr lang="en-US" altLang="en-US" dirty="0"/>
              <a:t>double hashing</a:t>
            </a:r>
          </a:p>
          <a:p>
            <a:pPr lvl="1"/>
            <a:r>
              <a:rPr lang="en-US" altLang="en-US" dirty="0"/>
              <a:t>our earlier hash functions h1 and h2</a:t>
            </a:r>
          </a:p>
          <a:p>
            <a:pPr>
              <a:spcBef>
                <a:spcPts val="2400"/>
              </a:spcBef>
            </a:pPr>
            <a:r>
              <a:rPr lang="en-US" altLang="en-US" dirty="0"/>
              <a:t>Perform the following operations:</a:t>
            </a:r>
          </a:p>
          <a:p>
            <a:pPr lvl="1">
              <a:spcBef>
                <a:spcPts val="500"/>
              </a:spcBef>
            </a:pPr>
            <a:r>
              <a:rPr lang="en-US" altLang="en-US" dirty="0"/>
              <a:t>insert "bear" (h1 = 1, h2 = 4): try 1 – open!</a:t>
            </a:r>
          </a:p>
          <a:p>
            <a:pPr lvl="1">
              <a:spcBef>
                <a:spcPts val="500"/>
              </a:spcBef>
            </a:pPr>
            <a:r>
              <a:rPr lang="en-US" altLang="en-US" dirty="0"/>
              <a:t>insert "bison" (h1 = 1, h2 = 5):</a:t>
            </a:r>
            <a:br>
              <a:rPr lang="en-US" altLang="en-US" dirty="0"/>
            </a:br>
            <a:r>
              <a:rPr lang="en-US" altLang="en-US" dirty="0"/>
              <a:t>try 1, (1 + 5) % 26 – open!</a:t>
            </a:r>
          </a:p>
          <a:p>
            <a:pPr lvl="1">
              <a:spcBef>
                <a:spcPts val="500"/>
              </a:spcBef>
            </a:pPr>
            <a:r>
              <a:rPr lang="en-US" altLang="en-US" dirty="0"/>
              <a:t>insert "cow" (h1 = 2, h2 = 3):</a:t>
            </a:r>
            <a:br>
              <a:rPr lang="en-US" altLang="en-US" dirty="0"/>
            </a:br>
            <a:r>
              <a:rPr lang="en-US" altLang="en-US" dirty="0"/>
              <a:t>try 2, (2 + 3) % 26, (2 + 2*3) % 26 – open!</a:t>
            </a:r>
          </a:p>
          <a:p>
            <a:pPr lvl="1">
              <a:spcBef>
                <a:spcPts val="500"/>
              </a:spcBef>
            </a:pPr>
            <a:r>
              <a:rPr lang="en-US" altLang="en-US" dirty="0"/>
              <a:t>delete "emu" (h1 = 4, h2 = 3):</a:t>
            </a:r>
            <a:br>
              <a:rPr lang="en-US" altLang="en-US" dirty="0"/>
            </a:br>
            <a:r>
              <a:rPr lang="en-US" altLang="en-US" dirty="0"/>
              <a:t>try 4 – found! make it a removed cell</a:t>
            </a:r>
          </a:p>
          <a:p>
            <a:pPr lvl="1">
              <a:spcBef>
                <a:spcPts val="500"/>
              </a:spcBef>
            </a:pPr>
            <a:r>
              <a:rPr lang="en-US" altLang="en-US" dirty="0"/>
              <a:t>search "eel" (h1 = 4, h2 = 3):</a:t>
            </a:r>
            <a:br>
              <a:rPr lang="en-US" altLang="en-US" dirty="0"/>
            </a:br>
            <a:r>
              <a:rPr lang="en-US" altLang="en-US" dirty="0"/>
              <a:t>try 4 (can't stop at removed), </a:t>
            </a:r>
            <a:r>
              <a:rPr lang="en-US" altLang="en-US" dirty="0">
                <a:solidFill>
                  <a:schemeClr val="tx1"/>
                </a:solidFill>
              </a:rPr>
              <a:t>(4</a:t>
            </a:r>
            <a:r>
              <a:rPr lang="en-US" altLang="en-US" sz="1000" dirty="0">
                <a:solidFill>
                  <a:schemeClr val="tx1"/>
                </a:solidFill>
              </a:rPr>
              <a:t> </a:t>
            </a:r>
            <a:r>
              <a:rPr lang="en-US" altLang="en-US" dirty="0">
                <a:solidFill>
                  <a:schemeClr val="tx1"/>
                </a:solidFill>
              </a:rPr>
              <a:t>+</a:t>
            </a:r>
            <a:r>
              <a:rPr lang="en-US" altLang="en-US" sz="1000" dirty="0">
                <a:solidFill>
                  <a:schemeClr val="tx1"/>
                </a:solidFill>
              </a:rPr>
              <a:t> </a:t>
            </a:r>
            <a:r>
              <a:rPr lang="en-US" altLang="en-US" dirty="0">
                <a:solidFill>
                  <a:schemeClr val="tx1"/>
                </a:solidFill>
              </a:rPr>
              <a:t>3)</a:t>
            </a:r>
            <a:r>
              <a:rPr lang="en-US" altLang="en-US" sz="1000" dirty="0">
                <a:solidFill>
                  <a:schemeClr val="tx1"/>
                </a:solidFill>
              </a:rPr>
              <a:t> </a:t>
            </a:r>
            <a:r>
              <a:rPr lang="en-US" altLang="en-US" dirty="0">
                <a:solidFill>
                  <a:schemeClr val="tx1"/>
                </a:solidFill>
              </a:rPr>
              <a:t>%</a:t>
            </a:r>
            <a:r>
              <a:rPr lang="en-US" altLang="en-US" sz="1000" dirty="0">
                <a:solidFill>
                  <a:schemeClr val="tx1"/>
                </a:solidFill>
              </a:rPr>
              <a:t> </a:t>
            </a:r>
            <a:r>
              <a:rPr lang="en-US" altLang="en-US" dirty="0">
                <a:solidFill>
                  <a:schemeClr val="tx1"/>
                </a:solidFill>
              </a:rPr>
              <a:t>26</a:t>
            </a:r>
            <a:r>
              <a:rPr lang="en-US" altLang="en-US" sz="1000" dirty="0">
                <a:solidFill>
                  <a:schemeClr val="tx1"/>
                </a:solidFill>
              </a:rPr>
              <a:t> </a:t>
            </a:r>
            <a:r>
              <a:rPr lang="en-US" altLang="en-US" dirty="0">
                <a:solidFill>
                  <a:schemeClr val="tx1"/>
                </a:solidFill>
              </a:rPr>
              <a:t>–</a:t>
            </a:r>
            <a:r>
              <a:rPr lang="en-US" altLang="en-US" sz="1000" dirty="0">
                <a:solidFill>
                  <a:schemeClr val="tx1"/>
                </a:solidFill>
              </a:rPr>
              <a:t> </a:t>
            </a:r>
            <a:r>
              <a:rPr lang="en-US" altLang="en-US" dirty="0">
                <a:solidFill>
                  <a:schemeClr val="tx1"/>
                </a:solidFill>
              </a:rPr>
              <a:t>e</a:t>
            </a:r>
            <a:r>
              <a:rPr lang="en-US" altLang="en-US" dirty="0"/>
              <a:t>mpty, so not found</a:t>
            </a:r>
          </a:p>
          <a:p>
            <a:pPr lvl="1">
              <a:spcBef>
                <a:spcPts val="500"/>
              </a:spcBef>
            </a:pPr>
            <a:r>
              <a:rPr lang="en-US" altLang="en-US" b="1" dirty="0">
                <a:solidFill>
                  <a:srgbClr val="0000FF"/>
                </a:solidFill>
              </a:rPr>
              <a:t>insert "bee".</a:t>
            </a:r>
            <a:r>
              <a:rPr lang="en-US" altLang="en-US" dirty="0"/>
              <a:t> </a:t>
            </a:r>
            <a:r>
              <a:rPr lang="en-US" altLang="en-US" b="1" dirty="0">
                <a:solidFill>
                  <a:srgbClr val="0000FF"/>
                </a:solidFill>
              </a:rPr>
              <a:t>in which position will it go?</a:t>
            </a:r>
            <a:br>
              <a:rPr lang="en-US" altLang="en-US" b="1" dirty="0">
                <a:solidFill>
                  <a:srgbClr val="0000FF"/>
                </a:solidFill>
              </a:rPr>
            </a:br>
            <a:r>
              <a:rPr lang="en-US" altLang="en-US" dirty="0">
                <a:solidFill>
                  <a:srgbClr val="FF0000"/>
                </a:solidFill>
              </a:rPr>
              <a:t>(h1 = 1, h2 = 3): try 1,</a:t>
            </a:r>
            <a:r>
              <a:rPr lang="en-US" altLang="en-US" b="1" dirty="0">
                <a:solidFill>
                  <a:srgbClr val="FF0000"/>
                </a:solidFill>
              </a:rPr>
              <a:t> (1 + 3) % 26</a:t>
            </a:r>
          </a:p>
          <a:p>
            <a:pPr lvl="1">
              <a:spcBef>
                <a:spcPts val="500"/>
              </a:spcBef>
            </a:pPr>
            <a:endParaRPr lang="en-US" altLang="en-US" dirty="0"/>
          </a:p>
          <a:p>
            <a:pPr marL="457200" lvl="1" indent="0">
              <a:spcBef>
                <a:spcPts val="500"/>
              </a:spcBef>
              <a:buNone/>
            </a:pPr>
            <a:endParaRPr lang="en-US" altLang="en-US" dirty="0"/>
          </a:p>
        </p:txBody>
      </p:sp>
      <p:graphicFrame>
        <p:nvGraphicFramePr>
          <p:cNvPr id="3274756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4652631"/>
              </p:ext>
            </p:extLst>
          </p:nvPr>
        </p:nvGraphicFramePr>
        <p:xfrm>
          <a:off x="5980113" y="1192213"/>
          <a:ext cx="2097087" cy="3687794"/>
        </p:xfrm>
        <a:graphic>
          <a:graphicData uri="http://schemas.openxmlformats.org/drawingml/2006/table">
            <a:tbl>
              <a:tblPr/>
              <a:tblGrid>
                <a:gridCol w="105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6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0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"ant"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Lucida Console" pitchFamily="49" charset="0"/>
                        </a:rPr>
                        <a:t>"bear"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"cat"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3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4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5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"fox"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6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Lucida Console" pitchFamily="49" charset="0"/>
                        </a:rPr>
                        <a:t>"bison"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7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8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Lucida Console" pitchFamily="49" charset="0"/>
                        </a:rPr>
                        <a:t>"cow"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9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10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6" name="Rectangle 48"/>
          <p:cNvSpPr>
            <a:spLocks noChangeArrowheads="1"/>
          </p:cNvSpPr>
          <p:nvPr/>
        </p:nvSpPr>
        <p:spPr bwMode="auto">
          <a:xfrm>
            <a:off x="7056028" y="2557837"/>
            <a:ext cx="995363" cy="280987"/>
          </a:xfrm>
          <a:prstGeom prst="rect">
            <a:avLst/>
          </a:prstGeom>
          <a:noFill/>
          <a:ln w="38100" algn="ctr">
            <a:solidFill>
              <a:srgbClr val="CC0099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>
              <a:spcBef>
                <a:spcPts val="1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 algn="l">
              <a:spcBef>
                <a:spcPts val="525"/>
              </a:spcBef>
              <a:buClr>
                <a:srgbClr val="000000"/>
              </a:buClr>
              <a:buSzPct val="10000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Helvetica" panose="020B0604020202020204" pitchFamily="34" charset="0"/>
              <a:buChar char="–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07567392"/>
      </p:ext>
    </p:extLst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Tracing Through Some Examples</a:t>
            </a:r>
          </a:p>
        </p:txBody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802687" cy="5614988"/>
          </a:xfrm>
        </p:spPr>
        <p:txBody>
          <a:bodyPr/>
          <a:lstStyle/>
          <a:p>
            <a:r>
              <a:rPr lang="en-US" altLang="en-US" dirty="0"/>
              <a:t>Start with the </a:t>
            </a:r>
            <a:r>
              <a:rPr lang="en-US" altLang="en-US" dirty="0" err="1"/>
              <a:t>hashtable</a:t>
            </a:r>
            <a:r>
              <a:rPr lang="en-US" altLang="en-US" dirty="0"/>
              <a:t> at right with:</a:t>
            </a:r>
          </a:p>
          <a:p>
            <a:pPr lvl="1"/>
            <a:r>
              <a:rPr lang="en-US" altLang="en-US" dirty="0"/>
              <a:t>double hashing</a:t>
            </a:r>
          </a:p>
          <a:p>
            <a:pPr lvl="1"/>
            <a:r>
              <a:rPr lang="en-US" altLang="en-US" dirty="0"/>
              <a:t>our earlier hash functions h1 and h2</a:t>
            </a:r>
          </a:p>
          <a:p>
            <a:pPr>
              <a:spcBef>
                <a:spcPts val="2400"/>
              </a:spcBef>
            </a:pPr>
            <a:r>
              <a:rPr lang="en-US" altLang="en-US" dirty="0"/>
              <a:t>Perform the following operations:</a:t>
            </a:r>
          </a:p>
          <a:p>
            <a:pPr lvl="1">
              <a:spcBef>
                <a:spcPts val="500"/>
              </a:spcBef>
            </a:pPr>
            <a:r>
              <a:rPr lang="en-US" altLang="en-US" dirty="0"/>
              <a:t>insert "bear" (h1 = 1, h2 = 4): try 1 – open!</a:t>
            </a:r>
          </a:p>
          <a:p>
            <a:pPr lvl="1">
              <a:spcBef>
                <a:spcPts val="500"/>
              </a:spcBef>
            </a:pPr>
            <a:r>
              <a:rPr lang="en-US" altLang="en-US" dirty="0"/>
              <a:t>insert "bison" (h1 = 1, h2 = 5):</a:t>
            </a:r>
            <a:br>
              <a:rPr lang="en-US" altLang="en-US" dirty="0"/>
            </a:br>
            <a:r>
              <a:rPr lang="en-US" altLang="en-US" dirty="0"/>
              <a:t>try 1, (1 + 5) % 26 – open!</a:t>
            </a:r>
          </a:p>
          <a:p>
            <a:pPr lvl="1">
              <a:spcBef>
                <a:spcPts val="500"/>
              </a:spcBef>
            </a:pPr>
            <a:r>
              <a:rPr lang="en-US" altLang="en-US" dirty="0"/>
              <a:t>insert "cow" (h1 = 2, h2 = 3):</a:t>
            </a:r>
            <a:br>
              <a:rPr lang="en-US" altLang="en-US" dirty="0"/>
            </a:br>
            <a:r>
              <a:rPr lang="en-US" altLang="en-US" dirty="0"/>
              <a:t>try 2, (2 + 3) % 26, (2 + 2*3) % 26 – open!</a:t>
            </a:r>
          </a:p>
          <a:p>
            <a:pPr lvl="1">
              <a:spcBef>
                <a:spcPts val="500"/>
              </a:spcBef>
            </a:pPr>
            <a:r>
              <a:rPr lang="en-US" altLang="en-US" dirty="0"/>
              <a:t>delete "emu" (h1 = 4, h2 = 3):</a:t>
            </a:r>
            <a:br>
              <a:rPr lang="en-US" altLang="en-US" dirty="0"/>
            </a:br>
            <a:r>
              <a:rPr lang="en-US" altLang="en-US" dirty="0"/>
              <a:t>try 4 – found! make it a removed cell</a:t>
            </a:r>
          </a:p>
          <a:p>
            <a:pPr lvl="1">
              <a:spcBef>
                <a:spcPts val="500"/>
              </a:spcBef>
            </a:pPr>
            <a:r>
              <a:rPr lang="en-US" altLang="en-US" dirty="0"/>
              <a:t>search "eel" (h1 = 4, h2 = 3):</a:t>
            </a:r>
            <a:br>
              <a:rPr lang="en-US" altLang="en-US" dirty="0"/>
            </a:br>
            <a:r>
              <a:rPr lang="en-US" altLang="en-US" dirty="0"/>
              <a:t>try 4 (can't stop at removed), </a:t>
            </a:r>
            <a:r>
              <a:rPr lang="en-US" altLang="en-US" dirty="0">
                <a:solidFill>
                  <a:schemeClr val="tx1"/>
                </a:solidFill>
              </a:rPr>
              <a:t>(4</a:t>
            </a:r>
            <a:r>
              <a:rPr lang="en-US" altLang="en-US" sz="1000" dirty="0">
                <a:solidFill>
                  <a:schemeClr val="tx1"/>
                </a:solidFill>
              </a:rPr>
              <a:t> </a:t>
            </a:r>
            <a:r>
              <a:rPr lang="en-US" altLang="en-US" dirty="0">
                <a:solidFill>
                  <a:schemeClr val="tx1"/>
                </a:solidFill>
              </a:rPr>
              <a:t>+</a:t>
            </a:r>
            <a:r>
              <a:rPr lang="en-US" altLang="en-US" sz="1000" dirty="0">
                <a:solidFill>
                  <a:schemeClr val="tx1"/>
                </a:solidFill>
              </a:rPr>
              <a:t> </a:t>
            </a:r>
            <a:r>
              <a:rPr lang="en-US" altLang="en-US" dirty="0">
                <a:solidFill>
                  <a:schemeClr val="tx1"/>
                </a:solidFill>
              </a:rPr>
              <a:t>3)</a:t>
            </a:r>
            <a:r>
              <a:rPr lang="en-US" altLang="en-US" sz="1000" dirty="0">
                <a:solidFill>
                  <a:schemeClr val="tx1"/>
                </a:solidFill>
              </a:rPr>
              <a:t> </a:t>
            </a:r>
            <a:r>
              <a:rPr lang="en-US" altLang="en-US" dirty="0">
                <a:solidFill>
                  <a:schemeClr val="tx1"/>
                </a:solidFill>
              </a:rPr>
              <a:t>%</a:t>
            </a:r>
            <a:r>
              <a:rPr lang="en-US" altLang="en-US" sz="1000" dirty="0">
                <a:solidFill>
                  <a:schemeClr val="tx1"/>
                </a:solidFill>
              </a:rPr>
              <a:t> </a:t>
            </a:r>
            <a:r>
              <a:rPr lang="en-US" altLang="en-US" dirty="0">
                <a:solidFill>
                  <a:schemeClr val="tx1"/>
                </a:solidFill>
              </a:rPr>
              <a:t>26</a:t>
            </a:r>
            <a:r>
              <a:rPr lang="en-US" altLang="en-US" sz="1000" dirty="0">
                <a:solidFill>
                  <a:schemeClr val="tx1"/>
                </a:solidFill>
              </a:rPr>
              <a:t> </a:t>
            </a:r>
            <a:r>
              <a:rPr lang="en-US" altLang="en-US" dirty="0">
                <a:solidFill>
                  <a:schemeClr val="tx1"/>
                </a:solidFill>
              </a:rPr>
              <a:t>–</a:t>
            </a:r>
            <a:r>
              <a:rPr lang="en-US" altLang="en-US" sz="1000" dirty="0">
                <a:solidFill>
                  <a:schemeClr val="tx1"/>
                </a:solidFill>
              </a:rPr>
              <a:t> </a:t>
            </a:r>
            <a:r>
              <a:rPr lang="en-US" altLang="en-US" dirty="0">
                <a:solidFill>
                  <a:schemeClr val="tx1"/>
                </a:solidFill>
              </a:rPr>
              <a:t>e</a:t>
            </a:r>
            <a:r>
              <a:rPr lang="en-US" altLang="en-US" dirty="0"/>
              <a:t>mpty, so not found</a:t>
            </a:r>
          </a:p>
          <a:p>
            <a:pPr lvl="1">
              <a:spcBef>
                <a:spcPts val="500"/>
              </a:spcBef>
            </a:pPr>
            <a:r>
              <a:rPr lang="en-US" altLang="en-US" b="1" dirty="0">
                <a:solidFill>
                  <a:srgbClr val="0000FF"/>
                </a:solidFill>
              </a:rPr>
              <a:t>insert "bee".</a:t>
            </a:r>
            <a:r>
              <a:rPr lang="en-US" altLang="en-US" dirty="0"/>
              <a:t> </a:t>
            </a:r>
            <a:r>
              <a:rPr lang="en-US" altLang="en-US" b="1" dirty="0">
                <a:solidFill>
                  <a:srgbClr val="0000FF"/>
                </a:solidFill>
              </a:rPr>
              <a:t>in which position will it go?</a:t>
            </a:r>
            <a:br>
              <a:rPr lang="en-US" altLang="en-US" b="1" dirty="0">
                <a:solidFill>
                  <a:srgbClr val="0000FF"/>
                </a:solidFill>
              </a:rPr>
            </a:br>
            <a:r>
              <a:rPr lang="en-US" altLang="en-US" dirty="0">
                <a:solidFill>
                  <a:srgbClr val="FF0000"/>
                </a:solidFill>
              </a:rPr>
              <a:t>(h1 = 1, h2 = 3): try 1,</a:t>
            </a:r>
            <a:r>
              <a:rPr lang="en-US" altLang="en-US" b="1" dirty="0">
                <a:solidFill>
                  <a:srgbClr val="FF0000"/>
                </a:solidFill>
              </a:rPr>
              <a:t> (1 + 3) % 26</a:t>
            </a:r>
          </a:p>
          <a:p>
            <a:pPr lvl="1">
              <a:spcBef>
                <a:spcPts val="500"/>
              </a:spcBef>
            </a:pPr>
            <a:endParaRPr lang="en-US" altLang="en-US" dirty="0"/>
          </a:p>
          <a:p>
            <a:pPr marL="457200" lvl="1" indent="0">
              <a:spcBef>
                <a:spcPts val="500"/>
              </a:spcBef>
              <a:buNone/>
            </a:pPr>
            <a:endParaRPr lang="en-US" altLang="en-US" dirty="0"/>
          </a:p>
        </p:txBody>
      </p:sp>
      <p:graphicFrame>
        <p:nvGraphicFramePr>
          <p:cNvPr id="3274756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4652631"/>
              </p:ext>
            </p:extLst>
          </p:nvPr>
        </p:nvGraphicFramePr>
        <p:xfrm>
          <a:off x="5980113" y="1192213"/>
          <a:ext cx="2097087" cy="3687794"/>
        </p:xfrm>
        <a:graphic>
          <a:graphicData uri="http://schemas.openxmlformats.org/drawingml/2006/table">
            <a:tbl>
              <a:tblPr/>
              <a:tblGrid>
                <a:gridCol w="105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6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0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"ant"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Lucida Console" pitchFamily="49" charset="0"/>
                        </a:rPr>
                        <a:t>"bear"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"cat"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3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4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5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"fox"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6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Lucida Console" pitchFamily="49" charset="0"/>
                        </a:rPr>
                        <a:t>"bison"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7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8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Lucida Console" pitchFamily="49" charset="0"/>
                        </a:rPr>
                        <a:t>"cow"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9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10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8077200" y="2530548"/>
            <a:ext cx="9220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dirty="0">
                <a:solidFill>
                  <a:srgbClr val="FF0000"/>
                </a:solidFill>
                <a:sym typeface="Wingdings" panose="05000000000000000000" pitchFamily="2" charset="2"/>
              </a:rPr>
              <a:t> </a:t>
            </a:r>
            <a:r>
              <a:rPr lang="en-US" dirty="0">
                <a:solidFill>
                  <a:srgbClr val="FF0000"/>
                </a:solidFill>
              </a:rPr>
              <a:t>first </a:t>
            </a:r>
            <a:br>
              <a:rPr lang="en-US" dirty="0">
                <a:solidFill>
                  <a:srgbClr val="FF0000"/>
                </a:solidFill>
              </a:rPr>
            </a:br>
            <a:r>
              <a:rPr lang="en-US" dirty="0">
                <a:solidFill>
                  <a:srgbClr val="FF0000"/>
                </a:solidFill>
              </a:rPr>
              <a:t>removed</a:t>
            </a:r>
          </a:p>
        </p:txBody>
      </p:sp>
      <p:sp>
        <p:nvSpPr>
          <p:cNvPr id="6" name="Rectangle 48"/>
          <p:cNvSpPr>
            <a:spLocks noChangeArrowheads="1"/>
          </p:cNvSpPr>
          <p:nvPr/>
        </p:nvSpPr>
        <p:spPr bwMode="auto">
          <a:xfrm>
            <a:off x="7056028" y="2557837"/>
            <a:ext cx="995363" cy="280987"/>
          </a:xfrm>
          <a:prstGeom prst="rect">
            <a:avLst/>
          </a:prstGeom>
          <a:noFill/>
          <a:ln w="38100" algn="ctr">
            <a:solidFill>
              <a:srgbClr val="CC0099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>
              <a:spcBef>
                <a:spcPts val="1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 algn="l">
              <a:spcBef>
                <a:spcPts val="525"/>
              </a:spcBef>
              <a:buClr>
                <a:srgbClr val="000000"/>
              </a:buClr>
              <a:buSzPct val="10000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Helvetica" panose="020B0604020202020204" pitchFamily="34" charset="0"/>
              <a:buChar char="–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2543221"/>
      </p:ext>
    </p:extLst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Tracing Through Some Examples</a:t>
            </a:r>
          </a:p>
        </p:txBody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802687" cy="5614988"/>
          </a:xfrm>
        </p:spPr>
        <p:txBody>
          <a:bodyPr/>
          <a:lstStyle/>
          <a:p>
            <a:r>
              <a:rPr lang="en-US" altLang="en-US" dirty="0"/>
              <a:t>Start with the </a:t>
            </a:r>
            <a:r>
              <a:rPr lang="en-US" altLang="en-US" dirty="0" err="1"/>
              <a:t>hashtable</a:t>
            </a:r>
            <a:r>
              <a:rPr lang="en-US" altLang="en-US" dirty="0"/>
              <a:t> at right with:</a:t>
            </a:r>
          </a:p>
          <a:p>
            <a:pPr lvl="1"/>
            <a:r>
              <a:rPr lang="en-US" altLang="en-US" dirty="0"/>
              <a:t>double hashing</a:t>
            </a:r>
          </a:p>
          <a:p>
            <a:pPr lvl="1"/>
            <a:r>
              <a:rPr lang="en-US" altLang="en-US" dirty="0"/>
              <a:t>our earlier hash functions h1 and h2</a:t>
            </a:r>
          </a:p>
          <a:p>
            <a:pPr>
              <a:spcBef>
                <a:spcPts val="2400"/>
              </a:spcBef>
            </a:pPr>
            <a:r>
              <a:rPr lang="en-US" altLang="en-US" dirty="0"/>
              <a:t>Perform the following operations:</a:t>
            </a:r>
          </a:p>
          <a:p>
            <a:pPr lvl="1">
              <a:spcBef>
                <a:spcPts val="500"/>
              </a:spcBef>
            </a:pPr>
            <a:r>
              <a:rPr lang="en-US" altLang="en-US" dirty="0"/>
              <a:t>insert "bear" (h1 = 1, h2 = 4): try 1 – open!</a:t>
            </a:r>
          </a:p>
          <a:p>
            <a:pPr lvl="1">
              <a:spcBef>
                <a:spcPts val="500"/>
              </a:spcBef>
            </a:pPr>
            <a:r>
              <a:rPr lang="en-US" altLang="en-US" dirty="0"/>
              <a:t>insert "bison" (h1 = 1, h2 = 5):</a:t>
            </a:r>
            <a:br>
              <a:rPr lang="en-US" altLang="en-US" dirty="0"/>
            </a:br>
            <a:r>
              <a:rPr lang="en-US" altLang="en-US" dirty="0"/>
              <a:t>try 1, (1 + 5) % 26 – open!</a:t>
            </a:r>
          </a:p>
          <a:p>
            <a:pPr lvl="1">
              <a:spcBef>
                <a:spcPts val="500"/>
              </a:spcBef>
            </a:pPr>
            <a:r>
              <a:rPr lang="en-US" altLang="en-US" dirty="0"/>
              <a:t>insert "cow" (h1 = 2, h2 = 3):</a:t>
            </a:r>
            <a:br>
              <a:rPr lang="en-US" altLang="en-US" dirty="0"/>
            </a:br>
            <a:r>
              <a:rPr lang="en-US" altLang="en-US" dirty="0"/>
              <a:t>try 2, (2 + 3) % 26, (2 + 2*3) % 26 – open!</a:t>
            </a:r>
          </a:p>
          <a:p>
            <a:pPr lvl="1">
              <a:spcBef>
                <a:spcPts val="500"/>
              </a:spcBef>
            </a:pPr>
            <a:r>
              <a:rPr lang="en-US" altLang="en-US" dirty="0"/>
              <a:t>delete "emu" (h1 = 4, h2 = 3):</a:t>
            </a:r>
            <a:br>
              <a:rPr lang="en-US" altLang="en-US" dirty="0"/>
            </a:br>
            <a:r>
              <a:rPr lang="en-US" altLang="en-US" dirty="0"/>
              <a:t>try 4 – found! make it a removed cell</a:t>
            </a:r>
          </a:p>
          <a:p>
            <a:pPr lvl="1">
              <a:spcBef>
                <a:spcPts val="500"/>
              </a:spcBef>
            </a:pPr>
            <a:r>
              <a:rPr lang="en-US" altLang="en-US" dirty="0"/>
              <a:t>search "eel" (h1 = 4, h2 = 3):</a:t>
            </a:r>
            <a:br>
              <a:rPr lang="en-US" altLang="en-US" dirty="0"/>
            </a:br>
            <a:r>
              <a:rPr lang="en-US" altLang="en-US" dirty="0"/>
              <a:t>try 4 (can't stop at removed), </a:t>
            </a:r>
            <a:r>
              <a:rPr lang="en-US" altLang="en-US" dirty="0">
                <a:solidFill>
                  <a:schemeClr val="tx1"/>
                </a:solidFill>
              </a:rPr>
              <a:t>(4</a:t>
            </a:r>
            <a:r>
              <a:rPr lang="en-US" altLang="en-US" sz="1000" dirty="0">
                <a:solidFill>
                  <a:schemeClr val="tx1"/>
                </a:solidFill>
              </a:rPr>
              <a:t> </a:t>
            </a:r>
            <a:r>
              <a:rPr lang="en-US" altLang="en-US" dirty="0">
                <a:solidFill>
                  <a:schemeClr val="tx1"/>
                </a:solidFill>
              </a:rPr>
              <a:t>+</a:t>
            </a:r>
            <a:r>
              <a:rPr lang="en-US" altLang="en-US" sz="1000" dirty="0">
                <a:solidFill>
                  <a:schemeClr val="tx1"/>
                </a:solidFill>
              </a:rPr>
              <a:t> </a:t>
            </a:r>
            <a:r>
              <a:rPr lang="en-US" altLang="en-US" dirty="0">
                <a:solidFill>
                  <a:schemeClr val="tx1"/>
                </a:solidFill>
              </a:rPr>
              <a:t>3)</a:t>
            </a:r>
            <a:r>
              <a:rPr lang="en-US" altLang="en-US" sz="1000" dirty="0">
                <a:solidFill>
                  <a:schemeClr val="tx1"/>
                </a:solidFill>
              </a:rPr>
              <a:t> </a:t>
            </a:r>
            <a:r>
              <a:rPr lang="en-US" altLang="en-US" dirty="0">
                <a:solidFill>
                  <a:schemeClr val="tx1"/>
                </a:solidFill>
              </a:rPr>
              <a:t>%</a:t>
            </a:r>
            <a:r>
              <a:rPr lang="en-US" altLang="en-US" sz="1000" dirty="0">
                <a:solidFill>
                  <a:schemeClr val="tx1"/>
                </a:solidFill>
              </a:rPr>
              <a:t> </a:t>
            </a:r>
            <a:r>
              <a:rPr lang="en-US" altLang="en-US" dirty="0">
                <a:solidFill>
                  <a:schemeClr val="tx1"/>
                </a:solidFill>
              </a:rPr>
              <a:t>26</a:t>
            </a:r>
            <a:r>
              <a:rPr lang="en-US" altLang="en-US" sz="1000" dirty="0">
                <a:solidFill>
                  <a:schemeClr val="tx1"/>
                </a:solidFill>
              </a:rPr>
              <a:t> </a:t>
            </a:r>
            <a:r>
              <a:rPr lang="en-US" altLang="en-US" dirty="0">
                <a:solidFill>
                  <a:schemeClr val="tx1"/>
                </a:solidFill>
              </a:rPr>
              <a:t>–</a:t>
            </a:r>
            <a:r>
              <a:rPr lang="en-US" altLang="en-US" sz="1000" dirty="0">
                <a:solidFill>
                  <a:schemeClr val="tx1"/>
                </a:solidFill>
              </a:rPr>
              <a:t> </a:t>
            </a:r>
            <a:r>
              <a:rPr lang="en-US" altLang="en-US" dirty="0">
                <a:solidFill>
                  <a:schemeClr val="tx1"/>
                </a:solidFill>
              </a:rPr>
              <a:t>e</a:t>
            </a:r>
            <a:r>
              <a:rPr lang="en-US" altLang="en-US" dirty="0"/>
              <a:t>mpty, so not found</a:t>
            </a:r>
          </a:p>
          <a:p>
            <a:pPr lvl="1">
              <a:spcBef>
                <a:spcPts val="500"/>
              </a:spcBef>
            </a:pPr>
            <a:r>
              <a:rPr lang="en-US" altLang="en-US" b="1" dirty="0">
                <a:solidFill>
                  <a:srgbClr val="0000FF"/>
                </a:solidFill>
              </a:rPr>
              <a:t>insert "bee".</a:t>
            </a:r>
            <a:r>
              <a:rPr lang="en-US" altLang="en-US" dirty="0"/>
              <a:t> </a:t>
            </a:r>
            <a:r>
              <a:rPr lang="en-US" altLang="en-US" b="1" dirty="0">
                <a:solidFill>
                  <a:srgbClr val="0000FF"/>
                </a:solidFill>
              </a:rPr>
              <a:t>in which position will it go?</a:t>
            </a:r>
            <a:br>
              <a:rPr lang="en-US" altLang="en-US" b="1" dirty="0">
                <a:solidFill>
                  <a:srgbClr val="0000FF"/>
                </a:solidFill>
              </a:rPr>
            </a:br>
            <a:r>
              <a:rPr lang="en-US" altLang="en-US" dirty="0">
                <a:solidFill>
                  <a:srgbClr val="FF0000"/>
                </a:solidFill>
              </a:rPr>
              <a:t>(h1 = 1, h2 = 3): try 1,</a:t>
            </a:r>
            <a:r>
              <a:rPr lang="en-US" altLang="en-US" b="1" dirty="0">
                <a:solidFill>
                  <a:srgbClr val="FF0000"/>
                </a:solidFill>
              </a:rPr>
              <a:t> </a:t>
            </a:r>
            <a:r>
              <a:rPr lang="en-US" altLang="en-US" dirty="0">
                <a:solidFill>
                  <a:srgbClr val="FF0000"/>
                </a:solidFill>
              </a:rPr>
              <a:t>(1 + 3) % 26,</a:t>
            </a:r>
            <a:r>
              <a:rPr lang="en-US" altLang="en-US" b="1" dirty="0">
                <a:solidFill>
                  <a:srgbClr val="FF0000"/>
                </a:solidFill>
              </a:rPr>
              <a:t> (1 + 2*3) % 26</a:t>
            </a:r>
          </a:p>
          <a:p>
            <a:pPr lvl="1">
              <a:spcBef>
                <a:spcPts val="500"/>
              </a:spcBef>
            </a:pPr>
            <a:endParaRPr lang="en-US" altLang="en-US" dirty="0"/>
          </a:p>
          <a:p>
            <a:pPr marL="457200" lvl="1" indent="0">
              <a:spcBef>
                <a:spcPts val="500"/>
              </a:spcBef>
              <a:buNone/>
            </a:pPr>
            <a:endParaRPr lang="en-US" altLang="en-US" dirty="0"/>
          </a:p>
        </p:txBody>
      </p:sp>
      <p:graphicFrame>
        <p:nvGraphicFramePr>
          <p:cNvPr id="3274756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4652631"/>
              </p:ext>
            </p:extLst>
          </p:nvPr>
        </p:nvGraphicFramePr>
        <p:xfrm>
          <a:off x="5980113" y="1192213"/>
          <a:ext cx="2097087" cy="3687794"/>
        </p:xfrm>
        <a:graphic>
          <a:graphicData uri="http://schemas.openxmlformats.org/drawingml/2006/table">
            <a:tbl>
              <a:tblPr/>
              <a:tblGrid>
                <a:gridCol w="105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6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0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"ant"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Lucida Console" pitchFamily="49" charset="0"/>
                        </a:rPr>
                        <a:t>"bear"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"cat"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3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4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5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"fox"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6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Lucida Console" pitchFamily="49" charset="0"/>
                        </a:rPr>
                        <a:t>"bison"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7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8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Lucida Console" pitchFamily="49" charset="0"/>
                        </a:rPr>
                        <a:t>"cow"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9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10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8077200" y="2530548"/>
            <a:ext cx="9220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dirty="0">
                <a:solidFill>
                  <a:srgbClr val="FF0000"/>
                </a:solidFill>
                <a:sym typeface="Wingdings" panose="05000000000000000000" pitchFamily="2" charset="2"/>
              </a:rPr>
              <a:t> </a:t>
            </a:r>
            <a:r>
              <a:rPr lang="en-US" dirty="0">
                <a:solidFill>
                  <a:srgbClr val="FF0000"/>
                </a:solidFill>
              </a:rPr>
              <a:t>first </a:t>
            </a:r>
            <a:br>
              <a:rPr lang="en-US" dirty="0">
                <a:solidFill>
                  <a:srgbClr val="FF0000"/>
                </a:solidFill>
              </a:rPr>
            </a:br>
            <a:r>
              <a:rPr lang="en-US" dirty="0">
                <a:solidFill>
                  <a:srgbClr val="FF0000"/>
                </a:solidFill>
              </a:rPr>
              <a:t>removed</a:t>
            </a:r>
          </a:p>
        </p:txBody>
      </p:sp>
      <p:sp>
        <p:nvSpPr>
          <p:cNvPr id="6" name="Rectangle 48"/>
          <p:cNvSpPr>
            <a:spLocks noChangeArrowheads="1"/>
          </p:cNvSpPr>
          <p:nvPr/>
        </p:nvSpPr>
        <p:spPr bwMode="auto">
          <a:xfrm>
            <a:off x="7056028" y="3567932"/>
            <a:ext cx="995363" cy="280987"/>
          </a:xfrm>
          <a:prstGeom prst="rect">
            <a:avLst/>
          </a:prstGeom>
          <a:noFill/>
          <a:ln w="38100" algn="ctr">
            <a:solidFill>
              <a:srgbClr val="CC0099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>
              <a:spcBef>
                <a:spcPts val="1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 algn="l">
              <a:spcBef>
                <a:spcPts val="525"/>
              </a:spcBef>
              <a:buClr>
                <a:srgbClr val="000000"/>
              </a:buClr>
              <a:buSzPct val="10000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Helvetica" panose="020B0604020202020204" pitchFamily="34" charset="0"/>
              <a:buChar char="–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29363997"/>
      </p:ext>
    </p:extLst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Tracing Through Some Examples</a:t>
            </a:r>
          </a:p>
        </p:txBody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802687" cy="5614988"/>
          </a:xfrm>
        </p:spPr>
        <p:txBody>
          <a:bodyPr/>
          <a:lstStyle/>
          <a:p>
            <a:r>
              <a:rPr lang="en-US" altLang="en-US" dirty="0"/>
              <a:t>Start with the </a:t>
            </a:r>
            <a:r>
              <a:rPr lang="en-US" altLang="en-US" dirty="0" err="1"/>
              <a:t>hashtable</a:t>
            </a:r>
            <a:r>
              <a:rPr lang="en-US" altLang="en-US" dirty="0"/>
              <a:t> at right with:</a:t>
            </a:r>
          </a:p>
          <a:p>
            <a:pPr lvl="1"/>
            <a:r>
              <a:rPr lang="en-US" altLang="en-US" dirty="0"/>
              <a:t>double hashing</a:t>
            </a:r>
          </a:p>
          <a:p>
            <a:pPr lvl="1"/>
            <a:r>
              <a:rPr lang="en-US" altLang="en-US" dirty="0"/>
              <a:t>our earlier hash functions h1 and h2</a:t>
            </a:r>
          </a:p>
          <a:p>
            <a:pPr>
              <a:spcBef>
                <a:spcPts val="2400"/>
              </a:spcBef>
            </a:pPr>
            <a:r>
              <a:rPr lang="en-US" altLang="en-US" dirty="0"/>
              <a:t>Perform the following operations:</a:t>
            </a:r>
          </a:p>
          <a:p>
            <a:pPr lvl="1">
              <a:spcBef>
                <a:spcPts val="500"/>
              </a:spcBef>
            </a:pPr>
            <a:r>
              <a:rPr lang="en-US" altLang="en-US" dirty="0"/>
              <a:t>insert "bear" (h1 = 1, h2 = 4): try 1 – open!</a:t>
            </a:r>
          </a:p>
          <a:p>
            <a:pPr lvl="1">
              <a:spcBef>
                <a:spcPts val="500"/>
              </a:spcBef>
            </a:pPr>
            <a:r>
              <a:rPr lang="en-US" altLang="en-US" dirty="0"/>
              <a:t>insert "bison" (h1 = 1, h2 = 5):</a:t>
            </a:r>
            <a:br>
              <a:rPr lang="en-US" altLang="en-US" dirty="0"/>
            </a:br>
            <a:r>
              <a:rPr lang="en-US" altLang="en-US" dirty="0"/>
              <a:t>try 1, (1 + 5) % 26 – open!</a:t>
            </a:r>
          </a:p>
          <a:p>
            <a:pPr lvl="1">
              <a:spcBef>
                <a:spcPts val="500"/>
              </a:spcBef>
            </a:pPr>
            <a:r>
              <a:rPr lang="en-US" altLang="en-US" dirty="0"/>
              <a:t>insert "cow" (h1 = 2, h2 = 3):</a:t>
            </a:r>
            <a:br>
              <a:rPr lang="en-US" altLang="en-US" dirty="0"/>
            </a:br>
            <a:r>
              <a:rPr lang="en-US" altLang="en-US" dirty="0"/>
              <a:t>try 2, (2 + 3) % 26, (2 + 2*3) % 26 – open!</a:t>
            </a:r>
          </a:p>
          <a:p>
            <a:pPr lvl="1">
              <a:spcBef>
                <a:spcPts val="500"/>
              </a:spcBef>
            </a:pPr>
            <a:r>
              <a:rPr lang="en-US" altLang="en-US" dirty="0"/>
              <a:t>delete "emu" (h1 = 4, h2 = 3):</a:t>
            </a:r>
            <a:br>
              <a:rPr lang="en-US" altLang="en-US" dirty="0"/>
            </a:br>
            <a:r>
              <a:rPr lang="en-US" altLang="en-US" dirty="0"/>
              <a:t>try 4 – found! make it a removed cell</a:t>
            </a:r>
          </a:p>
          <a:p>
            <a:pPr lvl="1">
              <a:spcBef>
                <a:spcPts val="500"/>
              </a:spcBef>
            </a:pPr>
            <a:r>
              <a:rPr lang="en-US" altLang="en-US" dirty="0"/>
              <a:t>search "eel" (h1 = 4, h2 = 3):</a:t>
            </a:r>
            <a:br>
              <a:rPr lang="en-US" altLang="en-US" dirty="0"/>
            </a:br>
            <a:r>
              <a:rPr lang="en-US" altLang="en-US" dirty="0"/>
              <a:t>try 4 (can't stop at removed), </a:t>
            </a:r>
            <a:r>
              <a:rPr lang="en-US" altLang="en-US" dirty="0">
                <a:solidFill>
                  <a:schemeClr val="tx1"/>
                </a:solidFill>
              </a:rPr>
              <a:t>(4</a:t>
            </a:r>
            <a:r>
              <a:rPr lang="en-US" altLang="en-US" sz="1000" dirty="0">
                <a:solidFill>
                  <a:schemeClr val="tx1"/>
                </a:solidFill>
              </a:rPr>
              <a:t> </a:t>
            </a:r>
            <a:r>
              <a:rPr lang="en-US" altLang="en-US" dirty="0">
                <a:solidFill>
                  <a:schemeClr val="tx1"/>
                </a:solidFill>
              </a:rPr>
              <a:t>+</a:t>
            </a:r>
            <a:r>
              <a:rPr lang="en-US" altLang="en-US" sz="1000" dirty="0">
                <a:solidFill>
                  <a:schemeClr val="tx1"/>
                </a:solidFill>
              </a:rPr>
              <a:t> </a:t>
            </a:r>
            <a:r>
              <a:rPr lang="en-US" altLang="en-US" dirty="0">
                <a:solidFill>
                  <a:schemeClr val="tx1"/>
                </a:solidFill>
              </a:rPr>
              <a:t>3)</a:t>
            </a:r>
            <a:r>
              <a:rPr lang="en-US" altLang="en-US" sz="1000" dirty="0">
                <a:solidFill>
                  <a:schemeClr val="tx1"/>
                </a:solidFill>
              </a:rPr>
              <a:t> </a:t>
            </a:r>
            <a:r>
              <a:rPr lang="en-US" altLang="en-US" dirty="0">
                <a:solidFill>
                  <a:schemeClr val="tx1"/>
                </a:solidFill>
              </a:rPr>
              <a:t>%</a:t>
            </a:r>
            <a:r>
              <a:rPr lang="en-US" altLang="en-US" sz="1000" dirty="0">
                <a:solidFill>
                  <a:schemeClr val="tx1"/>
                </a:solidFill>
              </a:rPr>
              <a:t> </a:t>
            </a:r>
            <a:r>
              <a:rPr lang="en-US" altLang="en-US" dirty="0">
                <a:solidFill>
                  <a:schemeClr val="tx1"/>
                </a:solidFill>
              </a:rPr>
              <a:t>26</a:t>
            </a:r>
            <a:r>
              <a:rPr lang="en-US" altLang="en-US" sz="1000" dirty="0">
                <a:solidFill>
                  <a:schemeClr val="tx1"/>
                </a:solidFill>
              </a:rPr>
              <a:t> </a:t>
            </a:r>
            <a:r>
              <a:rPr lang="en-US" altLang="en-US" dirty="0">
                <a:solidFill>
                  <a:schemeClr val="tx1"/>
                </a:solidFill>
              </a:rPr>
              <a:t>–</a:t>
            </a:r>
            <a:r>
              <a:rPr lang="en-US" altLang="en-US" sz="1000" dirty="0">
                <a:solidFill>
                  <a:schemeClr val="tx1"/>
                </a:solidFill>
              </a:rPr>
              <a:t> </a:t>
            </a:r>
            <a:r>
              <a:rPr lang="en-US" altLang="en-US" dirty="0">
                <a:solidFill>
                  <a:schemeClr val="tx1"/>
                </a:solidFill>
              </a:rPr>
              <a:t>e</a:t>
            </a:r>
            <a:r>
              <a:rPr lang="en-US" altLang="en-US" dirty="0"/>
              <a:t>mpty, so not found</a:t>
            </a:r>
          </a:p>
          <a:p>
            <a:pPr lvl="1">
              <a:spcBef>
                <a:spcPts val="500"/>
              </a:spcBef>
            </a:pPr>
            <a:r>
              <a:rPr lang="en-US" altLang="en-US" b="1" dirty="0">
                <a:solidFill>
                  <a:srgbClr val="0000FF"/>
                </a:solidFill>
              </a:rPr>
              <a:t>insert "bee".</a:t>
            </a:r>
            <a:r>
              <a:rPr lang="en-US" altLang="en-US" dirty="0"/>
              <a:t> </a:t>
            </a:r>
            <a:r>
              <a:rPr lang="en-US" altLang="en-US" b="1" dirty="0">
                <a:solidFill>
                  <a:srgbClr val="0000FF"/>
                </a:solidFill>
              </a:rPr>
              <a:t>in which position will it go?</a:t>
            </a:r>
            <a:br>
              <a:rPr lang="en-US" altLang="en-US" b="1" dirty="0">
                <a:solidFill>
                  <a:srgbClr val="0000FF"/>
                </a:solidFill>
              </a:rPr>
            </a:br>
            <a:r>
              <a:rPr lang="en-US" altLang="en-US" dirty="0">
                <a:solidFill>
                  <a:srgbClr val="FF0000"/>
                </a:solidFill>
              </a:rPr>
              <a:t>(h1 = 1, h2 = 3): try 1,</a:t>
            </a:r>
            <a:r>
              <a:rPr lang="en-US" altLang="en-US" b="1" dirty="0">
                <a:solidFill>
                  <a:srgbClr val="FF0000"/>
                </a:solidFill>
              </a:rPr>
              <a:t> </a:t>
            </a:r>
            <a:r>
              <a:rPr lang="en-US" altLang="en-US" dirty="0">
                <a:solidFill>
                  <a:srgbClr val="FF0000"/>
                </a:solidFill>
              </a:rPr>
              <a:t>(1 + 3) % 26,</a:t>
            </a:r>
            <a:r>
              <a:rPr lang="en-US" altLang="en-US" b="1" dirty="0">
                <a:solidFill>
                  <a:srgbClr val="FF0000"/>
                </a:solidFill>
              </a:rPr>
              <a:t> (1 + 2*3) % 26 (empty)</a:t>
            </a:r>
          </a:p>
          <a:p>
            <a:pPr lvl="1">
              <a:spcBef>
                <a:spcPts val="500"/>
              </a:spcBef>
            </a:pPr>
            <a:endParaRPr lang="en-US" altLang="en-US" dirty="0"/>
          </a:p>
          <a:p>
            <a:pPr marL="457200" lvl="1" indent="0">
              <a:spcBef>
                <a:spcPts val="500"/>
              </a:spcBef>
              <a:buNone/>
            </a:pPr>
            <a:endParaRPr lang="en-US" altLang="en-US" dirty="0"/>
          </a:p>
        </p:txBody>
      </p:sp>
      <p:graphicFrame>
        <p:nvGraphicFramePr>
          <p:cNvPr id="3274756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4652631"/>
              </p:ext>
            </p:extLst>
          </p:nvPr>
        </p:nvGraphicFramePr>
        <p:xfrm>
          <a:off x="5980113" y="1192213"/>
          <a:ext cx="2097087" cy="3687794"/>
        </p:xfrm>
        <a:graphic>
          <a:graphicData uri="http://schemas.openxmlformats.org/drawingml/2006/table">
            <a:tbl>
              <a:tblPr/>
              <a:tblGrid>
                <a:gridCol w="105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6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0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"ant"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Lucida Console" pitchFamily="49" charset="0"/>
                        </a:rPr>
                        <a:t>"bear"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"cat"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3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4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5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"fox"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6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Lucida Console" pitchFamily="49" charset="0"/>
                        </a:rPr>
                        <a:t>"bison"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7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8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Lucida Console" pitchFamily="49" charset="0"/>
                        </a:rPr>
                        <a:t>"cow"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9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10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8077200" y="2530548"/>
            <a:ext cx="9220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dirty="0">
                <a:solidFill>
                  <a:srgbClr val="FF0000"/>
                </a:solidFill>
                <a:sym typeface="Wingdings" panose="05000000000000000000" pitchFamily="2" charset="2"/>
              </a:rPr>
              <a:t> </a:t>
            </a:r>
            <a:r>
              <a:rPr lang="en-US" dirty="0">
                <a:solidFill>
                  <a:srgbClr val="FF0000"/>
                </a:solidFill>
              </a:rPr>
              <a:t>first </a:t>
            </a:r>
            <a:br>
              <a:rPr lang="en-US" dirty="0">
                <a:solidFill>
                  <a:srgbClr val="FF0000"/>
                </a:solidFill>
              </a:rPr>
            </a:br>
            <a:r>
              <a:rPr lang="en-US" dirty="0">
                <a:solidFill>
                  <a:srgbClr val="FF0000"/>
                </a:solidFill>
              </a:rPr>
              <a:t>removed</a:t>
            </a:r>
          </a:p>
        </p:txBody>
      </p:sp>
      <p:sp>
        <p:nvSpPr>
          <p:cNvPr id="6" name="Rectangle 48"/>
          <p:cNvSpPr>
            <a:spLocks noChangeArrowheads="1"/>
          </p:cNvSpPr>
          <p:nvPr/>
        </p:nvSpPr>
        <p:spPr bwMode="auto">
          <a:xfrm>
            <a:off x="7056028" y="3567932"/>
            <a:ext cx="995363" cy="280987"/>
          </a:xfrm>
          <a:prstGeom prst="rect">
            <a:avLst/>
          </a:prstGeom>
          <a:noFill/>
          <a:ln w="38100" algn="ctr">
            <a:solidFill>
              <a:srgbClr val="CC0099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>
              <a:spcBef>
                <a:spcPts val="1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 algn="l">
              <a:spcBef>
                <a:spcPts val="525"/>
              </a:spcBef>
              <a:buClr>
                <a:srgbClr val="000000"/>
              </a:buClr>
              <a:buSzPct val="10000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Helvetica" panose="020B0604020202020204" pitchFamily="34" charset="0"/>
              <a:buChar char="–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57541858"/>
      </p:ext>
    </p:extLst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Tracing Through Some Examples</a:t>
            </a:r>
          </a:p>
        </p:txBody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802687" cy="5614988"/>
          </a:xfrm>
        </p:spPr>
        <p:txBody>
          <a:bodyPr/>
          <a:lstStyle/>
          <a:p>
            <a:r>
              <a:rPr lang="en-US" altLang="en-US" dirty="0"/>
              <a:t>Start with the </a:t>
            </a:r>
            <a:r>
              <a:rPr lang="en-US" altLang="en-US" dirty="0" err="1"/>
              <a:t>hashtable</a:t>
            </a:r>
            <a:r>
              <a:rPr lang="en-US" altLang="en-US" dirty="0"/>
              <a:t> at right with:</a:t>
            </a:r>
          </a:p>
          <a:p>
            <a:pPr lvl="1"/>
            <a:r>
              <a:rPr lang="en-US" altLang="en-US" dirty="0"/>
              <a:t>double hashing</a:t>
            </a:r>
          </a:p>
          <a:p>
            <a:pPr lvl="1"/>
            <a:r>
              <a:rPr lang="en-US" altLang="en-US" dirty="0"/>
              <a:t>our earlier hash functions h1 and h2</a:t>
            </a:r>
          </a:p>
          <a:p>
            <a:pPr>
              <a:spcBef>
                <a:spcPts val="2400"/>
              </a:spcBef>
            </a:pPr>
            <a:r>
              <a:rPr lang="en-US" altLang="en-US" dirty="0"/>
              <a:t>Perform the following operations:</a:t>
            </a:r>
          </a:p>
          <a:p>
            <a:pPr lvl="1">
              <a:spcBef>
                <a:spcPts val="500"/>
              </a:spcBef>
            </a:pPr>
            <a:r>
              <a:rPr lang="en-US" altLang="en-US" dirty="0"/>
              <a:t>insert "bear" (h1 = 1, h2 = 4): try 1 – open!</a:t>
            </a:r>
          </a:p>
          <a:p>
            <a:pPr lvl="1">
              <a:spcBef>
                <a:spcPts val="500"/>
              </a:spcBef>
            </a:pPr>
            <a:r>
              <a:rPr lang="en-US" altLang="en-US" dirty="0"/>
              <a:t>insert "bison" (h1 = 1, h2 = 5):</a:t>
            </a:r>
            <a:br>
              <a:rPr lang="en-US" altLang="en-US" dirty="0"/>
            </a:br>
            <a:r>
              <a:rPr lang="en-US" altLang="en-US" dirty="0"/>
              <a:t>try 1, (1 + 5) % 26 – open!</a:t>
            </a:r>
          </a:p>
          <a:p>
            <a:pPr lvl="1">
              <a:spcBef>
                <a:spcPts val="500"/>
              </a:spcBef>
            </a:pPr>
            <a:r>
              <a:rPr lang="en-US" altLang="en-US" dirty="0"/>
              <a:t>insert "cow" (h1 = 2, h2 = 3):</a:t>
            </a:r>
            <a:br>
              <a:rPr lang="en-US" altLang="en-US" dirty="0"/>
            </a:br>
            <a:r>
              <a:rPr lang="en-US" altLang="en-US" dirty="0"/>
              <a:t>try 2, (2 + 3) % 26, (2 + 2*3) % 26 – open!</a:t>
            </a:r>
          </a:p>
          <a:p>
            <a:pPr lvl="1">
              <a:spcBef>
                <a:spcPts val="500"/>
              </a:spcBef>
            </a:pPr>
            <a:r>
              <a:rPr lang="en-US" altLang="en-US" dirty="0"/>
              <a:t>delete "emu" (h1 = 4, h2 = 3):</a:t>
            </a:r>
            <a:br>
              <a:rPr lang="en-US" altLang="en-US" dirty="0"/>
            </a:br>
            <a:r>
              <a:rPr lang="en-US" altLang="en-US" dirty="0"/>
              <a:t>try 4 – found! make it a removed cell</a:t>
            </a:r>
          </a:p>
          <a:p>
            <a:pPr lvl="1">
              <a:spcBef>
                <a:spcPts val="500"/>
              </a:spcBef>
            </a:pPr>
            <a:r>
              <a:rPr lang="en-US" altLang="en-US" dirty="0"/>
              <a:t>search "eel" (h1 = 4, h2 = 3):</a:t>
            </a:r>
            <a:br>
              <a:rPr lang="en-US" altLang="en-US" dirty="0"/>
            </a:br>
            <a:r>
              <a:rPr lang="en-US" altLang="en-US" dirty="0"/>
              <a:t>try 4 (can't stop at removed), </a:t>
            </a:r>
            <a:r>
              <a:rPr lang="en-US" altLang="en-US" dirty="0">
                <a:solidFill>
                  <a:schemeClr val="tx1"/>
                </a:solidFill>
              </a:rPr>
              <a:t>(4</a:t>
            </a:r>
            <a:r>
              <a:rPr lang="en-US" altLang="en-US" sz="1000" dirty="0">
                <a:solidFill>
                  <a:schemeClr val="tx1"/>
                </a:solidFill>
              </a:rPr>
              <a:t> </a:t>
            </a:r>
            <a:r>
              <a:rPr lang="en-US" altLang="en-US" dirty="0">
                <a:solidFill>
                  <a:schemeClr val="tx1"/>
                </a:solidFill>
              </a:rPr>
              <a:t>+</a:t>
            </a:r>
            <a:r>
              <a:rPr lang="en-US" altLang="en-US" sz="1000" dirty="0">
                <a:solidFill>
                  <a:schemeClr val="tx1"/>
                </a:solidFill>
              </a:rPr>
              <a:t> </a:t>
            </a:r>
            <a:r>
              <a:rPr lang="en-US" altLang="en-US" dirty="0">
                <a:solidFill>
                  <a:schemeClr val="tx1"/>
                </a:solidFill>
              </a:rPr>
              <a:t>3)</a:t>
            </a:r>
            <a:r>
              <a:rPr lang="en-US" altLang="en-US" sz="1000" dirty="0">
                <a:solidFill>
                  <a:schemeClr val="tx1"/>
                </a:solidFill>
              </a:rPr>
              <a:t> </a:t>
            </a:r>
            <a:r>
              <a:rPr lang="en-US" altLang="en-US" dirty="0">
                <a:solidFill>
                  <a:schemeClr val="tx1"/>
                </a:solidFill>
              </a:rPr>
              <a:t>%</a:t>
            </a:r>
            <a:r>
              <a:rPr lang="en-US" altLang="en-US" sz="1000" dirty="0">
                <a:solidFill>
                  <a:schemeClr val="tx1"/>
                </a:solidFill>
              </a:rPr>
              <a:t> </a:t>
            </a:r>
            <a:r>
              <a:rPr lang="en-US" altLang="en-US" dirty="0">
                <a:solidFill>
                  <a:schemeClr val="tx1"/>
                </a:solidFill>
              </a:rPr>
              <a:t>26</a:t>
            </a:r>
            <a:r>
              <a:rPr lang="en-US" altLang="en-US" sz="1000" dirty="0">
                <a:solidFill>
                  <a:schemeClr val="tx1"/>
                </a:solidFill>
              </a:rPr>
              <a:t> </a:t>
            </a:r>
            <a:r>
              <a:rPr lang="en-US" altLang="en-US" dirty="0">
                <a:solidFill>
                  <a:schemeClr val="tx1"/>
                </a:solidFill>
              </a:rPr>
              <a:t>–</a:t>
            </a:r>
            <a:r>
              <a:rPr lang="en-US" altLang="en-US" sz="1000" dirty="0">
                <a:solidFill>
                  <a:schemeClr val="tx1"/>
                </a:solidFill>
              </a:rPr>
              <a:t> </a:t>
            </a:r>
            <a:r>
              <a:rPr lang="en-US" altLang="en-US" dirty="0">
                <a:solidFill>
                  <a:schemeClr val="tx1"/>
                </a:solidFill>
              </a:rPr>
              <a:t>e</a:t>
            </a:r>
            <a:r>
              <a:rPr lang="en-US" altLang="en-US" dirty="0"/>
              <a:t>mpty, so not found</a:t>
            </a:r>
          </a:p>
          <a:p>
            <a:pPr lvl="1">
              <a:spcBef>
                <a:spcPts val="500"/>
              </a:spcBef>
            </a:pPr>
            <a:r>
              <a:rPr lang="en-US" altLang="en-US" b="1" dirty="0">
                <a:solidFill>
                  <a:srgbClr val="0000FF"/>
                </a:solidFill>
              </a:rPr>
              <a:t>insert "bee".</a:t>
            </a:r>
            <a:r>
              <a:rPr lang="en-US" altLang="en-US" dirty="0"/>
              <a:t> </a:t>
            </a:r>
            <a:r>
              <a:rPr lang="en-US" altLang="en-US" b="1" dirty="0">
                <a:solidFill>
                  <a:srgbClr val="0000FF"/>
                </a:solidFill>
              </a:rPr>
              <a:t>in which position will it go?</a:t>
            </a:r>
            <a:br>
              <a:rPr lang="en-US" altLang="en-US" b="1" dirty="0">
                <a:solidFill>
                  <a:srgbClr val="0000FF"/>
                </a:solidFill>
              </a:rPr>
            </a:br>
            <a:r>
              <a:rPr lang="en-US" altLang="en-US" dirty="0">
                <a:solidFill>
                  <a:srgbClr val="FF0000"/>
                </a:solidFill>
              </a:rPr>
              <a:t>(h1 = 1, h2 = 3): try 1,</a:t>
            </a:r>
            <a:r>
              <a:rPr lang="en-US" altLang="en-US" b="1" dirty="0">
                <a:solidFill>
                  <a:srgbClr val="FF0000"/>
                </a:solidFill>
              </a:rPr>
              <a:t> </a:t>
            </a:r>
            <a:r>
              <a:rPr lang="en-US" altLang="en-US" dirty="0">
                <a:solidFill>
                  <a:srgbClr val="FF0000"/>
                </a:solidFill>
              </a:rPr>
              <a:t>(1 + 3) % 26,</a:t>
            </a:r>
            <a:r>
              <a:rPr lang="en-US" altLang="en-US" b="1" dirty="0">
                <a:solidFill>
                  <a:srgbClr val="FF0000"/>
                </a:solidFill>
              </a:rPr>
              <a:t> </a:t>
            </a:r>
            <a:r>
              <a:rPr lang="en-US" altLang="en-US" dirty="0">
                <a:solidFill>
                  <a:srgbClr val="FF0000"/>
                </a:solidFill>
              </a:rPr>
              <a:t>(1 + 2*3) % 26 (empty)</a:t>
            </a:r>
          </a:p>
          <a:p>
            <a:pPr lvl="1">
              <a:spcBef>
                <a:spcPts val="500"/>
              </a:spcBef>
            </a:pPr>
            <a:endParaRPr lang="en-US" altLang="en-US" dirty="0"/>
          </a:p>
          <a:p>
            <a:pPr marL="457200" lvl="1" indent="0">
              <a:spcBef>
                <a:spcPts val="500"/>
              </a:spcBef>
              <a:buNone/>
            </a:pPr>
            <a:endParaRPr lang="en-US" altLang="en-US" dirty="0"/>
          </a:p>
        </p:txBody>
      </p:sp>
      <p:graphicFrame>
        <p:nvGraphicFramePr>
          <p:cNvPr id="3274756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1247099"/>
              </p:ext>
            </p:extLst>
          </p:nvPr>
        </p:nvGraphicFramePr>
        <p:xfrm>
          <a:off x="5980113" y="1192213"/>
          <a:ext cx="2097087" cy="3687794"/>
        </p:xfrm>
        <a:graphic>
          <a:graphicData uri="http://schemas.openxmlformats.org/drawingml/2006/table">
            <a:tbl>
              <a:tblPr/>
              <a:tblGrid>
                <a:gridCol w="105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6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0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"ant"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Lucida Console" pitchFamily="49" charset="0"/>
                        </a:rPr>
                        <a:t>"bear"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"cat"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3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4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Lucida Console" pitchFamily="49" charset="0"/>
                        </a:rPr>
                        <a:t>"bee"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5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"fox"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6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Lucida Console" pitchFamily="49" charset="0"/>
                        </a:rPr>
                        <a:t>"bison"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7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8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Lucida Console" pitchFamily="49" charset="0"/>
                        </a:rPr>
                        <a:t>"cow"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9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10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8077200" y="2530548"/>
            <a:ext cx="9749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b="1" dirty="0">
                <a:solidFill>
                  <a:srgbClr val="FF0000"/>
                </a:solidFill>
                <a:sym typeface="Wingdings" panose="05000000000000000000" pitchFamily="2" charset="2"/>
              </a:rPr>
              <a:t> </a:t>
            </a:r>
            <a:r>
              <a:rPr lang="en-US" b="1" dirty="0">
                <a:solidFill>
                  <a:srgbClr val="FF0000"/>
                </a:solidFill>
              </a:rPr>
              <a:t>first </a:t>
            </a:r>
            <a:br>
              <a:rPr lang="en-US" b="1" dirty="0">
                <a:solidFill>
                  <a:srgbClr val="FF0000"/>
                </a:solidFill>
              </a:rPr>
            </a:br>
            <a:r>
              <a:rPr lang="en-US" b="1" dirty="0">
                <a:solidFill>
                  <a:srgbClr val="FF0000"/>
                </a:solidFill>
              </a:rPr>
              <a:t>removed</a:t>
            </a:r>
          </a:p>
        </p:txBody>
      </p:sp>
      <p:sp>
        <p:nvSpPr>
          <p:cNvPr id="6" name="Rectangle 48"/>
          <p:cNvSpPr>
            <a:spLocks noChangeArrowheads="1"/>
          </p:cNvSpPr>
          <p:nvPr/>
        </p:nvSpPr>
        <p:spPr bwMode="auto">
          <a:xfrm>
            <a:off x="7056028" y="3567932"/>
            <a:ext cx="995363" cy="280987"/>
          </a:xfrm>
          <a:prstGeom prst="rect">
            <a:avLst/>
          </a:prstGeom>
          <a:noFill/>
          <a:ln w="38100" algn="ctr">
            <a:solidFill>
              <a:srgbClr val="CC0099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>
              <a:spcBef>
                <a:spcPts val="1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 algn="l">
              <a:spcBef>
                <a:spcPts val="525"/>
              </a:spcBef>
              <a:buClr>
                <a:srgbClr val="000000"/>
              </a:buClr>
              <a:buSzPct val="10000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Helvetica" panose="020B0604020202020204" pitchFamily="34" charset="0"/>
              <a:buChar char="–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77436730"/>
      </p:ext>
    </p:extLst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Tracing Through Some Examples</a:t>
            </a:r>
          </a:p>
        </p:txBody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802687" cy="5614988"/>
          </a:xfrm>
        </p:spPr>
        <p:txBody>
          <a:bodyPr/>
          <a:lstStyle/>
          <a:p>
            <a:r>
              <a:rPr lang="en-US" altLang="en-US" dirty="0"/>
              <a:t>Start with the </a:t>
            </a:r>
            <a:r>
              <a:rPr lang="en-US" altLang="en-US" dirty="0" err="1"/>
              <a:t>hashtable</a:t>
            </a:r>
            <a:r>
              <a:rPr lang="en-US" altLang="en-US" dirty="0"/>
              <a:t> at right with:</a:t>
            </a:r>
          </a:p>
          <a:p>
            <a:pPr lvl="1"/>
            <a:r>
              <a:rPr lang="en-US" altLang="en-US" dirty="0"/>
              <a:t>double hashing</a:t>
            </a:r>
          </a:p>
          <a:p>
            <a:pPr lvl="1"/>
            <a:r>
              <a:rPr lang="en-US" altLang="en-US" dirty="0"/>
              <a:t>our earlier hash functions h1 and h2</a:t>
            </a:r>
          </a:p>
          <a:p>
            <a:pPr>
              <a:spcBef>
                <a:spcPts val="2400"/>
              </a:spcBef>
            </a:pPr>
            <a:r>
              <a:rPr lang="en-US" altLang="en-US" dirty="0"/>
              <a:t>Perform the following operations:</a:t>
            </a:r>
          </a:p>
          <a:p>
            <a:pPr lvl="1">
              <a:spcBef>
                <a:spcPts val="500"/>
              </a:spcBef>
            </a:pPr>
            <a:r>
              <a:rPr lang="en-US" altLang="en-US" dirty="0"/>
              <a:t>insert "bear" (h1 = 1, h2 = 4): try 1 – open!</a:t>
            </a:r>
          </a:p>
          <a:p>
            <a:pPr lvl="1">
              <a:spcBef>
                <a:spcPts val="500"/>
              </a:spcBef>
            </a:pPr>
            <a:r>
              <a:rPr lang="en-US" altLang="en-US" dirty="0"/>
              <a:t>insert "bison" (h1 = 1, h2 = 5):</a:t>
            </a:r>
            <a:br>
              <a:rPr lang="en-US" altLang="en-US" dirty="0"/>
            </a:br>
            <a:r>
              <a:rPr lang="en-US" altLang="en-US" dirty="0"/>
              <a:t>try 1, (1 + 5) % 26 – open!</a:t>
            </a:r>
          </a:p>
          <a:p>
            <a:pPr lvl="1">
              <a:spcBef>
                <a:spcPts val="500"/>
              </a:spcBef>
            </a:pPr>
            <a:r>
              <a:rPr lang="en-US" altLang="en-US" dirty="0"/>
              <a:t>insert "cow" (h1 = 2, h2 = 3):</a:t>
            </a:r>
            <a:br>
              <a:rPr lang="en-US" altLang="en-US" dirty="0"/>
            </a:br>
            <a:r>
              <a:rPr lang="en-US" altLang="en-US" dirty="0"/>
              <a:t>try 2, (2 + 3) % 26, (2 + 2*3) % 26 – open!</a:t>
            </a:r>
          </a:p>
          <a:p>
            <a:pPr lvl="1">
              <a:spcBef>
                <a:spcPts val="500"/>
              </a:spcBef>
            </a:pPr>
            <a:r>
              <a:rPr lang="en-US" altLang="en-US" dirty="0"/>
              <a:t>delete "emu" (h1 = 4, h2 = 3):</a:t>
            </a:r>
            <a:br>
              <a:rPr lang="en-US" altLang="en-US" dirty="0"/>
            </a:br>
            <a:r>
              <a:rPr lang="en-US" altLang="en-US" dirty="0"/>
              <a:t>try 4 – found! make it a removed cell</a:t>
            </a:r>
          </a:p>
          <a:p>
            <a:pPr lvl="1">
              <a:spcBef>
                <a:spcPts val="500"/>
              </a:spcBef>
            </a:pPr>
            <a:r>
              <a:rPr lang="en-US" altLang="en-US" dirty="0"/>
              <a:t>search "eel" (h1 = 4, h2 = 3):</a:t>
            </a:r>
            <a:br>
              <a:rPr lang="en-US" altLang="en-US" dirty="0"/>
            </a:br>
            <a:r>
              <a:rPr lang="en-US" altLang="en-US" dirty="0"/>
              <a:t>try 4 (can't stop at removed), </a:t>
            </a:r>
            <a:r>
              <a:rPr lang="en-US" altLang="en-US" dirty="0">
                <a:solidFill>
                  <a:schemeClr val="tx1"/>
                </a:solidFill>
              </a:rPr>
              <a:t>(4</a:t>
            </a:r>
            <a:r>
              <a:rPr lang="en-US" altLang="en-US" sz="1000" dirty="0">
                <a:solidFill>
                  <a:schemeClr val="tx1"/>
                </a:solidFill>
              </a:rPr>
              <a:t> </a:t>
            </a:r>
            <a:r>
              <a:rPr lang="en-US" altLang="en-US" dirty="0">
                <a:solidFill>
                  <a:schemeClr val="tx1"/>
                </a:solidFill>
              </a:rPr>
              <a:t>+</a:t>
            </a:r>
            <a:r>
              <a:rPr lang="en-US" altLang="en-US" sz="1000" dirty="0">
                <a:solidFill>
                  <a:schemeClr val="tx1"/>
                </a:solidFill>
              </a:rPr>
              <a:t> </a:t>
            </a:r>
            <a:r>
              <a:rPr lang="en-US" altLang="en-US" dirty="0">
                <a:solidFill>
                  <a:schemeClr val="tx1"/>
                </a:solidFill>
              </a:rPr>
              <a:t>3)</a:t>
            </a:r>
            <a:r>
              <a:rPr lang="en-US" altLang="en-US" sz="1000" dirty="0">
                <a:solidFill>
                  <a:schemeClr val="tx1"/>
                </a:solidFill>
              </a:rPr>
              <a:t> </a:t>
            </a:r>
            <a:r>
              <a:rPr lang="en-US" altLang="en-US" dirty="0">
                <a:solidFill>
                  <a:schemeClr val="tx1"/>
                </a:solidFill>
              </a:rPr>
              <a:t>%</a:t>
            </a:r>
            <a:r>
              <a:rPr lang="en-US" altLang="en-US" sz="1000" dirty="0">
                <a:solidFill>
                  <a:schemeClr val="tx1"/>
                </a:solidFill>
              </a:rPr>
              <a:t> </a:t>
            </a:r>
            <a:r>
              <a:rPr lang="en-US" altLang="en-US" dirty="0">
                <a:solidFill>
                  <a:schemeClr val="tx1"/>
                </a:solidFill>
              </a:rPr>
              <a:t>26</a:t>
            </a:r>
            <a:r>
              <a:rPr lang="en-US" altLang="en-US" sz="1000" dirty="0">
                <a:solidFill>
                  <a:schemeClr val="tx1"/>
                </a:solidFill>
              </a:rPr>
              <a:t> </a:t>
            </a:r>
            <a:r>
              <a:rPr lang="en-US" altLang="en-US" dirty="0">
                <a:solidFill>
                  <a:schemeClr val="tx1"/>
                </a:solidFill>
              </a:rPr>
              <a:t>–</a:t>
            </a:r>
            <a:r>
              <a:rPr lang="en-US" altLang="en-US" sz="1000" dirty="0">
                <a:solidFill>
                  <a:schemeClr val="tx1"/>
                </a:solidFill>
              </a:rPr>
              <a:t> </a:t>
            </a:r>
            <a:r>
              <a:rPr lang="en-US" altLang="en-US" dirty="0">
                <a:solidFill>
                  <a:schemeClr val="tx1"/>
                </a:solidFill>
              </a:rPr>
              <a:t>e</a:t>
            </a:r>
            <a:r>
              <a:rPr lang="en-US" altLang="en-US" dirty="0"/>
              <a:t>mpty, so not found</a:t>
            </a:r>
          </a:p>
          <a:p>
            <a:pPr lvl="1">
              <a:spcBef>
                <a:spcPts val="500"/>
              </a:spcBef>
            </a:pPr>
            <a:r>
              <a:rPr lang="en-US" altLang="en-US" b="1" dirty="0">
                <a:solidFill>
                  <a:srgbClr val="0000FF"/>
                </a:solidFill>
              </a:rPr>
              <a:t>insert "bee".</a:t>
            </a:r>
            <a:r>
              <a:rPr lang="en-US" altLang="en-US" dirty="0"/>
              <a:t> </a:t>
            </a:r>
            <a:r>
              <a:rPr lang="en-US" altLang="en-US" b="1" dirty="0">
                <a:solidFill>
                  <a:srgbClr val="0000FF"/>
                </a:solidFill>
              </a:rPr>
              <a:t>in which position will it go?</a:t>
            </a:r>
            <a:br>
              <a:rPr lang="en-US" altLang="en-US" b="1" dirty="0">
                <a:solidFill>
                  <a:srgbClr val="0000FF"/>
                </a:solidFill>
              </a:rPr>
            </a:br>
            <a:r>
              <a:rPr lang="en-US" altLang="en-US" dirty="0">
                <a:solidFill>
                  <a:schemeClr val="tx1"/>
                </a:solidFill>
              </a:rPr>
              <a:t>A.      1		   B.      3			C.      </a:t>
            </a:r>
            <a:r>
              <a:rPr lang="en-US" altLang="en-US" b="1" dirty="0">
                <a:solidFill>
                  <a:srgbClr val="FF0000"/>
                </a:solidFill>
              </a:rPr>
              <a:t>4</a:t>
            </a:r>
            <a:r>
              <a:rPr lang="en-US" altLang="en-US" dirty="0">
                <a:solidFill>
                  <a:schemeClr val="tx1"/>
                </a:solidFill>
              </a:rPr>
              <a:t>			D.      7</a:t>
            </a:r>
          </a:p>
          <a:p>
            <a:pPr lvl="1">
              <a:spcBef>
                <a:spcPts val="500"/>
              </a:spcBef>
            </a:pPr>
            <a:endParaRPr lang="en-US" altLang="en-US" dirty="0"/>
          </a:p>
          <a:p>
            <a:pPr marL="457200" lvl="1" indent="0">
              <a:spcBef>
                <a:spcPts val="500"/>
              </a:spcBef>
              <a:buNone/>
            </a:pPr>
            <a:endParaRPr lang="en-US" altLang="en-US" dirty="0"/>
          </a:p>
        </p:txBody>
      </p:sp>
      <p:graphicFrame>
        <p:nvGraphicFramePr>
          <p:cNvPr id="5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0417117"/>
              </p:ext>
            </p:extLst>
          </p:nvPr>
        </p:nvGraphicFramePr>
        <p:xfrm>
          <a:off x="5980113" y="1192213"/>
          <a:ext cx="2097087" cy="3687794"/>
        </p:xfrm>
        <a:graphic>
          <a:graphicData uri="http://schemas.openxmlformats.org/drawingml/2006/table">
            <a:tbl>
              <a:tblPr/>
              <a:tblGrid>
                <a:gridCol w="105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6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0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"ant"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Lucida Console" pitchFamily="49" charset="0"/>
                        </a:rPr>
                        <a:t>"bear"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"cat"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3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4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Lucida Console" pitchFamily="49" charset="0"/>
                        </a:rPr>
                        <a:t>"bee"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5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"fox"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6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Lucida Console" pitchFamily="49" charset="0"/>
                        </a:rPr>
                        <a:t>"bison"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7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8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Lucida Console" pitchFamily="49" charset="0"/>
                        </a:rPr>
                        <a:t>"cow"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9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10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077200" y="2530548"/>
            <a:ext cx="9749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b="1" dirty="0">
                <a:solidFill>
                  <a:srgbClr val="FF0000"/>
                </a:solidFill>
                <a:sym typeface="Wingdings" panose="05000000000000000000" pitchFamily="2" charset="2"/>
              </a:rPr>
              <a:t> </a:t>
            </a:r>
            <a:r>
              <a:rPr lang="en-US" b="1" dirty="0">
                <a:solidFill>
                  <a:srgbClr val="FF0000"/>
                </a:solidFill>
              </a:rPr>
              <a:t>first </a:t>
            </a:r>
            <a:br>
              <a:rPr lang="en-US" b="1" dirty="0">
                <a:solidFill>
                  <a:srgbClr val="FF0000"/>
                </a:solidFill>
              </a:rPr>
            </a:br>
            <a:r>
              <a:rPr lang="en-US" b="1" dirty="0">
                <a:solidFill>
                  <a:srgbClr val="FF0000"/>
                </a:solidFill>
              </a:rPr>
              <a:t>removed</a:t>
            </a:r>
          </a:p>
        </p:txBody>
      </p:sp>
      <p:sp>
        <p:nvSpPr>
          <p:cNvPr id="7" name="Rectangle 48"/>
          <p:cNvSpPr>
            <a:spLocks noChangeArrowheads="1"/>
          </p:cNvSpPr>
          <p:nvPr/>
        </p:nvSpPr>
        <p:spPr bwMode="auto">
          <a:xfrm>
            <a:off x="7056028" y="3567932"/>
            <a:ext cx="995363" cy="280987"/>
          </a:xfrm>
          <a:prstGeom prst="rect">
            <a:avLst/>
          </a:prstGeom>
          <a:noFill/>
          <a:ln w="38100" algn="ctr">
            <a:solidFill>
              <a:srgbClr val="CC0099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>
              <a:spcBef>
                <a:spcPts val="1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 algn="l">
              <a:spcBef>
                <a:spcPts val="525"/>
              </a:spcBef>
              <a:buClr>
                <a:srgbClr val="000000"/>
              </a:buClr>
              <a:buSzPct val="10000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Helvetica" panose="020B0604020202020204" pitchFamily="34" charset="0"/>
              <a:buChar char="–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28765770"/>
      </p:ext>
    </p:extLst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87375" y="718457"/>
            <a:ext cx="6126934" cy="67926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82946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 dirty="0"/>
              <a:t>Dealing with </a:t>
            </a:r>
            <a:r>
              <a:rPr lang="en-US" altLang="en-US" b="1" dirty="0"/>
              <a:t>Overflow</a:t>
            </a:r>
          </a:p>
        </p:txBody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802687" cy="5614988"/>
          </a:xfrm>
        </p:spPr>
        <p:txBody>
          <a:bodyPr/>
          <a:lstStyle/>
          <a:p>
            <a:r>
              <a:rPr lang="en-US" altLang="en-US" dirty="0">
                <a:solidFill>
                  <a:srgbClr val="0000FF"/>
                </a:solidFill>
              </a:rPr>
              <a:t>Overflow = can't find a position for an item</a:t>
            </a:r>
          </a:p>
          <a:p>
            <a:r>
              <a:rPr lang="en-US" altLang="en-US" dirty="0"/>
              <a:t>When does it occur?</a:t>
            </a:r>
          </a:p>
          <a:p>
            <a:pPr lvl="1">
              <a:spcBef>
                <a:spcPts val="800"/>
              </a:spcBef>
            </a:pPr>
            <a:r>
              <a:rPr lang="en-US" altLang="en-US" dirty="0"/>
              <a:t>linear probing: </a:t>
            </a:r>
            <a:endParaRPr lang="en-US" altLang="en-US" dirty="0">
              <a:solidFill>
                <a:srgbClr val="0000FF"/>
              </a:solidFill>
            </a:endParaRPr>
          </a:p>
          <a:p>
            <a:pPr lvl="1">
              <a:spcBef>
                <a:spcPts val="800"/>
              </a:spcBef>
            </a:pPr>
            <a:r>
              <a:rPr lang="en-US" altLang="en-US" dirty="0"/>
              <a:t>quadratic probing:</a:t>
            </a:r>
          </a:p>
          <a:p>
            <a:pPr marL="1147763" lvl="2" indent="-233363">
              <a:spcBef>
                <a:spcPts val="500"/>
              </a:spcBef>
            </a:pPr>
            <a:r>
              <a:rPr lang="en-US" altLang="en-US" sz="2200" dirty="0">
                <a:solidFill>
                  <a:srgbClr val="0000FF"/>
                </a:solidFill>
              </a:rPr>
              <a:t> </a:t>
            </a:r>
          </a:p>
          <a:p>
            <a:pPr marL="1147763" lvl="2" indent="-233363">
              <a:spcBef>
                <a:spcPts val="500"/>
              </a:spcBef>
            </a:pPr>
            <a:r>
              <a:rPr lang="en-US" altLang="en-US" sz="2200" dirty="0">
                <a:solidFill>
                  <a:srgbClr val="0000FF"/>
                </a:solidFill>
              </a:rPr>
              <a:t> </a:t>
            </a:r>
            <a:endParaRPr lang="en-US" altLang="en-US" dirty="0">
              <a:solidFill>
                <a:srgbClr val="0000FF"/>
              </a:solidFill>
            </a:endParaRPr>
          </a:p>
          <a:p>
            <a:pPr lvl="1">
              <a:spcBef>
                <a:spcPts val="800"/>
              </a:spcBef>
            </a:pPr>
            <a:r>
              <a:rPr lang="en-US" altLang="en-US" dirty="0"/>
              <a:t>double hashing:</a:t>
            </a:r>
          </a:p>
          <a:p>
            <a:pPr marL="1147763" lvl="2" indent="-233363">
              <a:spcBef>
                <a:spcPts val="200"/>
              </a:spcBef>
              <a:buFontTx/>
              <a:buChar char="•"/>
            </a:pPr>
            <a:r>
              <a:rPr lang="en-US" altLang="en-US" sz="2200" dirty="0"/>
              <a:t>if the table size is a prime number: </a:t>
            </a:r>
            <a:r>
              <a:rPr lang="en-US" altLang="en-US" sz="2200" dirty="0">
                <a:solidFill>
                  <a:schemeClr val="tx1"/>
                </a:solidFill>
              </a:rPr>
              <a:t>same as linear</a:t>
            </a:r>
          </a:p>
          <a:p>
            <a:pPr marL="1147763" lvl="2" indent="-233363">
              <a:spcBef>
                <a:spcPts val="200"/>
              </a:spcBef>
              <a:buFontTx/>
              <a:buChar char="•"/>
            </a:pPr>
            <a:r>
              <a:rPr lang="en-US" altLang="en-US" sz="2200" dirty="0"/>
              <a:t>if the table size is not a prime number: </a:t>
            </a:r>
            <a:r>
              <a:rPr lang="en-US" altLang="en-US" sz="2200" dirty="0">
                <a:solidFill>
                  <a:schemeClr val="tx1"/>
                </a:solidFill>
              </a:rPr>
              <a:t>same as quadratic</a:t>
            </a:r>
          </a:p>
        </p:txBody>
      </p:sp>
    </p:spTree>
    <p:extLst>
      <p:ext uri="{BB962C8B-B14F-4D97-AF65-F5344CB8AC3E}">
        <p14:creationId xmlns:p14="http://schemas.microsoft.com/office/powerpoint/2010/main" val="3586425832"/>
      </p:ext>
    </p:extLst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587374" y="1313452"/>
            <a:ext cx="8465185" cy="216126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802687" cy="5614988"/>
          </a:xfrm>
        </p:spPr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</a:rPr>
              <a:t>Overflow = can't find a position for an item</a:t>
            </a:r>
          </a:p>
          <a:p>
            <a:r>
              <a:rPr lang="en-US" altLang="en-US" dirty="0">
                <a:solidFill>
                  <a:srgbClr val="0000FF"/>
                </a:solidFill>
              </a:rPr>
              <a:t>When does it occur?</a:t>
            </a:r>
          </a:p>
          <a:p>
            <a:pPr lvl="1">
              <a:spcBef>
                <a:spcPts val="800"/>
              </a:spcBef>
            </a:pPr>
            <a:r>
              <a:rPr lang="en-US" altLang="en-US" dirty="0"/>
              <a:t>linear probing: </a:t>
            </a:r>
            <a:endParaRPr lang="en-US" altLang="en-US" dirty="0">
              <a:solidFill>
                <a:srgbClr val="0000FF"/>
              </a:solidFill>
            </a:endParaRPr>
          </a:p>
          <a:p>
            <a:pPr lvl="1">
              <a:spcBef>
                <a:spcPts val="800"/>
              </a:spcBef>
            </a:pPr>
            <a:r>
              <a:rPr lang="en-US" altLang="en-US" dirty="0"/>
              <a:t>quadratic probing:</a:t>
            </a:r>
          </a:p>
          <a:p>
            <a:pPr marL="1147763" lvl="2" indent="-233363">
              <a:spcBef>
                <a:spcPts val="500"/>
              </a:spcBef>
            </a:pPr>
            <a:r>
              <a:rPr lang="en-US" altLang="en-US" sz="2200" dirty="0">
                <a:solidFill>
                  <a:srgbClr val="0000FF"/>
                </a:solidFill>
              </a:rPr>
              <a:t> </a:t>
            </a:r>
          </a:p>
          <a:p>
            <a:pPr marL="1147763" lvl="2" indent="-233363">
              <a:spcBef>
                <a:spcPts val="500"/>
              </a:spcBef>
            </a:pPr>
            <a:r>
              <a:rPr lang="en-US" altLang="en-US" sz="2200" dirty="0">
                <a:solidFill>
                  <a:srgbClr val="0000FF"/>
                </a:solidFill>
              </a:rPr>
              <a:t> </a:t>
            </a:r>
            <a:endParaRPr lang="en-US" altLang="en-US" dirty="0">
              <a:solidFill>
                <a:srgbClr val="0000FF"/>
              </a:solidFill>
            </a:endParaRPr>
          </a:p>
          <a:p>
            <a:pPr lvl="1">
              <a:spcBef>
                <a:spcPts val="800"/>
              </a:spcBef>
            </a:pPr>
            <a:r>
              <a:rPr lang="en-US" altLang="en-US" dirty="0"/>
              <a:t>double hashing:</a:t>
            </a:r>
          </a:p>
          <a:p>
            <a:pPr marL="1147763" lvl="2" indent="-233363">
              <a:spcBef>
                <a:spcPts val="200"/>
              </a:spcBef>
              <a:buFontTx/>
              <a:buChar char="•"/>
            </a:pPr>
            <a:r>
              <a:rPr lang="en-US" altLang="en-US" sz="2200" dirty="0"/>
              <a:t>if the table size is a prime number: </a:t>
            </a:r>
            <a:r>
              <a:rPr lang="en-US" altLang="en-US" sz="2200" dirty="0">
                <a:solidFill>
                  <a:schemeClr val="tx1"/>
                </a:solidFill>
              </a:rPr>
              <a:t>same as linear</a:t>
            </a:r>
          </a:p>
          <a:p>
            <a:pPr marL="1147763" lvl="2" indent="-233363">
              <a:spcBef>
                <a:spcPts val="200"/>
              </a:spcBef>
              <a:buFontTx/>
              <a:buChar char="•"/>
            </a:pPr>
            <a:r>
              <a:rPr lang="en-US" altLang="en-US" sz="2200" dirty="0"/>
              <a:t>if the table size is not a prime number: </a:t>
            </a:r>
            <a:r>
              <a:rPr lang="en-US" altLang="en-US" sz="2200" dirty="0">
                <a:solidFill>
                  <a:schemeClr val="tx1"/>
                </a:solidFill>
              </a:rPr>
              <a:t>same as quadratic</a:t>
            </a:r>
          </a:p>
        </p:txBody>
      </p:sp>
      <p:sp>
        <p:nvSpPr>
          <p:cNvPr id="82946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 dirty="0"/>
              <a:t>Dealing with </a:t>
            </a:r>
            <a:r>
              <a:rPr lang="en-US" altLang="en-US" b="1" dirty="0"/>
              <a:t>Overflow</a:t>
            </a:r>
          </a:p>
        </p:txBody>
      </p:sp>
    </p:spTree>
    <p:extLst>
      <p:ext uri="{BB962C8B-B14F-4D97-AF65-F5344CB8AC3E}">
        <p14:creationId xmlns:p14="http://schemas.microsoft.com/office/powerpoint/2010/main" val="59967380"/>
      </p:ext>
    </p:extLst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87374" y="1313452"/>
            <a:ext cx="8465185" cy="216126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839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802687" cy="5614988"/>
          </a:xfrm>
        </p:spPr>
        <p:txBody>
          <a:bodyPr/>
          <a:lstStyle/>
          <a:p>
            <a:r>
              <a:rPr lang="en-US" altLang="en-US" dirty="0"/>
              <a:t>Overflow = can't find a position for an item</a:t>
            </a:r>
          </a:p>
          <a:p>
            <a:r>
              <a:rPr lang="en-US" altLang="en-US" dirty="0"/>
              <a:t>When does it occur?</a:t>
            </a:r>
          </a:p>
          <a:p>
            <a:pPr lvl="1">
              <a:spcBef>
                <a:spcPts val="800"/>
              </a:spcBef>
            </a:pPr>
            <a:r>
              <a:rPr lang="en-US" altLang="en-US" dirty="0"/>
              <a:t>linear probing: </a:t>
            </a:r>
            <a:r>
              <a:rPr lang="en-US" altLang="en-US" dirty="0">
                <a:solidFill>
                  <a:srgbClr val="0000FF"/>
                </a:solidFill>
              </a:rPr>
              <a:t>when all positions are occupied</a:t>
            </a:r>
          </a:p>
          <a:p>
            <a:pPr lvl="1">
              <a:spcBef>
                <a:spcPts val="800"/>
              </a:spcBef>
            </a:pPr>
            <a:r>
              <a:rPr lang="en-US" altLang="en-US" dirty="0"/>
              <a:t>quadratic probing:</a:t>
            </a:r>
          </a:p>
          <a:p>
            <a:pPr marL="1147763" lvl="2" indent="-233363">
              <a:spcBef>
                <a:spcPts val="500"/>
              </a:spcBef>
            </a:pPr>
            <a:r>
              <a:rPr lang="en-US" altLang="en-US" sz="2200" dirty="0">
                <a:solidFill>
                  <a:srgbClr val="0000FF"/>
                </a:solidFill>
              </a:rPr>
              <a:t>when all positions are occupied</a:t>
            </a:r>
          </a:p>
          <a:p>
            <a:pPr marL="1147763" lvl="2" indent="-233363">
              <a:spcBef>
                <a:spcPts val="500"/>
              </a:spcBef>
            </a:pPr>
            <a:r>
              <a:rPr lang="en-US" altLang="en-US" sz="2200" dirty="0">
                <a:solidFill>
                  <a:srgbClr val="0000FF"/>
                </a:solidFill>
              </a:rPr>
              <a:t> </a:t>
            </a:r>
            <a:endParaRPr lang="en-US" altLang="en-US" dirty="0">
              <a:solidFill>
                <a:srgbClr val="0000FF"/>
              </a:solidFill>
            </a:endParaRPr>
          </a:p>
          <a:p>
            <a:pPr lvl="1">
              <a:spcBef>
                <a:spcPts val="800"/>
              </a:spcBef>
            </a:pPr>
            <a:r>
              <a:rPr lang="en-US" altLang="en-US" dirty="0"/>
              <a:t>double hashing:</a:t>
            </a:r>
          </a:p>
          <a:p>
            <a:pPr marL="1147763" lvl="2" indent="-233363">
              <a:spcBef>
                <a:spcPts val="200"/>
              </a:spcBef>
              <a:buFontTx/>
              <a:buChar char="•"/>
            </a:pPr>
            <a:r>
              <a:rPr lang="en-US" altLang="en-US" sz="2200" dirty="0"/>
              <a:t>if the table size is a prime number: </a:t>
            </a:r>
            <a:r>
              <a:rPr lang="en-US" altLang="en-US" sz="2200" dirty="0">
                <a:solidFill>
                  <a:schemeClr val="tx1"/>
                </a:solidFill>
              </a:rPr>
              <a:t>same as linear</a:t>
            </a:r>
          </a:p>
          <a:p>
            <a:pPr marL="1147763" lvl="2" indent="-233363">
              <a:spcBef>
                <a:spcPts val="200"/>
              </a:spcBef>
              <a:buFontTx/>
              <a:buChar char="•"/>
            </a:pPr>
            <a:r>
              <a:rPr lang="en-US" altLang="en-US" sz="2200" dirty="0"/>
              <a:t>if the table size is not a prime number: </a:t>
            </a:r>
            <a:r>
              <a:rPr lang="en-US" altLang="en-US" sz="2200" dirty="0">
                <a:solidFill>
                  <a:schemeClr val="tx1"/>
                </a:solidFill>
              </a:rPr>
              <a:t>same as quadratic</a:t>
            </a:r>
          </a:p>
        </p:txBody>
      </p:sp>
      <p:sp>
        <p:nvSpPr>
          <p:cNvPr id="83970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Dealing with Overflow</a:t>
            </a:r>
          </a:p>
        </p:txBody>
      </p:sp>
    </p:spTree>
    <p:extLst>
      <p:ext uri="{BB962C8B-B14F-4D97-AF65-F5344CB8AC3E}">
        <p14:creationId xmlns:p14="http://schemas.microsoft.com/office/powerpoint/2010/main" val="2437449786"/>
      </p:ext>
    </p:extLst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87374" y="1313452"/>
            <a:ext cx="8465185" cy="216126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84994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Dealing with Overflow</a:t>
            </a:r>
          </a:p>
        </p:txBody>
      </p:sp>
      <p:sp>
        <p:nvSpPr>
          <p:cNvPr id="849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802687" cy="5614988"/>
          </a:xfrm>
        </p:spPr>
        <p:txBody>
          <a:bodyPr/>
          <a:lstStyle/>
          <a:p>
            <a:r>
              <a:rPr lang="en-US" altLang="en-US" dirty="0"/>
              <a:t>Overflow = can't find a position for an item</a:t>
            </a:r>
          </a:p>
          <a:p>
            <a:r>
              <a:rPr lang="en-US" altLang="en-US" dirty="0"/>
              <a:t>When does it occur?</a:t>
            </a:r>
          </a:p>
          <a:p>
            <a:pPr lvl="1">
              <a:spcBef>
                <a:spcPts val="800"/>
              </a:spcBef>
            </a:pPr>
            <a:r>
              <a:rPr lang="en-US" altLang="en-US" dirty="0"/>
              <a:t>linear probing: </a:t>
            </a:r>
            <a:r>
              <a:rPr lang="en-US" altLang="en-US" dirty="0">
                <a:solidFill>
                  <a:srgbClr val="0000FF"/>
                </a:solidFill>
              </a:rPr>
              <a:t>when all positions are occupied</a:t>
            </a:r>
          </a:p>
          <a:p>
            <a:pPr lvl="1">
              <a:spcBef>
                <a:spcPts val="800"/>
              </a:spcBef>
            </a:pPr>
            <a:r>
              <a:rPr lang="en-US" altLang="en-US" dirty="0"/>
              <a:t>quadratic probing:</a:t>
            </a:r>
          </a:p>
          <a:p>
            <a:pPr marL="1147763" lvl="2" indent="-233363">
              <a:spcBef>
                <a:spcPts val="500"/>
              </a:spcBef>
            </a:pPr>
            <a:r>
              <a:rPr lang="en-US" altLang="en-US" sz="2200" dirty="0">
                <a:solidFill>
                  <a:srgbClr val="0000FF"/>
                </a:solidFill>
              </a:rPr>
              <a:t>when all positions are occupied</a:t>
            </a:r>
          </a:p>
          <a:p>
            <a:pPr marL="1147763" lvl="2" indent="-233363">
              <a:spcBef>
                <a:spcPts val="500"/>
              </a:spcBef>
            </a:pPr>
            <a:r>
              <a:rPr lang="en-US" altLang="en-US" sz="2200" dirty="0">
                <a:solidFill>
                  <a:srgbClr val="0000FF"/>
                </a:solidFill>
              </a:rPr>
              <a:t>when the probe sequence can't reach the unoccupied slots</a:t>
            </a:r>
            <a:endParaRPr lang="en-US" altLang="en-US" dirty="0">
              <a:solidFill>
                <a:srgbClr val="0000FF"/>
              </a:solidFill>
            </a:endParaRPr>
          </a:p>
          <a:p>
            <a:pPr lvl="1">
              <a:spcBef>
                <a:spcPts val="800"/>
              </a:spcBef>
            </a:pPr>
            <a:r>
              <a:rPr lang="en-US" altLang="en-US" dirty="0"/>
              <a:t>double hashing:</a:t>
            </a:r>
          </a:p>
          <a:p>
            <a:pPr marL="1147763" lvl="2" indent="-233363">
              <a:spcBef>
                <a:spcPts val="200"/>
              </a:spcBef>
              <a:buFontTx/>
              <a:buChar char="•"/>
            </a:pPr>
            <a:r>
              <a:rPr lang="en-US" altLang="en-US" sz="2200" dirty="0"/>
              <a:t>if the table size is a prime number: </a:t>
            </a:r>
            <a:r>
              <a:rPr lang="en-US" altLang="en-US" sz="2200" dirty="0">
                <a:solidFill>
                  <a:schemeClr val="tx1"/>
                </a:solidFill>
              </a:rPr>
              <a:t>same as linear</a:t>
            </a:r>
          </a:p>
          <a:p>
            <a:pPr marL="1147763" lvl="2" indent="-233363">
              <a:spcBef>
                <a:spcPts val="200"/>
              </a:spcBef>
              <a:buFontTx/>
              <a:buChar char="•"/>
            </a:pPr>
            <a:r>
              <a:rPr lang="en-US" altLang="en-US" sz="2200" dirty="0"/>
              <a:t>if the table size is not a prime number: </a:t>
            </a:r>
            <a:r>
              <a:rPr lang="en-US" altLang="en-US" sz="2200" dirty="0">
                <a:solidFill>
                  <a:schemeClr val="tx1"/>
                </a:solidFill>
              </a:rPr>
              <a:t>same as quadratic</a:t>
            </a:r>
          </a:p>
        </p:txBody>
      </p:sp>
    </p:spTree>
    <p:extLst>
      <p:ext uri="{BB962C8B-B14F-4D97-AF65-F5344CB8AC3E}">
        <p14:creationId xmlns:p14="http://schemas.microsoft.com/office/powerpoint/2010/main" val="549183011"/>
      </p:ext>
    </p:extLst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83212" y="3474720"/>
            <a:ext cx="7765366" cy="140676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84994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Dealing with Overflow</a:t>
            </a:r>
          </a:p>
        </p:txBody>
      </p:sp>
      <p:sp>
        <p:nvSpPr>
          <p:cNvPr id="849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802687" cy="5614988"/>
          </a:xfrm>
        </p:spPr>
        <p:txBody>
          <a:bodyPr/>
          <a:lstStyle/>
          <a:p>
            <a:r>
              <a:rPr lang="en-US" altLang="en-US" dirty="0"/>
              <a:t>Overflow = can't find a position for an item</a:t>
            </a:r>
          </a:p>
          <a:p>
            <a:r>
              <a:rPr lang="en-US" altLang="en-US" dirty="0"/>
              <a:t>When does it occur?</a:t>
            </a:r>
          </a:p>
          <a:p>
            <a:pPr lvl="1">
              <a:spcBef>
                <a:spcPts val="800"/>
              </a:spcBef>
            </a:pPr>
            <a:r>
              <a:rPr lang="en-US" altLang="en-US" dirty="0"/>
              <a:t>linear probing: </a:t>
            </a:r>
            <a:r>
              <a:rPr lang="en-US" altLang="en-US" dirty="0">
                <a:solidFill>
                  <a:srgbClr val="0000FF"/>
                </a:solidFill>
              </a:rPr>
              <a:t>when all positions are occupied</a:t>
            </a:r>
          </a:p>
          <a:p>
            <a:pPr lvl="1">
              <a:spcBef>
                <a:spcPts val="800"/>
              </a:spcBef>
            </a:pPr>
            <a:r>
              <a:rPr lang="en-US" altLang="en-US" dirty="0"/>
              <a:t>quadratic probing:</a:t>
            </a:r>
          </a:p>
          <a:p>
            <a:pPr marL="1147763" lvl="2" indent="-233363">
              <a:spcBef>
                <a:spcPts val="500"/>
              </a:spcBef>
            </a:pPr>
            <a:r>
              <a:rPr lang="en-US" altLang="en-US" sz="2200" dirty="0">
                <a:solidFill>
                  <a:srgbClr val="0000FF"/>
                </a:solidFill>
              </a:rPr>
              <a:t>when all positions are occupied</a:t>
            </a:r>
          </a:p>
          <a:p>
            <a:pPr marL="1147763" lvl="2" indent="-233363">
              <a:spcBef>
                <a:spcPts val="500"/>
              </a:spcBef>
            </a:pPr>
            <a:r>
              <a:rPr lang="en-US" altLang="en-US" sz="2200" dirty="0">
                <a:solidFill>
                  <a:srgbClr val="0000FF"/>
                </a:solidFill>
              </a:rPr>
              <a:t>when the probe sequence can't reach the unoccupied slots</a:t>
            </a:r>
            <a:endParaRPr lang="en-US" altLang="en-US" dirty="0">
              <a:solidFill>
                <a:srgbClr val="0000FF"/>
              </a:solidFill>
            </a:endParaRPr>
          </a:p>
          <a:p>
            <a:pPr lvl="1">
              <a:spcBef>
                <a:spcPts val="800"/>
              </a:spcBef>
            </a:pPr>
            <a:r>
              <a:rPr lang="en-US" altLang="en-US" dirty="0"/>
              <a:t>double hashing:</a:t>
            </a:r>
          </a:p>
          <a:p>
            <a:pPr marL="1147763" lvl="2" indent="-233363">
              <a:spcBef>
                <a:spcPts val="200"/>
              </a:spcBef>
              <a:buFontTx/>
              <a:buChar char="•"/>
            </a:pPr>
            <a:r>
              <a:rPr lang="en-US" altLang="en-US" sz="2200" dirty="0"/>
              <a:t>if the table size is a prime number: </a:t>
            </a:r>
            <a:r>
              <a:rPr lang="en-US" altLang="en-US" sz="2200" dirty="0">
                <a:solidFill>
                  <a:schemeClr val="tx1"/>
                </a:solidFill>
              </a:rPr>
              <a:t>same as linear</a:t>
            </a:r>
          </a:p>
          <a:p>
            <a:pPr marL="1147763" lvl="2" indent="-233363">
              <a:spcBef>
                <a:spcPts val="200"/>
              </a:spcBef>
              <a:buFontTx/>
              <a:buChar char="•"/>
            </a:pPr>
            <a:r>
              <a:rPr lang="en-US" altLang="en-US" sz="2200" dirty="0"/>
              <a:t>if the table size is not a prime number: </a:t>
            </a:r>
            <a:r>
              <a:rPr lang="en-US" altLang="en-US" sz="2200" dirty="0">
                <a:solidFill>
                  <a:schemeClr val="tx1"/>
                </a:solidFill>
              </a:rPr>
              <a:t>same as quadratic</a:t>
            </a:r>
          </a:p>
        </p:txBody>
      </p:sp>
    </p:spTree>
    <p:extLst>
      <p:ext uri="{BB962C8B-B14F-4D97-AF65-F5344CB8AC3E}">
        <p14:creationId xmlns:p14="http://schemas.microsoft.com/office/powerpoint/2010/main" val="2041409214"/>
      </p:ext>
    </p:extLst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87375" y="4797083"/>
            <a:ext cx="8415948" cy="105507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86018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Dealing with Overflow</a:t>
            </a:r>
          </a:p>
        </p:txBody>
      </p:sp>
      <p:sp>
        <p:nvSpPr>
          <p:cNvPr id="860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802687" cy="5614988"/>
          </a:xfrm>
        </p:spPr>
        <p:txBody>
          <a:bodyPr/>
          <a:lstStyle/>
          <a:p>
            <a:r>
              <a:rPr lang="en-US" altLang="en-US" dirty="0"/>
              <a:t>Overflow = can't find a position for an item</a:t>
            </a:r>
          </a:p>
          <a:p>
            <a:r>
              <a:rPr lang="en-US" altLang="en-US" dirty="0"/>
              <a:t>When does it occur?</a:t>
            </a:r>
          </a:p>
          <a:p>
            <a:pPr lvl="1">
              <a:spcBef>
                <a:spcPts val="800"/>
              </a:spcBef>
            </a:pPr>
            <a:r>
              <a:rPr lang="en-US" altLang="en-US" dirty="0"/>
              <a:t>linear probing: </a:t>
            </a:r>
            <a:r>
              <a:rPr lang="en-US" altLang="en-US" dirty="0">
                <a:solidFill>
                  <a:srgbClr val="0000FF"/>
                </a:solidFill>
              </a:rPr>
              <a:t>when all positions are occupied</a:t>
            </a:r>
          </a:p>
          <a:p>
            <a:pPr lvl="1">
              <a:spcBef>
                <a:spcPts val="800"/>
              </a:spcBef>
            </a:pPr>
            <a:r>
              <a:rPr lang="en-US" altLang="en-US" dirty="0"/>
              <a:t>quadratic probing:</a:t>
            </a:r>
          </a:p>
          <a:p>
            <a:pPr marL="1147763" lvl="2" indent="-233363">
              <a:spcBef>
                <a:spcPts val="500"/>
              </a:spcBef>
            </a:pPr>
            <a:r>
              <a:rPr lang="en-US" altLang="en-US" sz="2200" dirty="0">
                <a:solidFill>
                  <a:srgbClr val="0000FF"/>
                </a:solidFill>
              </a:rPr>
              <a:t>when all positions are occupied</a:t>
            </a:r>
          </a:p>
          <a:p>
            <a:pPr marL="1147763" lvl="2" indent="-233363">
              <a:spcBef>
                <a:spcPts val="500"/>
              </a:spcBef>
            </a:pPr>
            <a:r>
              <a:rPr lang="en-US" altLang="en-US" sz="2200" dirty="0">
                <a:solidFill>
                  <a:srgbClr val="0000FF"/>
                </a:solidFill>
              </a:rPr>
              <a:t>when the probe sequence can't reach the unoccupied slots</a:t>
            </a:r>
            <a:endParaRPr lang="en-US" altLang="en-US" dirty="0">
              <a:solidFill>
                <a:srgbClr val="0000FF"/>
              </a:solidFill>
            </a:endParaRPr>
          </a:p>
          <a:p>
            <a:pPr lvl="1">
              <a:spcBef>
                <a:spcPts val="800"/>
              </a:spcBef>
            </a:pPr>
            <a:r>
              <a:rPr lang="en-US" altLang="en-US" dirty="0"/>
              <a:t>double hashing:</a:t>
            </a:r>
          </a:p>
          <a:p>
            <a:pPr marL="1147763" lvl="2" indent="-233363">
              <a:spcBef>
                <a:spcPts val="200"/>
              </a:spcBef>
              <a:buFontTx/>
              <a:buChar char="•"/>
            </a:pPr>
            <a:r>
              <a:rPr lang="en-US" altLang="en-US" sz="2200" dirty="0"/>
              <a:t>if the table size is a prime number: </a:t>
            </a:r>
            <a:r>
              <a:rPr lang="en-US" altLang="en-US" sz="2200" dirty="0">
                <a:solidFill>
                  <a:schemeClr val="tx1"/>
                </a:solidFill>
              </a:rPr>
              <a:t>same as linear</a:t>
            </a:r>
          </a:p>
          <a:p>
            <a:pPr marL="1147763" lvl="2" indent="-233363">
              <a:spcBef>
                <a:spcPts val="200"/>
              </a:spcBef>
              <a:buFontTx/>
              <a:buChar char="•"/>
            </a:pPr>
            <a:r>
              <a:rPr lang="en-US" altLang="en-US" sz="2200" dirty="0"/>
              <a:t>if the table size is not a prime number: </a:t>
            </a:r>
            <a:r>
              <a:rPr lang="en-US" altLang="en-US" sz="2200" dirty="0">
                <a:solidFill>
                  <a:schemeClr val="tx1"/>
                </a:solidFill>
              </a:rPr>
              <a:t>same as quadratic</a:t>
            </a:r>
          </a:p>
          <a:p>
            <a:pPr>
              <a:spcBef>
                <a:spcPts val="2400"/>
              </a:spcBef>
            </a:pPr>
            <a:r>
              <a:rPr lang="en-US" altLang="en-US" dirty="0"/>
              <a:t>To avoid overflow (</a:t>
            </a:r>
            <a:r>
              <a:rPr lang="en-US" altLang="en-US" i="1" dirty="0"/>
              <a:t>and reduce search times</a:t>
            </a:r>
            <a:r>
              <a:rPr lang="en-US" altLang="en-US" dirty="0"/>
              <a:t>), </a:t>
            </a:r>
            <a:r>
              <a:rPr lang="en-US" altLang="en-US" dirty="0">
                <a:solidFill>
                  <a:srgbClr val="0000FF"/>
                </a:solidFill>
              </a:rPr>
              <a:t>grow</a:t>
            </a:r>
            <a:r>
              <a:rPr lang="en-US" altLang="en-US" dirty="0"/>
              <a:t> the hash table when the % of occupied positions gets too big.</a:t>
            </a:r>
          </a:p>
        </p:txBody>
      </p:sp>
    </p:spTree>
    <p:extLst>
      <p:ext uri="{BB962C8B-B14F-4D97-AF65-F5344CB8AC3E}">
        <p14:creationId xmlns:p14="http://schemas.microsoft.com/office/powerpoint/2010/main" val="3153066329"/>
      </p:ext>
    </p:extLst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87375" y="4797083"/>
            <a:ext cx="8415948" cy="105507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86018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Dealing with Overflow</a:t>
            </a:r>
          </a:p>
        </p:txBody>
      </p:sp>
      <p:sp>
        <p:nvSpPr>
          <p:cNvPr id="860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802687" cy="5614988"/>
          </a:xfrm>
        </p:spPr>
        <p:txBody>
          <a:bodyPr/>
          <a:lstStyle/>
          <a:p>
            <a:r>
              <a:rPr lang="en-US" altLang="en-US" dirty="0"/>
              <a:t>Overflow = can't find a position for an item</a:t>
            </a:r>
          </a:p>
          <a:p>
            <a:r>
              <a:rPr lang="en-US" altLang="en-US" dirty="0"/>
              <a:t>When does it occur?</a:t>
            </a:r>
          </a:p>
          <a:p>
            <a:pPr lvl="1">
              <a:spcBef>
                <a:spcPts val="800"/>
              </a:spcBef>
            </a:pPr>
            <a:r>
              <a:rPr lang="en-US" altLang="en-US" dirty="0"/>
              <a:t>linear probing: </a:t>
            </a:r>
            <a:r>
              <a:rPr lang="en-US" altLang="en-US" dirty="0">
                <a:solidFill>
                  <a:srgbClr val="0000FF"/>
                </a:solidFill>
              </a:rPr>
              <a:t>when all positions are occupied</a:t>
            </a:r>
          </a:p>
          <a:p>
            <a:pPr lvl="1">
              <a:spcBef>
                <a:spcPts val="800"/>
              </a:spcBef>
            </a:pPr>
            <a:r>
              <a:rPr lang="en-US" altLang="en-US" dirty="0"/>
              <a:t>quadratic probing:</a:t>
            </a:r>
          </a:p>
          <a:p>
            <a:pPr marL="1147763" lvl="2" indent="-233363">
              <a:spcBef>
                <a:spcPts val="500"/>
              </a:spcBef>
            </a:pPr>
            <a:r>
              <a:rPr lang="en-US" altLang="en-US" sz="2200" dirty="0">
                <a:solidFill>
                  <a:srgbClr val="0000FF"/>
                </a:solidFill>
              </a:rPr>
              <a:t>when all positions are occupied</a:t>
            </a:r>
          </a:p>
          <a:p>
            <a:pPr marL="1147763" lvl="2" indent="-233363">
              <a:spcBef>
                <a:spcPts val="500"/>
              </a:spcBef>
            </a:pPr>
            <a:r>
              <a:rPr lang="en-US" altLang="en-US" sz="2200" dirty="0">
                <a:solidFill>
                  <a:srgbClr val="0000FF"/>
                </a:solidFill>
              </a:rPr>
              <a:t>when the probe sequence can't reach the unoccupied slots</a:t>
            </a:r>
            <a:endParaRPr lang="en-US" altLang="en-US" dirty="0">
              <a:solidFill>
                <a:srgbClr val="0000FF"/>
              </a:solidFill>
            </a:endParaRPr>
          </a:p>
          <a:p>
            <a:pPr lvl="1">
              <a:spcBef>
                <a:spcPts val="800"/>
              </a:spcBef>
            </a:pPr>
            <a:r>
              <a:rPr lang="en-US" altLang="en-US" dirty="0"/>
              <a:t>double hashing:</a:t>
            </a:r>
          </a:p>
          <a:p>
            <a:pPr marL="1147763" lvl="2" indent="-233363">
              <a:spcBef>
                <a:spcPts val="200"/>
              </a:spcBef>
              <a:buFontTx/>
              <a:buChar char="•"/>
            </a:pPr>
            <a:r>
              <a:rPr lang="en-US" altLang="en-US" sz="2200" dirty="0"/>
              <a:t>if the table size is a prime number: </a:t>
            </a:r>
            <a:r>
              <a:rPr lang="en-US" altLang="en-US" sz="2200" dirty="0">
                <a:solidFill>
                  <a:schemeClr val="tx1"/>
                </a:solidFill>
              </a:rPr>
              <a:t>same as linear</a:t>
            </a:r>
          </a:p>
          <a:p>
            <a:pPr marL="1147763" lvl="2" indent="-233363">
              <a:spcBef>
                <a:spcPts val="200"/>
              </a:spcBef>
              <a:buFontTx/>
              <a:buChar char="•"/>
            </a:pPr>
            <a:r>
              <a:rPr lang="en-US" altLang="en-US" sz="2200" dirty="0"/>
              <a:t>if the table size is not a prime number: </a:t>
            </a:r>
            <a:r>
              <a:rPr lang="en-US" altLang="en-US" sz="2200" dirty="0">
                <a:solidFill>
                  <a:schemeClr val="tx1"/>
                </a:solidFill>
              </a:rPr>
              <a:t>same as quadratic</a:t>
            </a:r>
          </a:p>
          <a:p>
            <a:pPr>
              <a:spcBef>
                <a:spcPts val="2400"/>
              </a:spcBef>
            </a:pPr>
            <a:r>
              <a:rPr lang="en-US" altLang="en-US" dirty="0"/>
              <a:t>To avoid overflow (</a:t>
            </a:r>
            <a:r>
              <a:rPr lang="en-US" altLang="en-US" i="1" dirty="0"/>
              <a:t>and reduce search times</a:t>
            </a:r>
            <a:r>
              <a:rPr lang="en-US" altLang="en-US" dirty="0"/>
              <a:t>), </a:t>
            </a:r>
            <a:r>
              <a:rPr lang="en-US" altLang="en-US" dirty="0">
                <a:solidFill>
                  <a:srgbClr val="0000FF"/>
                </a:solidFill>
              </a:rPr>
              <a:t>grow</a:t>
            </a:r>
            <a:r>
              <a:rPr lang="en-US" altLang="en-US" dirty="0"/>
              <a:t> the hash table when the % of occupied positions gets too big.</a:t>
            </a:r>
          </a:p>
        </p:txBody>
      </p:sp>
      <p:sp>
        <p:nvSpPr>
          <p:cNvPr id="3" name="Cloud Callout 2"/>
          <p:cNvSpPr/>
          <p:nvPr/>
        </p:nvSpPr>
        <p:spPr bwMode="auto">
          <a:xfrm>
            <a:off x="2475914" y="1692275"/>
            <a:ext cx="3137095" cy="2686930"/>
          </a:xfrm>
          <a:prstGeom prst="cloudCallout">
            <a:avLst>
              <a:gd name="adj1" fmla="val 75131"/>
              <a:gd name="adj2" fmla="val 60929"/>
            </a:avLst>
          </a:prstGeom>
          <a:solidFill>
            <a:schemeClr val="bg1">
              <a:lumMod val="95000"/>
            </a:schemeClr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Narrow" pitchFamily="34" charset="0"/>
              </a:rPr>
              <a:t>Does this present</a:t>
            </a:r>
            <a:r>
              <a:rPr kumimoji="0" lang="en-US" sz="2200" b="0" i="0" u="none" strike="noStrike" cap="none" normalizeH="0" dirty="0">
                <a:ln>
                  <a:noFill/>
                </a:ln>
                <a:solidFill>
                  <a:srgbClr val="000000"/>
                </a:solidFill>
                <a:effectLst/>
                <a:latin typeface="Arial Narrow" pitchFamily="34" charset="0"/>
              </a:rPr>
              <a:t> a special challenge for hash tables?</a:t>
            </a:r>
            <a:endParaRPr kumimoji="0" lang="en-US" sz="22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9484020"/>
      </p:ext>
    </p:extLst>
  </p:cSld>
  <p:clrMapOvr>
    <a:masterClrMapping/>
  </p:clrMapOvr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87375" y="4797083"/>
            <a:ext cx="8415948" cy="105507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86018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Dealing with Overflow</a:t>
            </a:r>
          </a:p>
        </p:txBody>
      </p:sp>
      <p:sp>
        <p:nvSpPr>
          <p:cNvPr id="860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802687" cy="5614988"/>
          </a:xfrm>
        </p:spPr>
        <p:txBody>
          <a:bodyPr/>
          <a:lstStyle/>
          <a:p>
            <a:r>
              <a:rPr lang="en-US" altLang="en-US" dirty="0"/>
              <a:t>Overflow = can't find a position for an item</a:t>
            </a:r>
          </a:p>
          <a:p>
            <a:r>
              <a:rPr lang="en-US" altLang="en-US" dirty="0"/>
              <a:t>When does it occur?</a:t>
            </a:r>
          </a:p>
          <a:p>
            <a:pPr lvl="1">
              <a:spcBef>
                <a:spcPts val="800"/>
              </a:spcBef>
            </a:pPr>
            <a:r>
              <a:rPr lang="en-US" altLang="en-US" dirty="0"/>
              <a:t>linear probing: </a:t>
            </a:r>
            <a:r>
              <a:rPr lang="en-US" altLang="en-US" dirty="0">
                <a:solidFill>
                  <a:srgbClr val="0000FF"/>
                </a:solidFill>
              </a:rPr>
              <a:t>when all positions are occupied</a:t>
            </a:r>
          </a:p>
          <a:p>
            <a:pPr lvl="1">
              <a:spcBef>
                <a:spcPts val="800"/>
              </a:spcBef>
            </a:pPr>
            <a:r>
              <a:rPr lang="en-US" altLang="en-US" dirty="0"/>
              <a:t>quadratic probing:</a:t>
            </a:r>
          </a:p>
          <a:p>
            <a:pPr marL="1147763" lvl="2" indent="-233363">
              <a:spcBef>
                <a:spcPts val="500"/>
              </a:spcBef>
            </a:pPr>
            <a:r>
              <a:rPr lang="en-US" altLang="en-US" sz="2200" dirty="0">
                <a:solidFill>
                  <a:srgbClr val="0000FF"/>
                </a:solidFill>
              </a:rPr>
              <a:t>when all positions are occupied</a:t>
            </a:r>
          </a:p>
          <a:p>
            <a:pPr marL="1147763" lvl="2" indent="-233363">
              <a:spcBef>
                <a:spcPts val="500"/>
              </a:spcBef>
            </a:pPr>
            <a:r>
              <a:rPr lang="en-US" altLang="en-US" sz="2200" dirty="0">
                <a:solidFill>
                  <a:srgbClr val="0000FF"/>
                </a:solidFill>
              </a:rPr>
              <a:t>when the probe sequence can't reach the unoccupied slots</a:t>
            </a:r>
            <a:endParaRPr lang="en-US" altLang="en-US" dirty="0">
              <a:solidFill>
                <a:srgbClr val="0000FF"/>
              </a:solidFill>
            </a:endParaRPr>
          </a:p>
          <a:p>
            <a:pPr lvl="1">
              <a:spcBef>
                <a:spcPts val="800"/>
              </a:spcBef>
            </a:pPr>
            <a:r>
              <a:rPr lang="en-US" altLang="en-US" dirty="0"/>
              <a:t>double hashing:</a:t>
            </a:r>
          </a:p>
          <a:p>
            <a:pPr marL="1147763" lvl="2" indent="-233363">
              <a:spcBef>
                <a:spcPts val="200"/>
              </a:spcBef>
              <a:buFontTx/>
              <a:buChar char="•"/>
            </a:pPr>
            <a:r>
              <a:rPr lang="en-US" altLang="en-US" sz="2200" dirty="0"/>
              <a:t>if the table size is a prime number: </a:t>
            </a:r>
            <a:r>
              <a:rPr lang="en-US" altLang="en-US" sz="2200" dirty="0">
                <a:solidFill>
                  <a:schemeClr val="tx1"/>
                </a:solidFill>
              </a:rPr>
              <a:t>same as linear</a:t>
            </a:r>
          </a:p>
          <a:p>
            <a:pPr marL="1147763" lvl="2" indent="-233363">
              <a:spcBef>
                <a:spcPts val="200"/>
              </a:spcBef>
              <a:buFontTx/>
              <a:buChar char="•"/>
            </a:pPr>
            <a:r>
              <a:rPr lang="en-US" altLang="en-US" sz="2200" dirty="0"/>
              <a:t>if the table size is not a prime number: </a:t>
            </a:r>
            <a:r>
              <a:rPr lang="en-US" altLang="en-US" sz="2200" dirty="0">
                <a:solidFill>
                  <a:schemeClr val="tx1"/>
                </a:solidFill>
              </a:rPr>
              <a:t>same as quadratic</a:t>
            </a:r>
          </a:p>
          <a:p>
            <a:pPr>
              <a:spcBef>
                <a:spcPts val="2400"/>
              </a:spcBef>
            </a:pPr>
            <a:r>
              <a:rPr lang="en-US" altLang="en-US" dirty="0"/>
              <a:t>To avoid overflow (</a:t>
            </a:r>
            <a:r>
              <a:rPr lang="en-US" altLang="en-US" i="1" dirty="0"/>
              <a:t>and reduce search times</a:t>
            </a:r>
            <a:r>
              <a:rPr lang="en-US" altLang="en-US" dirty="0"/>
              <a:t>), </a:t>
            </a:r>
            <a:r>
              <a:rPr lang="en-US" altLang="en-US" dirty="0">
                <a:solidFill>
                  <a:srgbClr val="0000FF"/>
                </a:solidFill>
              </a:rPr>
              <a:t>grow</a:t>
            </a:r>
            <a:r>
              <a:rPr lang="en-US" altLang="en-US" dirty="0"/>
              <a:t> the hash table when the % of occupied positions gets too big.</a:t>
            </a:r>
          </a:p>
        </p:txBody>
      </p:sp>
      <p:sp>
        <p:nvSpPr>
          <p:cNvPr id="3" name="Cloud Callout 2"/>
          <p:cNvSpPr/>
          <p:nvPr/>
        </p:nvSpPr>
        <p:spPr bwMode="auto">
          <a:xfrm>
            <a:off x="2475914" y="1692275"/>
            <a:ext cx="3137095" cy="2686930"/>
          </a:xfrm>
          <a:prstGeom prst="cloudCallout">
            <a:avLst>
              <a:gd name="adj1" fmla="val 75131"/>
              <a:gd name="adj2" fmla="val 60929"/>
            </a:avLst>
          </a:prstGeom>
          <a:solidFill>
            <a:schemeClr val="bg1">
              <a:lumMod val="95000"/>
            </a:schemeClr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2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 Narrow" pitchFamily="34" charset="0"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Narrow" pitchFamily="34" charset="0"/>
              </a:rPr>
              <a:t>Consider the probing</a:t>
            </a:r>
            <a:r>
              <a:rPr kumimoji="0" lang="en-US" sz="2200" b="0" i="0" u="none" strike="noStrike" cap="none" normalizeH="0" dirty="0">
                <a:ln>
                  <a:noFill/>
                </a:ln>
                <a:solidFill>
                  <a:srgbClr val="000000"/>
                </a:solidFill>
                <a:effectLst/>
                <a:latin typeface="Arial Narrow" pitchFamily="34" charset="0"/>
              </a:rPr>
              <a:t> sequence that we rely on?</a:t>
            </a:r>
            <a:endParaRPr kumimoji="0" lang="en-US" sz="22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1273362"/>
      </p:ext>
    </p:extLst>
  </p:cSld>
  <p:clrMapOvr>
    <a:masterClrMapping/>
  </p:clrMapOvr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31520" y="5613009"/>
            <a:ext cx="8159262" cy="99880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86018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Dealing with Overflow</a:t>
            </a:r>
          </a:p>
        </p:txBody>
      </p:sp>
      <p:sp>
        <p:nvSpPr>
          <p:cNvPr id="860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802687" cy="5614988"/>
          </a:xfrm>
        </p:spPr>
        <p:txBody>
          <a:bodyPr/>
          <a:lstStyle/>
          <a:p>
            <a:r>
              <a:rPr lang="en-US" altLang="en-US" dirty="0"/>
              <a:t>Overflow = can't find a position for an item</a:t>
            </a:r>
          </a:p>
          <a:p>
            <a:r>
              <a:rPr lang="en-US" altLang="en-US" dirty="0"/>
              <a:t>When does it occur?</a:t>
            </a:r>
          </a:p>
          <a:p>
            <a:pPr lvl="1">
              <a:spcBef>
                <a:spcPts val="800"/>
              </a:spcBef>
            </a:pPr>
            <a:r>
              <a:rPr lang="en-US" altLang="en-US" dirty="0"/>
              <a:t>linear probing: </a:t>
            </a:r>
            <a:r>
              <a:rPr lang="en-US" altLang="en-US" dirty="0">
                <a:solidFill>
                  <a:srgbClr val="0000FF"/>
                </a:solidFill>
              </a:rPr>
              <a:t>when all positions are occupied</a:t>
            </a:r>
          </a:p>
          <a:p>
            <a:pPr lvl="1">
              <a:spcBef>
                <a:spcPts val="800"/>
              </a:spcBef>
            </a:pPr>
            <a:r>
              <a:rPr lang="en-US" altLang="en-US" dirty="0"/>
              <a:t>quadratic probing:</a:t>
            </a:r>
          </a:p>
          <a:p>
            <a:pPr marL="1147763" lvl="2" indent="-233363">
              <a:spcBef>
                <a:spcPts val="500"/>
              </a:spcBef>
            </a:pPr>
            <a:r>
              <a:rPr lang="en-US" altLang="en-US" sz="2200" dirty="0">
                <a:solidFill>
                  <a:srgbClr val="0000FF"/>
                </a:solidFill>
              </a:rPr>
              <a:t>when all positions are occupied</a:t>
            </a:r>
          </a:p>
          <a:p>
            <a:pPr marL="1147763" lvl="2" indent="-233363">
              <a:spcBef>
                <a:spcPts val="500"/>
              </a:spcBef>
            </a:pPr>
            <a:r>
              <a:rPr lang="en-US" altLang="en-US" sz="2200" dirty="0">
                <a:solidFill>
                  <a:srgbClr val="0000FF"/>
                </a:solidFill>
              </a:rPr>
              <a:t>when the probe sequence can't reach the unoccupied slots</a:t>
            </a:r>
            <a:endParaRPr lang="en-US" altLang="en-US" dirty="0">
              <a:solidFill>
                <a:srgbClr val="0000FF"/>
              </a:solidFill>
            </a:endParaRPr>
          </a:p>
          <a:p>
            <a:pPr lvl="1">
              <a:spcBef>
                <a:spcPts val="800"/>
              </a:spcBef>
            </a:pPr>
            <a:r>
              <a:rPr lang="en-US" altLang="en-US" dirty="0"/>
              <a:t>double hashing:</a:t>
            </a:r>
          </a:p>
          <a:p>
            <a:pPr marL="1147763" lvl="2" indent="-233363">
              <a:spcBef>
                <a:spcPts val="200"/>
              </a:spcBef>
              <a:buFontTx/>
              <a:buChar char="•"/>
            </a:pPr>
            <a:r>
              <a:rPr lang="en-US" altLang="en-US" sz="2200" dirty="0"/>
              <a:t>if the table size is a prime number: </a:t>
            </a:r>
            <a:r>
              <a:rPr lang="en-US" altLang="en-US" sz="2200" dirty="0">
                <a:solidFill>
                  <a:schemeClr val="tx1"/>
                </a:solidFill>
              </a:rPr>
              <a:t>same as linear</a:t>
            </a:r>
          </a:p>
          <a:p>
            <a:pPr marL="1147763" lvl="2" indent="-233363">
              <a:spcBef>
                <a:spcPts val="200"/>
              </a:spcBef>
              <a:buFontTx/>
              <a:buChar char="•"/>
            </a:pPr>
            <a:r>
              <a:rPr lang="en-US" altLang="en-US" sz="2200" dirty="0"/>
              <a:t>if the table size is not a prime number: </a:t>
            </a:r>
            <a:r>
              <a:rPr lang="en-US" altLang="en-US" sz="2200" dirty="0">
                <a:solidFill>
                  <a:schemeClr val="tx1"/>
                </a:solidFill>
              </a:rPr>
              <a:t>same as quadratic</a:t>
            </a:r>
          </a:p>
          <a:p>
            <a:pPr>
              <a:spcBef>
                <a:spcPts val="2400"/>
              </a:spcBef>
            </a:pPr>
            <a:r>
              <a:rPr lang="en-US" altLang="en-US" dirty="0"/>
              <a:t>To avoid overflow (</a:t>
            </a:r>
            <a:r>
              <a:rPr lang="en-US" altLang="en-US" i="1" dirty="0"/>
              <a:t>and reduce search times</a:t>
            </a:r>
            <a:r>
              <a:rPr lang="en-US" altLang="en-US" dirty="0"/>
              <a:t>), grow the hash table when the % of occupied positions gets too big.</a:t>
            </a:r>
          </a:p>
          <a:p>
            <a:pPr lvl="1">
              <a:spcBef>
                <a:spcPts val="500"/>
              </a:spcBef>
            </a:pPr>
            <a:r>
              <a:rPr lang="en-US" altLang="en-US" dirty="0"/>
              <a:t>problem: we need to rehash </a:t>
            </a:r>
            <a:r>
              <a:rPr lang="en-US" altLang="en-US" b="1" dirty="0"/>
              <a:t>all</a:t>
            </a:r>
            <a:r>
              <a:rPr lang="en-US" altLang="en-US" dirty="0"/>
              <a:t> of the existing items. why?</a:t>
            </a:r>
          </a:p>
        </p:txBody>
      </p:sp>
    </p:spTree>
    <p:extLst>
      <p:ext uri="{BB962C8B-B14F-4D97-AF65-F5344CB8AC3E}">
        <p14:creationId xmlns:p14="http://schemas.microsoft.com/office/powerpoint/2010/main" val="2126482354"/>
      </p:ext>
    </p:extLst>
  </p:cSld>
  <p:clrMapOvr>
    <a:masterClrMapping/>
  </p:clrMapOvr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613009"/>
            <a:ext cx="8159262" cy="99880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86018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Dealing with Overflow</a:t>
            </a:r>
          </a:p>
        </p:txBody>
      </p:sp>
      <p:sp>
        <p:nvSpPr>
          <p:cNvPr id="860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802687" cy="5614988"/>
          </a:xfrm>
        </p:spPr>
        <p:txBody>
          <a:bodyPr/>
          <a:lstStyle/>
          <a:p>
            <a:r>
              <a:rPr lang="en-US" altLang="en-US" dirty="0"/>
              <a:t>Overflow = can't find a position for an item</a:t>
            </a:r>
          </a:p>
          <a:p>
            <a:r>
              <a:rPr lang="en-US" altLang="en-US" dirty="0"/>
              <a:t>When does it occur?</a:t>
            </a:r>
          </a:p>
          <a:p>
            <a:pPr lvl="1">
              <a:spcBef>
                <a:spcPts val="800"/>
              </a:spcBef>
            </a:pPr>
            <a:r>
              <a:rPr lang="en-US" altLang="en-US" dirty="0"/>
              <a:t>linear probing: </a:t>
            </a:r>
            <a:r>
              <a:rPr lang="en-US" altLang="en-US" dirty="0">
                <a:solidFill>
                  <a:srgbClr val="0000FF"/>
                </a:solidFill>
              </a:rPr>
              <a:t>when all positions are occupied</a:t>
            </a:r>
          </a:p>
          <a:p>
            <a:pPr lvl="1">
              <a:spcBef>
                <a:spcPts val="800"/>
              </a:spcBef>
            </a:pPr>
            <a:r>
              <a:rPr lang="en-US" altLang="en-US" dirty="0"/>
              <a:t>quadratic probing:</a:t>
            </a:r>
          </a:p>
          <a:p>
            <a:pPr marL="1147763" lvl="2" indent="-233363">
              <a:spcBef>
                <a:spcPts val="500"/>
              </a:spcBef>
            </a:pPr>
            <a:r>
              <a:rPr lang="en-US" altLang="en-US" sz="2200" dirty="0">
                <a:solidFill>
                  <a:srgbClr val="0000FF"/>
                </a:solidFill>
              </a:rPr>
              <a:t>when all positions are occupied</a:t>
            </a:r>
          </a:p>
          <a:p>
            <a:pPr marL="1147763" lvl="2" indent="-233363">
              <a:spcBef>
                <a:spcPts val="500"/>
              </a:spcBef>
            </a:pPr>
            <a:r>
              <a:rPr lang="en-US" altLang="en-US" sz="2200" dirty="0">
                <a:solidFill>
                  <a:srgbClr val="0000FF"/>
                </a:solidFill>
              </a:rPr>
              <a:t>when the probe sequence can't reach the unoccupied slots</a:t>
            </a:r>
            <a:endParaRPr lang="en-US" altLang="en-US" dirty="0">
              <a:solidFill>
                <a:srgbClr val="0000FF"/>
              </a:solidFill>
            </a:endParaRPr>
          </a:p>
          <a:p>
            <a:pPr lvl="1">
              <a:spcBef>
                <a:spcPts val="800"/>
              </a:spcBef>
            </a:pPr>
            <a:r>
              <a:rPr lang="en-US" altLang="en-US" dirty="0"/>
              <a:t>double hashing:</a:t>
            </a:r>
          </a:p>
          <a:p>
            <a:pPr marL="1147763" lvl="2" indent="-233363">
              <a:spcBef>
                <a:spcPts val="200"/>
              </a:spcBef>
              <a:buFontTx/>
              <a:buChar char="•"/>
            </a:pPr>
            <a:r>
              <a:rPr lang="en-US" altLang="en-US" sz="2200" dirty="0"/>
              <a:t>if the table size is a prime number: </a:t>
            </a:r>
            <a:r>
              <a:rPr lang="en-US" altLang="en-US" sz="2200" dirty="0">
                <a:solidFill>
                  <a:schemeClr val="tx1"/>
                </a:solidFill>
              </a:rPr>
              <a:t>same as linear</a:t>
            </a:r>
          </a:p>
          <a:p>
            <a:pPr marL="1147763" lvl="2" indent="-233363">
              <a:spcBef>
                <a:spcPts val="200"/>
              </a:spcBef>
              <a:buFontTx/>
              <a:buChar char="•"/>
            </a:pPr>
            <a:r>
              <a:rPr lang="en-US" altLang="en-US" sz="2200" dirty="0"/>
              <a:t>if the table size is not a prime number: </a:t>
            </a:r>
            <a:r>
              <a:rPr lang="en-US" altLang="en-US" sz="2200" dirty="0">
                <a:solidFill>
                  <a:schemeClr val="tx1"/>
                </a:solidFill>
              </a:rPr>
              <a:t>same as quadratic</a:t>
            </a:r>
          </a:p>
          <a:p>
            <a:pPr>
              <a:spcBef>
                <a:spcPts val="2400"/>
              </a:spcBef>
            </a:pPr>
            <a:r>
              <a:rPr lang="en-US" altLang="en-US" dirty="0"/>
              <a:t>To avoid overflow (</a:t>
            </a:r>
            <a:r>
              <a:rPr lang="en-US" altLang="en-US" i="1" dirty="0"/>
              <a:t>and reduce search times</a:t>
            </a:r>
            <a:r>
              <a:rPr lang="en-US" altLang="en-US" dirty="0"/>
              <a:t>), grow the hash table when the % of occupied positions gets too big.</a:t>
            </a:r>
          </a:p>
          <a:p>
            <a:pPr lvl="1">
              <a:spcBef>
                <a:spcPts val="500"/>
              </a:spcBef>
            </a:pPr>
            <a:r>
              <a:rPr lang="en-US" altLang="en-US" dirty="0"/>
              <a:t>problem: we need to rehash </a:t>
            </a:r>
            <a:r>
              <a:rPr lang="en-US" altLang="en-US" b="1" dirty="0"/>
              <a:t>all</a:t>
            </a:r>
            <a:r>
              <a:rPr lang="en-US" altLang="en-US" dirty="0"/>
              <a:t> of the existing items. why?</a:t>
            </a:r>
            <a:br>
              <a:rPr lang="en-US" altLang="en-US" dirty="0"/>
            </a:br>
            <a:r>
              <a:rPr lang="en-US" altLang="en-US" dirty="0">
                <a:solidFill>
                  <a:srgbClr val="0000FF"/>
                </a:solidFill>
              </a:rPr>
              <a:t>items may end up in different positions in the larger table</a:t>
            </a:r>
          </a:p>
        </p:txBody>
      </p:sp>
    </p:spTree>
    <p:extLst>
      <p:ext uri="{BB962C8B-B14F-4D97-AF65-F5344CB8AC3E}">
        <p14:creationId xmlns:p14="http://schemas.microsoft.com/office/powerpoint/2010/main" val="2456417949"/>
      </p:ext>
    </p:extLst>
  </p:cSld>
  <p:clrMapOvr>
    <a:masterClrMapping/>
  </p:clrMapOvr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613009"/>
            <a:ext cx="8159262" cy="99880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86018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Dealing with Overflow</a:t>
            </a:r>
          </a:p>
        </p:txBody>
      </p:sp>
      <p:sp>
        <p:nvSpPr>
          <p:cNvPr id="860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802687" cy="5614988"/>
          </a:xfrm>
        </p:spPr>
        <p:txBody>
          <a:bodyPr/>
          <a:lstStyle/>
          <a:p>
            <a:r>
              <a:rPr lang="en-US" altLang="en-US" dirty="0"/>
              <a:t>Overflow = can't find a position for an item</a:t>
            </a:r>
          </a:p>
          <a:p>
            <a:r>
              <a:rPr lang="en-US" altLang="en-US" dirty="0"/>
              <a:t>When does it occur?</a:t>
            </a:r>
          </a:p>
          <a:p>
            <a:pPr lvl="1">
              <a:spcBef>
                <a:spcPts val="800"/>
              </a:spcBef>
            </a:pPr>
            <a:r>
              <a:rPr lang="en-US" altLang="en-US" dirty="0"/>
              <a:t>linear probing: </a:t>
            </a:r>
            <a:r>
              <a:rPr lang="en-US" altLang="en-US" dirty="0">
                <a:solidFill>
                  <a:srgbClr val="0000FF"/>
                </a:solidFill>
              </a:rPr>
              <a:t>when all positions are occupied</a:t>
            </a:r>
          </a:p>
          <a:p>
            <a:pPr lvl="1">
              <a:spcBef>
                <a:spcPts val="800"/>
              </a:spcBef>
            </a:pPr>
            <a:r>
              <a:rPr lang="en-US" altLang="en-US" dirty="0"/>
              <a:t>quadratic probing:</a:t>
            </a:r>
          </a:p>
          <a:p>
            <a:pPr marL="1147763" lvl="2" indent="-233363">
              <a:spcBef>
                <a:spcPts val="500"/>
              </a:spcBef>
            </a:pPr>
            <a:r>
              <a:rPr lang="en-US" altLang="en-US" sz="2200" dirty="0">
                <a:solidFill>
                  <a:srgbClr val="0000FF"/>
                </a:solidFill>
              </a:rPr>
              <a:t>when all positions are occupied</a:t>
            </a:r>
          </a:p>
          <a:p>
            <a:pPr marL="1147763" lvl="2" indent="-233363">
              <a:spcBef>
                <a:spcPts val="500"/>
              </a:spcBef>
            </a:pPr>
            <a:r>
              <a:rPr lang="en-US" altLang="en-US" sz="2200" dirty="0">
                <a:solidFill>
                  <a:srgbClr val="0000FF"/>
                </a:solidFill>
              </a:rPr>
              <a:t>when the probe sequence can't reach the unoccupied slots</a:t>
            </a:r>
            <a:endParaRPr lang="en-US" altLang="en-US" dirty="0">
              <a:solidFill>
                <a:srgbClr val="0000FF"/>
              </a:solidFill>
            </a:endParaRPr>
          </a:p>
          <a:p>
            <a:pPr lvl="1">
              <a:spcBef>
                <a:spcPts val="800"/>
              </a:spcBef>
            </a:pPr>
            <a:r>
              <a:rPr lang="en-US" altLang="en-US" dirty="0"/>
              <a:t>double hashing:</a:t>
            </a:r>
          </a:p>
          <a:p>
            <a:pPr marL="1147763" lvl="2" indent="-233363">
              <a:spcBef>
                <a:spcPts val="200"/>
              </a:spcBef>
              <a:buFontTx/>
              <a:buChar char="•"/>
            </a:pPr>
            <a:r>
              <a:rPr lang="en-US" altLang="en-US" sz="2200" dirty="0"/>
              <a:t>if the table size is a prime number: </a:t>
            </a:r>
            <a:r>
              <a:rPr lang="en-US" altLang="en-US" sz="2200" dirty="0">
                <a:solidFill>
                  <a:schemeClr val="tx1"/>
                </a:solidFill>
              </a:rPr>
              <a:t>same as linear</a:t>
            </a:r>
          </a:p>
          <a:p>
            <a:pPr marL="1147763" lvl="2" indent="-233363">
              <a:spcBef>
                <a:spcPts val="200"/>
              </a:spcBef>
              <a:buFontTx/>
              <a:buChar char="•"/>
            </a:pPr>
            <a:r>
              <a:rPr lang="en-US" altLang="en-US" sz="2200" dirty="0"/>
              <a:t>if the table size is not a prime number: </a:t>
            </a:r>
            <a:r>
              <a:rPr lang="en-US" altLang="en-US" sz="2200" dirty="0">
                <a:solidFill>
                  <a:schemeClr val="tx1"/>
                </a:solidFill>
              </a:rPr>
              <a:t>same as quadratic</a:t>
            </a:r>
          </a:p>
          <a:p>
            <a:pPr>
              <a:spcBef>
                <a:spcPts val="2400"/>
              </a:spcBef>
            </a:pPr>
            <a:r>
              <a:rPr lang="en-US" altLang="en-US" dirty="0"/>
              <a:t>To avoid overflow (</a:t>
            </a:r>
            <a:r>
              <a:rPr lang="en-US" altLang="en-US" i="1" dirty="0"/>
              <a:t>and reduce search times</a:t>
            </a:r>
            <a:r>
              <a:rPr lang="en-US" altLang="en-US" dirty="0"/>
              <a:t>), grow the hash table when the % of occupied positions gets too big.</a:t>
            </a:r>
          </a:p>
          <a:p>
            <a:pPr lvl="1">
              <a:spcBef>
                <a:spcPts val="500"/>
              </a:spcBef>
            </a:pPr>
            <a:r>
              <a:rPr lang="en-US" altLang="en-US" dirty="0"/>
              <a:t>problem: we need to rehash </a:t>
            </a:r>
            <a:r>
              <a:rPr lang="en-US" altLang="en-US" b="1" dirty="0"/>
              <a:t>all</a:t>
            </a:r>
            <a:r>
              <a:rPr lang="en-US" altLang="en-US" dirty="0"/>
              <a:t> of the existing items. why?</a:t>
            </a:r>
            <a:br>
              <a:rPr lang="en-US" altLang="en-US" dirty="0"/>
            </a:br>
            <a:r>
              <a:rPr lang="en-US" altLang="en-US" dirty="0">
                <a:solidFill>
                  <a:srgbClr val="0000FF"/>
                </a:solidFill>
              </a:rPr>
              <a:t>items may end up in different positions in the larger table</a:t>
            </a:r>
          </a:p>
        </p:txBody>
      </p:sp>
      <p:sp>
        <p:nvSpPr>
          <p:cNvPr id="3" name="Cloud Callout 2"/>
          <p:cNvSpPr/>
          <p:nvPr/>
        </p:nvSpPr>
        <p:spPr bwMode="auto">
          <a:xfrm>
            <a:off x="5261317" y="1083212"/>
            <a:ext cx="3474720" cy="2532185"/>
          </a:xfrm>
          <a:prstGeom prst="cloudCallout">
            <a:avLst>
              <a:gd name="adj1" fmla="val -28525"/>
              <a:gd name="adj2" fmla="val 115278"/>
            </a:avLst>
          </a:prstGeom>
          <a:solidFill>
            <a:schemeClr val="bg1">
              <a:lumMod val="95000"/>
            </a:schemeClr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Narrow" pitchFamily="34" charset="0"/>
              </a:rPr>
              <a:t>Rehash</a:t>
            </a:r>
            <a:r>
              <a:rPr kumimoji="0" lang="en-US" sz="2400" b="0" i="0" u="none" strike="noStrike" cap="none" normalizeH="0" dirty="0">
                <a:ln>
                  <a:noFill/>
                </a:ln>
                <a:solidFill>
                  <a:srgbClr val="000000"/>
                </a:solidFill>
                <a:effectLst/>
                <a:latin typeface="Arial Narrow" pitchFamily="34" charset="0"/>
              </a:rPr>
              <a:t> all buckets into  a new hash table!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8009288"/>
      </p:ext>
    </p:extLst>
  </p:cSld>
  <p:clrMapOvr>
    <a:masterClrMapping/>
  </p:clrMapOvr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Play Time</a:t>
            </a:r>
          </a:p>
        </p:txBody>
      </p:sp>
      <p:pic>
        <p:nvPicPr>
          <p:cNvPr id="5" name="Picture 4" descr="HeLLo GoD, MaY i SPeaK To My SoN, PLeASe?: Call 143 ...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2250" y="1524000"/>
            <a:ext cx="36195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450203"/>
      </p:ext>
    </p:extLst>
  </p:cSld>
  <p:clrMapOvr>
    <a:masterClrMapping/>
  </p:clrMapOvr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 dirty="0"/>
              <a:t>Another Example</a:t>
            </a:r>
          </a:p>
        </p:txBody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802687" cy="5614988"/>
          </a:xfrm>
        </p:spPr>
        <p:txBody>
          <a:bodyPr/>
          <a:lstStyle/>
          <a:p>
            <a:r>
              <a:rPr lang="en-US" altLang="en-US" dirty="0"/>
              <a:t>Start with the hash table at right with:</a:t>
            </a:r>
          </a:p>
          <a:p>
            <a:pPr lvl="1"/>
            <a:r>
              <a:rPr lang="en-US" altLang="en-US" dirty="0"/>
              <a:t>double hashing</a:t>
            </a:r>
          </a:p>
          <a:p>
            <a:pPr lvl="1"/>
            <a:r>
              <a:rPr lang="en-US" altLang="en-US" dirty="0"/>
              <a:t>h1(key) = ASCII of first letter – ASCII of 'a'</a:t>
            </a:r>
          </a:p>
          <a:p>
            <a:pPr lvl="1"/>
            <a:r>
              <a:rPr lang="en-US" altLang="en-US" dirty="0"/>
              <a:t>h2(key) = </a:t>
            </a:r>
            <a:r>
              <a:rPr lang="en-US" altLang="en-US" dirty="0" err="1"/>
              <a:t>key.length</a:t>
            </a:r>
            <a:r>
              <a:rPr lang="en-US" altLang="en-US" dirty="0"/>
              <a:t>()</a:t>
            </a:r>
          </a:p>
          <a:p>
            <a:pPr lvl="1"/>
            <a:r>
              <a:rPr lang="en-US" altLang="en-US" dirty="0"/>
              <a:t>shaded cells are removed cells</a:t>
            </a:r>
          </a:p>
          <a:p>
            <a:pPr>
              <a:spcBef>
                <a:spcPts val="1400"/>
              </a:spcBef>
            </a:pPr>
            <a:r>
              <a:rPr lang="en-US" altLang="en-US" b="1" dirty="0">
                <a:solidFill>
                  <a:srgbClr val="0000FF"/>
                </a:solidFill>
              </a:rPr>
              <a:t>What is the probe sequence for "baboon"?</a:t>
            </a:r>
            <a:br>
              <a:rPr lang="en-US" altLang="en-US" dirty="0"/>
            </a:br>
            <a:r>
              <a:rPr lang="en-US" altLang="en-US" dirty="0">
                <a:solidFill>
                  <a:srgbClr val="0000FF"/>
                </a:solidFill>
              </a:rPr>
              <a:t>(the sequence of positions seen during probing)</a:t>
            </a:r>
            <a:r>
              <a:rPr lang="en-US" altLang="en-US" dirty="0">
                <a:solidFill>
                  <a:srgbClr val="FF0000"/>
                </a:solidFill>
              </a:rPr>
              <a:t>  </a:t>
            </a:r>
          </a:p>
          <a:p>
            <a:pPr marL="457200" lvl="1" indent="0">
              <a:spcBef>
                <a:spcPts val="200"/>
              </a:spcBef>
              <a:buNone/>
            </a:pPr>
            <a:r>
              <a:rPr lang="en-US" altLang="en-US" dirty="0">
                <a:solidFill>
                  <a:srgbClr val="FF0000"/>
                </a:solidFill>
              </a:rPr>
              <a:t>						 </a:t>
            </a:r>
          </a:p>
          <a:p>
            <a:pPr marL="457200" lvl="1" indent="0">
              <a:spcBef>
                <a:spcPts val="200"/>
              </a:spcBef>
              <a:buNone/>
            </a:pPr>
            <a:r>
              <a:rPr lang="en-US" altLang="en-US" dirty="0">
                <a:solidFill>
                  <a:srgbClr val="FF0000"/>
                </a:solidFill>
              </a:rPr>
              <a:t>						</a:t>
            </a:r>
          </a:p>
          <a:p>
            <a:pPr marL="457200" lvl="1" indent="0">
              <a:spcBef>
                <a:spcPts val="200"/>
              </a:spcBef>
              <a:buNone/>
            </a:pPr>
            <a:r>
              <a:rPr lang="en-US" altLang="en-US" dirty="0">
                <a:solidFill>
                  <a:srgbClr val="FF0000"/>
                </a:solidFill>
              </a:rPr>
              <a:t>						</a:t>
            </a:r>
            <a:br>
              <a:rPr lang="en-US" altLang="en-US" dirty="0">
                <a:solidFill>
                  <a:srgbClr val="FF0000"/>
                </a:solidFill>
              </a:rPr>
            </a:br>
            <a:endParaRPr lang="en-US" altLang="en-US" dirty="0"/>
          </a:p>
          <a:p>
            <a:pPr marL="457200" lvl="1" indent="0">
              <a:spcBef>
                <a:spcPts val="500"/>
              </a:spcBef>
              <a:buNone/>
            </a:pPr>
            <a:endParaRPr lang="en-US" altLang="en-US" dirty="0"/>
          </a:p>
        </p:txBody>
      </p:sp>
      <p:graphicFrame>
        <p:nvGraphicFramePr>
          <p:cNvPr id="5" name="Group 5"/>
          <p:cNvGraphicFramePr>
            <a:graphicFrameLocks noGrp="1"/>
          </p:cNvGraphicFramePr>
          <p:nvPr/>
        </p:nvGraphicFramePr>
        <p:xfrm>
          <a:off x="6136365" y="1044429"/>
          <a:ext cx="2097087" cy="3688234"/>
        </p:xfrm>
        <a:graphic>
          <a:graphicData uri="http://schemas.openxmlformats.org/drawingml/2006/table">
            <a:tbl>
              <a:tblPr/>
              <a:tblGrid>
                <a:gridCol w="105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6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6433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0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"ant"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6433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6433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"cat"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6433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3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6433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4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"emu"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6433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5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6433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6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6433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7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6433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8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6433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9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119274"/>
                  </a:ext>
                </a:extLst>
              </a:tr>
              <a:tr h="326433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10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2710012"/>
                  </a:ext>
                </a:extLst>
              </a:tr>
            </a:tbl>
          </a:graphicData>
        </a:graphic>
      </p:graphicFrame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752804" y="4496218"/>
            <a:ext cx="3797929" cy="182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marL="333375" indent="-333375" algn="l" defTabSz="447675" rtl="0" eaLnBrk="0" fontAlgn="base" hangingPunct="0">
              <a:spcBef>
                <a:spcPts val="1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733425" indent="-276225" algn="l" defTabSz="447675" rtl="0" eaLnBrk="0" fontAlgn="base" hangingPunct="0">
              <a:spcBef>
                <a:spcPts val="5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Helvetica" panose="020B0604020202020204" pitchFamily="34" charset="0"/>
              <a:buChar char="–"/>
              <a:defRPr sz="2200">
                <a:solidFill>
                  <a:srgbClr val="000000"/>
                </a:solidFill>
                <a:latin typeface="+mn-lt"/>
              </a:defRPr>
            </a:lvl2pPr>
            <a:lvl3pPr marL="1076325" indent="-161925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000">
                <a:solidFill>
                  <a:srgbClr val="000000"/>
                </a:solidFill>
                <a:latin typeface="+mn-lt"/>
              </a:defRPr>
            </a:lvl3pPr>
            <a:lvl4pPr marL="1600200" indent="-228600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Helvetica" panose="020B0604020202020204" pitchFamily="34" charset="0"/>
              <a:buChar char="–"/>
              <a:defRPr sz="2000">
                <a:solidFill>
                  <a:srgbClr val="000000"/>
                </a:solidFill>
                <a:latin typeface="+mn-lt"/>
              </a:defRPr>
            </a:lvl4pPr>
            <a:lvl5pPr marL="2057400" indent="-228600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+mn-lt"/>
              </a:defRPr>
            </a:lvl5pPr>
            <a:lvl6pPr marL="2514600" indent="-228600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Char char="»"/>
              <a:defRPr sz="2000">
                <a:solidFill>
                  <a:srgbClr val="000000"/>
                </a:solidFill>
                <a:latin typeface="+mn-lt"/>
              </a:defRPr>
            </a:lvl6pPr>
            <a:lvl7pPr marL="2971800" indent="-228600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Char char="»"/>
              <a:defRPr sz="2000">
                <a:solidFill>
                  <a:srgbClr val="000000"/>
                </a:solidFill>
                <a:latin typeface="+mn-lt"/>
              </a:defRPr>
            </a:lvl7pPr>
            <a:lvl8pPr marL="3429000" indent="-228600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Char char="»"/>
              <a:defRPr sz="2000">
                <a:solidFill>
                  <a:srgbClr val="000000"/>
                </a:solidFill>
                <a:latin typeface="+mn-lt"/>
              </a:defRPr>
            </a:lvl8pPr>
            <a:lvl9pPr marL="3886200" indent="-228600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Char char="»"/>
              <a:defRPr sz="2000">
                <a:solidFill>
                  <a:srgbClr val="000000"/>
                </a:solidFill>
                <a:latin typeface="+mn-lt"/>
              </a:defRPr>
            </a:lvl9pPr>
          </a:lstStyle>
          <a:p>
            <a:pPr marL="457200" marR="0" lvl="0" indent="-457200" algn="l" defTabSz="447675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+mj-lt"/>
              <a:buAutoNum type="alphaUcPeriod"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 1, 2, 5</a:t>
            </a:r>
          </a:p>
          <a:p>
            <a:pPr marL="457200" marR="0" lvl="0" indent="-457200" algn="l" defTabSz="447675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+mj-lt"/>
              <a:buAutoNum type="alphaUcPeriod"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 1, 6</a:t>
            </a:r>
          </a:p>
          <a:p>
            <a:pPr marL="457200" marR="0" lvl="0" indent="-457200" algn="l" defTabSz="447675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+mj-lt"/>
              <a:buAutoNum type="alphaUcPeriod"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 1, 7, 2</a:t>
            </a:r>
          </a:p>
          <a:p>
            <a:pPr marL="457200" marR="0" lvl="0" indent="-457200" algn="l" defTabSz="447675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+mj-lt"/>
              <a:buAutoNum type="alphaUcPeriod"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 1, 7, 3</a:t>
            </a:r>
          </a:p>
          <a:p>
            <a:pPr marL="457200" marR="0" lvl="0" indent="-457200" algn="l" defTabSz="447675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+mj-lt"/>
              <a:buAutoNum type="alphaUcPeriod"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 1, 7, 2, 8 </a:t>
            </a:r>
          </a:p>
          <a:p>
            <a:pPr marL="0" marR="0" lvl="0" indent="0" algn="l" defTabSz="447675" rtl="0" eaLnBrk="0" fontAlgn="base" latinLnBrk="0" hangingPunct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  <a:p>
            <a:pPr marL="333375" marR="0" lvl="0" indent="-333375" algn="l" defTabSz="447675" rtl="0" eaLnBrk="0" fontAlgn="base" latinLnBrk="0" hangingPunct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  <a:p>
            <a:pPr marL="333375" marR="0" lvl="0" indent="-333375" algn="l" defTabSz="447675" rtl="0" eaLnBrk="0" fontAlgn="base" latinLnBrk="0" hangingPunct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  <a:p>
            <a:pPr marL="333375" marR="0" lvl="0" indent="-333375" algn="l" defTabSz="447675" rtl="0" eaLnBrk="0" fontAlgn="base" latinLnBrk="0" hangingPunct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  <a:p>
            <a:pPr marL="333375" marR="0" lvl="0" indent="-333375" algn="l" defTabSz="447675" rtl="0" eaLnBrk="0" fontAlgn="base" latinLnBrk="0" hangingPunct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  <a:p>
            <a:pPr marL="333375" marR="0" lvl="0" indent="-333375" algn="l" defTabSz="447675" rtl="0" eaLnBrk="0" fontAlgn="base" latinLnBrk="0" hangingPunct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  <a:p>
            <a:pPr marL="333375" marR="0" lvl="0" indent="-333375" algn="l" defTabSz="447675" rtl="0" eaLnBrk="0" fontAlgn="base" latinLnBrk="0" hangingPunct="0">
              <a:lnSpc>
                <a:spcPct val="100000"/>
              </a:lnSpc>
              <a:spcBef>
                <a:spcPts val="2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9" name="Rectangle 54"/>
          <p:cNvSpPr>
            <a:spLocks noChangeArrowheads="1"/>
          </p:cNvSpPr>
          <p:nvPr/>
        </p:nvSpPr>
        <p:spPr bwMode="auto">
          <a:xfrm>
            <a:off x="7217907" y="1395516"/>
            <a:ext cx="986293" cy="288925"/>
          </a:xfrm>
          <a:prstGeom prst="rect">
            <a:avLst/>
          </a:prstGeom>
          <a:noFill/>
          <a:ln w="38100" algn="ctr">
            <a:solidFill>
              <a:srgbClr val="CC0099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>
              <a:spcBef>
                <a:spcPts val="1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 algn="l">
              <a:spcBef>
                <a:spcPts val="525"/>
              </a:spcBef>
              <a:buClr>
                <a:srgbClr val="000000"/>
              </a:buClr>
              <a:buSzPct val="10000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Helvetica" panose="020B0604020202020204" pitchFamily="34" charset="0"/>
              <a:buChar char="–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2945381"/>
      </p:ext>
    </p:extLst>
  </p:cSld>
  <p:clrMapOvr>
    <a:masterClrMapping/>
  </p:clrMapOvr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 dirty="0"/>
              <a:t>Another Example</a:t>
            </a:r>
          </a:p>
        </p:txBody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802687" cy="5614988"/>
          </a:xfrm>
        </p:spPr>
        <p:txBody>
          <a:bodyPr/>
          <a:lstStyle/>
          <a:p>
            <a:r>
              <a:rPr lang="en-US" altLang="en-US" dirty="0"/>
              <a:t>Start with the hash table at right with:</a:t>
            </a:r>
          </a:p>
          <a:p>
            <a:pPr lvl="1"/>
            <a:r>
              <a:rPr lang="en-US" altLang="en-US" dirty="0"/>
              <a:t>double hashing</a:t>
            </a:r>
          </a:p>
          <a:p>
            <a:pPr lvl="1"/>
            <a:r>
              <a:rPr lang="en-US" altLang="en-US" dirty="0"/>
              <a:t>h1(key) = ASCII of first letter – ASCII of 'a'</a:t>
            </a:r>
          </a:p>
          <a:p>
            <a:pPr lvl="1"/>
            <a:r>
              <a:rPr lang="en-US" altLang="en-US" dirty="0"/>
              <a:t>h2(key) = </a:t>
            </a:r>
            <a:r>
              <a:rPr lang="en-US" altLang="en-US" dirty="0" err="1"/>
              <a:t>key.length</a:t>
            </a:r>
            <a:r>
              <a:rPr lang="en-US" altLang="en-US" dirty="0"/>
              <a:t>()</a:t>
            </a:r>
          </a:p>
          <a:p>
            <a:pPr lvl="1"/>
            <a:r>
              <a:rPr lang="en-US" altLang="en-US" dirty="0"/>
              <a:t>shaded cells are removed cells</a:t>
            </a:r>
          </a:p>
          <a:p>
            <a:pPr>
              <a:spcBef>
                <a:spcPts val="1400"/>
              </a:spcBef>
            </a:pPr>
            <a:r>
              <a:rPr lang="en-US" altLang="en-US" b="1" dirty="0">
                <a:solidFill>
                  <a:srgbClr val="0000FF"/>
                </a:solidFill>
              </a:rPr>
              <a:t>What is the probe sequence for "baboon"?</a:t>
            </a:r>
            <a:br>
              <a:rPr lang="en-US" altLang="en-US" dirty="0"/>
            </a:br>
            <a:r>
              <a:rPr lang="en-US" altLang="en-US" dirty="0">
                <a:solidFill>
                  <a:srgbClr val="FF0000"/>
                </a:solidFill>
              </a:rPr>
              <a:t>(h1 = 1, h2 = 6)     </a:t>
            </a:r>
          </a:p>
          <a:p>
            <a:pPr marL="457200" lvl="1" indent="0">
              <a:spcBef>
                <a:spcPts val="200"/>
              </a:spcBef>
              <a:buNone/>
            </a:pPr>
            <a:r>
              <a:rPr lang="en-US" altLang="en-US" dirty="0">
                <a:solidFill>
                  <a:srgbClr val="FF0000"/>
                </a:solidFill>
              </a:rPr>
              <a:t>						 </a:t>
            </a:r>
          </a:p>
          <a:p>
            <a:pPr marL="457200" lvl="1" indent="0">
              <a:spcBef>
                <a:spcPts val="200"/>
              </a:spcBef>
              <a:buNone/>
            </a:pPr>
            <a:r>
              <a:rPr lang="en-US" altLang="en-US" dirty="0">
                <a:solidFill>
                  <a:srgbClr val="FF0000"/>
                </a:solidFill>
              </a:rPr>
              <a:t>						</a:t>
            </a:r>
          </a:p>
          <a:p>
            <a:pPr marL="457200" lvl="1" indent="0">
              <a:spcBef>
                <a:spcPts val="200"/>
              </a:spcBef>
              <a:buNone/>
            </a:pPr>
            <a:r>
              <a:rPr lang="en-US" altLang="en-US" dirty="0">
                <a:solidFill>
                  <a:srgbClr val="FF0000"/>
                </a:solidFill>
              </a:rPr>
              <a:t>						</a:t>
            </a:r>
            <a:br>
              <a:rPr lang="en-US" altLang="en-US" dirty="0">
                <a:solidFill>
                  <a:srgbClr val="FF0000"/>
                </a:solidFill>
              </a:rPr>
            </a:br>
            <a:endParaRPr lang="en-US" altLang="en-US" dirty="0"/>
          </a:p>
          <a:p>
            <a:pPr marL="457200" lvl="1" indent="0">
              <a:spcBef>
                <a:spcPts val="500"/>
              </a:spcBef>
              <a:buNone/>
            </a:pPr>
            <a:endParaRPr lang="en-US" altLang="en-US" dirty="0"/>
          </a:p>
        </p:txBody>
      </p:sp>
      <p:graphicFrame>
        <p:nvGraphicFramePr>
          <p:cNvPr id="5" name="Group 5"/>
          <p:cNvGraphicFramePr>
            <a:graphicFrameLocks noGrp="1"/>
          </p:cNvGraphicFramePr>
          <p:nvPr/>
        </p:nvGraphicFramePr>
        <p:xfrm>
          <a:off x="6136365" y="1044429"/>
          <a:ext cx="2097087" cy="3688234"/>
        </p:xfrm>
        <a:graphic>
          <a:graphicData uri="http://schemas.openxmlformats.org/drawingml/2006/table">
            <a:tbl>
              <a:tblPr/>
              <a:tblGrid>
                <a:gridCol w="105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6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6433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0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"ant"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6433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6433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"cat"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6433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3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6433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4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"emu"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6433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5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6433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6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6433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7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6433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8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6433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9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119274"/>
                  </a:ext>
                </a:extLst>
              </a:tr>
              <a:tr h="326433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10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2710012"/>
                  </a:ext>
                </a:extLst>
              </a:tr>
            </a:tbl>
          </a:graphicData>
        </a:graphic>
      </p:graphicFrame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752804" y="4496218"/>
            <a:ext cx="3797929" cy="182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marL="333375" indent="-333375" algn="l" defTabSz="447675" rtl="0" eaLnBrk="0" fontAlgn="base" hangingPunct="0">
              <a:spcBef>
                <a:spcPts val="1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733425" indent="-276225" algn="l" defTabSz="447675" rtl="0" eaLnBrk="0" fontAlgn="base" hangingPunct="0">
              <a:spcBef>
                <a:spcPts val="5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Helvetica" panose="020B0604020202020204" pitchFamily="34" charset="0"/>
              <a:buChar char="–"/>
              <a:defRPr sz="2200">
                <a:solidFill>
                  <a:srgbClr val="000000"/>
                </a:solidFill>
                <a:latin typeface="+mn-lt"/>
              </a:defRPr>
            </a:lvl2pPr>
            <a:lvl3pPr marL="1076325" indent="-161925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000">
                <a:solidFill>
                  <a:srgbClr val="000000"/>
                </a:solidFill>
                <a:latin typeface="+mn-lt"/>
              </a:defRPr>
            </a:lvl3pPr>
            <a:lvl4pPr marL="1600200" indent="-228600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Helvetica" panose="020B0604020202020204" pitchFamily="34" charset="0"/>
              <a:buChar char="–"/>
              <a:defRPr sz="2000">
                <a:solidFill>
                  <a:srgbClr val="000000"/>
                </a:solidFill>
                <a:latin typeface="+mn-lt"/>
              </a:defRPr>
            </a:lvl4pPr>
            <a:lvl5pPr marL="2057400" indent="-228600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+mn-lt"/>
              </a:defRPr>
            </a:lvl5pPr>
            <a:lvl6pPr marL="2514600" indent="-228600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Char char="»"/>
              <a:defRPr sz="2000">
                <a:solidFill>
                  <a:srgbClr val="000000"/>
                </a:solidFill>
                <a:latin typeface="+mn-lt"/>
              </a:defRPr>
            </a:lvl6pPr>
            <a:lvl7pPr marL="2971800" indent="-228600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Char char="»"/>
              <a:defRPr sz="2000">
                <a:solidFill>
                  <a:srgbClr val="000000"/>
                </a:solidFill>
                <a:latin typeface="+mn-lt"/>
              </a:defRPr>
            </a:lvl7pPr>
            <a:lvl8pPr marL="3429000" indent="-228600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Char char="»"/>
              <a:defRPr sz="2000">
                <a:solidFill>
                  <a:srgbClr val="000000"/>
                </a:solidFill>
                <a:latin typeface="+mn-lt"/>
              </a:defRPr>
            </a:lvl8pPr>
            <a:lvl9pPr marL="3886200" indent="-228600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Char char="»"/>
              <a:defRPr sz="2000">
                <a:solidFill>
                  <a:srgbClr val="000000"/>
                </a:solidFill>
                <a:latin typeface="+mn-lt"/>
              </a:defRPr>
            </a:lvl9pPr>
          </a:lstStyle>
          <a:p>
            <a:pPr marL="457200" marR="0" lvl="0" indent="-457200" algn="l" defTabSz="447675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+mj-lt"/>
              <a:buAutoNum type="alphaUcPeriod"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 1, 2, 5</a:t>
            </a:r>
          </a:p>
          <a:p>
            <a:pPr marL="457200" marR="0" lvl="0" indent="-457200" algn="l" defTabSz="447675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+mj-lt"/>
              <a:buAutoNum type="alphaUcPeriod"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 1, 6</a:t>
            </a:r>
          </a:p>
          <a:p>
            <a:pPr marL="457200" marR="0" lvl="0" indent="-457200" algn="l" defTabSz="447675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+mj-lt"/>
              <a:buAutoNum type="alphaUcPeriod"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 1, 7, 2</a:t>
            </a:r>
          </a:p>
          <a:p>
            <a:pPr marL="457200" marR="0" lvl="0" indent="-457200" algn="l" defTabSz="447675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+mj-lt"/>
              <a:buAutoNum type="alphaUcPeriod"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 1, 7, 3</a:t>
            </a:r>
          </a:p>
          <a:p>
            <a:pPr marL="457200" marR="0" lvl="0" indent="-457200" algn="l" defTabSz="447675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+mj-lt"/>
              <a:buAutoNum type="alphaUcPeriod"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 1, 7, 2, 8 </a:t>
            </a:r>
          </a:p>
          <a:p>
            <a:pPr marL="0" marR="0" lvl="0" indent="0" algn="l" defTabSz="447675" rtl="0" eaLnBrk="0" fontAlgn="base" latinLnBrk="0" hangingPunct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  <a:p>
            <a:pPr marL="333375" marR="0" lvl="0" indent="-333375" algn="l" defTabSz="447675" rtl="0" eaLnBrk="0" fontAlgn="base" latinLnBrk="0" hangingPunct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  <a:p>
            <a:pPr marL="333375" marR="0" lvl="0" indent="-333375" algn="l" defTabSz="447675" rtl="0" eaLnBrk="0" fontAlgn="base" latinLnBrk="0" hangingPunct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  <a:p>
            <a:pPr marL="333375" marR="0" lvl="0" indent="-333375" algn="l" defTabSz="447675" rtl="0" eaLnBrk="0" fontAlgn="base" latinLnBrk="0" hangingPunct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  <a:p>
            <a:pPr marL="333375" marR="0" lvl="0" indent="-333375" algn="l" defTabSz="447675" rtl="0" eaLnBrk="0" fontAlgn="base" latinLnBrk="0" hangingPunct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  <a:p>
            <a:pPr marL="333375" marR="0" lvl="0" indent="-333375" algn="l" defTabSz="447675" rtl="0" eaLnBrk="0" fontAlgn="base" latinLnBrk="0" hangingPunct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  <a:p>
            <a:pPr marL="333375" marR="0" lvl="0" indent="-333375" algn="l" defTabSz="447675" rtl="0" eaLnBrk="0" fontAlgn="base" latinLnBrk="0" hangingPunct="0">
              <a:lnSpc>
                <a:spcPct val="100000"/>
              </a:lnSpc>
              <a:spcBef>
                <a:spcPts val="2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61332365"/>
      </p:ext>
    </p:extLst>
  </p:cSld>
  <p:clrMapOvr>
    <a:masterClrMapping/>
  </p:clrMapOvr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 dirty="0"/>
              <a:t>Another Example</a:t>
            </a:r>
          </a:p>
        </p:txBody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802687" cy="5614988"/>
          </a:xfrm>
        </p:spPr>
        <p:txBody>
          <a:bodyPr/>
          <a:lstStyle/>
          <a:p>
            <a:r>
              <a:rPr lang="en-US" altLang="en-US" dirty="0"/>
              <a:t>Start with the hash table at right with:</a:t>
            </a:r>
          </a:p>
          <a:p>
            <a:pPr lvl="1"/>
            <a:r>
              <a:rPr lang="en-US" altLang="en-US" dirty="0"/>
              <a:t>double hashing</a:t>
            </a:r>
          </a:p>
          <a:p>
            <a:pPr lvl="1"/>
            <a:r>
              <a:rPr lang="en-US" altLang="en-US" dirty="0"/>
              <a:t>h1(key) = ASCII of first letter – ASCII of 'a'</a:t>
            </a:r>
          </a:p>
          <a:p>
            <a:pPr lvl="1"/>
            <a:r>
              <a:rPr lang="en-US" altLang="en-US" dirty="0"/>
              <a:t>h2(key) = </a:t>
            </a:r>
            <a:r>
              <a:rPr lang="en-US" altLang="en-US" dirty="0" err="1"/>
              <a:t>key.length</a:t>
            </a:r>
            <a:r>
              <a:rPr lang="en-US" altLang="en-US" dirty="0"/>
              <a:t>()</a:t>
            </a:r>
          </a:p>
          <a:p>
            <a:pPr lvl="1"/>
            <a:r>
              <a:rPr lang="en-US" altLang="en-US" dirty="0"/>
              <a:t>shaded cells are removed cells</a:t>
            </a:r>
          </a:p>
          <a:p>
            <a:pPr>
              <a:spcBef>
                <a:spcPts val="1400"/>
              </a:spcBef>
            </a:pPr>
            <a:r>
              <a:rPr lang="en-US" altLang="en-US" b="1" dirty="0">
                <a:solidFill>
                  <a:srgbClr val="0000FF"/>
                </a:solidFill>
              </a:rPr>
              <a:t>What is the probe sequence for "baboon"?</a:t>
            </a:r>
            <a:br>
              <a:rPr lang="en-US" altLang="en-US" dirty="0"/>
            </a:br>
            <a:r>
              <a:rPr lang="en-US" altLang="en-US" dirty="0">
                <a:solidFill>
                  <a:srgbClr val="FF0000"/>
                </a:solidFill>
              </a:rPr>
              <a:t>(h1 = 1, h2 = 6)    try:	1 % 11 = 1 </a:t>
            </a:r>
          </a:p>
          <a:p>
            <a:pPr marL="457200" lvl="1" indent="0">
              <a:spcBef>
                <a:spcPts val="200"/>
              </a:spcBef>
              <a:buNone/>
            </a:pPr>
            <a:r>
              <a:rPr lang="en-US" altLang="en-US" dirty="0">
                <a:solidFill>
                  <a:srgbClr val="FF0000"/>
                </a:solidFill>
              </a:rPr>
              <a:t>						 </a:t>
            </a:r>
          </a:p>
          <a:p>
            <a:pPr marL="457200" lvl="1" indent="0">
              <a:spcBef>
                <a:spcPts val="200"/>
              </a:spcBef>
              <a:buNone/>
            </a:pPr>
            <a:r>
              <a:rPr lang="en-US" altLang="en-US" dirty="0">
                <a:solidFill>
                  <a:srgbClr val="FF0000"/>
                </a:solidFill>
              </a:rPr>
              <a:t>						</a:t>
            </a:r>
          </a:p>
          <a:p>
            <a:pPr marL="457200" lvl="1" indent="0">
              <a:spcBef>
                <a:spcPts val="200"/>
              </a:spcBef>
              <a:buNone/>
            </a:pPr>
            <a:r>
              <a:rPr lang="en-US" altLang="en-US" dirty="0">
                <a:solidFill>
                  <a:srgbClr val="FF0000"/>
                </a:solidFill>
              </a:rPr>
              <a:t>						</a:t>
            </a:r>
            <a:br>
              <a:rPr lang="en-US" altLang="en-US" dirty="0">
                <a:solidFill>
                  <a:srgbClr val="FF0000"/>
                </a:solidFill>
              </a:rPr>
            </a:br>
            <a:endParaRPr lang="en-US" altLang="en-US" dirty="0"/>
          </a:p>
          <a:p>
            <a:pPr marL="457200" lvl="1" indent="0">
              <a:spcBef>
                <a:spcPts val="500"/>
              </a:spcBef>
              <a:buNone/>
            </a:pPr>
            <a:endParaRPr lang="en-US" altLang="en-US" dirty="0"/>
          </a:p>
        </p:txBody>
      </p:sp>
      <p:graphicFrame>
        <p:nvGraphicFramePr>
          <p:cNvPr id="5" name="Group 5"/>
          <p:cNvGraphicFramePr>
            <a:graphicFrameLocks noGrp="1"/>
          </p:cNvGraphicFramePr>
          <p:nvPr/>
        </p:nvGraphicFramePr>
        <p:xfrm>
          <a:off x="6136365" y="1044429"/>
          <a:ext cx="2097087" cy="3688234"/>
        </p:xfrm>
        <a:graphic>
          <a:graphicData uri="http://schemas.openxmlformats.org/drawingml/2006/table">
            <a:tbl>
              <a:tblPr/>
              <a:tblGrid>
                <a:gridCol w="105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6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6433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0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"ant"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6433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6433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"cat"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6433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3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6433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4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"emu"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6433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5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6433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6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6433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7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6433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8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6433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9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119274"/>
                  </a:ext>
                </a:extLst>
              </a:tr>
              <a:tr h="326433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10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2710012"/>
                  </a:ext>
                </a:extLst>
              </a:tr>
            </a:tbl>
          </a:graphicData>
        </a:graphic>
      </p:graphicFrame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752804" y="4496218"/>
            <a:ext cx="3797929" cy="182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marL="333375" indent="-333375" algn="l" defTabSz="447675" rtl="0" eaLnBrk="0" fontAlgn="base" hangingPunct="0">
              <a:spcBef>
                <a:spcPts val="1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733425" indent="-276225" algn="l" defTabSz="447675" rtl="0" eaLnBrk="0" fontAlgn="base" hangingPunct="0">
              <a:spcBef>
                <a:spcPts val="5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Helvetica" panose="020B0604020202020204" pitchFamily="34" charset="0"/>
              <a:buChar char="–"/>
              <a:defRPr sz="2200">
                <a:solidFill>
                  <a:srgbClr val="000000"/>
                </a:solidFill>
                <a:latin typeface="+mn-lt"/>
              </a:defRPr>
            </a:lvl2pPr>
            <a:lvl3pPr marL="1076325" indent="-161925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000">
                <a:solidFill>
                  <a:srgbClr val="000000"/>
                </a:solidFill>
                <a:latin typeface="+mn-lt"/>
              </a:defRPr>
            </a:lvl3pPr>
            <a:lvl4pPr marL="1600200" indent="-228600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Helvetica" panose="020B0604020202020204" pitchFamily="34" charset="0"/>
              <a:buChar char="–"/>
              <a:defRPr sz="2000">
                <a:solidFill>
                  <a:srgbClr val="000000"/>
                </a:solidFill>
                <a:latin typeface="+mn-lt"/>
              </a:defRPr>
            </a:lvl4pPr>
            <a:lvl5pPr marL="2057400" indent="-228600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+mn-lt"/>
              </a:defRPr>
            </a:lvl5pPr>
            <a:lvl6pPr marL="2514600" indent="-228600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Char char="»"/>
              <a:defRPr sz="2000">
                <a:solidFill>
                  <a:srgbClr val="000000"/>
                </a:solidFill>
                <a:latin typeface="+mn-lt"/>
              </a:defRPr>
            </a:lvl6pPr>
            <a:lvl7pPr marL="2971800" indent="-228600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Char char="»"/>
              <a:defRPr sz="2000">
                <a:solidFill>
                  <a:srgbClr val="000000"/>
                </a:solidFill>
                <a:latin typeface="+mn-lt"/>
              </a:defRPr>
            </a:lvl7pPr>
            <a:lvl8pPr marL="3429000" indent="-228600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Char char="»"/>
              <a:defRPr sz="2000">
                <a:solidFill>
                  <a:srgbClr val="000000"/>
                </a:solidFill>
                <a:latin typeface="+mn-lt"/>
              </a:defRPr>
            </a:lvl8pPr>
            <a:lvl9pPr marL="3886200" indent="-228600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Char char="»"/>
              <a:defRPr sz="2000">
                <a:solidFill>
                  <a:srgbClr val="000000"/>
                </a:solidFill>
                <a:latin typeface="+mn-lt"/>
              </a:defRPr>
            </a:lvl9pPr>
          </a:lstStyle>
          <a:p>
            <a:pPr marL="457200" marR="0" lvl="0" indent="-457200" algn="l" defTabSz="447675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+mj-lt"/>
              <a:buAutoNum type="alphaUcPeriod"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 1, 2, 5</a:t>
            </a:r>
          </a:p>
          <a:p>
            <a:pPr marL="457200" marR="0" lvl="0" indent="-457200" algn="l" defTabSz="447675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+mj-lt"/>
              <a:buAutoNum type="alphaUcPeriod"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 1, 6</a:t>
            </a:r>
          </a:p>
          <a:p>
            <a:pPr marL="457200" marR="0" lvl="0" indent="-457200" algn="l" defTabSz="447675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+mj-lt"/>
              <a:buAutoNum type="alphaUcPeriod"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 1, 7, 2</a:t>
            </a:r>
          </a:p>
          <a:p>
            <a:pPr marL="457200" marR="0" lvl="0" indent="-457200" algn="l" defTabSz="447675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+mj-lt"/>
              <a:buAutoNum type="alphaUcPeriod"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 1, 7, 3</a:t>
            </a:r>
          </a:p>
          <a:p>
            <a:pPr marL="457200" marR="0" lvl="0" indent="-457200" algn="l" defTabSz="447675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+mj-lt"/>
              <a:buAutoNum type="alphaUcPeriod"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 1, 7, 2, 8 </a:t>
            </a:r>
          </a:p>
          <a:p>
            <a:pPr marL="0" marR="0" lvl="0" indent="0" algn="l" defTabSz="447675" rtl="0" eaLnBrk="0" fontAlgn="base" latinLnBrk="0" hangingPunct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  <a:p>
            <a:pPr marL="333375" marR="0" lvl="0" indent="-333375" algn="l" defTabSz="447675" rtl="0" eaLnBrk="0" fontAlgn="base" latinLnBrk="0" hangingPunct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  <a:p>
            <a:pPr marL="333375" marR="0" lvl="0" indent="-333375" algn="l" defTabSz="447675" rtl="0" eaLnBrk="0" fontAlgn="base" latinLnBrk="0" hangingPunct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  <a:p>
            <a:pPr marL="333375" marR="0" lvl="0" indent="-333375" algn="l" defTabSz="447675" rtl="0" eaLnBrk="0" fontAlgn="base" latinLnBrk="0" hangingPunct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  <a:p>
            <a:pPr marL="333375" marR="0" lvl="0" indent="-333375" algn="l" defTabSz="447675" rtl="0" eaLnBrk="0" fontAlgn="base" latinLnBrk="0" hangingPunct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  <a:p>
            <a:pPr marL="333375" marR="0" lvl="0" indent="-333375" algn="l" defTabSz="447675" rtl="0" eaLnBrk="0" fontAlgn="base" latinLnBrk="0" hangingPunct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  <a:p>
            <a:pPr marL="333375" marR="0" lvl="0" indent="-333375" algn="l" defTabSz="447675" rtl="0" eaLnBrk="0" fontAlgn="base" latinLnBrk="0" hangingPunct="0">
              <a:lnSpc>
                <a:spcPct val="100000"/>
              </a:lnSpc>
              <a:spcBef>
                <a:spcPts val="2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9" name="Rectangle 54"/>
          <p:cNvSpPr>
            <a:spLocks noChangeArrowheads="1"/>
          </p:cNvSpPr>
          <p:nvPr/>
        </p:nvSpPr>
        <p:spPr bwMode="auto">
          <a:xfrm>
            <a:off x="7217907" y="1395516"/>
            <a:ext cx="986293" cy="288925"/>
          </a:xfrm>
          <a:prstGeom prst="rect">
            <a:avLst/>
          </a:prstGeom>
          <a:noFill/>
          <a:ln w="38100" algn="ctr">
            <a:solidFill>
              <a:srgbClr val="CC0099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>
              <a:spcBef>
                <a:spcPts val="1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 algn="l">
              <a:spcBef>
                <a:spcPts val="525"/>
              </a:spcBef>
              <a:buClr>
                <a:srgbClr val="000000"/>
              </a:buClr>
              <a:buSzPct val="10000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Helvetica" panose="020B0604020202020204" pitchFamily="34" charset="0"/>
              <a:buChar char="–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3525871"/>
      </p:ext>
    </p:extLst>
  </p:cSld>
  <p:clrMapOvr>
    <a:masterClrMapping/>
  </p:clrMapOvr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 dirty="0"/>
              <a:t>Another Example</a:t>
            </a:r>
          </a:p>
        </p:txBody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802687" cy="5614988"/>
          </a:xfrm>
        </p:spPr>
        <p:txBody>
          <a:bodyPr/>
          <a:lstStyle/>
          <a:p>
            <a:r>
              <a:rPr lang="en-US" altLang="en-US" dirty="0"/>
              <a:t>Start with the hash table at right with:</a:t>
            </a:r>
          </a:p>
          <a:p>
            <a:pPr lvl="1"/>
            <a:r>
              <a:rPr lang="en-US" altLang="en-US" dirty="0"/>
              <a:t>double hashing</a:t>
            </a:r>
          </a:p>
          <a:p>
            <a:pPr lvl="1"/>
            <a:r>
              <a:rPr lang="en-US" altLang="en-US" dirty="0"/>
              <a:t>h1(key) = ASCII of first letter – ASCII of 'a'</a:t>
            </a:r>
          </a:p>
          <a:p>
            <a:pPr lvl="1"/>
            <a:r>
              <a:rPr lang="en-US" altLang="en-US" dirty="0"/>
              <a:t>h2(key) = </a:t>
            </a:r>
            <a:r>
              <a:rPr lang="en-US" altLang="en-US" dirty="0" err="1"/>
              <a:t>key.length</a:t>
            </a:r>
            <a:r>
              <a:rPr lang="en-US" altLang="en-US" dirty="0"/>
              <a:t>()</a:t>
            </a:r>
          </a:p>
          <a:p>
            <a:pPr lvl="1"/>
            <a:r>
              <a:rPr lang="en-US" altLang="en-US" dirty="0"/>
              <a:t>shaded cells are removed cells</a:t>
            </a:r>
          </a:p>
          <a:p>
            <a:pPr>
              <a:spcBef>
                <a:spcPts val="1400"/>
              </a:spcBef>
            </a:pPr>
            <a:r>
              <a:rPr lang="en-US" altLang="en-US" b="1" dirty="0">
                <a:solidFill>
                  <a:srgbClr val="0000FF"/>
                </a:solidFill>
              </a:rPr>
              <a:t>What is the probe sequence for "baboon"?</a:t>
            </a:r>
            <a:br>
              <a:rPr lang="en-US" altLang="en-US" dirty="0"/>
            </a:br>
            <a:r>
              <a:rPr lang="en-US" altLang="en-US" dirty="0">
                <a:solidFill>
                  <a:srgbClr val="FF0000"/>
                </a:solidFill>
              </a:rPr>
              <a:t>(h1 = 1, h2 = 6)    try:	1 % 11 = 1 </a:t>
            </a:r>
          </a:p>
          <a:p>
            <a:pPr marL="457200" lvl="1" indent="0">
              <a:spcBef>
                <a:spcPts val="200"/>
              </a:spcBef>
              <a:buNone/>
            </a:pPr>
            <a:r>
              <a:rPr lang="en-US" altLang="en-US" dirty="0">
                <a:solidFill>
                  <a:srgbClr val="FF0000"/>
                </a:solidFill>
              </a:rPr>
              <a:t>						(1 + 6) % 11 = 7 </a:t>
            </a:r>
          </a:p>
          <a:p>
            <a:pPr marL="457200" lvl="1" indent="0">
              <a:spcBef>
                <a:spcPts val="200"/>
              </a:spcBef>
              <a:buNone/>
            </a:pPr>
            <a:r>
              <a:rPr lang="en-US" altLang="en-US" dirty="0">
                <a:solidFill>
                  <a:srgbClr val="FF0000"/>
                </a:solidFill>
              </a:rPr>
              <a:t>						</a:t>
            </a:r>
          </a:p>
          <a:p>
            <a:pPr marL="457200" lvl="1" indent="0">
              <a:spcBef>
                <a:spcPts val="200"/>
              </a:spcBef>
              <a:buNone/>
            </a:pPr>
            <a:r>
              <a:rPr lang="en-US" altLang="en-US" dirty="0">
                <a:solidFill>
                  <a:srgbClr val="FF0000"/>
                </a:solidFill>
              </a:rPr>
              <a:t>						</a:t>
            </a:r>
            <a:br>
              <a:rPr lang="en-US" altLang="en-US" dirty="0">
                <a:solidFill>
                  <a:srgbClr val="FF0000"/>
                </a:solidFill>
              </a:rPr>
            </a:br>
            <a:endParaRPr lang="en-US" altLang="en-US" dirty="0"/>
          </a:p>
          <a:p>
            <a:pPr marL="457200" lvl="1" indent="0">
              <a:spcBef>
                <a:spcPts val="500"/>
              </a:spcBef>
              <a:buNone/>
            </a:pPr>
            <a:endParaRPr lang="en-US" altLang="en-US" dirty="0"/>
          </a:p>
        </p:txBody>
      </p:sp>
      <p:graphicFrame>
        <p:nvGraphicFramePr>
          <p:cNvPr id="5" name="Group 5"/>
          <p:cNvGraphicFramePr>
            <a:graphicFrameLocks noGrp="1"/>
          </p:cNvGraphicFramePr>
          <p:nvPr/>
        </p:nvGraphicFramePr>
        <p:xfrm>
          <a:off x="6136365" y="1044429"/>
          <a:ext cx="2097087" cy="3688234"/>
        </p:xfrm>
        <a:graphic>
          <a:graphicData uri="http://schemas.openxmlformats.org/drawingml/2006/table">
            <a:tbl>
              <a:tblPr/>
              <a:tblGrid>
                <a:gridCol w="105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6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6433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0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"ant"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6433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6433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"cat"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6433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3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6433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4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"emu"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6433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5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6433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6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6433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7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6433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8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6433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9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119274"/>
                  </a:ext>
                </a:extLst>
              </a:tr>
              <a:tr h="326433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10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2710012"/>
                  </a:ext>
                </a:extLst>
              </a:tr>
            </a:tbl>
          </a:graphicData>
        </a:graphic>
      </p:graphicFrame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752804" y="4496218"/>
            <a:ext cx="3797929" cy="182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marL="333375" indent="-333375" algn="l" defTabSz="447675" rtl="0" eaLnBrk="0" fontAlgn="base" hangingPunct="0">
              <a:spcBef>
                <a:spcPts val="1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733425" indent="-276225" algn="l" defTabSz="447675" rtl="0" eaLnBrk="0" fontAlgn="base" hangingPunct="0">
              <a:spcBef>
                <a:spcPts val="5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Helvetica" panose="020B0604020202020204" pitchFamily="34" charset="0"/>
              <a:buChar char="–"/>
              <a:defRPr sz="2200">
                <a:solidFill>
                  <a:srgbClr val="000000"/>
                </a:solidFill>
                <a:latin typeface="+mn-lt"/>
              </a:defRPr>
            </a:lvl2pPr>
            <a:lvl3pPr marL="1076325" indent="-161925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000">
                <a:solidFill>
                  <a:srgbClr val="000000"/>
                </a:solidFill>
                <a:latin typeface="+mn-lt"/>
              </a:defRPr>
            </a:lvl3pPr>
            <a:lvl4pPr marL="1600200" indent="-228600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Helvetica" panose="020B0604020202020204" pitchFamily="34" charset="0"/>
              <a:buChar char="–"/>
              <a:defRPr sz="2000">
                <a:solidFill>
                  <a:srgbClr val="000000"/>
                </a:solidFill>
                <a:latin typeface="+mn-lt"/>
              </a:defRPr>
            </a:lvl4pPr>
            <a:lvl5pPr marL="2057400" indent="-228600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+mn-lt"/>
              </a:defRPr>
            </a:lvl5pPr>
            <a:lvl6pPr marL="2514600" indent="-228600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Char char="»"/>
              <a:defRPr sz="2000">
                <a:solidFill>
                  <a:srgbClr val="000000"/>
                </a:solidFill>
                <a:latin typeface="+mn-lt"/>
              </a:defRPr>
            </a:lvl6pPr>
            <a:lvl7pPr marL="2971800" indent="-228600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Char char="»"/>
              <a:defRPr sz="2000">
                <a:solidFill>
                  <a:srgbClr val="000000"/>
                </a:solidFill>
                <a:latin typeface="+mn-lt"/>
              </a:defRPr>
            </a:lvl7pPr>
            <a:lvl8pPr marL="3429000" indent="-228600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Char char="»"/>
              <a:defRPr sz="2000">
                <a:solidFill>
                  <a:srgbClr val="000000"/>
                </a:solidFill>
                <a:latin typeface="+mn-lt"/>
              </a:defRPr>
            </a:lvl8pPr>
            <a:lvl9pPr marL="3886200" indent="-228600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Char char="»"/>
              <a:defRPr sz="2000">
                <a:solidFill>
                  <a:srgbClr val="000000"/>
                </a:solidFill>
                <a:latin typeface="+mn-lt"/>
              </a:defRPr>
            </a:lvl9pPr>
          </a:lstStyle>
          <a:p>
            <a:pPr marL="457200" marR="0" lvl="0" indent="-457200" algn="l" defTabSz="447675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+mj-lt"/>
              <a:buAutoNum type="alphaUcPeriod"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 1, 2, 5</a:t>
            </a:r>
          </a:p>
          <a:p>
            <a:pPr marL="457200" marR="0" lvl="0" indent="-457200" algn="l" defTabSz="447675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+mj-lt"/>
              <a:buAutoNum type="alphaUcPeriod"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 1, 6</a:t>
            </a:r>
          </a:p>
          <a:p>
            <a:pPr marL="457200" marR="0" lvl="0" indent="-457200" algn="l" defTabSz="447675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+mj-lt"/>
              <a:buAutoNum type="alphaUcPeriod"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 1, 7, 2</a:t>
            </a:r>
          </a:p>
          <a:p>
            <a:pPr marL="457200" marR="0" lvl="0" indent="-457200" algn="l" defTabSz="447675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+mj-lt"/>
              <a:buAutoNum type="alphaUcPeriod"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 1, 7, 3</a:t>
            </a:r>
          </a:p>
          <a:p>
            <a:pPr marL="457200" marR="0" lvl="0" indent="-457200" algn="l" defTabSz="447675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+mj-lt"/>
              <a:buAutoNum type="alphaUcPeriod"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 1, 7, 2, 8 </a:t>
            </a:r>
          </a:p>
          <a:p>
            <a:pPr marL="0" marR="0" lvl="0" indent="0" algn="l" defTabSz="447675" rtl="0" eaLnBrk="0" fontAlgn="base" latinLnBrk="0" hangingPunct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  <a:p>
            <a:pPr marL="333375" marR="0" lvl="0" indent="-333375" algn="l" defTabSz="447675" rtl="0" eaLnBrk="0" fontAlgn="base" latinLnBrk="0" hangingPunct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  <a:p>
            <a:pPr marL="333375" marR="0" lvl="0" indent="-333375" algn="l" defTabSz="447675" rtl="0" eaLnBrk="0" fontAlgn="base" latinLnBrk="0" hangingPunct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  <a:p>
            <a:pPr marL="333375" marR="0" lvl="0" indent="-333375" algn="l" defTabSz="447675" rtl="0" eaLnBrk="0" fontAlgn="base" latinLnBrk="0" hangingPunct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  <a:p>
            <a:pPr marL="333375" marR="0" lvl="0" indent="-333375" algn="l" defTabSz="447675" rtl="0" eaLnBrk="0" fontAlgn="base" latinLnBrk="0" hangingPunct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  <a:p>
            <a:pPr marL="333375" marR="0" lvl="0" indent="-333375" algn="l" defTabSz="447675" rtl="0" eaLnBrk="0" fontAlgn="base" latinLnBrk="0" hangingPunct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  <a:p>
            <a:pPr marL="333375" marR="0" lvl="0" indent="-333375" algn="l" defTabSz="447675" rtl="0" eaLnBrk="0" fontAlgn="base" latinLnBrk="0" hangingPunct="0">
              <a:lnSpc>
                <a:spcPct val="100000"/>
              </a:lnSpc>
              <a:spcBef>
                <a:spcPts val="2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8" name="Rectangle 54"/>
          <p:cNvSpPr>
            <a:spLocks noChangeArrowheads="1"/>
          </p:cNvSpPr>
          <p:nvPr/>
        </p:nvSpPr>
        <p:spPr bwMode="auto">
          <a:xfrm>
            <a:off x="7217907" y="3408467"/>
            <a:ext cx="986293" cy="288925"/>
          </a:xfrm>
          <a:prstGeom prst="rect">
            <a:avLst/>
          </a:prstGeom>
          <a:noFill/>
          <a:ln w="38100" algn="ctr">
            <a:solidFill>
              <a:srgbClr val="CC0099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>
              <a:spcBef>
                <a:spcPts val="1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 algn="l">
              <a:spcBef>
                <a:spcPts val="525"/>
              </a:spcBef>
              <a:buClr>
                <a:srgbClr val="000000"/>
              </a:buClr>
              <a:buSzPct val="10000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Helvetica" panose="020B0604020202020204" pitchFamily="34" charset="0"/>
              <a:buChar char="–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6994231"/>
      </p:ext>
    </p:extLst>
  </p:cSld>
  <p:clrMapOvr>
    <a:masterClrMapping/>
  </p:clrMapOvr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 dirty="0"/>
              <a:t>Another Example</a:t>
            </a:r>
          </a:p>
        </p:txBody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802687" cy="5614988"/>
          </a:xfrm>
        </p:spPr>
        <p:txBody>
          <a:bodyPr/>
          <a:lstStyle/>
          <a:p>
            <a:r>
              <a:rPr lang="en-US" altLang="en-US" dirty="0"/>
              <a:t>Start with the hash table at right with:</a:t>
            </a:r>
          </a:p>
          <a:p>
            <a:pPr lvl="1"/>
            <a:r>
              <a:rPr lang="en-US" altLang="en-US" dirty="0"/>
              <a:t>double hashing</a:t>
            </a:r>
          </a:p>
          <a:p>
            <a:pPr lvl="1"/>
            <a:r>
              <a:rPr lang="en-US" altLang="en-US" dirty="0"/>
              <a:t>h1(key) = ASCII of first letter – ASCII of 'a'</a:t>
            </a:r>
          </a:p>
          <a:p>
            <a:pPr lvl="1"/>
            <a:r>
              <a:rPr lang="en-US" altLang="en-US" dirty="0"/>
              <a:t>h2(key) = </a:t>
            </a:r>
            <a:r>
              <a:rPr lang="en-US" altLang="en-US" dirty="0" err="1"/>
              <a:t>key.length</a:t>
            </a:r>
            <a:r>
              <a:rPr lang="en-US" altLang="en-US" dirty="0"/>
              <a:t>()</a:t>
            </a:r>
          </a:p>
          <a:p>
            <a:pPr lvl="1"/>
            <a:r>
              <a:rPr lang="en-US" altLang="en-US" dirty="0"/>
              <a:t>shaded cells are removed cells</a:t>
            </a:r>
          </a:p>
          <a:p>
            <a:pPr>
              <a:spcBef>
                <a:spcPts val="1400"/>
              </a:spcBef>
            </a:pPr>
            <a:r>
              <a:rPr lang="en-US" altLang="en-US" b="1" dirty="0">
                <a:solidFill>
                  <a:srgbClr val="0000FF"/>
                </a:solidFill>
              </a:rPr>
              <a:t>What is the probe sequence for "baboon"?</a:t>
            </a:r>
            <a:br>
              <a:rPr lang="en-US" altLang="en-US" dirty="0"/>
            </a:br>
            <a:r>
              <a:rPr lang="en-US" altLang="en-US" dirty="0">
                <a:solidFill>
                  <a:srgbClr val="FF0000"/>
                </a:solidFill>
              </a:rPr>
              <a:t>(h1 = 1, h2 = 6)    try:	1 % 11 = 1 </a:t>
            </a:r>
          </a:p>
          <a:p>
            <a:pPr marL="457200" lvl="1" indent="0">
              <a:spcBef>
                <a:spcPts val="200"/>
              </a:spcBef>
              <a:buNone/>
            </a:pPr>
            <a:r>
              <a:rPr lang="en-US" altLang="en-US" dirty="0">
                <a:solidFill>
                  <a:srgbClr val="FF0000"/>
                </a:solidFill>
              </a:rPr>
              <a:t>						(1 + 6) % 11 = 7 </a:t>
            </a:r>
          </a:p>
          <a:p>
            <a:pPr marL="457200" lvl="1" indent="0">
              <a:spcBef>
                <a:spcPts val="200"/>
              </a:spcBef>
              <a:buNone/>
            </a:pPr>
            <a:r>
              <a:rPr lang="en-US" altLang="en-US" dirty="0">
                <a:solidFill>
                  <a:srgbClr val="FF0000"/>
                </a:solidFill>
              </a:rPr>
              <a:t>						(1 + 2*6) % 11 = 2</a:t>
            </a:r>
          </a:p>
          <a:p>
            <a:pPr marL="457200" lvl="1" indent="0">
              <a:spcBef>
                <a:spcPts val="200"/>
              </a:spcBef>
              <a:buNone/>
            </a:pPr>
            <a:r>
              <a:rPr lang="en-US" altLang="en-US" dirty="0">
                <a:solidFill>
                  <a:srgbClr val="FF0000"/>
                </a:solidFill>
              </a:rPr>
              <a:t>						</a:t>
            </a:r>
            <a:br>
              <a:rPr lang="en-US" altLang="en-US" dirty="0">
                <a:solidFill>
                  <a:srgbClr val="FF0000"/>
                </a:solidFill>
              </a:rPr>
            </a:br>
            <a:endParaRPr lang="en-US" altLang="en-US" dirty="0"/>
          </a:p>
          <a:p>
            <a:pPr marL="457200" lvl="1" indent="0">
              <a:spcBef>
                <a:spcPts val="500"/>
              </a:spcBef>
              <a:buNone/>
            </a:pPr>
            <a:endParaRPr lang="en-US" altLang="en-US" dirty="0"/>
          </a:p>
        </p:txBody>
      </p:sp>
      <p:graphicFrame>
        <p:nvGraphicFramePr>
          <p:cNvPr id="5" name="Group 5"/>
          <p:cNvGraphicFramePr>
            <a:graphicFrameLocks noGrp="1"/>
          </p:cNvGraphicFramePr>
          <p:nvPr/>
        </p:nvGraphicFramePr>
        <p:xfrm>
          <a:off x="6136365" y="1044429"/>
          <a:ext cx="2097087" cy="3688234"/>
        </p:xfrm>
        <a:graphic>
          <a:graphicData uri="http://schemas.openxmlformats.org/drawingml/2006/table">
            <a:tbl>
              <a:tblPr/>
              <a:tblGrid>
                <a:gridCol w="105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6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6433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0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"ant"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6433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6433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"cat"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6433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3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6433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4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"emu"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6433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5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6433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6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6433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7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6433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8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6433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9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119274"/>
                  </a:ext>
                </a:extLst>
              </a:tr>
              <a:tr h="326433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10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2710012"/>
                  </a:ext>
                </a:extLst>
              </a:tr>
            </a:tbl>
          </a:graphicData>
        </a:graphic>
      </p:graphicFrame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752804" y="4496218"/>
            <a:ext cx="3797929" cy="182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marL="333375" indent="-333375" algn="l" defTabSz="447675" rtl="0" eaLnBrk="0" fontAlgn="base" hangingPunct="0">
              <a:spcBef>
                <a:spcPts val="1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733425" indent="-276225" algn="l" defTabSz="447675" rtl="0" eaLnBrk="0" fontAlgn="base" hangingPunct="0">
              <a:spcBef>
                <a:spcPts val="5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Helvetica" panose="020B0604020202020204" pitchFamily="34" charset="0"/>
              <a:buChar char="–"/>
              <a:defRPr sz="2200">
                <a:solidFill>
                  <a:srgbClr val="000000"/>
                </a:solidFill>
                <a:latin typeface="+mn-lt"/>
              </a:defRPr>
            </a:lvl2pPr>
            <a:lvl3pPr marL="1076325" indent="-161925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000">
                <a:solidFill>
                  <a:srgbClr val="000000"/>
                </a:solidFill>
                <a:latin typeface="+mn-lt"/>
              </a:defRPr>
            </a:lvl3pPr>
            <a:lvl4pPr marL="1600200" indent="-228600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Helvetica" panose="020B0604020202020204" pitchFamily="34" charset="0"/>
              <a:buChar char="–"/>
              <a:defRPr sz="2000">
                <a:solidFill>
                  <a:srgbClr val="000000"/>
                </a:solidFill>
                <a:latin typeface="+mn-lt"/>
              </a:defRPr>
            </a:lvl4pPr>
            <a:lvl5pPr marL="2057400" indent="-228600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+mn-lt"/>
              </a:defRPr>
            </a:lvl5pPr>
            <a:lvl6pPr marL="2514600" indent="-228600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Char char="»"/>
              <a:defRPr sz="2000">
                <a:solidFill>
                  <a:srgbClr val="000000"/>
                </a:solidFill>
                <a:latin typeface="+mn-lt"/>
              </a:defRPr>
            </a:lvl6pPr>
            <a:lvl7pPr marL="2971800" indent="-228600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Char char="»"/>
              <a:defRPr sz="2000">
                <a:solidFill>
                  <a:srgbClr val="000000"/>
                </a:solidFill>
                <a:latin typeface="+mn-lt"/>
              </a:defRPr>
            </a:lvl7pPr>
            <a:lvl8pPr marL="3429000" indent="-228600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Char char="»"/>
              <a:defRPr sz="2000">
                <a:solidFill>
                  <a:srgbClr val="000000"/>
                </a:solidFill>
                <a:latin typeface="+mn-lt"/>
              </a:defRPr>
            </a:lvl8pPr>
            <a:lvl9pPr marL="3886200" indent="-228600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Char char="»"/>
              <a:defRPr sz="2000">
                <a:solidFill>
                  <a:srgbClr val="000000"/>
                </a:solidFill>
                <a:latin typeface="+mn-lt"/>
              </a:defRPr>
            </a:lvl9pPr>
          </a:lstStyle>
          <a:p>
            <a:pPr marL="457200" marR="0" lvl="0" indent="-457200" algn="l" defTabSz="447675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+mj-lt"/>
              <a:buAutoNum type="alphaUcPeriod"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 1, 2, 5</a:t>
            </a:r>
          </a:p>
          <a:p>
            <a:pPr marL="457200" marR="0" lvl="0" indent="-457200" algn="l" defTabSz="447675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+mj-lt"/>
              <a:buAutoNum type="alphaUcPeriod"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 1, 6</a:t>
            </a:r>
          </a:p>
          <a:p>
            <a:pPr marL="457200" marR="0" lvl="0" indent="-457200" algn="l" defTabSz="447675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+mj-lt"/>
              <a:buAutoNum type="alphaUcPeriod"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 1, 7, 2</a:t>
            </a:r>
          </a:p>
          <a:p>
            <a:pPr marL="457200" marR="0" lvl="0" indent="-457200" algn="l" defTabSz="447675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+mj-lt"/>
              <a:buAutoNum type="alphaUcPeriod"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 1, 7, 3</a:t>
            </a:r>
          </a:p>
          <a:p>
            <a:pPr marL="457200" marR="0" lvl="0" indent="-457200" algn="l" defTabSz="447675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+mj-lt"/>
              <a:buAutoNum type="alphaUcPeriod"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 1, 7, 2, 8 </a:t>
            </a:r>
          </a:p>
          <a:p>
            <a:pPr marL="0" marR="0" lvl="0" indent="0" algn="l" defTabSz="447675" rtl="0" eaLnBrk="0" fontAlgn="base" latinLnBrk="0" hangingPunct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  <a:p>
            <a:pPr marL="333375" marR="0" lvl="0" indent="-333375" algn="l" defTabSz="447675" rtl="0" eaLnBrk="0" fontAlgn="base" latinLnBrk="0" hangingPunct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  <a:p>
            <a:pPr marL="333375" marR="0" lvl="0" indent="-333375" algn="l" defTabSz="447675" rtl="0" eaLnBrk="0" fontAlgn="base" latinLnBrk="0" hangingPunct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  <a:p>
            <a:pPr marL="333375" marR="0" lvl="0" indent="-333375" algn="l" defTabSz="447675" rtl="0" eaLnBrk="0" fontAlgn="base" latinLnBrk="0" hangingPunct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  <a:p>
            <a:pPr marL="333375" marR="0" lvl="0" indent="-333375" algn="l" defTabSz="447675" rtl="0" eaLnBrk="0" fontAlgn="base" latinLnBrk="0" hangingPunct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  <a:p>
            <a:pPr marL="333375" marR="0" lvl="0" indent="-333375" algn="l" defTabSz="447675" rtl="0" eaLnBrk="0" fontAlgn="base" latinLnBrk="0" hangingPunct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  <a:p>
            <a:pPr marL="333375" marR="0" lvl="0" indent="-333375" algn="l" defTabSz="447675" rtl="0" eaLnBrk="0" fontAlgn="base" latinLnBrk="0" hangingPunct="0">
              <a:lnSpc>
                <a:spcPct val="100000"/>
              </a:lnSpc>
              <a:spcBef>
                <a:spcPts val="2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7" name="Rectangle 54"/>
          <p:cNvSpPr>
            <a:spLocks noChangeArrowheads="1"/>
          </p:cNvSpPr>
          <p:nvPr/>
        </p:nvSpPr>
        <p:spPr bwMode="auto">
          <a:xfrm>
            <a:off x="7217907" y="1739900"/>
            <a:ext cx="986293" cy="288925"/>
          </a:xfrm>
          <a:prstGeom prst="rect">
            <a:avLst/>
          </a:prstGeom>
          <a:noFill/>
          <a:ln w="38100" algn="ctr">
            <a:solidFill>
              <a:srgbClr val="CC0099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>
              <a:spcBef>
                <a:spcPts val="1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 algn="l">
              <a:spcBef>
                <a:spcPts val="525"/>
              </a:spcBef>
              <a:buClr>
                <a:srgbClr val="000000"/>
              </a:buClr>
              <a:buSzPct val="10000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Helvetica" panose="020B0604020202020204" pitchFamily="34" charset="0"/>
              <a:buChar char="–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7582773"/>
      </p:ext>
    </p:extLst>
  </p:cSld>
  <p:clrMapOvr>
    <a:masterClrMapping/>
  </p:clrMapOvr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 dirty="0"/>
              <a:t>Another Example</a:t>
            </a:r>
          </a:p>
        </p:txBody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802687" cy="5614988"/>
          </a:xfrm>
        </p:spPr>
        <p:txBody>
          <a:bodyPr/>
          <a:lstStyle/>
          <a:p>
            <a:r>
              <a:rPr lang="en-US" altLang="en-US" dirty="0"/>
              <a:t>Start with the hash table at right with:</a:t>
            </a:r>
          </a:p>
          <a:p>
            <a:pPr lvl="1"/>
            <a:r>
              <a:rPr lang="en-US" altLang="en-US" dirty="0"/>
              <a:t>double hashing</a:t>
            </a:r>
          </a:p>
          <a:p>
            <a:pPr lvl="1"/>
            <a:r>
              <a:rPr lang="en-US" altLang="en-US" dirty="0"/>
              <a:t>h1(key) = ASCII of first letter – ASCII of 'a'</a:t>
            </a:r>
          </a:p>
          <a:p>
            <a:pPr lvl="1"/>
            <a:r>
              <a:rPr lang="en-US" altLang="en-US" dirty="0"/>
              <a:t>h2(key) = </a:t>
            </a:r>
            <a:r>
              <a:rPr lang="en-US" altLang="en-US" dirty="0" err="1"/>
              <a:t>key.length</a:t>
            </a:r>
            <a:r>
              <a:rPr lang="en-US" altLang="en-US" dirty="0"/>
              <a:t>()</a:t>
            </a:r>
          </a:p>
          <a:p>
            <a:pPr lvl="1"/>
            <a:r>
              <a:rPr lang="en-US" altLang="en-US" dirty="0"/>
              <a:t>shaded cells are removed cells</a:t>
            </a:r>
          </a:p>
          <a:p>
            <a:pPr>
              <a:spcBef>
                <a:spcPts val="1400"/>
              </a:spcBef>
            </a:pPr>
            <a:r>
              <a:rPr lang="en-US" altLang="en-US" b="1" dirty="0">
                <a:solidFill>
                  <a:srgbClr val="0000FF"/>
                </a:solidFill>
              </a:rPr>
              <a:t>What is the probe sequence for "baboon"?</a:t>
            </a:r>
            <a:br>
              <a:rPr lang="en-US" altLang="en-US" dirty="0"/>
            </a:br>
            <a:r>
              <a:rPr lang="en-US" altLang="en-US" dirty="0">
                <a:solidFill>
                  <a:srgbClr val="FF0000"/>
                </a:solidFill>
              </a:rPr>
              <a:t>(h1 = 1, h2 = 6)    try:	1 % 11 = 1 </a:t>
            </a:r>
          </a:p>
          <a:p>
            <a:pPr marL="457200" lvl="1" indent="0">
              <a:spcBef>
                <a:spcPts val="200"/>
              </a:spcBef>
              <a:buNone/>
            </a:pPr>
            <a:r>
              <a:rPr lang="en-US" altLang="en-US" dirty="0">
                <a:solidFill>
                  <a:srgbClr val="FF0000"/>
                </a:solidFill>
              </a:rPr>
              <a:t>						(1 + 6) % 11 = 7 </a:t>
            </a:r>
          </a:p>
          <a:p>
            <a:pPr marL="457200" lvl="1" indent="0">
              <a:spcBef>
                <a:spcPts val="200"/>
              </a:spcBef>
              <a:buNone/>
            </a:pPr>
            <a:r>
              <a:rPr lang="en-US" altLang="en-US" dirty="0">
                <a:solidFill>
                  <a:srgbClr val="FF0000"/>
                </a:solidFill>
              </a:rPr>
              <a:t>						(1 + 2*6) % 11 = 2</a:t>
            </a:r>
          </a:p>
          <a:p>
            <a:pPr marL="457200" lvl="1" indent="0">
              <a:spcBef>
                <a:spcPts val="200"/>
              </a:spcBef>
              <a:buNone/>
            </a:pPr>
            <a:r>
              <a:rPr lang="en-US" altLang="en-US" dirty="0">
                <a:solidFill>
                  <a:srgbClr val="FF0000"/>
                </a:solidFill>
              </a:rPr>
              <a:t>						(1 + 3*6) % 11 = 8</a:t>
            </a:r>
            <a:br>
              <a:rPr lang="en-US" altLang="en-US" dirty="0">
                <a:solidFill>
                  <a:srgbClr val="FF0000"/>
                </a:solidFill>
              </a:rPr>
            </a:br>
            <a:endParaRPr lang="en-US" altLang="en-US" dirty="0"/>
          </a:p>
          <a:p>
            <a:pPr marL="457200" lvl="1" indent="0">
              <a:spcBef>
                <a:spcPts val="500"/>
              </a:spcBef>
              <a:buNone/>
            </a:pPr>
            <a:endParaRPr lang="en-US" altLang="en-US" dirty="0"/>
          </a:p>
        </p:txBody>
      </p:sp>
      <p:graphicFrame>
        <p:nvGraphicFramePr>
          <p:cNvPr id="5" name="Group 5"/>
          <p:cNvGraphicFramePr>
            <a:graphicFrameLocks noGrp="1"/>
          </p:cNvGraphicFramePr>
          <p:nvPr/>
        </p:nvGraphicFramePr>
        <p:xfrm>
          <a:off x="6136365" y="1044429"/>
          <a:ext cx="2097087" cy="3688234"/>
        </p:xfrm>
        <a:graphic>
          <a:graphicData uri="http://schemas.openxmlformats.org/drawingml/2006/table">
            <a:tbl>
              <a:tblPr/>
              <a:tblGrid>
                <a:gridCol w="105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6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6433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0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"ant"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6433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6433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"cat"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6433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3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6433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4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"emu"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6433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5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6433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6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6433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7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6433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8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6433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9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119274"/>
                  </a:ext>
                </a:extLst>
              </a:tr>
              <a:tr h="326433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10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2710012"/>
                  </a:ext>
                </a:extLst>
              </a:tr>
            </a:tbl>
          </a:graphicData>
        </a:graphic>
      </p:graphicFrame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752804" y="4496218"/>
            <a:ext cx="3797929" cy="182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marL="333375" indent="-333375" algn="l" defTabSz="447675" rtl="0" eaLnBrk="0" fontAlgn="base" hangingPunct="0">
              <a:spcBef>
                <a:spcPts val="1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733425" indent="-276225" algn="l" defTabSz="447675" rtl="0" eaLnBrk="0" fontAlgn="base" hangingPunct="0">
              <a:spcBef>
                <a:spcPts val="5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Helvetica" panose="020B0604020202020204" pitchFamily="34" charset="0"/>
              <a:buChar char="–"/>
              <a:defRPr sz="2200">
                <a:solidFill>
                  <a:srgbClr val="000000"/>
                </a:solidFill>
                <a:latin typeface="+mn-lt"/>
              </a:defRPr>
            </a:lvl2pPr>
            <a:lvl3pPr marL="1076325" indent="-161925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000">
                <a:solidFill>
                  <a:srgbClr val="000000"/>
                </a:solidFill>
                <a:latin typeface="+mn-lt"/>
              </a:defRPr>
            </a:lvl3pPr>
            <a:lvl4pPr marL="1600200" indent="-228600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Helvetica" panose="020B0604020202020204" pitchFamily="34" charset="0"/>
              <a:buChar char="–"/>
              <a:defRPr sz="2000">
                <a:solidFill>
                  <a:srgbClr val="000000"/>
                </a:solidFill>
                <a:latin typeface="+mn-lt"/>
              </a:defRPr>
            </a:lvl4pPr>
            <a:lvl5pPr marL="2057400" indent="-228600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+mn-lt"/>
              </a:defRPr>
            </a:lvl5pPr>
            <a:lvl6pPr marL="2514600" indent="-228600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Char char="»"/>
              <a:defRPr sz="2000">
                <a:solidFill>
                  <a:srgbClr val="000000"/>
                </a:solidFill>
                <a:latin typeface="+mn-lt"/>
              </a:defRPr>
            </a:lvl6pPr>
            <a:lvl7pPr marL="2971800" indent="-228600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Char char="»"/>
              <a:defRPr sz="2000">
                <a:solidFill>
                  <a:srgbClr val="000000"/>
                </a:solidFill>
                <a:latin typeface="+mn-lt"/>
              </a:defRPr>
            </a:lvl7pPr>
            <a:lvl8pPr marL="3429000" indent="-228600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Char char="»"/>
              <a:defRPr sz="2000">
                <a:solidFill>
                  <a:srgbClr val="000000"/>
                </a:solidFill>
                <a:latin typeface="+mn-lt"/>
              </a:defRPr>
            </a:lvl8pPr>
            <a:lvl9pPr marL="3886200" indent="-228600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Char char="»"/>
              <a:defRPr sz="2000">
                <a:solidFill>
                  <a:srgbClr val="000000"/>
                </a:solidFill>
                <a:latin typeface="+mn-lt"/>
              </a:defRPr>
            </a:lvl9pPr>
          </a:lstStyle>
          <a:p>
            <a:pPr marL="457200" marR="0" lvl="0" indent="-457200" algn="l" defTabSz="447675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+mj-lt"/>
              <a:buAutoNum type="alphaUcPeriod"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 1, 2, 5</a:t>
            </a:r>
          </a:p>
          <a:p>
            <a:pPr marL="457200" marR="0" lvl="0" indent="-457200" algn="l" defTabSz="447675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+mj-lt"/>
              <a:buAutoNum type="alphaUcPeriod"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 1, 6</a:t>
            </a:r>
          </a:p>
          <a:p>
            <a:pPr marL="457200" marR="0" lvl="0" indent="-457200" algn="l" defTabSz="447675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+mj-lt"/>
              <a:buAutoNum type="alphaUcPeriod"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 1, 7, 2</a:t>
            </a:r>
          </a:p>
          <a:p>
            <a:pPr marL="457200" marR="0" lvl="0" indent="-457200" algn="l" defTabSz="447675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+mj-lt"/>
              <a:buAutoNum type="alphaUcPeriod"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 1, 7, 3</a:t>
            </a:r>
          </a:p>
          <a:p>
            <a:pPr marL="457200" marR="0" lvl="0" indent="-457200" algn="l" defTabSz="447675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+mj-lt"/>
              <a:buAutoNum type="alphaUcPeriod"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 1, 7, 2, 8 </a:t>
            </a:r>
          </a:p>
          <a:p>
            <a:pPr marL="0" marR="0" lvl="0" indent="0" algn="l" defTabSz="447675" rtl="0" eaLnBrk="0" fontAlgn="base" latinLnBrk="0" hangingPunct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  <a:p>
            <a:pPr marL="333375" marR="0" lvl="0" indent="-333375" algn="l" defTabSz="447675" rtl="0" eaLnBrk="0" fontAlgn="base" latinLnBrk="0" hangingPunct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  <a:p>
            <a:pPr marL="333375" marR="0" lvl="0" indent="-333375" algn="l" defTabSz="447675" rtl="0" eaLnBrk="0" fontAlgn="base" latinLnBrk="0" hangingPunct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  <a:p>
            <a:pPr marL="333375" marR="0" lvl="0" indent="-333375" algn="l" defTabSz="447675" rtl="0" eaLnBrk="0" fontAlgn="base" latinLnBrk="0" hangingPunct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  <a:p>
            <a:pPr marL="333375" marR="0" lvl="0" indent="-333375" algn="l" defTabSz="447675" rtl="0" eaLnBrk="0" fontAlgn="base" latinLnBrk="0" hangingPunct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  <a:p>
            <a:pPr marL="333375" marR="0" lvl="0" indent="-333375" algn="l" defTabSz="447675" rtl="0" eaLnBrk="0" fontAlgn="base" latinLnBrk="0" hangingPunct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  <a:p>
            <a:pPr marL="333375" marR="0" lvl="0" indent="-333375" algn="l" defTabSz="447675" rtl="0" eaLnBrk="0" fontAlgn="base" latinLnBrk="0" hangingPunct="0">
              <a:lnSpc>
                <a:spcPct val="100000"/>
              </a:lnSpc>
              <a:spcBef>
                <a:spcPts val="2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8" name="Rectangle 54"/>
          <p:cNvSpPr>
            <a:spLocks noChangeArrowheads="1"/>
          </p:cNvSpPr>
          <p:nvPr/>
        </p:nvSpPr>
        <p:spPr bwMode="auto">
          <a:xfrm>
            <a:off x="7217907" y="3752850"/>
            <a:ext cx="986293" cy="288925"/>
          </a:xfrm>
          <a:prstGeom prst="rect">
            <a:avLst/>
          </a:prstGeom>
          <a:noFill/>
          <a:ln w="38100" algn="ctr">
            <a:solidFill>
              <a:srgbClr val="CC0099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>
              <a:spcBef>
                <a:spcPts val="1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 algn="l">
              <a:spcBef>
                <a:spcPts val="525"/>
              </a:spcBef>
              <a:buClr>
                <a:srgbClr val="000000"/>
              </a:buClr>
              <a:buSzPct val="10000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Helvetica" panose="020B0604020202020204" pitchFamily="34" charset="0"/>
              <a:buChar char="–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8111613"/>
      </p:ext>
    </p:extLst>
  </p:cSld>
  <p:clrMapOvr>
    <a:masterClrMapping/>
  </p:clrMapOvr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 dirty="0"/>
              <a:t>Another Example</a:t>
            </a:r>
          </a:p>
        </p:txBody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802687" cy="5614988"/>
          </a:xfrm>
        </p:spPr>
        <p:txBody>
          <a:bodyPr/>
          <a:lstStyle/>
          <a:p>
            <a:r>
              <a:rPr lang="en-US" altLang="en-US" dirty="0"/>
              <a:t>Start with the hash table at right with:</a:t>
            </a:r>
          </a:p>
          <a:p>
            <a:pPr lvl="1"/>
            <a:r>
              <a:rPr lang="en-US" altLang="en-US" dirty="0"/>
              <a:t>double hashing</a:t>
            </a:r>
          </a:p>
          <a:p>
            <a:pPr lvl="1"/>
            <a:r>
              <a:rPr lang="en-US" altLang="en-US" dirty="0"/>
              <a:t>h1(key) = ASCII of first letter – ASCII of 'a'</a:t>
            </a:r>
          </a:p>
          <a:p>
            <a:pPr lvl="1"/>
            <a:r>
              <a:rPr lang="en-US" altLang="en-US" dirty="0"/>
              <a:t>h2(key) = </a:t>
            </a:r>
            <a:r>
              <a:rPr lang="en-US" altLang="en-US" dirty="0" err="1"/>
              <a:t>key.length</a:t>
            </a:r>
            <a:r>
              <a:rPr lang="en-US" altLang="en-US" dirty="0"/>
              <a:t>()</a:t>
            </a:r>
          </a:p>
          <a:p>
            <a:pPr lvl="1"/>
            <a:r>
              <a:rPr lang="en-US" altLang="en-US" dirty="0"/>
              <a:t>shaded cells are removed cells</a:t>
            </a:r>
          </a:p>
          <a:p>
            <a:pPr>
              <a:spcBef>
                <a:spcPts val="1400"/>
              </a:spcBef>
            </a:pPr>
            <a:r>
              <a:rPr lang="en-US" altLang="en-US" b="1" dirty="0">
                <a:solidFill>
                  <a:srgbClr val="0000FF"/>
                </a:solidFill>
              </a:rPr>
              <a:t>What is the probe sequence for "baboon"?</a:t>
            </a:r>
            <a:br>
              <a:rPr lang="en-US" altLang="en-US" dirty="0"/>
            </a:br>
            <a:r>
              <a:rPr lang="en-US" altLang="en-US" dirty="0">
                <a:solidFill>
                  <a:srgbClr val="FF0000"/>
                </a:solidFill>
              </a:rPr>
              <a:t>(h1 = 1, h2 = 6)    try:	1 % 11 = </a:t>
            </a:r>
            <a:r>
              <a:rPr lang="en-US" altLang="en-US" b="1" dirty="0">
                <a:solidFill>
                  <a:srgbClr val="FF0000"/>
                </a:solidFill>
              </a:rPr>
              <a:t>1</a:t>
            </a:r>
            <a:r>
              <a:rPr lang="en-US" altLang="en-US" dirty="0">
                <a:solidFill>
                  <a:srgbClr val="FF0000"/>
                </a:solidFill>
              </a:rPr>
              <a:t> </a:t>
            </a:r>
          </a:p>
          <a:p>
            <a:pPr marL="457200" lvl="1" indent="0">
              <a:spcBef>
                <a:spcPts val="200"/>
              </a:spcBef>
              <a:buNone/>
            </a:pPr>
            <a:r>
              <a:rPr lang="en-US" altLang="en-US" dirty="0">
                <a:solidFill>
                  <a:srgbClr val="FF0000"/>
                </a:solidFill>
              </a:rPr>
              <a:t>						(1 + 6) % 11 = </a:t>
            </a:r>
            <a:r>
              <a:rPr lang="en-US" altLang="en-US" b="1" dirty="0">
                <a:solidFill>
                  <a:srgbClr val="FF0000"/>
                </a:solidFill>
              </a:rPr>
              <a:t>7</a:t>
            </a:r>
            <a:r>
              <a:rPr lang="en-US" altLang="en-US" dirty="0">
                <a:solidFill>
                  <a:srgbClr val="FF0000"/>
                </a:solidFill>
              </a:rPr>
              <a:t> </a:t>
            </a:r>
          </a:p>
          <a:p>
            <a:pPr marL="457200" lvl="1" indent="0">
              <a:spcBef>
                <a:spcPts val="200"/>
              </a:spcBef>
              <a:buNone/>
            </a:pPr>
            <a:r>
              <a:rPr lang="en-US" altLang="en-US" dirty="0">
                <a:solidFill>
                  <a:srgbClr val="FF0000"/>
                </a:solidFill>
              </a:rPr>
              <a:t>						(1 + 2*6) % 11 = </a:t>
            </a:r>
            <a:r>
              <a:rPr lang="en-US" altLang="en-US" b="1" dirty="0">
                <a:solidFill>
                  <a:srgbClr val="FF0000"/>
                </a:solidFill>
              </a:rPr>
              <a:t>2</a:t>
            </a:r>
          </a:p>
          <a:p>
            <a:pPr marL="457200" lvl="1" indent="0">
              <a:spcBef>
                <a:spcPts val="200"/>
              </a:spcBef>
              <a:buNone/>
            </a:pPr>
            <a:r>
              <a:rPr lang="en-US" altLang="en-US" dirty="0">
                <a:solidFill>
                  <a:srgbClr val="FF0000"/>
                </a:solidFill>
              </a:rPr>
              <a:t>						(1 + 3*6) % 11 = </a:t>
            </a:r>
            <a:r>
              <a:rPr lang="en-US" altLang="en-US" b="1" dirty="0">
                <a:solidFill>
                  <a:srgbClr val="FF0000"/>
                </a:solidFill>
              </a:rPr>
              <a:t>8</a:t>
            </a:r>
            <a:br>
              <a:rPr lang="en-US" altLang="en-US" dirty="0">
                <a:solidFill>
                  <a:srgbClr val="FF0000"/>
                </a:solidFill>
              </a:rPr>
            </a:br>
            <a:r>
              <a:rPr lang="en-US" altLang="en-US" dirty="0">
                <a:solidFill>
                  <a:srgbClr val="FF0000"/>
                </a:solidFill>
              </a:rPr>
              <a:t>						empty cell, so stop probing</a:t>
            </a:r>
            <a:br>
              <a:rPr lang="en-US" altLang="en-US" dirty="0">
                <a:solidFill>
                  <a:srgbClr val="FF0000"/>
                </a:solidFill>
              </a:rPr>
            </a:br>
            <a:endParaRPr lang="en-US" altLang="en-US" dirty="0"/>
          </a:p>
          <a:p>
            <a:pPr marL="457200" lvl="1" indent="0">
              <a:spcBef>
                <a:spcPts val="500"/>
              </a:spcBef>
              <a:buNone/>
            </a:pPr>
            <a:endParaRPr lang="en-US" altLang="en-US" dirty="0"/>
          </a:p>
        </p:txBody>
      </p:sp>
      <p:graphicFrame>
        <p:nvGraphicFramePr>
          <p:cNvPr id="5" name="Group 5"/>
          <p:cNvGraphicFramePr>
            <a:graphicFrameLocks noGrp="1"/>
          </p:cNvGraphicFramePr>
          <p:nvPr/>
        </p:nvGraphicFramePr>
        <p:xfrm>
          <a:off x="6136365" y="1044429"/>
          <a:ext cx="2097087" cy="3688234"/>
        </p:xfrm>
        <a:graphic>
          <a:graphicData uri="http://schemas.openxmlformats.org/drawingml/2006/table">
            <a:tbl>
              <a:tblPr/>
              <a:tblGrid>
                <a:gridCol w="105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6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6433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0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"ant"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6433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6433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"cat"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6433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3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6433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4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"emu"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6433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5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6433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6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6433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7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6433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8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6433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9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119274"/>
                  </a:ext>
                </a:extLst>
              </a:tr>
              <a:tr h="326433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10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2710012"/>
                  </a:ext>
                </a:extLst>
              </a:tr>
            </a:tbl>
          </a:graphicData>
        </a:graphic>
      </p:graphicFrame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752804" y="4496218"/>
            <a:ext cx="3797929" cy="182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marL="333375" indent="-333375" algn="l" defTabSz="447675" rtl="0" eaLnBrk="0" fontAlgn="base" hangingPunct="0">
              <a:spcBef>
                <a:spcPts val="1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733425" indent="-276225" algn="l" defTabSz="447675" rtl="0" eaLnBrk="0" fontAlgn="base" hangingPunct="0">
              <a:spcBef>
                <a:spcPts val="5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Helvetica" panose="020B0604020202020204" pitchFamily="34" charset="0"/>
              <a:buChar char="–"/>
              <a:defRPr sz="2200">
                <a:solidFill>
                  <a:srgbClr val="000000"/>
                </a:solidFill>
                <a:latin typeface="+mn-lt"/>
              </a:defRPr>
            </a:lvl2pPr>
            <a:lvl3pPr marL="1076325" indent="-161925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000">
                <a:solidFill>
                  <a:srgbClr val="000000"/>
                </a:solidFill>
                <a:latin typeface="+mn-lt"/>
              </a:defRPr>
            </a:lvl3pPr>
            <a:lvl4pPr marL="1600200" indent="-228600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Helvetica" panose="020B0604020202020204" pitchFamily="34" charset="0"/>
              <a:buChar char="–"/>
              <a:defRPr sz="2000">
                <a:solidFill>
                  <a:srgbClr val="000000"/>
                </a:solidFill>
                <a:latin typeface="+mn-lt"/>
              </a:defRPr>
            </a:lvl4pPr>
            <a:lvl5pPr marL="2057400" indent="-228600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+mn-lt"/>
              </a:defRPr>
            </a:lvl5pPr>
            <a:lvl6pPr marL="2514600" indent="-228600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Char char="»"/>
              <a:defRPr sz="2000">
                <a:solidFill>
                  <a:srgbClr val="000000"/>
                </a:solidFill>
                <a:latin typeface="+mn-lt"/>
              </a:defRPr>
            </a:lvl6pPr>
            <a:lvl7pPr marL="2971800" indent="-228600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Char char="»"/>
              <a:defRPr sz="2000">
                <a:solidFill>
                  <a:srgbClr val="000000"/>
                </a:solidFill>
                <a:latin typeface="+mn-lt"/>
              </a:defRPr>
            </a:lvl7pPr>
            <a:lvl8pPr marL="3429000" indent="-228600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Char char="»"/>
              <a:defRPr sz="2000">
                <a:solidFill>
                  <a:srgbClr val="000000"/>
                </a:solidFill>
                <a:latin typeface="+mn-lt"/>
              </a:defRPr>
            </a:lvl8pPr>
            <a:lvl9pPr marL="3886200" indent="-228600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Char char="»"/>
              <a:defRPr sz="2000">
                <a:solidFill>
                  <a:srgbClr val="000000"/>
                </a:solidFill>
                <a:latin typeface="+mn-lt"/>
              </a:defRPr>
            </a:lvl9pPr>
          </a:lstStyle>
          <a:p>
            <a:pPr marL="457200" marR="0" lvl="0" indent="-457200" algn="l" defTabSz="447675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+mj-lt"/>
              <a:buAutoNum type="alphaUcPeriod"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 1, 2, 5</a:t>
            </a:r>
          </a:p>
          <a:p>
            <a:pPr marL="457200" marR="0" lvl="0" indent="-457200" algn="l" defTabSz="447675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+mj-lt"/>
              <a:buAutoNum type="alphaUcPeriod"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 1, 6</a:t>
            </a:r>
          </a:p>
          <a:p>
            <a:pPr marL="457200" marR="0" lvl="0" indent="-457200" algn="l" defTabSz="447675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+mj-lt"/>
              <a:buAutoNum type="alphaUcPeriod"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 1, 7, 2</a:t>
            </a:r>
          </a:p>
          <a:p>
            <a:pPr marL="457200" marR="0" lvl="0" indent="-457200" algn="l" defTabSz="447675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+mj-lt"/>
              <a:buAutoNum type="alphaUcPeriod"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 1, 7, 3</a:t>
            </a:r>
          </a:p>
          <a:p>
            <a:pPr marL="457200" marR="0" lvl="0" indent="-457200" algn="l" defTabSz="447675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+mj-lt"/>
              <a:buAutoNum type="alphaUcPeriod"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 </a:t>
            </a: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1, 7, 2, 8 </a:t>
            </a:r>
          </a:p>
          <a:p>
            <a:pPr marL="0" marR="0" lvl="0" indent="0" algn="l" defTabSz="447675" rtl="0" eaLnBrk="0" fontAlgn="base" latinLnBrk="0" hangingPunct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  <a:p>
            <a:pPr marL="333375" marR="0" lvl="0" indent="-333375" algn="l" defTabSz="447675" rtl="0" eaLnBrk="0" fontAlgn="base" latinLnBrk="0" hangingPunct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  <a:p>
            <a:pPr marL="333375" marR="0" lvl="0" indent="-333375" algn="l" defTabSz="447675" rtl="0" eaLnBrk="0" fontAlgn="base" latinLnBrk="0" hangingPunct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  <a:p>
            <a:pPr marL="333375" marR="0" lvl="0" indent="-333375" algn="l" defTabSz="447675" rtl="0" eaLnBrk="0" fontAlgn="base" latinLnBrk="0" hangingPunct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  <a:p>
            <a:pPr marL="333375" marR="0" lvl="0" indent="-333375" algn="l" defTabSz="447675" rtl="0" eaLnBrk="0" fontAlgn="base" latinLnBrk="0" hangingPunct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  <a:p>
            <a:pPr marL="333375" marR="0" lvl="0" indent="-333375" algn="l" defTabSz="447675" rtl="0" eaLnBrk="0" fontAlgn="base" latinLnBrk="0" hangingPunct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  <a:p>
            <a:pPr marL="333375" marR="0" lvl="0" indent="-333375" algn="l" defTabSz="447675" rtl="0" eaLnBrk="0" fontAlgn="base" latinLnBrk="0" hangingPunct="0">
              <a:lnSpc>
                <a:spcPct val="100000"/>
              </a:lnSpc>
              <a:spcBef>
                <a:spcPts val="2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7" name="Rectangle 54"/>
          <p:cNvSpPr>
            <a:spLocks noChangeArrowheads="1"/>
          </p:cNvSpPr>
          <p:nvPr/>
        </p:nvSpPr>
        <p:spPr bwMode="auto">
          <a:xfrm>
            <a:off x="7217907" y="3752850"/>
            <a:ext cx="986293" cy="288925"/>
          </a:xfrm>
          <a:prstGeom prst="rect">
            <a:avLst/>
          </a:prstGeom>
          <a:noFill/>
          <a:ln w="38100" algn="ctr">
            <a:solidFill>
              <a:srgbClr val="CC0099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>
              <a:spcBef>
                <a:spcPts val="1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 algn="l">
              <a:spcBef>
                <a:spcPts val="525"/>
              </a:spcBef>
              <a:buClr>
                <a:srgbClr val="000000"/>
              </a:buClr>
              <a:buSzPct val="10000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Helvetica" panose="020B0604020202020204" pitchFamily="34" charset="0"/>
              <a:buChar char="–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7162418"/>
      </p:ext>
    </p:extLst>
  </p:cSld>
  <p:clrMapOvr>
    <a:masterClrMapping/>
  </p:clrMapOvr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 dirty="0"/>
              <a:t>Another Example</a:t>
            </a:r>
          </a:p>
        </p:txBody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802687" cy="5614988"/>
          </a:xfrm>
        </p:spPr>
        <p:txBody>
          <a:bodyPr/>
          <a:lstStyle/>
          <a:p>
            <a:r>
              <a:rPr lang="en-US" altLang="en-US" dirty="0"/>
              <a:t>Start with the hash table at right with:</a:t>
            </a:r>
          </a:p>
          <a:p>
            <a:pPr lvl="1"/>
            <a:r>
              <a:rPr lang="en-US" altLang="en-US" dirty="0"/>
              <a:t>double hashing</a:t>
            </a:r>
          </a:p>
          <a:p>
            <a:pPr lvl="1"/>
            <a:r>
              <a:rPr lang="en-US" altLang="en-US" dirty="0"/>
              <a:t>h1(key) = ASCII of first letter – ASCII of 'a'</a:t>
            </a:r>
          </a:p>
          <a:p>
            <a:pPr lvl="1"/>
            <a:r>
              <a:rPr lang="en-US" altLang="en-US" dirty="0"/>
              <a:t>h2(key) = </a:t>
            </a:r>
            <a:r>
              <a:rPr lang="en-US" altLang="en-US" dirty="0" err="1"/>
              <a:t>key.length</a:t>
            </a:r>
            <a:r>
              <a:rPr lang="en-US" altLang="en-US" dirty="0"/>
              <a:t>()</a:t>
            </a:r>
          </a:p>
          <a:p>
            <a:pPr lvl="1"/>
            <a:r>
              <a:rPr lang="en-US" altLang="en-US" dirty="0"/>
              <a:t>shaded cells are removed cells</a:t>
            </a:r>
          </a:p>
          <a:p>
            <a:pPr>
              <a:spcBef>
                <a:spcPts val="1400"/>
              </a:spcBef>
            </a:pPr>
            <a:r>
              <a:rPr lang="en-US" altLang="en-US" dirty="0">
                <a:solidFill>
                  <a:schemeClr val="tx1"/>
                </a:solidFill>
              </a:rPr>
              <a:t>What is the probe sequence for "baboon"?</a:t>
            </a:r>
            <a:br>
              <a:rPr lang="en-US" altLang="en-US" dirty="0"/>
            </a:br>
            <a:r>
              <a:rPr lang="en-US" altLang="en-US" dirty="0">
                <a:solidFill>
                  <a:srgbClr val="FF0000"/>
                </a:solidFill>
              </a:rPr>
              <a:t>(h1 = 1, h2 = 6)    try:	1 % 11 = 1 </a:t>
            </a:r>
          </a:p>
          <a:p>
            <a:pPr marL="457200" lvl="1" indent="0">
              <a:spcBef>
                <a:spcPts val="200"/>
              </a:spcBef>
              <a:buNone/>
            </a:pPr>
            <a:r>
              <a:rPr lang="en-US" altLang="en-US" dirty="0">
                <a:solidFill>
                  <a:srgbClr val="FF0000"/>
                </a:solidFill>
              </a:rPr>
              <a:t>						(1 + 6) % 11 = 7 </a:t>
            </a:r>
          </a:p>
          <a:p>
            <a:pPr marL="457200" lvl="1" indent="0">
              <a:spcBef>
                <a:spcPts val="200"/>
              </a:spcBef>
              <a:buNone/>
            </a:pPr>
            <a:r>
              <a:rPr lang="en-US" altLang="en-US" dirty="0">
                <a:solidFill>
                  <a:srgbClr val="FF0000"/>
                </a:solidFill>
              </a:rPr>
              <a:t>						(1 + 2*6) % 11 = 2</a:t>
            </a:r>
          </a:p>
          <a:p>
            <a:pPr marL="457200" lvl="1" indent="0">
              <a:spcBef>
                <a:spcPts val="200"/>
              </a:spcBef>
              <a:buNone/>
            </a:pPr>
            <a:r>
              <a:rPr lang="en-US" altLang="en-US" dirty="0">
                <a:solidFill>
                  <a:srgbClr val="FF0000"/>
                </a:solidFill>
              </a:rPr>
              <a:t>						(1 + 3*6) % 11 = 8</a:t>
            </a:r>
            <a:endParaRPr lang="en-US" altLang="en-US" dirty="0"/>
          </a:p>
          <a:p>
            <a:pPr>
              <a:spcBef>
                <a:spcPts val="3000"/>
              </a:spcBef>
            </a:pPr>
            <a:r>
              <a:rPr lang="en-US" altLang="en-US" b="1" dirty="0">
                <a:solidFill>
                  <a:srgbClr val="0000FF"/>
                </a:solidFill>
              </a:rPr>
              <a:t>If we insert "baboon", in what position will it go? </a:t>
            </a:r>
            <a:br>
              <a:rPr lang="en-US" altLang="en-US" dirty="0">
                <a:solidFill>
                  <a:srgbClr val="FF0000"/>
                </a:solidFill>
              </a:rPr>
            </a:br>
            <a:endParaRPr lang="en-US" altLang="en-US" dirty="0"/>
          </a:p>
          <a:p>
            <a:pPr marL="457200" lvl="1" indent="0">
              <a:spcBef>
                <a:spcPts val="500"/>
              </a:spcBef>
              <a:buNone/>
            </a:pPr>
            <a:endParaRPr lang="en-US" altLang="en-US" dirty="0"/>
          </a:p>
        </p:txBody>
      </p:sp>
      <p:graphicFrame>
        <p:nvGraphicFramePr>
          <p:cNvPr id="5" name="Group 5"/>
          <p:cNvGraphicFramePr>
            <a:graphicFrameLocks noGrp="1"/>
          </p:cNvGraphicFramePr>
          <p:nvPr/>
        </p:nvGraphicFramePr>
        <p:xfrm>
          <a:off x="6136365" y="1044429"/>
          <a:ext cx="2097087" cy="3688234"/>
        </p:xfrm>
        <a:graphic>
          <a:graphicData uri="http://schemas.openxmlformats.org/drawingml/2006/table">
            <a:tbl>
              <a:tblPr/>
              <a:tblGrid>
                <a:gridCol w="105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6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6433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0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"ant"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6433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6433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"cat"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6433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3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6433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4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"emu"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6433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5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6433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6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6433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7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6433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8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6433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9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119274"/>
                  </a:ext>
                </a:extLst>
              </a:tr>
              <a:tr h="326433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10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2710012"/>
                  </a:ext>
                </a:extLst>
              </a:tr>
            </a:tbl>
          </a:graphicData>
        </a:graphic>
      </p:graphicFrame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752804" y="5564998"/>
            <a:ext cx="7695871" cy="4914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marL="333375" indent="-333375" algn="l" defTabSz="447675" rtl="0" eaLnBrk="0" fontAlgn="base" hangingPunct="0">
              <a:spcBef>
                <a:spcPts val="1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733425" indent="-276225" algn="l" defTabSz="447675" rtl="0" eaLnBrk="0" fontAlgn="base" hangingPunct="0">
              <a:spcBef>
                <a:spcPts val="5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Helvetica" panose="020B0604020202020204" pitchFamily="34" charset="0"/>
              <a:buChar char="–"/>
              <a:defRPr sz="2200">
                <a:solidFill>
                  <a:srgbClr val="000000"/>
                </a:solidFill>
                <a:latin typeface="+mn-lt"/>
              </a:defRPr>
            </a:lvl2pPr>
            <a:lvl3pPr marL="1076325" indent="-161925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000">
                <a:solidFill>
                  <a:srgbClr val="000000"/>
                </a:solidFill>
                <a:latin typeface="+mn-lt"/>
              </a:defRPr>
            </a:lvl3pPr>
            <a:lvl4pPr marL="1600200" indent="-228600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Helvetica" panose="020B0604020202020204" pitchFamily="34" charset="0"/>
              <a:buChar char="–"/>
              <a:defRPr sz="2000">
                <a:solidFill>
                  <a:srgbClr val="000000"/>
                </a:solidFill>
                <a:latin typeface="+mn-lt"/>
              </a:defRPr>
            </a:lvl4pPr>
            <a:lvl5pPr marL="2057400" indent="-228600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+mn-lt"/>
              </a:defRPr>
            </a:lvl5pPr>
            <a:lvl6pPr marL="2514600" indent="-228600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Char char="»"/>
              <a:defRPr sz="2000">
                <a:solidFill>
                  <a:srgbClr val="000000"/>
                </a:solidFill>
                <a:latin typeface="+mn-lt"/>
              </a:defRPr>
            </a:lvl6pPr>
            <a:lvl7pPr marL="2971800" indent="-228600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Char char="»"/>
              <a:defRPr sz="2000">
                <a:solidFill>
                  <a:srgbClr val="000000"/>
                </a:solidFill>
                <a:latin typeface="+mn-lt"/>
              </a:defRPr>
            </a:lvl7pPr>
            <a:lvl8pPr marL="3429000" indent="-228600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Char char="»"/>
              <a:defRPr sz="2000">
                <a:solidFill>
                  <a:srgbClr val="000000"/>
                </a:solidFill>
                <a:latin typeface="+mn-lt"/>
              </a:defRPr>
            </a:lvl8pPr>
            <a:lvl9pPr marL="3886200" indent="-228600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Char char="»"/>
              <a:defRPr sz="2000">
                <a:solidFill>
                  <a:srgbClr val="000000"/>
                </a:solidFill>
                <a:latin typeface="+mn-lt"/>
              </a:defRPr>
            </a:lvl9pPr>
          </a:lstStyle>
          <a:p>
            <a:pPr marL="457200" marR="0" lvl="0" indent="-457200" algn="l" defTabSz="447675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+mj-lt"/>
              <a:buAutoNum type="alphaUcPeriod"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   1			B.    7			C.   2			D.   8</a:t>
            </a:r>
          </a:p>
          <a:p>
            <a:pPr marL="333375" marR="0" lvl="0" indent="-333375" algn="l" defTabSz="447675" rtl="0" eaLnBrk="0" fontAlgn="base" latinLnBrk="0" hangingPunct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  <a:p>
            <a:pPr marL="333375" marR="0" lvl="0" indent="-333375" algn="l" defTabSz="447675" rtl="0" eaLnBrk="0" fontAlgn="base" latinLnBrk="0" hangingPunct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  <a:p>
            <a:pPr marL="333375" marR="0" lvl="0" indent="-333375" algn="l" defTabSz="447675" rtl="0" eaLnBrk="0" fontAlgn="base" latinLnBrk="0" hangingPunct="0">
              <a:lnSpc>
                <a:spcPct val="100000"/>
              </a:lnSpc>
              <a:spcBef>
                <a:spcPts val="2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81729462"/>
      </p:ext>
    </p:extLst>
  </p:cSld>
  <p:clrMapOvr>
    <a:masterClrMapping/>
  </p:clrMapOvr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 dirty="0"/>
              <a:t>Another Example</a:t>
            </a:r>
          </a:p>
        </p:txBody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802687" cy="5614988"/>
          </a:xfrm>
        </p:spPr>
        <p:txBody>
          <a:bodyPr/>
          <a:lstStyle/>
          <a:p>
            <a:r>
              <a:rPr lang="en-US" altLang="en-US" dirty="0"/>
              <a:t>Start with the hash table at right with:</a:t>
            </a:r>
          </a:p>
          <a:p>
            <a:pPr lvl="1"/>
            <a:r>
              <a:rPr lang="en-US" altLang="en-US" dirty="0"/>
              <a:t>double hashing</a:t>
            </a:r>
          </a:p>
          <a:p>
            <a:pPr lvl="1"/>
            <a:r>
              <a:rPr lang="en-US" altLang="en-US" dirty="0"/>
              <a:t>h1(key) = ASCII of first letter – ASCII of 'a'</a:t>
            </a:r>
          </a:p>
          <a:p>
            <a:pPr lvl="1"/>
            <a:r>
              <a:rPr lang="en-US" altLang="en-US" dirty="0"/>
              <a:t>h2(key) = </a:t>
            </a:r>
            <a:r>
              <a:rPr lang="en-US" altLang="en-US" dirty="0" err="1"/>
              <a:t>key.length</a:t>
            </a:r>
            <a:r>
              <a:rPr lang="en-US" altLang="en-US" dirty="0"/>
              <a:t>()</a:t>
            </a:r>
          </a:p>
          <a:p>
            <a:pPr lvl="1"/>
            <a:r>
              <a:rPr lang="en-US" altLang="en-US" dirty="0"/>
              <a:t>shaded cells are removed cells</a:t>
            </a:r>
          </a:p>
          <a:p>
            <a:pPr>
              <a:spcBef>
                <a:spcPts val="1400"/>
              </a:spcBef>
            </a:pPr>
            <a:r>
              <a:rPr lang="en-US" altLang="en-US" dirty="0">
                <a:solidFill>
                  <a:schemeClr val="tx1"/>
                </a:solidFill>
              </a:rPr>
              <a:t>What is the probe sequence for "baboon"?</a:t>
            </a:r>
            <a:br>
              <a:rPr lang="en-US" altLang="en-US" dirty="0"/>
            </a:br>
            <a:r>
              <a:rPr lang="en-US" altLang="en-US" dirty="0">
                <a:solidFill>
                  <a:srgbClr val="FF0000"/>
                </a:solidFill>
              </a:rPr>
              <a:t>(h1 = 1, h2 = 6)    try:	1 % 11 = 1 </a:t>
            </a:r>
          </a:p>
          <a:p>
            <a:pPr marL="457200" lvl="1" indent="0">
              <a:spcBef>
                <a:spcPts val="200"/>
              </a:spcBef>
              <a:buNone/>
            </a:pPr>
            <a:r>
              <a:rPr lang="en-US" altLang="en-US" dirty="0">
                <a:solidFill>
                  <a:srgbClr val="FF0000"/>
                </a:solidFill>
              </a:rPr>
              <a:t>						(1 + 6) % 11 = 7 </a:t>
            </a:r>
          </a:p>
          <a:p>
            <a:pPr marL="457200" lvl="1" indent="0">
              <a:spcBef>
                <a:spcPts val="200"/>
              </a:spcBef>
              <a:buNone/>
            </a:pPr>
            <a:r>
              <a:rPr lang="en-US" altLang="en-US" dirty="0">
                <a:solidFill>
                  <a:srgbClr val="FF0000"/>
                </a:solidFill>
              </a:rPr>
              <a:t>						(1 + 2*6) % 11 = 2</a:t>
            </a:r>
          </a:p>
          <a:p>
            <a:pPr marL="457200" lvl="1" indent="0">
              <a:spcBef>
                <a:spcPts val="200"/>
              </a:spcBef>
              <a:buNone/>
            </a:pPr>
            <a:r>
              <a:rPr lang="en-US" altLang="en-US" dirty="0">
                <a:solidFill>
                  <a:srgbClr val="FF0000"/>
                </a:solidFill>
              </a:rPr>
              <a:t>						(1 + 3*6) % 11 = 8</a:t>
            </a:r>
            <a:endParaRPr lang="en-US" altLang="en-US" dirty="0"/>
          </a:p>
          <a:p>
            <a:pPr>
              <a:spcBef>
                <a:spcPts val="3000"/>
              </a:spcBef>
            </a:pPr>
            <a:r>
              <a:rPr lang="en-US" altLang="en-US" b="1" dirty="0">
                <a:solidFill>
                  <a:srgbClr val="0000FF"/>
                </a:solidFill>
              </a:rPr>
              <a:t>If we insert "baboon", in what position will it go? </a:t>
            </a:r>
            <a:br>
              <a:rPr lang="en-US" altLang="en-US" dirty="0">
                <a:solidFill>
                  <a:srgbClr val="FF0000"/>
                </a:solidFill>
              </a:rPr>
            </a:br>
            <a:endParaRPr lang="en-US" altLang="en-US" dirty="0"/>
          </a:p>
          <a:p>
            <a:pPr marL="457200" lvl="1" indent="0">
              <a:spcBef>
                <a:spcPts val="500"/>
              </a:spcBef>
              <a:buNone/>
            </a:pPr>
            <a:endParaRPr lang="en-US" altLang="en-US" dirty="0"/>
          </a:p>
        </p:txBody>
      </p:sp>
      <p:graphicFrame>
        <p:nvGraphicFramePr>
          <p:cNvPr id="5" name="Group 5"/>
          <p:cNvGraphicFramePr>
            <a:graphicFrameLocks noGrp="1"/>
          </p:cNvGraphicFramePr>
          <p:nvPr/>
        </p:nvGraphicFramePr>
        <p:xfrm>
          <a:off x="6136365" y="1044429"/>
          <a:ext cx="2097087" cy="3688234"/>
        </p:xfrm>
        <a:graphic>
          <a:graphicData uri="http://schemas.openxmlformats.org/drawingml/2006/table">
            <a:tbl>
              <a:tblPr/>
              <a:tblGrid>
                <a:gridCol w="105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6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6433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0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"ant"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6433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Lucida Console" pitchFamily="49" charset="0"/>
                        </a:rPr>
                        <a:t>"baboon"</a:t>
                      </a:r>
                    </a:p>
                  </a:txBody>
                  <a:tcPr marL="18288" marR="18288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6433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"cat"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6433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3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6433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4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"emu"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6433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5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6433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6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6433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7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6433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8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6433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9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119274"/>
                  </a:ext>
                </a:extLst>
              </a:tr>
              <a:tr h="326433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10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2710012"/>
                  </a:ext>
                </a:extLst>
              </a:tr>
            </a:tbl>
          </a:graphicData>
        </a:graphic>
      </p:graphicFrame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752804" y="5564998"/>
            <a:ext cx="7695871" cy="4914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marL="333375" indent="-333375" algn="l" defTabSz="447675" rtl="0" eaLnBrk="0" fontAlgn="base" hangingPunct="0">
              <a:spcBef>
                <a:spcPts val="1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733425" indent="-276225" algn="l" defTabSz="447675" rtl="0" eaLnBrk="0" fontAlgn="base" hangingPunct="0">
              <a:spcBef>
                <a:spcPts val="5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Helvetica" panose="020B0604020202020204" pitchFamily="34" charset="0"/>
              <a:buChar char="–"/>
              <a:defRPr sz="2200">
                <a:solidFill>
                  <a:srgbClr val="000000"/>
                </a:solidFill>
                <a:latin typeface="+mn-lt"/>
              </a:defRPr>
            </a:lvl2pPr>
            <a:lvl3pPr marL="1076325" indent="-161925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000">
                <a:solidFill>
                  <a:srgbClr val="000000"/>
                </a:solidFill>
                <a:latin typeface="+mn-lt"/>
              </a:defRPr>
            </a:lvl3pPr>
            <a:lvl4pPr marL="1600200" indent="-228600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Helvetica" panose="020B0604020202020204" pitchFamily="34" charset="0"/>
              <a:buChar char="–"/>
              <a:defRPr sz="2000">
                <a:solidFill>
                  <a:srgbClr val="000000"/>
                </a:solidFill>
                <a:latin typeface="+mn-lt"/>
              </a:defRPr>
            </a:lvl4pPr>
            <a:lvl5pPr marL="2057400" indent="-228600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+mn-lt"/>
              </a:defRPr>
            </a:lvl5pPr>
            <a:lvl6pPr marL="2514600" indent="-228600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Char char="»"/>
              <a:defRPr sz="2000">
                <a:solidFill>
                  <a:srgbClr val="000000"/>
                </a:solidFill>
                <a:latin typeface="+mn-lt"/>
              </a:defRPr>
            </a:lvl6pPr>
            <a:lvl7pPr marL="2971800" indent="-228600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Char char="»"/>
              <a:defRPr sz="2000">
                <a:solidFill>
                  <a:srgbClr val="000000"/>
                </a:solidFill>
                <a:latin typeface="+mn-lt"/>
              </a:defRPr>
            </a:lvl7pPr>
            <a:lvl8pPr marL="3429000" indent="-228600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Char char="»"/>
              <a:defRPr sz="2000">
                <a:solidFill>
                  <a:srgbClr val="000000"/>
                </a:solidFill>
                <a:latin typeface="+mn-lt"/>
              </a:defRPr>
            </a:lvl8pPr>
            <a:lvl9pPr marL="3886200" indent="-228600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Char char="»"/>
              <a:defRPr sz="2000">
                <a:solidFill>
                  <a:srgbClr val="000000"/>
                </a:solidFill>
                <a:latin typeface="+mn-lt"/>
              </a:defRPr>
            </a:lvl9pPr>
          </a:lstStyle>
          <a:p>
            <a:pPr marL="457200" marR="0" lvl="0" indent="-457200" algn="l" defTabSz="447675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+mj-lt"/>
              <a:buAutoNum type="alphaUcPeriod"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   </a:t>
            </a: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1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			B.    7			C.   2			D.   8</a:t>
            </a:r>
          </a:p>
          <a:p>
            <a:pPr marL="0" marR="0" lvl="0" indent="0" algn="l" defTabSz="447675" rtl="0" eaLnBrk="0" fontAlgn="base" latinLnBrk="0" hangingPunct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/>
              <a:defRPr/>
            </a:pPr>
            <a:r>
              <a:rPr kumimoji="0" lang="en-US" alt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			the first </a:t>
            </a:r>
            <a:r>
              <a:rPr kumimoji="0" lang="en-US" altLang="en-US" sz="22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removed</a:t>
            </a:r>
            <a:r>
              <a:rPr kumimoji="0" lang="en-US" alt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 position seen while probing</a:t>
            </a:r>
          </a:p>
          <a:p>
            <a:pPr marL="333375" marR="0" lvl="0" indent="-333375" algn="l" defTabSz="447675" rtl="0" eaLnBrk="0" fontAlgn="base" latinLnBrk="0" hangingPunct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  <a:p>
            <a:pPr marL="333375" marR="0" lvl="0" indent="-333375" algn="l" defTabSz="447675" rtl="0" eaLnBrk="0" fontAlgn="base" latinLnBrk="0" hangingPunct="0">
              <a:lnSpc>
                <a:spcPct val="100000"/>
              </a:lnSpc>
              <a:spcBef>
                <a:spcPts val="2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cxnSp>
        <p:nvCxnSpPr>
          <p:cNvPr id="3" name="Straight Arrow Connector 2"/>
          <p:cNvCxnSpPr/>
          <p:nvPr/>
        </p:nvCxnSpPr>
        <p:spPr bwMode="auto">
          <a:xfrm flipH="1" flipV="1">
            <a:off x="1745673" y="5949538"/>
            <a:ext cx="356259" cy="296883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2581156927"/>
      </p:ext>
    </p:extLst>
  </p:cSld>
  <p:clrMapOvr>
    <a:masterClrMapping/>
  </p:clrMapOvr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Hash Table with</a:t>
            </a:r>
            <a:br>
              <a:rPr lang="en-US" dirty="0"/>
            </a:br>
            <a:r>
              <a:rPr lang="en-US" sz="2200" i="1" dirty="0"/>
              <a:t>Open Addressing</a:t>
            </a:r>
          </a:p>
        </p:txBody>
      </p:sp>
      <p:pic>
        <p:nvPicPr>
          <p:cNvPr id="4" name="Content Placeholder 3" descr="Implementando una HashTable en Delphi ~ Random thoughts on ...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0406" y="1608931"/>
            <a:ext cx="5783262" cy="3600081"/>
          </a:xfrm>
        </p:spPr>
      </p:pic>
      <p:sp>
        <p:nvSpPr>
          <p:cNvPr id="5" name="TextBox 4"/>
          <p:cNvSpPr txBox="1"/>
          <p:nvPr/>
        </p:nvSpPr>
        <p:spPr>
          <a:xfrm>
            <a:off x="5290457" y="4170947"/>
            <a:ext cx="2842891" cy="64168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" name="Rectangle 2"/>
          <p:cNvSpPr/>
          <p:nvPr/>
        </p:nvSpPr>
        <p:spPr bwMode="auto">
          <a:xfrm>
            <a:off x="5290457" y="4335034"/>
            <a:ext cx="274320" cy="341469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 Narrow" pitchFamily="34" charset="0"/>
            </a:endParaRPr>
          </a:p>
        </p:txBody>
      </p:sp>
      <p:cxnSp>
        <p:nvCxnSpPr>
          <p:cNvPr id="7" name="Straight Connector 6"/>
          <p:cNvCxnSpPr/>
          <p:nvPr/>
        </p:nvCxnSpPr>
        <p:spPr bwMode="auto">
          <a:xfrm flipV="1">
            <a:off x="5290457" y="4335035"/>
            <a:ext cx="274320" cy="341468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4153469"/>
      </p:ext>
    </p:extLst>
  </p:cSld>
  <p:clrMapOvr>
    <a:masterClrMapping/>
  </p:clrMapOvr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85800" y="844549"/>
            <a:ext cx="7164977" cy="255179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Operations on a Hash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What operations should a Hash Table support?</a:t>
            </a:r>
          </a:p>
          <a:p>
            <a:pPr marL="457200" lvl="1" indent="0">
              <a:buNone/>
            </a:pPr>
            <a:endParaRPr lang="en-US" sz="2600" dirty="0"/>
          </a:p>
          <a:p>
            <a:pPr marL="457200" lvl="1" indent="0">
              <a:buNone/>
            </a:pPr>
            <a:endParaRPr lang="en-US" sz="2600" dirty="0"/>
          </a:p>
          <a:p>
            <a:pPr lvl="1"/>
            <a:endParaRPr lang="en-US" sz="2600" dirty="0"/>
          </a:p>
          <a:p>
            <a:pPr marL="914400" lvl="2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719422995"/>
      </p:ext>
    </p:extLst>
  </p:cSld>
  <p:clrMapOvr>
    <a:masterClrMapping/>
  </p:clrMapOvr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85800" y="844549"/>
            <a:ext cx="7164977" cy="255179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Operations on a Hash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What operations should a Hash Table support?</a:t>
            </a:r>
          </a:p>
          <a:p>
            <a:endParaRPr lang="en-US" sz="2400" dirty="0"/>
          </a:p>
          <a:p>
            <a:pPr lvl="1"/>
            <a:r>
              <a:rPr lang="en-US" sz="2400" i="1" dirty="0">
                <a:solidFill>
                  <a:srgbClr val="0000FF"/>
                </a:solidFill>
              </a:rPr>
              <a:t>insert</a:t>
            </a:r>
          </a:p>
          <a:p>
            <a:pPr lvl="1"/>
            <a:r>
              <a:rPr lang="en-US" sz="2400" i="1" dirty="0">
                <a:solidFill>
                  <a:srgbClr val="0000FF"/>
                </a:solidFill>
              </a:rPr>
              <a:t>remove</a:t>
            </a:r>
          </a:p>
          <a:p>
            <a:pPr lvl="1"/>
            <a:r>
              <a:rPr lang="en-US" sz="2400" i="1" dirty="0">
                <a:solidFill>
                  <a:srgbClr val="0000FF"/>
                </a:solidFill>
              </a:rPr>
              <a:t>search</a:t>
            </a:r>
          </a:p>
          <a:p>
            <a:pPr marL="0" indent="0">
              <a:buNone/>
            </a:pPr>
            <a:endParaRPr lang="en-US" sz="2400" dirty="0"/>
          </a:p>
          <a:p>
            <a:pPr lvl="1"/>
            <a:endParaRPr lang="en-US" sz="2400" dirty="0"/>
          </a:p>
          <a:p>
            <a:endParaRPr lang="en-US" sz="2400" dirty="0"/>
          </a:p>
          <a:p>
            <a:pPr lvl="1"/>
            <a:endParaRPr lang="en-US" sz="2600" dirty="0"/>
          </a:p>
          <a:p>
            <a:pPr marL="457200" lvl="1" indent="0">
              <a:buNone/>
            </a:pPr>
            <a:endParaRPr lang="en-US" sz="2600" dirty="0"/>
          </a:p>
          <a:p>
            <a:pPr lvl="1"/>
            <a:endParaRPr lang="en-US" sz="2600" dirty="0"/>
          </a:p>
          <a:p>
            <a:pPr marL="914400" lvl="2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794859715"/>
      </p:ext>
    </p:extLst>
  </p:cSld>
  <p:clrMapOvr>
    <a:masterClrMapping/>
  </p:clrMapOvr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85800" y="4023360"/>
            <a:ext cx="7857309" cy="152835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Operations on a Hash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What operations should a Hash Table support?</a:t>
            </a:r>
          </a:p>
          <a:p>
            <a:endParaRPr lang="en-US" sz="2400" dirty="0"/>
          </a:p>
          <a:p>
            <a:pPr lvl="1"/>
            <a:r>
              <a:rPr lang="en-US" sz="2400" dirty="0"/>
              <a:t>insert</a:t>
            </a:r>
          </a:p>
          <a:p>
            <a:pPr lvl="1"/>
            <a:r>
              <a:rPr lang="en-US" sz="2400" dirty="0"/>
              <a:t>remove</a:t>
            </a:r>
          </a:p>
          <a:p>
            <a:pPr lvl="1"/>
            <a:r>
              <a:rPr lang="en-US" sz="2400" dirty="0"/>
              <a:t>search</a:t>
            </a:r>
          </a:p>
          <a:p>
            <a:pPr marL="0" indent="0">
              <a:buNone/>
            </a:pPr>
            <a:endParaRPr lang="en-US" sz="2400" dirty="0"/>
          </a:p>
          <a:p>
            <a:pPr lvl="1"/>
            <a:endParaRPr lang="en-US" sz="2400" dirty="0"/>
          </a:p>
          <a:p>
            <a:r>
              <a:rPr lang="en-US" sz="2400" dirty="0"/>
              <a:t>How can we ensure that our implementation supports these operations?</a:t>
            </a:r>
          </a:p>
          <a:p>
            <a:pPr lvl="1"/>
            <a:endParaRPr lang="en-US" sz="2600" dirty="0"/>
          </a:p>
          <a:p>
            <a:pPr marL="457200" lvl="1" indent="0">
              <a:buNone/>
            </a:pPr>
            <a:endParaRPr lang="en-US" sz="2600" dirty="0"/>
          </a:p>
          <a:p>
            <a:pPr lvl="1"/>
            <a:endParaRPr lang="en-US" sz="2600" dirty="0"/>
          </a:p>
          <a:p>
            <a:pPr marL="914400" lvl="2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971490859"/>
      </p:ext>
    </p:extLst>
  </p:cSld>
  <p:clrMapOvr>
    <a:masterClrMapping/>
  </p:clrMapOvr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85800" y="4023360"/>
            <a:ext cx="7857309" cy="152835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Operations on a Hash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What operations should a Hash Table support?</a:t>
            </a:r>
          </a:p>
          <a:p>
            <a:endParaRPr lang="en-US" sz="2400" dirty="0"/>
          </a:p>
          <a:p>
            <a:pPr lvl="1"/>
            <a:r>
              <a:rPr lang="en-US" sz="2400" dirty="0"/>
              <a:t>insert</a:t>
            </a:r>
          </a:p>
          <a:p>
            <a:pPr lvl="1"/>
            <a:r>
              <a:rPr lang="en-US" sz="2400" dirty="0"/>
              <a:t>remove</a:t>
            </a:r>
          </a:p>
          <a:p>
            <a:pPr lvl="1"/>
            <a:r>
              <a:rPr lang="en-US" sz="2400" dirty="0"/>
              <a:t>search</a:t>
            </a:r>
          </a:p>
          <a:p>
            <a:pPr marL="0" indent="0">
              <a:buNone/>
            </a:pPr>
            <a:endParaRPr lang="en-US" sz="2400" dirty="0"/>
          </a:p>
          <a:p>
            <a:pPr lvl="1"/>
            <a:endParaRPr lang="en-US" sz="2400" dirty="0"/>
          </a:p>
          <a:p>
            <a:r>
              <a:rPr lang="en-US" sz="2400" dirty="0"/>
              <a:t>How can we ensure that our implementation supports these operations?</a:t>
            </a:r>
          </a:p>
          <a:p>
            <a:pPr lvl="1"/>
            <a:endParaRPr lang="en-US" sz="2600" dirty="0"/>
          </a:p>
          <a:p>
            <a:pPr marL="457200" lvl="1" indent="0">
              <a:buNone/>
            </a:pPr>
            <a:endParaRPr lang="en-US" sz="2600" dirty="0"/>
          </a:p>
          <a:p>
            <a:pPr lvl="1"/>
            <a:endParaRPr lang="en-US" sz="2600" dirty="0"/>
          </a:p>
          <a:p>
            <a:pPr marL="914400" lvl="2" indent="0">
              <a:buNone/>
            </a:pPr>
            <a:endParaRPr lang="en-US" sz="2400" dirty="0"/>
          </a:p>
        </p:txBody>
      </p:sp>
      <p:pic>
        <p:nvPicPr>
          <p:cNvPr id="5" name="Picture 4" descr="File:&lt;strong&gt;Interface&lt;/strong&gt; logo.svg - Wikipedia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4617" y="4665584"/>
            <a:ext cx="2851489" cy="768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9837157"/>
      </p:ext>
    </p:extLst>
  </p:cSld>
  <p:clrMapOvr>
    <a:masterClrMapping/>
  </p:clrMapOvr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1313" y="703385"/>
            <a:ext cx="8382000" cy="168812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93186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 dirty="0"/>
              <a:t>An Interface For Hash Tables</a:t>
            </a:r>
          </a:p>
        </p:txBody>
      </p:sp>
      <p:sp>
        <p:nvSpPr>
          <p:cNvPr id="931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382000" cy="5614988"/>
          </a:xfrm>
        </p:spPr>
        <p:txBody>
          <a:bodyPr/>
          <a:lstStyle/>
          <a:p>
            <a:pPr>
              <a:buFont typeface="Times New Roman" panose="02020603050405020304" pitchFamily="18" charset="0"/>
              <a:buNone/>
            </a:pPr>
            <a:r>
              <a:rPr lang="en-US" altLang="en-US" sz="1800" dirty="0">
                <a:latin typeface="Lucida Console" panose="020B0609040504020204" pitchFamily="49" charset="0"/>
              </a:rPr>
              <a:t>   public interface </a:t>
            </a:r>
            <a:r>
              <a:rPr lang="en-US" altLang="en-US" sz="1800" b="1" dirty="0" err="1">
                <a:latin typeface="Lucida Console" panose="020B0609040504020204" pitchFamily="49" charset="0"/>
              </a:rPr>
              <a:t>HashTable</a:t>
            </a:r>
            <a:r>
              <a:rPr lang="en-US" altLang="en-US" sz="1800" dirty="0">
                <a:latin typeface="Lucida Console" panose="020B0609040504020204" pitchFamily="49" charset="0"/>
              </a:rPr>
              <a:t> {</a:t>
            </a:r>
          </a:p>
          <a:p>
            <a:pPr>
              <a:spcBef>
                <a:spcPct val="0"/>
              </a:spcBef>
              <a:buFont typeface="Times New Roman" panose="02020603050405020304" pitchFamily="18" charset="0"/>
              <a:buNone/>
            </a:pPr>
            <a:r>
              <a:rPr lang="en-US" altLang="en-US" sz="1800" dirty="0">
                <a:latin typeface="Lucida Console" panose="020B0609040504020204" pitchFamily="49" charset="0"/>
              </a:rPr>
              <a:t>       </a:t>
            </a:r>
            <a:r>
              <a:rPr lang="en-US" altLang="en-US" sz="1800" dirty="0" err="1">
                <a:latin typeface="Lucida Console" panose="020B0609040504020204" pitchFamily="49" charset="0"/>
              </a:rPr>
              <a:t>boolean</a:t>
            </a:r>
            <a:r>
              <a:rPr lang="en-US" altLang="en-US" sz="1800" dirty="0">
                <a:latin typeface="Lucida Console" panose="020B0609040504020204" pitchFamily="49" charset="0"/>
              </a:rPr>
              <a:t> </a:t>
            </a:r>
            <a:r>
              <a:rPr lang="en-US" altLang="en-US" sz="1800" dirty="0">
                <a:solidFill>
                  <a:srgbClr val="0000FF"/>
                </a:solidFill>
                <a:latin typeface="Lucida Console" panose="020B0609040504020204" pitchFamily="49" charset="0"/>
              </a:rPr>
              <a:t>insert</a:t>
            </a:r>
            <a:r>
              <a:rPr lang="en-US" altLang="en-US" sz="1800" dirty="0">
                <a:latin typeface="Lucida Console" panose="020B0609040504020204" pitchFamily="49" charset="0"/>
              </a:rPr>
              <a:t>(Object key, Object value);</a:t>
            </a:r>
          </a:p>
          <a:p>
            <a:pPr>
              <a:spcBef>
                <a:spcPct val="0"/>
              </a:spcBef>
              <a:buFont typeface="Times New Roman" panose="02020603050405020304" pitchFamily="18" charset="0"/>
              <a:buNone/>
            </a:pPr>
            <a:r>
              <a:rPr lang="en-US" altLang="en-US" sz="1800" dirty="0">
                <a:latin typeface="Lucida Console" panose="020B0609040504020204" pitchFamily="49" charset="0"/>
              </a:rPr>
              <a:t>       Queue&lt;Object&gt; </a:t>
            </a:r>
            <a:r>
              <a:rPr lang="en-US" altLang="en-US" sz="1800" dirty="0">
                <a:solidFill>
                  <a:srgbClr val="0000FF"/>
                </a:solidFill>
                <a:latin typeface="Lucida Console" panose="020B0609040504020204" pitchFamily="49" charset="0"/>
              </a:rPr>
              <a:t>search</a:t>
            </a:r>
            <a:r>
              <a:rPr lang="en-US" altLang="en-US" sz="1800" dirty="0">
                <a:latin typeface="Lucida Console" panose="020B0609040504020204" pitchFamily="49" charset="0"/>
              </a:rPr>
              <a:t>(Object key);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1800" dirty="0">
                <a:latin typeface="Lucida Console" panose="020B0609040504020204" pitchFamily="49" charset="0"/>
              </a:rPr>
              <a:t>       Queue&lt;Object&gt; </a:t>
            </a:r>
            <a:r>
              <a:rPr lang="en-US" altLang="en-US" sz="1800" dirty="0">
                <a:solidFill>
                  <a:srgbClr val="0000FF"/>
                </a:solidFill>
                <a:latin typeface="Lucida Console" panose="020B0609040504020204" pitchFamily="49" charset="0"/>
              </a:rPr>
              <a:t>remove</a:t>
            </a:r>
            <a:r>
              <a:rPr lang="en-US" altLang="en-US" sz="1800" dirty="0">
                <a:latin typeface="Lucida Console" panose="020B0609040504020204" pitchFamily="49" charset="0"/>
              </a:rPr>
              <a:t>(Object key);</a:t>
            </a:r>
          </a:p>
          <a:p>
            <a:pPr>
              <a:spcBef>
                <a:spcPct val="0"/>
              </a:spcBef>
              <a:buFont typeface="Times New Roman" panose="02020603050405020304" pitchFamily="18" charset="0"/>
              <a:buNone/>
            </a:pPr>
            <a:r>
              <a:rPr lang="en-US" altLang="en-US" sz="1800" dirty="0">
                <a:latin typeface="Lucida Console" panose="020B0609040504020204" pitchFamily="49" charset="0"/>
              </a:rPr>
              <a:t>   }              </a:t>
            </a:r>
            <a:endParaRPr lang="en-US" altLang="en-US" sz="1600" dirty="0">
              <a:latin typeface="Lucida Console" panose="020B0609040504020204" pitchFamily="49" charset="0"/>
            </a:endParaRPr>
          </a:p>
          <a:p>
            <a:pPr>
              <a:spcBef>
                <a:spcPts val="1000"/>
              </a:spcBef>
              <a:buSzPct val="120000"/>
            </a:pPr>
            <a:r>
              <a:rPr lang="en-US" altLang="en-US" sz="2000" dirty="0">
                <a:latin typeface="Lucida Console" panose="020B0609040504020204" pitchFamily="49" charset="0"/>
              </a:rPr>
              <a:t>insert()</a:t>
            </a:r>
            <a:r>
              <a:rPr lang="en-US" altLang="en-US" dirty="0"/>
              <a:t> returns:</a:t>
            </a:r>
          </a:p>
          <a:p>
            <a:pPr lvl="1">
              <a:spcBef>
                <a:spcPts val="500"/>
              </a:spcBef>
              <a:buSzPct val="120000"/>
            </a:pPr>
            <a:r>
              <a:rPr lang="en-US" altLang="en-US" sz="2000" dirty="0">
                <a:latin typeface="+mj-lt"/>
              </a:rPr>
              <a:t> </a:t>
            </a:r>
            <a:r>
              <a:rPr lang="en-US" altLang="en-US" sz="2000" dirty="0">
                <a:latin typeface="Lucida Console" panose="020B0609040504020204" pitchFamily="49" charset="0"/>
              </a:rPr>
              <a:t>true</a:t>
            </a:r>
            <a:r>
              <a:rPr lang="en-US" altLang="en-US" dirty="0"/>
              <a:t> if the key-value pair can be added</a:t>
            </a:r>
          </a:p>
          <a:p>
            <a:pPr lvl="1">
              <a:spcBef>
                <a:spcPts val="500"/>
              </a:spcBef>
              <a:buSzPct val="120000"/>
            </a:pPr>
            <a:r>
              <a:rPr lang="en-US" altLang="en-US" sz="2000" dirty="0">
                <a:latin typeface="+mj-lt"/>
              </a:rPr>
              <a:t> </a:t>
            </a:r>
            <a:r>
              <a:rPr lang="en-US" altLang="en-US" sz="2000" dirty="0">
                <a:latin typeface="Lucida Console" panose="020B0609040504020204" pitchFamily="49" charset="0"/>
              </a:rPr>
              <a:t>false</a:t>
            </a:r>
            <a:r>
              <a:rPr lang="en-US" altLang="en-US" dirty="0"/>
              <a:t> if there is overflow and the pair cannot be added</a:t>
            </a:r>
            <a:endParaRPr lang="en-US" altLang="en-US" sz="2000" dirty="0">
              <a:latin typeface="Lucida Console" panose="020B0609040504020204" pitchFamily="49" charset="0"/>
            </a:endParaRPr>
          </a:p>
          <a:p>
            <a:pPr>
              <a:spcBef>
                <a:spcPts val="1800"/>
              </a:spcBef>
              <a:buSzPct val="120000"/>
            </a:pPr>
            <a:r>
              <a:rPr lang="en-US" altLang="en-US" sz="2000" dirty="0">
                <a:latin typeface="Lucida Console" panose="020B0609040504020204" pitchFamily="49" charset="0"/>
              </a:rPr>
              <a:t>search()</a:t>
            </a:r>
            <a:r>
              <a:rPr lang="en-US" altLang="en-US" dirty="0"/>
              <a:t> and </a:t>
            </a:r>
            <a:r>
              <a:rPr lang="en-US" altLang="en-US" sz="2000" dirty="0">
                <a:latin typeface="Lucida Console" panose="020B0609040504020204" pitchFamily="49" charset="0"/>
              </a:rPr>
              <a:t>remove()</a:t>
            </a:r>
            <a:r>
              <a:rPr lang="en-US" altLang="en-US" dirty="0"/>
              <a:t> both return a queue containing </a:t>
            </a:r>
            <a:br>
              <a:rPr lang="en-US" altLang="en-US" dirty="0"/>
            </a:br>
            <a:r>
              <a:rPr lang="en-US" altLang="en-US" dirty="0"/>
              <a:t>all of the values associated with the specified key.</a:t>
            </a:r>
          </a:p>
          <a:p>
            <a:pPr lvl="1">
              <a:lnSpc>
                <a:spcPct val="90000"/>
              </a:lnSpc>
              <a:spcBef>
                <a:spcPts val="1000"/>
              </a:spcBef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dirty="0"/>
              <a:t>example: an index for a book</a:t>
            </a:r>
          </a:p>
          <a:p>
            <a:pPr lvl="2">
              <a:lnSpc>
                <a:spcPct val="90000"/>
              </a:lnSpc>
              <a:spcBef>
                <a:spcPts val="500"/>
              </a:spcBef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2200" dirty="0"/>
              <a:t>key = word</a:t>
            </a:r>
          </a:p>
          <a:p>
            <a:pPr lvl="2">
              <a:lnSpc>
                <a:spcPct val="90000"/>
              </a:lnSpc>
              <a:spcBef>
                <a:spcPts val="500"/>
              </a:spcBef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2200" dirty="0"/>
              <a:t>values = the pages on which that word appears</a:t>
            </a:r>
            <a:endParaRPr lang="en-US" altLang="en-US" dirty="0"/>
          </a:p>
          <a:p>
            <a:pPr lvl="1">
              <a:spcBef>
                <a:spcPts val="500"/>
              </a:spcBef>
              <a:buSzPct val="120000"/>
            </a:pPr>
            <a:r>
              <a:rPr lang="en-US" altLang="en-US" dirty="0"/>
              <a:t> return </a:t>
            </a:r>
            <a:r>
              <a:rPr lang="en-US" altLang="en-US" sz="2000" dirty="0">
                <a:latin typeface="Lucida Console" panose="020B0609040504020204" pitchFamily="49" charset="0"/>
              </a:rPr>
              <a:t>null</a:t>
            </a:r>
            <a:r>
              <a:rPr lang="en-US" altLang="en-US" dirty="0"/>
              <a:t> if the key is not found</a:t>
            </a:r>
          </a:p>
        </p:txBody>
      </p:sp>
    </p:spTree>
    <p:extLst>
      <p:ext uri="{BB962C8B-B14F-4D97-AF65-F5344CB8AC3E}">
        <p14:creationId xmlns:p14="http://schemas.microsoft.com/office/powerpoint/2010/main" val="2618375228"/>
      </p:ext>
    </p:extLst>
  </p:cSld>
  <p:clrMapOvr>
    <a:masterClrMapping/>
  </p:clrMapOvr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7025" y="2303585"/>
            <a:ext cx="8396288" cy="140676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93186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 dirty="0"/>
              <a:t>An Interface For Hash Tables</a:t>
            </a:r>
          </a:p>
        </p:txBody>
      </p:sp>
      <p:sp>
        <p:nvSpPr>
          <p:cNvPr id="931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382000" cy="5614988"/>
          </a:xfrm>
        </p:spPr>
        <p:txBody>
          <a:bodyPr/>
          <a:lstStyle/>
          <a:p>
            <a:pPr>
              <a:buFont typeface="Times New Roman" panose="02020603050405020304" pitchFamily="18" charset="0"/>
              <a:buNone/>
            </a:pPr>
            <a:r>
              <a:rPr lang="en-US" altLang="en-US" sz="1800" dirty="0">
                <a:latin typeface="Lucida Console" panose="020B0609040504020204" pitchFamily="49" charset="0"/>
              </a:rPr>
              <a:t>   public interface </a:t>
            </a:r>
            <a:r>
              <a:rPr lang="en-US" altLang="en-US" sz="1800" b="1" dirty="0" err="1">
                <a:latin typeface="Lucida Console" panose="020B0609040504020204" pitchFamily="49" charset="0"/>
              </a:rPr>
              <a:t>HashTable</a:t>
            </a:r>
            <a:r>
              <a:rPr lang="en-US" altLang="en-US" sz="1800" dirty="0">
                <a:latin typeface="Lucida Console" panose="020B0609040504020204" pitchFamily="49" charset="0"/>
              </a:rPr>
              <a:t> {</a:t>
            </a:r>
          </a:p>
          <a:p>
            <a:pPr>
              <a:spcBef>
                <a:spcPct val="0"/>
              </a:spcBef>
              <a:buFont typeface="Times New Roman" panose="02020603050405020304" pitchFamily="18" charset="0"/>
              <a:buNone/>
            </a:pPr>
            <a:r>
              <a:rPr lang="en-US" altLang="en-US" sz="1800" dirty="0">
                <a:latin typeface="Lucida Console" panose="020B0609040504020204" pitchFamily="49" charset="0"/>
              </a:rPr>
              <a:t>       </a:t>
            </a:r>
            <a:r>
              <a:rPr lang="en-US" altLang="en-US" sz="1800" dirty="0" err="1">
                <a:solidFill>
                  <a:srgbClr val="0000FF"/>
                </a:solidFill>
                <a:latin typeface="Lucida Console" panose="020B0609040504020204" pitchFamily="49" charset="0"/>
              </a:rPr>
              <a:t>boolean</a:t>
            </a:r>
            <a:r>
              <a:rPr lang="en-US" altLang="en-US" sz="1800" dirty="0">
                <a:solidFill>
                  <a:srgbClr val="0000FF"/>
                </a:solidFill>
                <a:latin typeface="Lucida Console" panose="020B0609040504020204" pitchFamily="49" charset="0"/>
              </a:rPr>
              <a:t> insert(</a:t>
            </a: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Object key</a:t>
            </a:r>
            <a:r>
              <a:rPr lang="en-US" altLang="en-US" sz="1800" dirty="0">
                <a:solidFill>
                  <a:srgbClr val="0000FF"/>
                </a:solidFill>
                <a:latin typeface="Lucida Console" panose="020B0609040504020204" pitchFamily="49" charset="0"/>
              </a:rPr>
              <a:t>, </a:t>
            </a: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Object value</a:t>
            </a:r>
            <a:r>
              <a:rPr lang="en-US" altLang="en-US" sz="1800" dirty="0">
                <a:solidFill>
                  <a:srgbClr val="0000FF"/>
                </a:solidFill>
                <a:latin typeface="Lucida Console" panose="020B0609040504020204" pitchFamily="49" charset="0"/>
              </a:rPr>
              <a:t>);</a:t>
            </a:r>
          </a:p>
          <a:p>
            <a:pPr>
              <a:spcBef>
                <a:spcPct val="0"/>
              </a:spcBef>
              <a:buFont typeface="Times New Roman" panose="02020603050405020304" pitchFamily="18" charset="0"/>
              <a:buNone/>
            </a:pPr>
            <a:r>
              <a:rPr lang="en-US" altLang="en-US" sz="1800" dirty="0">
                <a:latin typeface="Lucida Console" panose="020B0609040504020204" pitchFamily="49" charset="0"/>
              </a:rPr>
              <a:t>       Queue&lt;Object&gt; search(Object key);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1800" dirty="0">
                <a:latin typeface="Lucida Console" panose="020B0609040504020204" pitchFamily="49" charset="0"/>
              </a:rPr>
              <a:t>       Queue&lt;Object&gt; remove(Object key);</a:t>
            </a:r>
          </a:p>
          <a:p>
            <a:pPr>
              <a:spcBef>
                <a:spcPct val="0"/>
              </a:spcBef>
              <a:buFont typeface="Times New Roman" panose="02020603050405020304" pitchFamily="18" charset="0"/>
              <a:buNone/>
            </a:pPr>
            <a:r>
              <a:rPr lang="en-US" altLang="en-US" sz="1800" dirty="0">
                <a:latin typeface="Lucida Console" panose="020B0609040504020204" pitchFamily="49" charset="0"/>
              </a:rPr>
              <a:t>   }              </a:t>
            </a:r>
            <a:endParaRPr lang="en-US" altLang="en-US" sz="1600" dirty="0">
              <a:latin typeface="Lucida Console" panose="020B0609040504020204" pitchFamily="49" charset="0"/>
            </a:endParaRPr>
          </a:p>
          <a:p>
            <a:pPr>
              <a:spcBef>
                <a:spcPts val="1000"/>
              </a:spcBef>
              <a:buSzPct val="120000"/>
            </a:pPr>
            <a:r>
              <a:rPr lang="en-US" altLang="en-US" sz="2000" b="1" dirty="0">
                <a:solidFill>
                  <a:schemeClr val="tx1"/>
                </a:solidFill>
                <a:latin typeface="Lucida Console" panose="020B0609040504020204" pitchFamily="49" charset="0"/>
              </a:rPr>
              <a:t>insert</a:t>
            </a:r>
            <a:r>
              <a:rPr lang="en-US" altLang="en-US" sz="2000" dirty="0">
                <a:latin typeface="Lucida Console" panose="020B0609040504020204" pitchFamily="49" charset="0"/>
              </a:rPr>
              <a:t>()</a:t>
            </a:r>
            <a:r>
              <a:rPr lang="en-US" altLang="en-US" dirty="0"/>
              <a:t> returns:</a:t>
            </a:r>
          </a:p>
          <a:p>
            <a:pPr lvl="1">
              <a:spcBef>
                <a:spcPts val="500"/>
              </a:spcBef>
              <a:buSzPct val="120000"/>
            </a:pPr>
            <a:r>
              <a:rPr lang="en-US" altLang="en-US" sz="2000" dirty="0">
                <a:latin typeface="+mj-lt"/>
              </a:rPr>
              <a:t> </a:t>
            </a:r>
            <a:r>
              <a:rPr lang="en-US" altLang="en-US" sz="2000" dirty="0">
                <a:latin typeface="Lucida Console" panose="020B0609040504020204" pitchFamily="49" charset="0"/>
              </a:rPr>
              <a:t>true</a:t>
            </a:r>
            <a:r>
              <a:rPr lang="en-US" altLang="en-US" dirty="0"/>
              <a:t> if the key-value pair can be added</a:t>
            </a:r>
          </a:p>
          <a:p>
            <a:pPr lvl="1">
              <a:spcBef>
                <a:spcPts val="500"/>
              </a:spcBef>
              <a:buSzPct val="120000"/>
            </a:pPr>
            <a:r>
              <a:rPr lang="en-US" altLang="en-US" sz="2000" dirty="0">
                <a:latin typeface="+mj-lt"/>
              </a:rPr>
              <a:t> </a:t>
            </a:r>
            <a:r>
              <a:rPr lang="en-US" altLang="en-US" sz="2000" dirty="0">
                <a:latin typeface="Lucida Console" panose="020B0609040504020204" pitchFamily="49" charset="0"/>
              </a:rPr>
              <a:t>false</a:t>
            </a:r>
            <a:r>
              <a:rPr lang="en-US" altLang="en-US" dirty="0"/>
              <a:t> if there is overflow and the pair cannot be added</a:t>
            </a:r>
            <a:endParaRPr lang="en-US" altLang="en-US" sz="2000" dirty="0">
              <a:latin typeface="Lucida Console" panose="020B0609040504020204" pitchFamily="49" charset="0"/>
            </a:endParaRPr>
          </a:p>
          <a:p>
            <a:pPr>
              <a:spcBef>
                <a:spcPts val="1800"/>
              </a:spcBef>
              <a:buSzPct val="120000"/>
            </a:pPr>
            <a:r>
              <a:rPr lang="en-US" altLang="en-US" sz="2000" dirty="0">
                <a:latin typeface="Lucida Console" panose="020B0609040504020204" pitchFamily="49" charset="0"/>
              </a:rPr>
              <a:t>search()</a:t>
            </a:r>
            <a:r>
              <a:rPr lang="en-US" altLang="en-US" dirty="0"/>
              <a:t> and </a:t>
            </a:r>
            <a:r>
              <a:rPr lang="en-US" altLang="en-US" sz="2000" dirty="0">
                <a:latin typeface="Lucida Console" panose="020B0609040504020204" pitchFamily="49" charset="0"/>
              </a:rPr>
              <a:t>remove()</a:t>
            </a:r>
            <a:r>
              <a:rPr lang="en-US" altLang="en-US" dirty="0"/>
              <a:t> both return a queue containing </a:t>
            </a:r>
            <a:br>
              <a:rPr lang="en-US" altLang="en-US" dirty="0"/>
            </a:br>
            <a:r>
              <a:rPr lang="en-US" altLang="en-US" dirty="0"/>
              <a:t>all of the values associated with the specified key.</a:t>
            </a:r>
          </a:p>
          <a:p>
            <a:pPr lvl="1">
              <a:lnSpc>
                <a:spcPct val="90000"/>
              </a:lnSpc>
              <a:spcBef>
                <a:spcPts val="1000"/>
              </a:spcBef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dirty="0"/>
              <a:t>example: an index for a book</a:t>
            </a:r>
          </a:p>
          <a:p>
            <a:pPr lvl="2">
              <a:lnSpc>
                <a:spcPct val="90000"/>
              </a:lnSpc>
              <a:spcBef>
                <a:spcPts val="500"/>
              </a:spcBef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2200" dirty="0"/>
              <a:t>key = word</a:t>
            </a:r>
          </a:p>
          <a:p>
            <a:pPr lvl="2">
              <a:lnSpc>
                <a:spcPct val="90000"/>
              </a:lnSpc>
              <a:spcBef>
                <a:spcPts val="500"/>
              </a:spcBef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2200" dirty="0"/>
              <a:t>values = the pages on which that word appears</a:t>
            </a:r>
            <a:endParaRPr lang="en-US" altLang="en-US" dirty="0"/>
          </a:p>
          <a:p>
            <a:pPr lvl="1">
              <a:spcBef>
                <a:spcPts val="500"/>
              </a:spcBef>
              <a:buSzPct val="120000"/>
            </a:pPr>
            <a:r>
              <a:rPr lang="en-US" altLang="en-US" dirty="0"/>
              <a:t> return </a:t>
            </a:r>
            <a:r>
              <a:rPr lang="en-US" altLang="en-US" sz="2000" dirty="0">
                <a:latin typeface="Lucida Console" panose="020B0609040504020204" pitchFamily="49" charset="0"/>
              </a:rPr>
              <a:t>null</a:t>
            </a:r>
            <a:r>
              <a:rPr lang="en-US" altLang="en-US" dirty="0"/>
              <a:t> if the key is not found</a:t>
            </a:r>
          </a:p>
        </p:txBody>
      </p:sp>
    </p:spTree>
    <p:extLst>
      <p:ext uri="{BB962C8B-B14F-4D97-AF65-F5344CB8AC3E}">
        <p14:creationId xmlns:p14="http://schemas.microsoft.com/office/powerpoint/2010/main" val="1136304117"/>
      </p:ext>
    </p:extLst>
  </p:cSld>
  <p:clrMapOvr>
    <a:masterClrMapping/>
  </p:clrMapOvr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1313" y="3652044"/>
            <a:ext cx="8107362" cy="280749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93186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 dirty="0"/>
              <a:t>An Interface For Hash Tables</a:t>
            </a:r>
          </a:p>
        </p:txBody>
      </p:sp>
      <p:sp>
        <p:nvSpPr>
          <p:cNvPr id="931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382000" cy="5614988"/>
          </a:xfrm>
        </p:spPr>
        <p:txBody>
          <a:bodyPr/>
          <a:lstStyle/>
          <a:p>
            <a:pPr>
              <a:buFont typeface="Times New Roman" panose="02020603050405020304" pitchFamily="18" charset="0"/>
              <a:buNone/>
            </a:pPr>
            <a:r>
              <a:rPr lang="en-US" altLang="en-US" sz="1800" dirty="0">
                <a:latin typeface="Lucida Console" panose="020B0609040504020204" pitchFamily="49" charset="0"/>
              </a:rPr>
              <a:t>   public interface </a:t>
            </a:r>
            <a:r>
              <a:rPr lang="en-US" altLang="en-US" sz="1800" b="1" dirty="0" err="1">
                <a:latin typeface="Lucida Console" panose="020B0609040504020204" pitchFamily="49" charset="0"/>
              </a:rPr>
              <a:t>HashTable</a:t>
            </a:r>
            <a:r>
              <a:rPr lang="en-US" altLang="en-US" sz="1800" dirty="0">
                <a:latin typeface="Lucida Console" panose="020B0609040504020204" pitchFamily="49" charset="0"/>
              </a:rPr>
              <a:t> {</a:t>
            </a:r>
          </a:p>
          <a:p>
            <a:pPr>
              <a:spcBef>
                <a:spcPct val="0"/>
              </a:spcBef>
              <a:buFont typeface="Times New Roman" panose="02020603050405020304" pitchFamily="18" charset="0"/>
              <a:buNone/>
            </a:pPr>
            <a:r>
              <a:rPr lang="en-US" altLang="en-US" sz="1800" dirty="0">
                <a:latin typeface="Lucida Console" panose="020B0609040504020204" pitchFamily="49" charset="0"/>
              </a:rPr>
              <a:t>       </a:t>
            </a:r>
            <a:r>
              <a:rPr lang="en-US" altLang="en-US" sz="1800" dirty="0" err="1">
                <a:latin typeface="Lucida Console" panose="020B0609040504020204" pitchFamily="49" charset="0"/>
              </a:rPr>
              <a:t>boolean</a:t>
            </a:r>
            <a:r>
              <a:rPr lang="en-US" altLang="en-US" sz="1800" dirty="0">
                <a:latin typeface="Lucida Console" panose="020B0609040504020204" pitchFamily="49" charset="0"/>
              </a:rPr>
              <a:t> insert(Object key, Object value);</a:t>
            </a:r>
          </a:p>
          <a:p>
            <a:pPr>
              <a:spcBef>
                <a:spcPct val="0"/>
              </a:spcBef>
              <a:buFont typeface="Times New Roman" panose="02020603050405020304" pitchFamily="18" charset="0"/>
              <a:buNone/>
            </a:pPr>
            <a:r>
              <a:rPr lang="en-US" altLang="en-US" sz="1800" dirty="0">
                <a:latin typeface="Lucida Console" panose="020B0609040504020204" pitchFamily="49" charset="0"/>
              </a:rPr>
              <a:t>       </a:t>
            </a: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Queue&lt;Object&gt;</a:t>
            </a:r>
            <a:r>
              <a:rPr lang="en-US" altLang="en-US" sz="1800" dirty="0">
                <a:solidFill>
                  <a:srgbClr val="0000FF"/>
                </a:solidFill>
                <a:latin typeface="Lucida Console" panose="020B0609040504020204" pitchFamily="49" charset="0"/>
              </a:rPr>
              <a:t> search(Object key);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1800" dirty="0">
                <a:solidFill>
                  <a:srgbClr val="0000FF"/>
                </a:solidFill>
                <a:latin typeface="Lucida Console" panose="020B0609040504020204" pitchFamily="49" charset="0"/>
              </a:rPr>
              <a:t>       </a:t>
            </a: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Queue&lt;Object&gt;</a:t>
            </a:r>
            <a:r>
              <a:rPr lang="en-US" altLang="en-US" sz="1800" dirty="0">
                <a:solidFill>
                  <a:srgbClr val="0000FF"/>
                </a:solidFill>
                <a:latin typeface="Lucida Console" panose="020B0609040504020204" pitchFamily="49" charset="0"/>
              </a:rPr>
              <a:t> remove(Object key);</a:t>
            </a:r>
          </a:p>
          <a:p>
            <a:pPr>
              <a:spcBef>
                <a:spcPct val="0"/>
              </a:spcBef>
              <a:buFont typeface="Times New Roman" panose="02020603050405020304" pitchFamily="18" charset="0"/>
              <a:buNone/>
            </a:pPr>
            <a:r>
              <a:rPr lang="en-US" altLang="en-US" sz="1800" dirty="0">
                <a:latin typeface="Lucida Console" panose="020B0609040504020204" pitchFamily="49" charset="0"/>
              </a:rPr>
              <a:t>   }              </a:t>
            </a:r>
            <a:endParaRPr lang="en-US" altLang="en-US" sz="1600" dirty="0">
              <a:latin typeface="Lucida Console" panose="020B0609040504020204" pitchFamily="49" charset="0"/>
            </a:endParaRPr>
          </a:p>
          <a:p>
            <a:pPr>
              <a:spcBef>
                <a:spcPts val="1000"/>
              </a:spcBef>
              <a:buSzPct val="120000"/>
            </a:pPr>
            <a:r>
              <a:rPr lang="en-US" altLang="en-US" sz="2000" b="1" dirty="0">
                <a:solidFill>
                  <a:schemeClr val="tx1"/>
                </a:solidFill>
                <a:latin typeface="Lucida Console" panose="020B0609040504020204" pitchFamily="49" charset="0"/>
              </a:rPr>
              <a:t>insert</a:t>
            </a:r>
            <a:r>
              <a:rPr lang="en-US" altLang="en-US" sz="2000" dirty="0">
                <a:latin typeface="Lucida Console" panose="020B0609040504020204" pitchFamily="49" charset="0"/>
              </a:rPr>
              <a:t>()</a:t>
            </a:r>
            <a:r>
              <a:rPr lang="en-US" altLang="en-US" dirty="0"/>
              <a:t> returns:</a:t>
            </a:r>
          </a:p>
          <a:p>
            <a:pPr lvl="1">
              <a:spcBef>
                <a:spcPts val="500"/>
              </a:spcBef>
              <a:buSzPct val="120000"/>
            </a:pPr>
            <a:r>
              <a:rPr lang="en-US" altLang="en-US" sz="2000" dirty="0">
                <a:latin typeface="+mj-lt"/>
              </a:rPr>
              <a:t> </a:t>
            </a:r>
            <a:r>
              <a:rPr lang="en-US" altLang="en-US" sz="2000" dirty="0">
                <a:latin typeface="Lucida Console" panose="020B0609040504020204" pitchFamily="49" charset="0"/>
              </a:rPr>
              <a:t>true</a:t>
            </a:r>
            <a:r>
              <a:rPr lang="en-US" altLang="en-US" dirty="0"/>
              <a:t> if the key-value pair can be added</a:t>
            </a:r>
          </a:p>
          <a:p>
            <a:pPr lvl="1">
              <a:spcBef>
                <a:spcPts val="500"/>
              </a:spcBef>
              <a:buSzPct val="120000"/>
            </a:pPr>
            <a:r>
              <a:rPr lang="en-US" altLang="en-US" sz="2000" dirty="0">
                <a:latin typeface="+mj-lt"/>
              </a:rPr>
              <a:t> </a:t>
            </a:r>
            <a:r>
              <a:rPr lang="en-US" altLang="en-US" sz="2000" dirty="0">
                <a:latin typeface="Lucida Console" panose="020B0609040504020204" pitchFamily="49" charset="0"/>
              </a:rPr>
              <a:t>false</a:t>
            </a:r>
            <a:r>
              <a:rPr lang="en-US" altLang="en-US" dirty="0"/>
              <a:t> if there is overflow and the pair cannot be added</a:t>
            </a:r>
            <a:endParaRPr lang="en-US" altLang="en-US" sz="2000" dirty="0">
              <a:latin typeface="Lucida Console" panose="020B0609040504020204" pitchFamily="49" charset="0"/>
            </a:endParaRPr>
          </a:p>
          <a:p>
            <a:pPr>
              <a:spcBef>
                <a:spcPts val="1800"/>
              </a:spcBef>
              <a:buSzPct val="120000"/>
            </a:pPr>
            <a:r>
              <a:rPr lang="en-US" altLang="en-US" sz="2000" b="1" dirty="0">
                <a:solidFill>
                  <a:schemeClr val="tx1"/>
                </a:solidFill>
                <a:latin typeface="Lucida Console" panose="020B0609040504020204" pitchFamily="49" charset="0"/>
              </a:rPr>
              <a:t>search</a:t>
            </a:r>
            <a:r>
              <a:rPr lang="en-US" altLang="en-US" sz="2000" dirty="0">
                <a:latin typeface="Lucida Console" panose="020B0609040504020204" pitchFamily="49" charset="0"/>
              </a:rPr>
              <a:t>()</a:t>
            </a:r>
            <a:r>
              <a:rPr lang="en-US" altLang="en-US" dirty="0"/>
              <a:t> and </a:t>
            </a:r>
            <a:r>
              <a:rPr lang="en-US" altLang="en-US" sz="2000" b="1" dirty="0">
                <a:latin typeface="Lucida Console" panose="020B0609040504020204" pitchFamily="49" charset="0"/>
              </a:rPr>
              <a:t>remove</a:t>
            </a:r>
            <a:r>
              <a:rPr lang="en-US" altLang="en-US" sz="2000" dirty="0">
                <a:latin typeface="Lucida Console" panose="020B0609040504020204" pitchFamily="49" charset="0"/>
              </a:rPr>
              <a:t>()</a:t>
            </a:r>
            <a:r>
              <a:rPr lang="en-US" altLang="en-US" dirty="0"/>
              <a:t> both return a </a:t>
            </a:r>
            <a:r>
              <a:rPr lang="en-US" altLang="en-US" dirty="0">
                <a:solidFill>
                  <a:srgbClr val="0000FF"/>
                </a:solidFill>
              </a:rPr>
              <a:t>queue</a:t>
            </a:r>
            <a:r>
              <a:rPr lang="en-US" altLang="en-US" dirty="0"/>
              <a:t> containing </a:t>
            </a:r>
            <a:br>
              <a:rPr lang="en-US" altLang="en-US" dirty="0"/>
            </a:br>
            <a:r>
              <a:rPr lang="en-US" altLang="en-US" dirty="0"/>
              <a:t>all of the values associated with the specified key.</a:t>
            </a:r>
          </a:p>
          <a:p>
            <a:pPr lvl="1">
              <a:lnSpc>
                <a:spcPct val="90000"/>
              </a:lnSpc>
              <a:spcBef>
                <a:spcPts val="1000"/>
              </a:spcBef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dirty="0"/>
              <a:t>example: an index for a book</a:t>
            </a:r>
          </a:p>
          <a:p>
            <a:pPr lvl="2">
              <a:lnSpc>
                <a:spcPct val="90000"/>
              </a:lnSpc>
              <a:spcBef>
                <a:spcPts val="500"/>
              </a:spcBef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2200" dirty="0"/>
              <a:t>key = word</a:t>
            </a:r>
          </a:p>
          <a:p>
            <a:pPr lvl="2">
              <a:lnSpc>
                <a:spcPct val="90000"/>
              </a:lnSpc>
              <a:spcBef>
                <a:spcPts val="500"/>
              </a:spcBef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2200" dirty="0"/>
              <a:t>values = the pages on which that word appears</a:t>
            </a:r>
            <a:endParaRPr lang="en-US" altLang="en-US" dirty="0"/>
          </a:p>
          <a:p>
            <a:pPr lvl="1">
              <a:spcBef>
                <a:spcPts val="500"/>
              </a:spcBef>
              <a:buSzPct val="120000"/>
            </a:pPr>
            <a:r>
              <a:rPr lang="en-US" altLang="en-US" dirty="0"/>
              <a:t> return </a:t>
            </a:r>
            <a:r>
              <a:rPr lang="en-US" altLang="en-US" sz="2000" dirty="0">
                <a:latin typeface="Lucida Console" panose="020B0609040504020204" pitchFamily="49" charset="0"/>
              </a:rPr>
              <a:t>null</a:t>
            </a:r>
            <a:r>
              <a:rPr lang="en-US" altLang="en-US" dirty="0"/>
              <a:t> if the key is not found</a:t>
            </a:r>
          </a:p>
        </p:txBody>
      </p:sp>
    </p:spTree>
    <p:extLst>
      <p:ext uri="{BB962C8B-B14F-4D97-AF65-F5344CB8AC3E}">
        <p14:creationId xmlns:p14="http://schemas.microsoft.com/office/powerpoint/2010/main" val="3016380894"/>
      </p:ext>
    </p:extLst>
  </p:cSld>
  <p:clrMapOvr>
    <a:masterClrMapping/>
  </p:clrMapOvr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2" y="704850"/>
            <a:ext cx="8802687" cy="5614988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600" b="1" dirty="0">
                <a:solidFill>
                  <a:srgbClr val="FF0000"/>
                </a:solidFill>
                <a:latin typeface="Lucida Console" panose="020B0609040504020204" pitchFamily="49" charset="0"/>
              </a:rPr>
              <a:t>public class </a:t>
            </a:r>
            <a:r>
              <a:rPr lang="en-US" altLang="en-US" sz="1600" b="1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OpenHashTable</a:t>
            </a:r>
            <a:r>
              <a:rPr lang="en-US" altLang="en-US" sz="1600" b="1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1600" b="1" dirty="0">
                <a:solidFill>
                  <a:srgbClr val="008000"/>
                </a:solidFill>
                <a:latin typeface="Lucida Console" panose="020B0609040504020204" pitchFamily="49" charset="0"/>
              </a:rPr>
              <a:t>… </a:t>
            </a:r>
            <a:r>
              <a:rPr lang="en-US" altLang="en-US" sz="1600" b="1" dirty="0">
                <a:solidFill>
                  <a:srgbClr val="FF0000"/>
                </a:solidFill>
                <a:latin typeface="Lucida Console" panose="020B0609040504020204" pitchFamily="49" charset="0"/>
              </a:rPr>
              <a:t>{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600" dirty="0">
                <a:solidFill>
                  <a:schemeClr val="accent2"/>
                </a:solidFill>
                <a:latin typeface="Lucida Console" panose="020B0609040504020204" pitchFamily="49" charset="0"/>
              </a:rPr>
              <a:t>    </a:t>
            </a:r>
            <a:endParaRPr lang="en-US" altLang="en-US" sz="1600" b="1" dirty="0">
              <a:solidFill>
                <a:schemeClr val="accent2"/>
              </a:solidFill>
              <a:latin typeface="Lucida Console" panose="020B0609040504020204" pitchFamily="49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600" b="1" dirty="0">
                <a:solidFill>
                  <a:schemeClr val="accent2"/>
                </a:solidFill>
                <a:latin typeface="Lucida Console" panose="020B0609040504020204" pitchFamily="49" charset="0"/>
              </a:rPr>
              <a:t>        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600" b="1" dirty="0">
                <a:solidFill>
                  <a:schemeClr val="accent2"/>
                </a:solidFill>
                <a:latin typeface="Lucida Console" panose="020B0609040504020204" pitchFamily="49" charset="0"/>
              </a:rPr>
              <a:t>        </a:t>
            </a:r>
          </a:p>
          <a:p>
            <a:pPr>
              <a:lnSpc>
                <a:spcPct val="5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600" b="1" dirty="0">
                <a:solidFill>
                  <a:schemeClr val="accent2"/>
                </a:solidFill>
                <a:latin typeface="Lucida Console" panose="020B0609040504020204" pitchFamily="49" charset="0"/>
              </a:rPr>
              <a:t>        …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600" b="1" dirty="0">
                <a:solidFill>
                  <a:schemeClr val="accent2"/>
                </a:solidFill>
                <a:latin typeface="Lucida Console" panose="020B0609040504020204" pitchFamily="49" charset="0"/>
              </a:rPr>
              <a:t>    </a:t>
            </a:r>
          </a:p>
          <a:p>
            <a:pPr>
              <a:lnSpc>
                <a:spcPct val="5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600" dirty="0">
                <a:solidFill>
                  <a:schemeClr val="tx1"/>
                </a:solidFill>
                <a:latin typeface="Lucida Console" panose="020B0609040504020204" pitchFamily="49" charset="0"/>
              </a:rPr>
              <a:t>    …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600" dirty="0">
                <a:solidFill>
                  <a:srgbClr val="FF0000"/>
                </a:solidFill>
                <a:latin typeface="Lucida Console" panose="020B0609040504020204" pitchFamily="49" charset="0"/>
              </a:rPr>
              <a:t>    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600" dirty="0">
                <a:solidFill>
                  <a:srgbClr val="FF0000"/>
                </a:solidFill>
                <a:latin typeface="Lucida Console" panose="020B0609040504020204" pitchFamily="49" charset="0"/>
              </a:rPr>
              <a:t>    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600" b="1" dirty="0">
                <a:solidFill>
                  <a:srgbClr val="FF0000"/>
                </a:solidFill>
                <a:latin typeface="Lucida Console" panose="020B0609040504020204" pitchFamily="49" charset="0"/>
              </a:rPr>
              <a:t>}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endParaRPr lang="en-US" altLang="en-US" sz="160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>
              <a:lnSpc>
                <a:spcPct val="90000"/>
              </a:lnSpc>
              <a:spcBef>
                <a:spcPts val="1000"/>
              </a:spcBef>
              <a:buFontTx/>
              <a:buChar char="•"/>
              <a:tabLst>
                <a:tab pos="344488" algn="l"/>
                <a:tab pos="569913" algn="l"/>
                <a:tab pos="688975" algn="l"/>
              </a:tabLst>
            </a:pPr>
            <a:endParaRPr lang="en-US" altLang="en-US" dirty="0">
              <a:solidFill>
                <a:srgbClr val="FF0000"/>
              </a:solidFill>
            </a:endParaRPr>
          </a:p>
          <a:p>
            <a:pPr>
              <a:lnSpc>
                <a:spcPct val="90000"/>
              </a:lnSpc>
              <a:spcBef>
                <a:spcPts val="1000"/>
              </a:spcBef>
              <a:buFontTx/>
              <a:buChar char="•"/>
              <a:tabLst>
                <a:tab pos="344488" algn="l"/>
                <a:tab pos="569913" algn="l"/>
                <a:tab pos="688975" algn="l"/>
              </a:tabLst>
            </a:pPr>
            <a:endParaRPr lang="en-US" altLang="en-US" dirty="0"/>
          </a:p>
          <a:p>
            <a:pPr>
              <a:lnSpc>
                <a:spcPct val="90000"/>
              </a:lnSpc>
              <a:spcBef>
                <a:spcPts val="1000"/>
              </a:spcBef>
              <a:buFontTx/>
              <a:buChar char="•"/>
              <a:tabLst>
                <a:tab pos="344488" algn="l"/>
                <a:tab pos="569913" algn="l"/>
                <a:tab pos="688975" algn="l"/>
              </a:tabLst>
            </a:pPr>
            <a:endParaRPr lang="en-US" altLang="en-US" dirty="0"/>
          </a:p>
          <a:p>
            <a:pPr>
              <a:lnSpc>
                <a:spcPct val="90000"/>
              </a:lnSpc>
              <a:spcBef>
                <a:spcPts val="1000"/>
              </a:spcBef>
              <a:buFontTx/>
              <a:buChar char="•"/>
              <a:tabLst>
                <a:tab pos="344488" algn="l"/>
                <a:tab pos="569913" algn="l"/>
                <a:tab pos="688975" algn="l"/>
              </a:tabLst>
            </a:pPr>
            <a:endParaRPr lang="en-US" altLang="en-US" dirty="0"/>
          </a:p>
          <a:p>
            <a:pPr marL="0" indent="0">
              <a:lnSpc>
                <a:spcPct val="90000"/>
              </a:lnSpc>
              <a:spcBef>
                <a:spcPts val="1000"/>
              </a:spcBef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dirty="0"/>
              <a:t> </a:t>
            </a:r>
          </a:p>
        </p:txBody>
      </p:sp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258763" y="-63500"/>
            <a:ext cx="8683625" cy="847725"/>
          </a:xfrm>
        </p:spPr>
        <p:txBody>
          <a:bodyPr/>
          <a:lstStyle/>
          <a:p>
            <a:r>
              <a:rPr lang="en-US" altLang="en-US" dirty="0"/>
              <a:t>An Implementation Using Open Addressing</a:t>
            </a:r>
            <a:endParaRPr lang="en-US" altLang="en-US" sz="1600" dirty="0"/>
          </a:p>
        </p:txBody>
      </p:sp>
      <p:graphicFrame>
        <p:nvGraphicFramePr>
          <p:cNvPr id="2245637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3788224"/>
              </p:ext>
            </p:extLst>
          </p:nvPr>
        </p:nvGraphicFramePr>
        <p:xfrm>
          <a:off x="2686050" y="2834956"/>
          <a:ext cx="2097088" cy="1830388"/>
        </p:xfrm>
        <a:graphic>
          <a:graphicData uri="http://schemas.openxmlformats.org/drawingml/2006/table">
            <a:tbl>
              <a:tblPr/>
              <a:tblGrid>
                <a:gridCol w="105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61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0</a:t>
                      </a:r>
                    </a:p>
                  </a:txBody>
                  <a:tcPr marL="0" marR="64008" marT="0" marB="0"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</a:t>
                      </a:r>
                    </a:p>
                  </a:txBody>
                  <a:tcPr marL="0" marR="64008" marT="0" marB="0"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</a:t>
                      </a:r>
                    </a:p>
                  </a:txBody>
                  <a:tcPr marL="0" marR="64008" marT="0" marB="0"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null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3</a:t>
                      </a:r>
                    </a:p>
                  </a:txBody>
                  <a:tcPr marL="0" marR="64008" marT="0" marB="0"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null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4</a:t>
                      </a:r>
                    </a:p>
                  </a:txBody>
                  <a:tcPr marL="0" marR="64008" marT="0" marB="0"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null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…</a:t>
                      </a:r>
                    </a:p>
                  </a:txBody>
                  <a:tcPr marL="0" marR="64008" marT="0" marB="0"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…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8394" name="Line 33"/>
          <p:cNvSpPr>
            <a:spLocks noChangeShapeType="1"/>
          </p:cNvSpPr>
          <p:nvPr/>
        </p:nvSpPr>
        <p:spPr bwMode="auto">
          <a:xfrm>
            <a:off x="5740400" y="2669856"/>
            <a:ext cx="78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endParaRPr lang="en-US"/>
          </a:p>
        </p:txBody>
      </p:sp>
      <p:graphicFrame>
        <p:nvGraphicFramePr>
          <p:cNvPr id="2245666" name="Group 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2525702"/>
              </p:ext>
            </p:extLst>
          </p:nvPr>
        </p:nvGraphicFramePr>
        <p:xfrm>
          <a:off x="5316538" y="2292031"/>
          <a:ext cx="811212" cy="501650"/>
        </p:xfrm>
        <a:graphic>
          <a:graphicData uri="http://schemas.openxmlformats.org/drawingml/2006/table">
            <a:tbl>
              <a:tblPr/>
              <a:tblGrid>
                <a:gridCol w="8112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0825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  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  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245676" name="Group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9225157"/>
              </p:ext>
            </p:extLst>
          </p:nvPr>
        </p:nvGraphicFramePr>
        <p:xfrm>
          <a:off x="6532563" y="2604768"/>
          <a:ext cx="811212" cy="457200"/>
        </p:xfrm>
        <a:graphic>
          <a:graphicData uri="http://schemas.openxmlformats.org/drawingml/2006/table">
            <a:tbl>
              <a:tblPr/>
              <a:tblGrid>
                <a:gridCol w="8112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LLQueue</a:t>
                      </a:r>
                      <a:b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</a:b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object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CC0099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rgbClr val="CC0099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rgbClr val="CC0099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rgbClr val="CC0099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8413" name="Line 52"/>
          <p:cNvSpPr>
            <a:spLocks noChangeShapeType="1"/>
          </p:cNvSpPr>
          <p:nvPr/>
        </p:nvSpPr>
        <p:spPr bwMode="auto">
          <a:xfrm flipV="1">
            <a:off x="4243388" y="2660331"/>
            <a:ext cx="1077912" cy="3460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endParaRPr lang="en-US"/>
          </a:p>
        </p:txBody>
      </p:sp>
      <p:sp>
        <p:nvSpPr>
          <p:cNvPr id="58414" name="Line 53"/>
          <p:cNvSpPr>
            <a:spLocks noChangeShapeType="1"/>
          </p:cNvSpPr>
          <p:nvPr/>
        </p:nvSpPr>
        <p:spPr bwMode="auto">
          <a:xfrm>
            <a:off x="2640013" y="3131818"/>
            <a:ext cx="10874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endParaRPr lang="en-US"/>
          </a:p>
        </p:txBody>
      </p:sp>
      <p:graphicFrame>
        <p:nvGraphicFramePr>
          <p:cNvPr id="2245686" name="Group 5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8578055"/>
              </p:ext>
            </p:extLst>
          </p:nvPr>
        </p:nvGraphicFramePr>
        <p:xfrm>
          <a:off x="6529388" y="2277743"/>
          <a:ext cx="811212" cy="244475"/>
        </p:xfrm>
        <a:graphic>
          <a:graphicData uri="http://schemas.openxmlformats.org/drawingml/2006/table">
            <a:tbl>
              <a:tblPr/>
              <a:tblGrid>
                <a:gridCol w="8112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44475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"ant"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8421" name="Line 60"/>
          <p:cNvSpPr>
            <a:spLocks noChangeShapeType="1"/>
          </p:cNvSpPr>
          <p:nvPr/>
        </p:nvSpPr>
        <p:spPr bwMode="auto">
          <a:xfrm>
            <a:off x="5735638" y="2407918"/>
            <a:ext cx="78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endParaRPr lang="en-US"/>
          </a:p>
        </p:txBody>
      </p:sp>
      <p:sp>
        <p:nvSpPr>
          <p:cNvPr id="58422" name="Line 61"/>
          <p:cNvSpPr>
            <a:spLocks noChangeShapeType="1"/>
          </p:cNvSpPr>
          <p:nvPr/>
        </p:nvSpPr>
        <p:spPr bwMode="auto">
          <a:xfrm>
            <a:off x="5735638" y="3565206"/>
            <a:ext cx="78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endParaRPr lang="en-US"/>
          </a:p>
        </p:txBody>
      </p:sp>
      <p:graphicFrame>
        <p:nvGraphicFramePr>
          <p:cNvPr id="2245694" name="Group 6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3814601"/>
              </p:ext>
            </p:extLst>
          </p:nvPr>
        </p:nvGraphicFramePr>
        <p:xfrm>
          <a:off x="6524625" y="3173093"/>
          <a:ext cx="811213" cy="244475"/>
        </p:xfrm>
        <a:graphic>
          <a:graphicData uri="http://schemas.openxmlformats.org/drawingml/2006/table">
            <a:tbl>
              <a:tblPr/>
              <a:tblGrid>
                <a:gridCol w="8112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44475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"ape"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8429" name="Line 68"/>
          <p:cNvSpPr>
            <a:spLocks noChangeShapeType="1"/>
          </p:cNvSpPr>
          <p:nvPr/>
        </p:nvSpPr>
        <p:spPr bwMode="auto">
          <a:xfrm>
            <a:off x="5730875" y="3303268"/>
            <a:ext cx="78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endParaRPr lang="en-US"/>
          </a:p>
        </p:txBody>
      </p:sp>
      <p:sp>
        <p:nvSpPr>
          <p:cNvPr id="58430" name="Line 69"/>
          <p:cNvSpPr>
            <a:spLocks noChangeShapeType="1"/>
          </p:cNvSpPr>
          <p:nvPr/>
        </p:nvSpPr>
        <p:spPr bwMode="auto">
          <a:xfrm>
            <a:off x="4246563" y="3293743"/>
            <a:ext cx="1063625" cy="25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endParaRPr lang="en-US"/>
          </a:p>
        </p:txBody>
      </p:sp>
      <p:graphicFrame>
        <p:nvGraphicFramePr>
          <p:cNvPr id="2245724" name="Group 9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3794401"/>
              </p:ext>
            </p:extLst>
          </p:nvPr>
        </p:nvGraphicFramePr>
        <p:xfrm>
          <a:off x="5311775" y="3187381"/>
          <a:ext cx="811213" cy="501650"/>
        </p:xfrm>
        <a:graphic>
          <a:graphicData uri="http://schemas.openxmlformats.org/drawingml/2006/table">
            <a:tbl>
              <a:tblPr/>
              <a:tblGrid>
                <a:gridCol w="8112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0825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  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  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245734" name="Group 10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3850359"/>
              </p:ext>
            </p:extLst>
          </p:nvPr>
        </p:nvGraphicFramePr>
        <p:xfrm>
          <a:off x="989013" y="3006406"/>
          <a:ext cx="1992312" cy="519112"/>
        </p:xfrm>
        <a:graphic>
          <a:graphicData uri="http://schemas.openxmlformats.org/drawingml/2006/table">
            <a:tbl>
              <a:tblPr/>
              <a:tblGrid>
                <a:gridCol w="1247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45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1300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table</a:t>
                      </a:r>
                    </a:p>
                  </a:txBody>
                  <a:tcPr marL="0" marR="64008" marT="0" marB="0" anchor="ctr" horzOverflow="overflow">
                    <a:lnL cap="flat">
                      <a:noFill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7812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probeType</a:t>
                      </a:r>
                    </a:p>
                  </a:txBody>
                  <a:tcPr marL="0" marR="64008" marT="0" marB="0" anchor="ctr" horzOverflow="overflow">
                    <a:lnL cap="flat">
                      <a:noFill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LINEAR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3" name="Group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1440093"/>
              </p:ext>
            </p:extLst>
          </p:nvPr>
        </p:nvGraphicFramePr>
        <p:xfrm>
          <a:off x="6532563" y="3487418"/>
          <a:ext cx="811212" cy="457200"/>
        </p:xfrm>
        <a:graphic>
          <a:graphicData uri="http://schemas.openxmlformats.org/drawingml/2006/table">
            <a:tbl>
              <a:tblPr/>
              <a:tblGrid>
                <a:gridCol w="8112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LLQueue</a:t>
                      </a:r>
                      <a:b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</a:b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object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CC0099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rgbClr val="CC0099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rgbClr val="CC0099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rgbClr val="CC0099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1636982"/>
      </p:ext>
    </p:extLst>
  </p:cSld>
  <p:clrMapOvr>
    <a:masterClrMapping/>
  </p:clrMapOvr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2" y="704850"/>
            <a:ext cx="8802687" cy="5614988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600" b="1" dirty="0">
                <a:solidFill>
                  <a:srgbClr val="FF0000"/>
                </a:solidFill>
                <a:latin typeface="Lucida Console" panose="020B0609040504020204" pitchFamily="49" charset="0"/>
              </a:rPr>
              <a:t>public class </a:t>
            </a:r>
            <a:r>
              <a:rPr lang="en-US" altLang="en-US" sz="1600" b="1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OpenHashTable</a:t>
            </a:r>
            <a:r>
              <a:rPr lang="en-US" altLang="en-US" sz="1600" b="1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1600" b="1" dirty="0">
                <a:solidFill>
                  <a:srgbClr val="008000"/>
                </a:solidFill>
                <a:latin typeface="Lucida Console" panose="020B0609040504020204" pitchFamily="49" charset="0"/>
              </a:rPr>
              <a:t>… </a:t>
            </a:r>
            <a:r>
              <a:rPr lang="en-US" altLang="en-US" sz="1600" b="1" dirty="0">
                <a:solidFill>
                  <a:srgbClr val="FF0000"/>
                </a:solidFill>
                <a:latin typeface="Lucida Console" panose="020B0609040504020204" pitchFamily="49" charset="0"/>
              </a:rPr>
              <a:t>{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600" dirty="0">
                <a:solidFill>
                  <a:schemeClr val="accent2"/>
                </a:solidFill>
                <a:latin typeface="Lucida Console" panose="020B0609040504020204" pitchFamily="49" charset="0"/>
              </a:rPr>
              <a:t>    </a:t>
            </a:r>
            <a:endParaRPr lang="en-US" altLang="en-US" sz="1600" b="1" dirty="0">
              <a:solidFill>
                <a:schemeClr val="accent2"/>
              </a:solidFill>
              <a:latin typeface="Lucida Console" panose="020B0609040504020204" pitchFamily="49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600" b="1" dirty="0">
                <a:solidFill>
                  <a:schemeClr val="accent2"/>
                </a:solidFill>
                <a:latin typeface="Lucida Console" panose="020B0609040504020204" pitchFamily="49" charset="0"/>
              </a:rPr>
              <a:t>        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600" b="1" dirty="0">
                <a:solidFill>
                  <a:schemeClr val="accent2"/>
                </a:solidFill>
                <a:latin typeface="Lucida Console" panose="020B0609040504020204" pitchFamily="49" charset="0"/>
              </a:rPr>
              <a:t>        </a:t>
            </a:r>
          </a:p>
          <a:p>
            <a:pPr>
              <a:lnSpc>
                <a:spcPct val="5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600" b="1" dirty="0">
                <a:solidFill>
                  <a:schemeClr val="accent2"/>
                </a:solidFill>
                <a:latin typeface="Lucida Console" panose="020B0609040504020204" pitchFamily="49" charset="0"/>
              </a:rPr>
              <a:t>        …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600" b="1" dirty="0">
                <a:solidFill>
                  <a:schemeClr val="accent2"/>
                </a:solidFill>
                <a:latin typeface="Lucida Console" panose="020B0609040504020204" pitchFamily="49" charset="0"/>
              </a:rPr>
              <a:t>    </a:t>
            </a:r>
          </a:p>
          <a:p>
            <a:pPr>
              <a:lnSpc>
                <a:spcPct val="5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600" dirty="0">
                <a:solidFill>
                  <a:schemeClr val="tx1"/>
                </a:solidFill>
                <a:latin typeface="Lucida Console" panose="020B0609040504020204" pitchFamily="49" charset="0"/>
              </a:rPr>
              <a:t>    …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600" dirty="0">
                <a:solidFill>
                  <a:srgbClr val="FF0000"/>
                </a:solidFill>
                <a:latin typeface="Lucida Console" panose="020B0609040504020204" pitchFamily="49" charset="0"/>
              </a:rPr>
              <a:t>    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600" dirty="0">
                <a:solidFill>
                  <a:srgbClr val="FF0000"/>
                </a:solidFill>
                <a:latin typeface="Lucida Console" panose="020B0609040504020204" pitchFamily="49" charset="0"/>
              </a:rPr>
              <a:t>    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600" b="1" dirty="0">
                <a:solidFill>
                  <a:srgbClr val="FF0000"/>
                </a:solidFill>
                <a:latin typeface="Lucida Console" panose="020B0609040504020204" pitchFamily="49" charset="0"/>
              </a:rPr>
              <a:t>}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endParaRPr lang="en-US" altLang="en-US" sz="160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>
              <a:lnSpc>
                <a:spcPct val="90000"/>
              </a:lnSpc>
              <a:spcBef>
                <a:spcPts val="1000"/>
              </a:spcBef>
              <a:buFontTx/>
              <a:buChar char="•"/>
              <a:tabLst>
                <a:tab pos="344488" algn="l"/>
                <a:tab pos="569913" algn="l"/>
                <a:tab pos="688975" algn="l"/>
              </a:tabLst>
            </a:pPr>
            <a:endParaRPr lang="en-US" altLang="en-US" dirty="0">
              <a:solidFill>
                <a:srgbClr val="FF0000"/>
              </a:solidFill>
            </a:endParaRPr>
          </a:p>
          <a:p>
            <a:pPr>
              <a:lnSpc>
                <a:spcPct val="90000"/>
              </a:lnSpc>
              <a:spcBef>
                <a:spcPts val="1000"/>
              </a:spcBef>
              <a:buFontTx/>
              <a:buChar char="•"/>
              <a:tabLst>
                <a:tab pos="344488" algn="l"/>
                <a:tab pos="569913" algn="l"/>
                <a:tab pos="688975" algn="l"/>
              </a:tabLst>
            </a:pPr>
            <a:endParaRPr lang="en-US" altLang="en-US" dirty="0"/>
          </a:p>
          <a:p>
            <a:pPr>
              <a:lnSpc>
                <a:spcPct val="90000"/>
              </a:lnSpc>
              <a:spcBef>
                <a:spcPts val="1000"/>
              </a:spcBef>
              <a:buFontTx/>
              <a:buChar char="•"/>
              <a:tabLst>
                <a:tab pos="344488" algn="l"/>
                <a:tab pos="569913" algn="l"/>
                <a:tab pos="688975" algn="l"/>
              </a:tabLst>
            </a:pPr>
            <a:endParaRPr lang="en-US" altLang="en-US" dirty="0"/>
          </a:p>
          <a:p>
            <a:pPr>
              <a:lnSpc>
                <a:spcPct val="90000"/>
              </a:lnSpc>
              <a:spcBef>
                <a:spcPts val="1000"/>
              </a:spcBef>
              <a:buFontTx/>
              <a:buChar char="•"/>
              <a:tabLst>
                <a:tab pos="344488" algn="l"/>
                <a:tab pos="569913" algn="l"/>
                <a:tab pos="688975" algn="l"/>
              </a:tabLst>
            </a:pPr>
            <a:endParaRPr lang="en-US" altLang="en-US" dirty="0"/>
          </a:p>
          <a:p>
            <a:pPr marL="0" indent="0">
              <a:lnSpc>
                <a:spcPct val="90000"/>
              </a:lnSpc>
              <a:spcBef>
                <a:spcPts val="1000"/>
              </a:spcBef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dirty="0"/>
              <a:t> </a:t>
            </a:r>
          </a:p>
        </p:txBody>
      </p:sp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258763" y="-63500"/>
            <a:ext cx="8683625" cy="847725"/>
          </a:xfrm>
        </p:spPr>
        <p:txBody>
          <a:bodyPr/>
          <a:lstStyle/>
          <a:p>
            <a:r>
              <a:rPr lang="en-US" altLang="en-US" dirty="0"/>
              <a:t>An Implementation Using Open Addressing</a:t>
            </a:r>
            <a:endParaRPr lang="en-US" altLang="en-US" sz="1600" dirty="0"/>
          </a:p>
        </p:txBody>
      </p:sp>
      <p:graphicFrame>
        <p:nvGraphicFramePr>
          <p:cNvPr id="2245637" name="Group 5"/>
          <p:cNvGraphicFramePr>
            <a:graphicFrameLocks noGrp="1"/>
          </p:cNvGraphicFramePr>
          <p:nvPr/>
        </p:nvGraphicFramePr>
        <p:xfrm>
          <a:off x="2686050" y="2834956"/>
          <a:ext cx="2097088" cy="1830388"/>
        </p:xfrm>
        <a:graphic>
          <a:graphicData uri="http://schemas.openxmlformats.org/drawingml/2006/table">
            <a:tbl>
              <a:tblPr/>
              <a:tblGrid>
                <a:gridCol w="105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61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0</a:t>
                      </a:r>
                    </a:p>
                  </a:txBody>
                  <a:tcPr marL="0" marR="64008" marT="0" marB="0"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</a:t>
                      </a:r>
                    </a:p>
                  </a:txBody>
                  <a:tcPr marL="0" marR="64008" marT="0" marB="0"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</a:t>
                      </a:r>
                    </a:p>
                  </a:txBody>
                  <a:tcPr marL="0" marR="64008" marT="0" marB="0"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null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3</a:t>
                      </a:r>
                    </a:p>
                  </a:txBody>
                  <a:tcPr marL="0" marR="64008" marT="0" marB="0"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null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4</a:t>
                      </a:r>
                    </a:p>
                  </a:txBody>
                  <a:tcPr marL="0" marR="64008" marT="0" marB="0"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null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…</a:t>
                      </a:r>
                    </a:p>
                  </a:txBody>
                  <a:tcPr marL="0" marR="64008" marT="0" marB="0"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…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8394" name="Line 33"/>
          <p:cNvSpPr>
            <a:spLocks noChangeShapeType="1"/>
          </p:cNvSpPr>
          <p:nvPr/>
        </p:nvSpPr>
        <p:spPr bwMode="auto">
          <a:xfrm>
            <a:off x="5740400" y="2669856"/>
            <a:ext cx="78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endParaRPr lang="en-US"/>
          </a:p>
        </p:txBody>
      </p:sp>
      <p:graphicFrame>
        <p:nvGraphicFramePr>
          <p:cNvPr id="2245666" name="Group 34"/>
          <p:cNvGraphicFramePr>
            <a:graphicFrameLocks noGrp="1"/>
          </p:cNvGraphicFramePr>
          <p:nvPr/>
        </p:nvGraphicFramePr>
        <p:xfrm>
          <a:off x="5316538" y="2292031"/>
          <a:ext cx="811212" cy="501650"/>
        </p:xfrm>
        <a:graphic>
          <a:graphicData uri="http://schemas.openxmlformats.org/drawingml/2006/table">
            <a:tbl>
              <a:tblPr/>
              <a:tblGrid>
                <a:gridCol w="8112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0825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  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  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245676" name="Group 44"/>
          <p:cNvGraphicFramePr>
            <a:graphicFrameLocks noGrp="1"/>
          </p:cNvGraphicFramePr>
          <p:nvPr/>
        </p:nvGraphicFramePr>
        <p:xfrm>
          <a:off x="6532563" y="2604768"/>
          <a:ext cx="811212" cy="457200"/>
        </p:xfrm>
        <a:graphic>
          <a:graphicData uri="http://schemas.openxmlformats.org/drawingml/2006/table">
            <a:tbl>
              <a:tblPr/>
              <a:tblGrid>
                <a:gridCol w="8112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LLQueue</a:t>
                      </a:r>
                      <a:b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</a:b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object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CC0099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rgbClr val="CC0099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rgbClr val="CC0099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rgbClr val="CC0099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8413" name="Line 52"/>
          <p:cNvSpPr>
            <a:spLocks noChangeShapeType="1"/>
          </p:cNvSpPr>
          <p:nvPr/>
        </p:nvSpPr>
        <p:spPr bwMode="auto">
          <a:xfrm flipV="1">
            <a:off x="4243388" y="2660331"/>
            <a:ext cx="1077912" cy="3460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endParaRPr lang="en-US"/>
          </a:p>
        </p:txBody>
      </p:sp>
      <p:sp>
        <p:nvSpPr>
          <p:cNvPr id="58414" name="Line 53"/>
          <p:cNvSpPr>
            <a:spLocks noChangeShapeType="1"/>
          </p:cNvSpPr>
          <p:nvPr/>
        </p:nvSpPr>
        <p:spPr bwMode="auto">
          <a:xfrm>
            <a:off x="2640013" y="3131818"/>
            <a:ext cx="10874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endParaRPr lang="en-US"/>
          </a:p>
        </p:txBody>
      </p:sp>
      <p:graphicFrame>
        <p:nvGraphicFramePr>
          <p:cNvPr id="2245686" name="Group 54"/>
          <p:cNvGraphicFramePr>
            <a:graphicFrameLocks noGrp="1"/>
          </p:cNvGraphicFramePr>
          <p:nvPr/>
        </p:nvGraphicFramePr>
        <p:xfrm>
          <a:off x="6529388" y="2277743"/>
          <a:ext cx="811212" cy="244475"/>
        </p:xfrm>
        <a:graphic>
          <a:graphicData uri="http://schemas.openxmlformats.org/drawingml/2006/table">
            <a:tbl>
              <a:tblPr/>
              <a:tblGrid>
                <a:gridCol w="8112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44475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"ant"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8421" name="Line 60"/>
          <p:cNvSpPr>
            <a:spLocks noChangeShapeType="1"/>
          </p:cNvSpPr>
          <p:nvPr/>
        </p:nvSpPr>
        <p:spPr bwMode="auto">
          <a:xfrm>
            <a:off x="5735638" y="2407918"/>
            <a:ext cx="78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endParaRPr lang="en-US"/>
          </a:p>
        </p:txBody>
      </p:sp>
      <p:sp>
        <p:nvSpPr>
          <p:cNvPr id="58422" name="Line 61"/>
          <p:cNvSpPr>
            <a:spLocks noChangeShapeType="1"/>
          </p:cNvSpPr>
          <p:nvPr/>
        </p:nvSpPr>
        <p:spPr bwMode="auto">
          <a:xfrm>
            <a:off x="5735638" y="3565206"/>
            <a:ext cx="78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endParaRPr lang="en-US"/>
          </a:p>
        </p:txBody>
      </p:sp>
      <p:graphicFrame>
        <p:nvGraphicFramePr>
          <p:cNvPr id="2245694" name="Group 62"/>
          <p:cNvGraphicFramePr>
            <a:graphicFrameLocks noGrp="1"/>
          </p:cNvGraphicFramePr>
          <p:nvPr/>
        </p:nvGraphicFramePr>
        <p:xfrm>
          <a:off x="6524625" y="3173093"/>
          <a:ext cx="811213" cy="244475"/>
        </p:xfrm>
        <a:graphic>
          <a:graphicData uri="http://schemas.openxmlformats.org/drawingml/2006/table">
            <a:tbl>
              <a:tblPr/>
              <a:tblGrid>
                <a:gridCol w="8112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44475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"ape"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8429" name="Line 68"/>
          <p:cNvSpPr>
            <a:spLocks noChangeShapeType="1"/>
          </p:cNvSpPr>
          <p:nvPr/>
        </p:nvSpPr>
        <p:spPr bwMode="auto">
          <a:xfrm>
            <a:off x="5730875" y="3303268"/>
            <a:ext cx="78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endParaRPr lang="en-US"/>
          </a:p>
        </p:txBody>
      </p:sp>
      <p:sp>
        <p:nvSpPr>
          <p:cNvPr id="58430" name="Line 69"/>
          <p:cNvSpPr>
            <a:spLocks noChangeShapeType="1"/>
          </p:cNvSpPr>
          <p:nvPr/>
        </p:nvSpPr>
        <p:spPr bwMode="auto">
          <a:xfrm>
            <a:off x="4246563" y="3293743"/>
            <a:ext cx="1063625" cy="25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endParaRPr lang="en-US"/>
          </a:p>
        </p:txBody>
      </p:sp>
      <p:graphicFrame>
        <p:nvGraphicFramePr>
          <p:cNvPr id="2245724" name="Group 92"/>
          <p:cNvGraphicFramePr>
            <a:graphicFrameLocks noGrp="1"/>
          </p:cNvGraphicFramePr>
          <p:nvPr/>
        </p:nvGraphicFramePr>
        <p:xfrm>
          <a:off x="5311775" y="3187381"/>
          <a:ext cx="811213" cy="501650"/>
        </p:xfrm>
        <a:graphic>
          <a:graphicData uri="http://schemas.openxmlformats.org/drawingml/2006/table">
            <a:tbl>
              <a:tblPr/>
              <a:tblGrid>
                <a:gridCol w="8112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0825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  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  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245734" name="Group 102"/>
          <p:cNvGraphicFramePr>
            <a:graphicFrameLocks noGrp="1"/>
          </p:cNvGraphicFramePr>
          <p:nvPr/>
        </p:nvGraphicFramePr>
        <p:xfrm>
          <a:off x="989013" y="3006406"/>
          <a:ext cx="1992312" cy="519112"/>
        </p:xfrm>
        <a:graphic>
          <a:graphicData uri="http://schemas.openxmlformats.org/drawingml/2006/table">
            <a:tbl>
              <a:tblPr/>
              <a:tblGrid>
                <a:gridCol w="1247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45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1300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table</a:t>
                      </a:r>
                    </a:p>
                  </a:txBody>
                  <a:tcPr marL="0" marR="64008" marT="0" marB="0" anchor="ctr" horzOverflow="overflow">
                    <a:lnL cap="flat">
                      <a:noFill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7812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probeType</a:t>
                      </a:r>
                    </a:p>
                  </a:txBody>
                  <a:tcPr marL="0" marR="64008" marT="0" marB="0" anchor="ctr" horzOverflow="overflow">
                    <a:lnL cap="flat">
                      <a:noFill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LINEAR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3" name="Group 44"/>
          <p:cNvGraphicFramePr>
            <a:graphicFrameLocks noGrp="1"/>
          </p:cNvGraphicFramePr>
          <p:nvPr/>
        </p:nvGraphicFramePr>
        <p:xfrm>
          <a:off x="6532563" y="3487418"/>
          <a:ext cx="811212" cy="457200"/>
        </p:xfrm>
        <a:graphic>
          <a:graphicData uri="http://schemas.openxmlformats.org/drawingml/2006/table">
            <a:tbl>
              <a:tblPr/>
              <a:tblGrid>
                <a:gridCol w="8112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LLQueue</a:t>
                      </a:r>
                      <a:b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</a:b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object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CC0099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rgbClr val="CC0099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rgbClr val="CC0099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rgbClr val="CC0099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77F28640-5739-42F6-A4C9-A87515DEEAE4}"/>
              </a:ext>
            </a:extLst>
          </p:cNvPr>
          <p:cNvSpPr txBox="1"/>
          <p:nvPr/>
        </p:nvSpPr>
        <p:spPr>
          <a:xfrm>
            <a:off x="1849438" y="3652198"/>
            <a:ext cx="1581150" cy="64633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0000FF"/>
                </a:solidFill>
              </a:rPr>
              <a:t>OpenHashTable</a:t>
            </a:r>
            <a:endParaRPr lang="en-US" dirty="0">
              <a:solidFill>
                <a:srgbClr val="0000FF"/>
              </a:solidFill>
            </a:endParaRPr>
          </a:p>
          <a:p>
            <a:r>
              <a:rPr lang="en-US" i="1" dirty="0">
                <a:solidFill>
                  <a:srgbClr val="0000FF"/>
                </a:solidFill>
              </a:rPr>
              <a:t>object</a:t>
            </a:r>
          </a:p>
        </p:txBody>
      </p:sp>
    </p:spTree>
    <p:extLst>
      <p:ext uri="{BB962C8B-B14F-4D97-AF65-F5344CB8AC3E}">
        <p14:creationId xmlns:p14="http://schemas.microsoft.com/office/powerpoint/2010/main" val="2522263339"/>
      </p:ext>
    </p:extLst>
  </p:cSld>
  <p:clrMapOvr>
    <a:masterClrMapping/>
  </p:clrMapOvr>
</p:sld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2" y="704850"/>
            <a:ext cx="8802687" cy="5614988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600" b="1" dirty="0">
                <a:solidFill>
                  <a:srgbClr val="FF0000"/>
                </a:solidFill>
                <a:latin typeface="Lucida Console" panose="020B0609040504020204" pitchFamily="49" charset="0"/>
              </a:rPr>
              <a:t>public class </a:t>
            </a:r>
            <a:r>
              <a:rPr lang="en-US" altLang="en-US" sz="1600" b="1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OpenHashTable</a:t>
            </a:r>
            <a:r>
              <a:rPr lang="en-US" altLang="en-US" sz="1600" b="1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1600" b="1" dirty="0">
                <a:solidFill>
                  <a:srgbClr val="008000"/>
                </a:solidFill>
                <a:latin typeface="Lucida Console" panose="020B0609040504020204" pitchFamily="49" charset="0"/>
              </a:rPr>
              <a:t>… </a:t>
            </a:r>
            <a:r>
              <a:rPr lang="en-US" altLang="en-US" sz="1600" b="1" dirty="0">
                <a:solidFill>
                  <a:srgbClr val="FF0000"/>
                </a:solidFill>
                <a:latin typeface="Lucida Console" panose="020B0609040504020204" pitchFamily="49" charset="0"/>
              </a:rPr>
              <a:t>{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600" dirty="0">
                <a:solidFill>
                  <a:schemeClr val="accent2"/>
                </a:solidFill>
                <a:latin typeface="Lucida Console" panose="020B0609040504020204" pitchFamily="49" charset="0"/>
              </a:rPr>
              <a:t>    </a:t>
            </a:r>
            <a:endParaRPr lang="en-US" altLang="en-US" sz="1600" b="1" dirty="0">
              <a:solidFill>
                <a:schemeClr val="accent2"/>
              </a:solidFill>
              <a:latin typeface="Lucida Console" panose="020B0609040504020204" pitchFamily="49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600" b="1" dirty="0">
                <a:solidFill>
                  <a:schemeClr val="accent2"/>
                </a:solidFill>
                <a:latin typeface="Lucida Console" panose="020B0609040504020204" pitchFamily="49" charset="0"/>
              </a:rPr>
              <a:t>        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600" b="1" dirty="0">
                <a:solidFill>
                  <a:schemeClr val="accent2"/>
                </a:solidFill>
                <a:latin typeface="Lucida Console" panose="020B0609040504020204" pitchFamily="49" charset="0"/>
              </a:rPr>
              <a:t>        </a:t>
            </a:r>
          </a:p>
          <a:p>
            <a:pPr>
              <a:lnSpc>
                <a:spcPct val="5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600" b="1" dirty="0">
                <a:solidFill>
                  <a:schemeClr val="accent2"/>
                </a:solidFill>
                <a:latin typeface="Lucida Console" panose="020B0609040504020204" pitchFamily="49" charset="0"/>
              </a:rPr>
              <a:t>        …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600" b="1" dirty="0">
                <a:solidFill>
                  <a:schemeClr val="accent2"/>
                </a:solidFill>
                <a:latin typeface="Lucida Console" panose="020B0609040504020204" pitchFamily="49" charset="0"/>
              </a:rPr>
              <a:t>    </a:t>
            </a:r>
          </a:p>
          <a:p>
            <a:pPr>
              <a:lnSpc>
                <a:spcPct val="5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600" dirty="0">
                <a:solidFill>
                  <a:schemeClr val="tx1"/>
                </a:solidFill>
                <a:latin typeface="Lucida Console" panose="020B0609040504020204" pitchFamily="49" charset="0"/>
              </a:rPr>
              <a:t>    …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600" dirty="0">
                <a:solidFill>
                  <a:srgbClr val="FF0000"/>
                </a:solidFill>
                <a:latin typeface="Lucida Console" panose="020B0609040504020204" pitchFamily="49" charset="0"/>
              </a:rPr>
              <a:t>    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600" dirty="0">
                <a:solidFill>
                  <a:srgbClr val="FF0000"/>
                </a:solidFill>
                <a:latin typeface="Lucida Console" panose="020B0609040504020204" pitchFamily="49" charset="0"/>
              </a:rPr>
              <a:t>    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600" b="1" dirty="0">
                <a:solidFill>
                  <a:srgbClr val="FF0000"/>
                </a:solidFill>
                <a:latin typeface="Lucida Console" panose="020B0609040504020204" pitchFamily="49" charset="0"/>
              </a:rPr>
              <a:t>}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endParaRPr lang="en-US" altLang="en-US" sz="160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>
              <a:lnSpc>
                <a:spcPct val="90000"/>
              </a:lnSpc>
              <a:spcBef>
                <a:spcPts val="1000"/>
              </a:spcBef>
              <a:buFontTx/>
              <a:buChar char="•"/>
              <a:tabLst>
                <a:tab pos="344488" algn="l"/>
                <a:tab pos="569913" algn="l"/>
                <a:tab pos="688975" algn="l"/>
              </a:tabLst>
            </a:pPr>
            <a:endParaRPr lang="en-US" altLang="en-US" dirty="0">
              <a:solidFill>
                <a:srgbClr val="FF0000"/>
              </a:solidFill>
            </a:endParaRPr>
          </a:p>
          <a:p>
            <a:pPr>
              <a:lnSpc>
                <a:spcPct val="90000"/>
              </a:lnSpc>
              <a:spcBef>
                <a:spcPts val="1000"/>
              </a:spcBef>
              <a:buFontTx/>
              <a:buChar char="•"/>
              <a:tabLst>
                <a:tab pos="344488" algn="l"/>
                <a:tab pos="569913" algn="l"/>
                <a:tab pos="688975" algn="l"/>
              </a:tabLst>
            </a:pPr>
            <a:endParaRPr lang="en-US" altLang="en-US" dirty="0"/>
          </a:p>
          <a:p>
            <a:pPr>
              <a:lnSpc>
                <a:spcPct val="90000"/>
              </a:lnSpc>
              <a:spcBef>
                <a:spcPts val="1000"/>
              </a:spcBef>
              <a:buFontTx/>
              <a:buChar char="•"/>
              <a:tabLst>
                <a:tab pos="344488" algn="l"/>
                <a:tab pos="569913" algn="l"/>
                <a:tab pos="688975" algn="l"/>
              </a:tabLst>
            </a:pPr>
            <a:endParaRPr lang="en-US" altLang="en-US" dirty="0"/>
          </a:p>
          <a:p>
            <a:pPr>
              <a:lnSpc>
                <a:spcPct val="90000"/>
              </a:lnSpc>
              <a:spcBef>
                <a:spcPts val="1000"/>
              </a:spcBef>
              <a:buFontTx/>
              <a:buChar char="•"/>
              <a:tabLst>
                <a:tab pos="344488" algn="l"/>
                <a:tab pos="569913" algn="l"/>
                <a:tab pos="688975" algn="l"/>
              </a:tabLst>
            </a:pPr>
            <a:endParaRPr lang="en-US" altLang="en-US" dirty="0"/>
          </a:p>
          <a:p>
            <a:pPr marL="0" indent="0">
              <a:lnSpc>
                <a:spcPct val="90000"/>
              </a:lnSpc>
              <a:spcBef>
                <a:spcPts val="1000"/>
              </a:spcBef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dirty="0"/>
              <a:t> </a:t>
            </a:r>
          </a:p>
        </p:txBody>
      </p:sp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258763" y="-63500"/>
            <a:ext cx="8683625" cy="847725"/>
          </a:xfrm>
        </p:spPr>
        <p:txBody>
          <a:bodyPr/>
          <a:lstStyle/>
          <a:p>
            <a:r>
              <a:rPr lang="en-US" altLang="en-US" dirty="0"/>
              <a:t>An Implementation Using Open Addressing</a:t>
            </a:r>
            <a:endParaRPr lang="en-US" altLang="en-US" sz="1600" dirty="0"/>
          </a:p>
        </p:txBody>
      </p:sp>
      <p:graphicFrame>
        <p:nvGraphicFramePr>
          <p:cNvPr id="2245637" name="Group 5"/>
          <p:cNvGraphicFramePr>
            <a:graphicFrameLocks noGrp="1"/>
          </p:cNvGraphicFramePr>
          <p:nvPr/>
        </p:nvGraphicFramePr>
        <p:xfrm>
          <a:off x="2686050" y="2834956"/>
          <a:ext cx="2097088" cy="1830388"/>
        </p:xfrm>
        <a:graphic>
          <a:graphicData uri="http://schemas.openxmlformats.org/drawingml/2006/table">
            <a:tbl>
              <a:tblPr/>
              <a:tblGrid>
                <a:gridCol w="105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61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0</a:t>
                      </a:r>
                    </a:p>
                  </a:txBody>
                  <a:tcPr marL="0" marR="64008" marT="0" marB="0"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</a:t>
                      </a:r>
                    </a:p>
                  </a:txBody>
                  <a:tcPr marL="0" marR="64008" marT="0" marB="0"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</a:t>
                      </a:r>
                    </a:p>
                  </a:txBody>
                  <a:tcPr marL="0" marR="64008" marT="0" marB="0"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null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3</a:t>
                      </a:r>
                    </a:p>
                  </a:txBody>
                  <a:tcPr marL="0" marR="64008" marT="0" marB="0"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null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4</a:t>
                      </a:r>
                    </a:p>
                  </a:txBody>
                  <a:tcPr marL="0" marR="64008" marT="0" marB="0"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null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…</a:t>
                      </a:r>
                    </a:p>
                  </a:txBody>
                  <a:tcPr marL="0" marR="64008" marT="0" marB="0"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…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8394" name="Line 33"/>
          <p:cNvSpPr>
            <a:spLocks noChangeShapeType="1"/>
          </p:cNvSpPr>
          <p:nvPr/>
        </p:nvSpPr>
        <p:spPr bwMode="auto">
          <a:xfrm>
            <a:off x="5740400" y="2669856"/>
            <a:ext cx="78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endParaRPr lang="en-US"/>
          </a:p>
        </p:txBody>
      </p:sp>
      <p:graphicFrame>
        <p:nvGraphicFramePr>
          <p:cNvPr id="2245666" name="Group 34"/>
          <p:cNvGraphicFramePr>
            <a:graphicFrameLocks noGrp="1"/>
          </p:cNvGraphicFramePr>
          <p:nvPr/>
        </p:nvGraphicFramePr>
        <p:xfrm>
          <a:off x="5316538" y="2292031"/>
          <a:ext cx="811212" cy="501650"/>
        </p:xfrm>
        <a:graphic>
          <a:graphicData uri="http://schemas.openxmlformats.org/drawingml/2006/table">
            <a:tbl>
              <a:tblPr/>
              <a:tblGrid>
                <a:gridCol w="8112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0825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  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  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245676" name="Group 44"/>
          <p:cNvGraphicFramePr>
            <a:graphicFrameLocks noGrp="1"/>
          </p:cNvGraphicFramePr>
          <p:nvPr/>
        </p:nvGraphicFramePr>
        <p:xfrm>
          <a:off x="6532563" y="2604768"/>
          <a:ext cx="811212" cy="457200"/>
        </p:xfrm>
        <a:graphic>
          <a:graphicData uri="http://schemas.openxmlformats.org/drawingml/2006/table">
            <a:tbl>
              <a:tblPr/>
              <a:tblGrid>
                <a:gridCol w="8112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LLQueue</a:t>
                      </a:r>
                      <a:b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</a:b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object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CC0099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rgbClr val="CC0099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rgbClr val="CC0099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rgbClr val="CC0099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8413" name="Line 52"/>
          <p:cNvSpPr>
            <a:spLocks noChangeShapeType="1"/>
          </p:cNvSpPr>
          <p:nvPr/>
        </p:nvSpPr>
        <p:spPr bwMode="auto">
          <a:xfrm flipV="1">
            <a:off x="4243388" y="2660331"/>
            <a:ext cx="1077912" cy="3460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endParaRPr lang="en-US"/>
          </a:p>
        </p:txBody>
      </p:sp>
      <p:sp>
        <p:nvSpPr>
          <p:cNvPr id="58414" name="Line 53"/>
          <p:cNvSpPr>
            <a:spLocks noChangeShapeType="1"/>
          </p:cNvSpPr>
          <p:nvPr/>
        </p:nvSpPr>
        <p:spPr bwMode="auto">
          <a:xfrm>
            <a:off x="2640013" y="3131818"/>
            <a:ext cx="10874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endParaRPr lang="en-US"/>
          </a:p>
        </p:txBody>
      </p:sp>
      <p:graphicFrame>
        <p:nvGraphicFramePr>
          <p:cNvPr id="2245686" name="Group 54"/>
          <p:cNvGraphicFramePr>
            <a:graphicFrameLocks noGrp="1"/>
          </p:cNvGraphicFramePr>
          <p:nvPr/>
        </p:nvGraphicFramePr>
        <p:xfrm>
          <a:off x="6529388" y="2277743"/>
          <a:ext cx="811212" cy="244475"/>
        </p:xfrm>
        <a:graphic>
          <a:graphicData uri="http://schemas.openxmlformats.org/drawingml/2006/table">
            <a:tbl>
              <a:tblPr/>
              <a:tblGrid>
                <a:gridCol w="8112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44475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"ant"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8421" name="Line 60"/>
          <p:cNvSpPr>
            <a:spLocks noChangeShapeType="1"/>
          </p:cNvSpPr>
          <p:nvPr/>
        </p:nvSpPr>
        <p:spPr bwMode="auto">
          <a:xfrm>
            <a:off x="5735638" y="2407918"/>
            <a:ext cx="78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endParaRPr lang="en-US"/>
          </a:p>
        </p:txBody>
      </p:sp>
      <p:sp>
        <p:nvSpPr>
          <p:cNvPr id="58422" name="Line 61"/>
          <p:cNvSpPr>
            <a:spLocks noChangeShapeType="1"/>
          </p:cNvSpPr>
          <p:nvPr/>
        </p:nvSpPr>
        <p:spPr bwMode="auto">
          <a:xfrm>
            <a:off x="5735638" y="3565206"/>
            <a:ext cx="78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endParaRPr lang="en-US"/>
          </a:p>
        </p:txBody>
      </p:sp>
      <p:graphicFrame>
        <p:nvGraphicFramePr>
          <p:cNvPr id="2245694" name="Group 62"/>
          <p:cNvGraphicFramePr>
            <a:graphicFrameLocks noGrp="1"/>
          </p:cNvGraphicFramePr>
          <p:nvPr/>
        </p:nvGraphicFramePr>
        <p:xfrm>
          <a:off x="6524625" y="3173093"/>
          <a:ext cx="811213" cy="244475"/>
        </p:xfrm>
        <a:graphic>
          <a:graphicData uri="http://schemas.openxmlformats.org/drawingml/2006/table">
            <a:tbl>
              <a:tblPr/>
              <a:tblGrid>
                <a:gridCol w="8112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44475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"ape"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8429" name="Line 68"/>
          <p:cNvSpPr>
            <a:spLocks noChangeShapeType="1"/>
          </p:cNvSpPr>
          <p:nvPr/>
        </p:nvSpPr>
        <p:spPr bwMode="auto">
          <a:xfrm>
            <a:off x="5730875" y="3303268"/>
            <a:ext cx="78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endParaRPr lang="en-US"/>
          </a:p>
        </p:txBody>
      </p:sp>
      <p:sp>
        <p:nvSpPr>
          <p:cNvPr id="58430" name="Line 69"/>
          <p:cNvSpPr>
            <a:spLocks noChangeShapeType="1"/>
          </p:cNvSpPr>
          <p:nvPr/>
        </p:nvSpPr>
        <p:spPr bwMode="auto">
          <a:xfrm>
            <a:off x="4246563" y="3293743"/>
            <a:ext cx="1063625" cy="25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endParaRPr lang="en-US"/>
          </a:p>
        </p:txBody>
      </p:sp>
      <p:graphicFrame>
        <p:nvGraphicFramePr>
          <p:cNvPr id="2245724" name="Group 92"/>
          <p:cNvGraphicFramePr>
            <a:graphicFrameLocks noGrp="1"/>
          </p:cNvGraphicFramePr>
          <p:nvPr/>
        </p:nvGraphicFramePr>
        <p:xfrm>
          <a:off x="5311775" y="3187381"/>
          <a:ext cx="811213" cy="501650"/>
        </p:xfrm>
        <a:graphic>
          <a:graphicData uri="http://schemas.openxmlformats.org/drawingml/2006/table">
            <a:tbl>
              <a:tblPr/>
              <a:tblGrid>
                <a:gridCol w="8112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0825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  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  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245734" name="Group 102"/>
          <p:cNvGraphicFramePr>
            <a:graphicFrameLocks noGrp="1"/>
          </p:cNvGraphicFramePr>
          <p:nvPr/>
        </p:nvGraphicFramePr>
        <p:xfrm>
          <a:off x="989013" y="3006406"/>
          <a:ext cx="1992312" cy="519112"/>
        </p:xfrm>
        <a:graphic>
          <a:graphicData uri="http://schemas.openxmlformats.org/drawingml/2006/table">
            <a:tbl>
              <a:tblPr/>
              <a:tblGrid>
                <a:gridCol w="1247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45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1300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table</a:t>
                      </a:r>
                    </a:p>
                  </a:txBody>
                  <a:tcPr marL="0" marR="64008" marT="0" marB="0" anchor="ctr" horzOverflow="overflow">
                    <a:lnL cap="flat">
                      <a:noFill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7812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probeType</a:t>
                      </a:r>
                    </a:p>
                  </a:txBody>
                  <a:tcPr marL="0" marR="64008" marT="0" marB="0" anchor="ctr" horzOverflow="overflow">
                    <a:lnL cap="flat">
                      <a:noFill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LINEAR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3" name="Group 44"/>
          <p:cNvGraphicFramePr>
            <a:graphicFrameLocks noGrp="1"/>
          </p:cNvGraphicFramePr>
          <p:nvPr/>
        </p:nvGraphicFramePr>
        <p:xfrm>
          <a:off x="6532563" y="3487418"/>
          <a:ext cx="811212" cy="457200"/>
        </p:xfrm>
        <a:graphic>
          <a:graphicData uri="http://schemas.openxmlformats.org/drawingml/2006/table">
            <a:tbl>
              <a:tblPr/>
              <a:tblGrid>
                <a:gridCol w="8112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LLQueue</a:t>
                      </a:r>
                      <a:b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</a:b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object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CC0099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rgbClr val="CC0099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rgbClr val="CC0099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rgbClr val="CC0099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77F28640-5739-42F6-A4C9-A87515DEEAE4}"/>
              </a:ext>
            </a:extLst>
          </p:cNvPr>
          <p:cNvSpPr txBox="1"/>
          <p:nvPr/>
        </p:nvSpPr>
        <p:spPr>
          <a:xfrm>
            <a:off x="1849438" y="3680298"/>
            <a:ext cx="1581150" cy="64633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0000FF"/>
                </a:solidFill>
              </a:rPr>
              <a:t>OpenHashTable</a:t>
            </a:r>
            <a:endParaRPr lang="en-US" dirty="0">
              <a:solidFill>
                <a:srgbClr val="0000FF"/>
              </a:solidFill>
            </a:endParaRPr>
          </a:p>
          <a:p>
            <a:r>
              <a:rPr lang="en-US" i="1" dirty="0">
                <a:solidFill>
                  <a:srgbClr val="0000FF"/>
                </a:solidFill>
              </a:rPr>
              <a:t>object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7FB7612-0799-438B-B6BD-E8028A6AC470}"/>
              </a:ext>
            </a:extLst>
          </p:cNvPr>
          <p:cNvSpPr txBox="1"/>
          <p:nvPr/>
        </p:nvSpPr>
        <p:spPr>
          <a:xfrm>
            <a:off x="3326751" y="4839969"/>
            <a:ext cx="1983437" cy="92333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00FF"/>
                </a:solidFill>
              </a:rPr>
              <a:t>Array used to store the entries of our Hash Table</a:t>
            </a:r>
          </a:p>
        </p:txBody>
      </p:sp>
    </p:spTree>
    <p:extLst>
      <p:ext uri="{BB962C8B-B14F-4D97-AF65-F5344CB8AC3E}">
        <p14:creationId xmlns:p14="http://schemas.microsoft.com/office/powerpoint/2010/main" val="3435956702"/>
      </p:ext>
    </p:extLst>
  </p:cSld>
  <p:clrMapOvr>
    <a:masterClrMapping/>
  </p:clrMapOvr>
</p:sld>
</file>

<file path=ppt/slides/slide2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2" y="704850"/>
            <a:ext cx="8802687" cy="5614988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600" b="1" dirty="0">
                <a:solidFill>
                  <a:srgbClr val="FF0000"/>
                </a:solidFill>
                <a:latin typeface="Lucida Console" panose="020B0609040504020204" pitchFamily="49" charset="0"/>
              </a:rPr>
              <a:t>public class </a:t>
            </a:r>
            <a:r>
              <a:rPr lang="en-US" altLang="en-US" sz="1600" b="1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OpenHashTable</a:t>
            </a:r>
            <a:r>
              <a:rPr lang="en-US" altLang="en-US" sz="1600" b="1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1600" b="1" dirty="0">
                <a:solidFill>
                  <a:srgbClr val="008000"/>
                </a:solidFill>
                <a:latin typeface="Lucida Console" panose="020B0609040504020204" pitchFamily="49" charset="0"/>
              </a:rPr>
              <a:t>… </a:t>
            </a:r>
            <a:r>
              <a:rPr lang="en-US" altLang="en-US" sz="1600" b="1" dirty="0">
                <a:solidFill>
                  <a:srgbClr val="FF0000"/>
                </a:solidFill>
                <a:latin typeface="Lucida Console" panose="020B0609040504020204" pitchFamily="49" charset="0"/>
              </a:rPr>
              <a:t>{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600" dirty="0">
                <a:solidFill>
                  <a:schemeClr val="accent2"/>
                </a:solidFill>
                <a:latin typeface="Lucida Console" panose="020B0609040504020204" pitchFamily="49" charset="0"/>
              </a:rPr>
              <a:t>    </a:t>
            </a:r>
            <a:endParaRPr lang="en-US" altLang="en-US" sz="1600" b="1" dirty="0">
              <a:solidFill>
                <a:schemeClr val="accent2"/>
              </a:solidFill>
              <a:latin typeface="Lucida Console" panose="020B0609040504020204" pitchFamily="49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600" b="1" dirty="0">
                <a:solidFill>
                  <a:schemeClr val="accent2"/>
                </a:solidFill>
                <a:latin typeface="Lucida Console" panose="020B0609040504020204" pitchFamily="49" charset="0"/>
              </a:rPr>
              <a:t>        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600" b="1" dirty="0">
                <a:solidFill>
                  <a:schemeClr val="accent2"/>
                </a:solidFill>
                <a:latin typeface="Lucida Console" panose="020B0609040504020204" pitchFamily="49" charset="0"/>
              </a:rPr>
              <a:t>        </a:t>
            </a:r>
          </a:p>
          <a:p>
            <a:pPr>
              <a:lnSpc>
                <a:spcPct val="5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600" b="1" dirty="0">
                <a:solidFill>
                  <a:schemeClr val="accent2"/>
                </a:solidFill>
                <a:latin typeface="Lucida Console" panose="020B0609040504020204" pitchFamily="49" charset="0"/>
              </a:rPr>
              <a:t>        …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600" b="1" dirty="0">
                <a:solidFill>
                  <a:schemeClr val="accent2"/>
                </a:solidFill>
                <a:latin typeface="Lucida Console" panose="020B0609040504020204" pitchFamily="49" charset="0"/>
              </a:rPr>
              <a:t>    </a:t>
            </a:r>
          </a:p>
          <a:p>
            <a:pPr>
              <a:lnSpc>
                <a:spcPct val="5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600" dirty="0">
                <a:solidFill>
                  <a:schemeClr val="tx1"/>
                </a:solidFill>
                <a:latin typeface="Lucida Console" panose="020B0609040504020204" pitchFamily="49" charset="0"/>
              </a:rPr>
              <a:t>    …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600" dirty="0">
                <a:solidFill>
                  <a:srgbClr val="FF0000"/>
                </a:solidFill>
                <a:latin typeface="Lucida Console" panose="020B0609040504020204" pitchFamily="49" charset="0"/>
              </a:rPr>
              <a:t>    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600" dirty="0">
                <a:solidFill>
                  <a:srgbClr val="FF0000"/>
                </a:solidFill>
                <a:latin typeface="Lucida Console" panose="020B0609040504020204" pitchFamily="49" charset="0"/>
              </a:rPr>
              <a:t>    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600" b="1" dirty="0">
                <a:solidFill>
                  <a:srgbClr val="FF0000"/>
                </a:solidFill>
                <a:latin typeface="Lucida Console" panose="020B0609040504020204" pitchFamily="49" charset="0"/>
              </a:rPr>
              <a:t>}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endParaRPr lang="en-US" altLang="en-US" sz="160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>
              <a:lnSpc>
                <a:spcPct val="90000"/>
              </a:lnSpc>
              <a:spcBef>
                <a:spcPts val="1000"/>
              </a:spcBef>
              <a:buFontTx/>
              <a:buChar char="•"/>
              <a:tabLst>
                <a:tab pos="344488" algn="l"/>
                <a:tab pos="569913" algn="l"/>
                <a:tab pos="688975" algn="l"/>
              </a:tabLst>
            </a:pPr>
            <a:endParaRPr lang="en-US" altLang="en-US" dirty="0">
              <a:solidFill>
                <a:srgbClr val="FF0000"/>
              </a:solidFill>
            </a:endParaRPr>
          </a:p>
          <a:p>
            <a:pPr>
              <a:lnSpc>
                <a:spcPct val="90000"/>
              </a:lnSpc>
              <a:spcBef>
                <a:spcPts val="1000"/>
              </a:spcBef>
              <a:buFontTx/>
              <a:buChar char="•"/>
              <a:tabLst>
                <a:tab pos="344488" algn="l"/>
                <a:tab pos="569913" algn="l"/>
                <a:tab pos="688975" algn="l"/>
              </a:tabLst>
            </a:pPr>
            <a:endParaRPr lang="en-US" altLang="en-US" dirty="0"/>
          </a:p>
          <a:p>
            <a:pPr>
              <a:lnSpc>
                <a:spcPct val="90000"/>
              </a:lnSpc>
              <a:spcBef>
                <a:spcPts val="1000"/>
              </a:spcBef>
              <a:buFontTx/>
              <a:buChar char="•"/>
              <a:tabLst>
                <a:tab pos="344488" algn="l"/>
                <a:tab pos="569913" algn="l"/>
                <a:tab pos="688975" algn="l"/>
              </a:tabLst>
            </a:pPr>
            <a:endParaRPr lang="en-US" altLang="en-US" dirty="0"/>
          </a:p>
          <a:p>
            <a:pPr>
              <a:lnSpc>
                <a:spcPct val="90000"/>
              </a:lnSpc>
              <a:spcBef>
                <a:spcPts val="1000"/>
              </a:spcBef>
              <a:buFontTx/>
              <a:buChar char="•"/>
              <a:tabLst>
                <a:tab pos="344488" algn="l"/>
                <a:tab pos="569913" algn="l"/>
                <a:tab pos="688975" algn="l"/>
              </a:tabLst>
            </a:pPr>
            <a:endParaRPr lang="en-US" altLang="en-US" dirty="0"/>
          </a:p>
          <a:p>
            <a:pPr marL="0" indent="0">
              <a:lnSpc>
                <a:spcPct val="90000"/>
              </a:lnSpc>
              <a:spcBef>
                <a:spcPts val="1000"/>
              </a:spcBef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dirty="0"/>
              <a:t> </a:t>
            </a:r>
          </a:p>
        </p:txBody>
      </p:sp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258763" y="-63500"/>
            <a:ext cx="8683625" cy="847725"/>
          </a:xfrm>
        </p:spPr>
        <p:txBody>
          <a:bodyPr/>
          <a:lstStyle/>
          <a:p>
            <a:r>
              <a:rPr lang="en-US" altLang="en-US" dirty="0"/>
              <a:t>An Implementation Using Open Addressing</a:t>
            </a:r>
            <a:endParaRPr lang="en-US" altLang="en-US" sz="1600" dirty="0"/>
          </a:p>
        </p:txBody>
      </p:sp>
      <p:graphicFrame>
        <p:nvGraphicFramePr>
          <p:cNvPr id="2245637" name="Group 5"/>
          <p:cNvGraphicFramePr>
            <a:graphicFrameLocks noGrp="1"/>
          </p:cNvGraphicFramePr>
          <p:nvPr/>
        </p:nvGraphicFramePr>
        <p:xfrm>
          <a:off x="2686050" y="2834956"/>
          <a:ext cx="2097088" cy="1830388"/>
        </p:xfrm>
        <a:graphic>
          <a:graphicData uri="http://schemas.openxmlformats.org/drawingml/2006/table">
            <a:tbl>
              <a:tblPr/>
              <a:tblGrid>
                <a:gridCol w="105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61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0</a:t>
                      </a:r>
                    </a:p>
                  </a:txBody>
                  <a:tcPr marL="0" marR="64008" marT="0" marB="0"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</a:t>
                      </a:r>
                    </a:p>
                  </a:txBody>
                  <a:tcPr marL="0" marR="64008" marT="0" marB="0"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</a:t>
                      </a:r>
                    </a:p>
                  </a:txBody>
                  <a:tcPr marL="0" marR="64008" marT="0" marB="0"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null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3</a:t>
                      </a:r>
                    </a:p>
                  </a:txBody>
                  <a:tcPr marL="0" marR="64008" marT="0" marB="0"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null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4</a:t>
                      </a:r>
                    </a:p>
                  </a:txBody>
                  <a:tcPr marL="0" marR="64008" marT="0" marB="0"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null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…</a:t>
                      </a:r>
                    </a:p>
                  </a:txBody>
                  <a:tcPr marL="0" marR="64008" marT="0" marB="0"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…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8394" name="Line 33"/>
          <p:cNvSpPr>
            <a:spLocks noChangeShapeType="1"/>
          </p:cNvSpPr>
          <p:nvPr/>
        </p:nvSpPr>
        <p:spPr bwMode="auto">
          <a:xfrm>
            <a:off x="5740400" y="2669856"/>
            <a:ext cx="78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endParaRPr lang="en-US"/>
          </a:p>
        </p:txBody>
      </p:sp>
      <p:graphicFrame>
        <p:nvGraphicFramePr>
          <p:cNvPr id="2245666" name="Group 34"/>
          <p:cNvGraphicFramePr>
            <a:graphicFrameLocks noGrp="1"/>
          </p:cNvGraphicFramePr>
          <p:nvPr/>
        </p:nvGraphicFramePr>
        <p:xfrm>
          <a:off x="5316538" y="2292031"/>
          <a:ext cx="811212" cy="501650"/>
        </p:xfrm>
        <a:graphic>
          <a:graphicData uri="http://schemas.openxmlformats.org/drawingml/2006/table">
            <a:tbl>
              <a:tblPr/>
              <a:tblGrid>
                <a:gridCol w="8112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0825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  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  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245676" name="Group 44"/>
          <p:cNvGraphicFramePr>
            <a:graphicFrameLocks noGrp="1"/>
          </p:cNvGraphicFramePr>
          <p:nvPr/>
        </p:nvGraphicFramePr>
        <p:xfrm>
          <a:off x="6532563" y="2604768"/>
          <a:ext cx="811212" cy="457200"/>
        </p:xfrm>
        <a:graphic>
          <a:graphicData uri="http://schemas.openxmlformats.org/drawingml/2006/table">
            <a:tbl>
              <a:tblPr/>
              <a:tblGrid>
                <a:gridCol w="8112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LLQueue</a:t>
                      </a:r>
                      <a:b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</a:b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object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CC0099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rgbClr val="CC0099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rgbClr val="CC0099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rgbClr val="CC0099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8413" name="Line 52"/>
          <p:cNvSpPr>
            <a:spLocks noChangeShapeType="1"/>
          </p:cNvSpPr>
          <p:nvPr/>
        </p:nvSpPr>
        <p:spPr bwMode="auto">
          <a:xfrm flipV="1">
            <a:off x="4243388" y="2660331"/>
            <a:ext cx="1077912" cy="3460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endParaRPr lang="en-US"/>
          </a:p>
        </p:txBody>
      </p:sp>
      <p:sp>
        <p:nvSpPr>
          <p:cNvPr id="58414" name="Line 53"/>
          <p:cNvSpPr>
            <a:spLocks noChangeShapeType="1"/>
          </p:cNvSpPr>
          <p:nvPr/>
        </p:nvSpPr>
        <p:spPr bwMode="auto">
          <a:xfrm>
            <a:off x="2640013" y="3131818"/>
            <a:ext cx="10874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endParaRPr lang="en-US"/>
          </a:p>
        </p:txBody>
      </p:sp>
      <p:graphicFrame>
        <p:nvGraphicFramePr>
          <p:cNvPr id="2245686" name="Group 54"/>
          <p:cNvGraphicFramePr>
            <a:graphicFrameLocks noGrp="1"/>
          </p:cNvGraphicFramePr>
          <p:nvPr/>
        </p:nvGraphicFramePr>
        <p:xfrm>
          <a:off x="6529388" y="2277743"/>
          <a:ext cx="811212" cy="244475"/>
        </p:xfrm>
        <a:graphic>
          <a:graphicData uri="http://schemas.openxmlformats.org/drawingml/2006/table">
            <a:tbl>
              <a:tblPr/>
              <a:tblGrid>
                <a:gridCol w="8112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44475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"ant"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8421" name="Line 60"/>
          <p:cNvSpPr>
            <a:spLocks noChangeShapeType="1"/>
          </p:cNvSpPr>
          <p:nvPr/>
        </p:nvSpPr>
        <p:spPr bwMode="auto">
          <a:xfrm>
            <a:off x="5735638" y="2407918"/>
            <a:ext cx="78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endParaRPr lang="en-US"/>
          </a:p>
        </p:txBody>
      </p:sp>
      <p:sp>
        <p:nvSpPr>
          <p:cNvPr id="58422" name="Line 61"/>
          <p:cNvSpPr>
            <a:spLocks noChangeShapeType="1"/>
          </p:cNvSpPr>
          <p:nvPr/>
        </p:nvSpPr>
        <p:spPr bwMode="auto">
          <a:xfrm>
            <a:off x="5735638" y="3565206"/>
            <a:ext cx="78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endParaRPr lang="en-US"/>
          </a:p>
        </p:txBody>
      </p:sp>
      <p:graphicFrame>
        <p:nvGraphicFramePr>
          <p:cNvPr id="2245694" name="Group 62"/>
          <p:cNvGraphicFramePr>
            <a:graphicFrameLocks noGrp="1"/>
          </p:cNvGraphicFramePr>
          <p:nvPr/>
        </p:nvGraphicFramePr>
        <p:xfrm>
          <a:off x="6524625" y="3173093"/>
          <a:ext cx="811213" cy="244475"/>
        </p:xfrm>
        <a:graphic>
          <a:graphicData uri="http://schemas.openxmlformats.org/drawingml/2006/table">
            <a:tbl>
              <a:tblPr/>
              <a:tblGrid>
                <a:gridCol w="8112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44475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"ape"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8429" name="Line 68"/>
          <p:cNvSpPr>
            <a:spLocks noChangeShapeType="1"/>
          </p:cNvSpPr>
          <p:nvPr/>
        </p:nvSpPr>
        <p:spPr bwMode="auto">
          <a:xfrm>
            <a:off x="5730875" y="3303268"/>
            <a:ext cx="78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endParaRPr lang="en-US"/>
          </a:p>
        </p:txBody>
      </p:sp>
      <p:sp>
        <p:nvSpPr>
          <p:cNvPr id="58430" name="Line 69"/>
          <p:cNvSpPr>
            <a:spLocks noChangeShapeType="1"/>
          </p:cNvSpPr>
          <p:nvPr/>
        </p:nvSpPr>
        <p:spPr bwMode="auto">
          <a:xfrm>
            <a:off x="4246563" y="3293743"/>
            <a:ext cx="1063625" cy="25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endParaRPr lang="en-US"/>
          </a:p>
        </p:txBody>
      </p:sp>
      <p:graphicFrame>
        <p:nvGraphicFramePr>
          <p:cNvPr id="2245724" name="Group 92"/>
          <p:cNvGraphicFramePr>
            <a:graphicFrameLocks noGrp="1"/>
          </p:cNvGraphicFramePr>
          <p:nvPr/>
        </p:nvGraphicFramePr>
        <p:xfrm>
          <a:off x="5311775" y="3187381"/>
          <a:ext cx="811213" cy="501650"/>
        </p:xfrm>
        <a:graphic>
          <a:graphicData uri="http://schemas.openxmlformats.org/drawingml/2006/table">
            <a:tbl>
              <a:tblPr/>
              <a:tblGrid>
                <a:gridCol w="8112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0825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  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  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245734" name="Group 102"/>
          <p:cNvGraphicFramePr>
            <a:graphicFrameLocks noGrp="1"/>
          </p:cNvGraphicFramePr>
          <p:nvPr/>
        </p:nvGraphicFramePr>
        <p:xfrm>
          <a:off x="989013" y="3006406"/>
          <a:ext cx="1992312" cy="519112"/>
        </p:xfrm>
        <a:graphic>
          <a:graphicData uri="http://schemas.openxmlformats.org/drawingml/2006/table">
            <a:tbl>
              <a:tblPr/>
              <a:tblGrid>
                <a:gridCol w="1247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45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1300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table</a:t>
                      </a:r>
                    </a:p>
                  </a:txBody>
                  <a:tcPr marL="0" marR="64008" marT="0" marB="0" anchor="ctr" horzOverflow="overflow">
                    <a:lnL cap="flat">
                      <a:noFill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7812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probeType</a:t>
                      </a:r>
                    </a:p>
                  </a:txBody>
                  <a:tcPr marL="0" marR="64008" marT="0" marB="0" anchor="ctr" horzOverflow="overflow">
                    <a:lnL cap="flat">
                      <a:noFill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LINEAR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3" name="Group 44"/>
          <p:cNvGraphicFramePr>
            <a:graphicFrameLocks noGrp="1"/>
          </p:cNvGraphicFramePr>
          <p:nvPr/>
        </p:nvGraphicFramePr>
        <p:xfrm>
          <a:off x="6532563" y="3487418"/>
          <a:ext cx="811212" cy="457200"/>
        </p:xfrm>
        <a:graphic>
          <a:graphicData uri="http://schemas.openxmlformats.org/drawingml/2006/table">
            <a:tbl>
              <a:tblPr/>
              <a:tblGrid>
                <a:gridCol w="8112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LLQueue</a:t>
                      </a:r>
                      <a:b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</a:b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object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CC0099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rgbClr val="CC0099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rgbClr val="CC0099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rgbClr val="CC0099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1CD55A24-9B1E-4955-B550-4DDC280B7C3D}"/>
              </a:ext>
            </a:extLst>
          </p:cNvPr>
          <p:cNvSpPr txBox="1"/>
          <p:nvPr/>
        </p:nvSpPr>
        <p:spPr>
          <a:xfrm>
            <a:off x="5115287" y="3893518"/>
            <a:ext cx="1320078" cy="66197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00FF"/>
                </a:solidFill>
              </a:rPr>
              <a:t>Entry</a:t>
            </a:r>
          </a:p>
          <a:p>
            <a:r>
              <a:rPr lang="en-US" i="1" dirty="0">
                <a:solidFill>
                  <a:srgbClr val="0000FF"/>
                </a:solidFill>
              </a:rPr>
              <a:t>object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7F28640-5739-42F6-A4C9-A87515DEEAE4}"/>
              </a:ext>
            </a:extLst>
          </p:cNvPr>
          <p:cNvSpPr txBox="1"/>
          <p:nvPr/>
        </p:nvSpPr>
        <p:spPr>
          <a:xfrm>
            <a:off x="1849438" y="3652198"/>
            <a:ext cx="1581150" cy="64633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0000FF"/>
                </a:solidFill>
              </a:rPr>
              <a:t>OpenHashTable</a:t>
            </a:r>
            <a:endParaRPr lang="en-US" dirty="0">
              <a:solidFill>
                <a:srgbClr val="0000FF"/>
              </a:solidFill>
            </a:endParaRPr>
          </a:p>
          <a:p>
            <a:r>
              <a:rPr lang="en-US" i="1" dirty="0">
                <a:solidFill>
                  <a:srgbClr val="0000FF"/>
                </a:solidFill>
              </a:rPr>
              <a:t>object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0986153-FA1C-4522-A1FE-E9A59708BE29}"/>
              </a:ext>
            </a:extLst>
          </p:cNvPr>
          <p:cNvSpPr txBox="1"/>
          <p:nvPr/>
        </p:nvSpPr>
        <p:spPr>
          <a:xfrm>
            <a:off x="3326751" y="4839969"/>
            <a:ext cx="1983437" cy="92333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00FF"/>
                </a:solidFill>
              </a:rPr>
              <a:t>Array used to store the entries of our Hash Table</a:t>
            </a:r>
          </a:p>
        </p:txBody>
      </p:sp>
    </p:spTree>
    <p:extLst>
      <p:ext uri="{BB962C8B-B14F-4D97-AF65-F5344CB8AC3E}">
        <p14:creationId xmlns:p14="http://schemas.microsoft.com/office/powerpoint/2010/main" val="1572625118"/>
      </p:ext>
    </p:extLst>
  </p:cSld>
  <p:clrMapOvr>
    <a:masterClrMapping/>
  </p:clrMapOvr>
</p:sld>
</file>

<file path=ppt/slides/slide2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7C737B1E-DC41-4969-BF4F-1A809309CD61}"/>
              </a:ext>
            </a:extLst>
          </p:cNvPr>
          <p:cNvSpPr txBox="1"/>
          <p:nvPr/>
        </p:nvSpPr>
        <p:spPr>
          <a:xfrm>
            <a:off x="7225329" y="2179874"/>
            <a:ext cx="1320078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00FF"/>
                </a:solidFill>
              </a:rPr>
              <a:t>Key</a:t>
            </a:r>
          </a:p>
        </p:txBody>
      </p:sp>
      <p:sp>
        <p:nvSpPr>
          <p:cNvPr id="2" name="Right Brace 1">
            <a:extLst>
              <a:ext uri="{FF2B5EF4-FFF2-40B4-BE49-F238E27FC236}">
                <a16:creationId xmlns:a16="http://schemas.microsoft.com/office/drawing/2014/main" id="{5F046478-394F-4681-BD13-6BABC277BD77}"/>
              </a:ext>
            </a:extLst>
          </p:cNvPr>
          <p:cNvSpPr/>
          <p:nvPr/>
        </p:nvSpPr>
        <p:spPr bwMode="auto">
          <a:xfrm>
            <a:off x="7420049" y="2237362"/>
            <a:ext cx="197137" cy="267074"/>
          </a:xfrm>
          <a:prstGeom prst="rightBrac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 Narrow" pitchFamily="34" charset="0"/>
            </a:endParaRPr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2" y="704850"/>
            <a:ext cx="8802687" cy="5614988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600" b="1" dirty="0">
                <a:solidFill>
                  <a:srgbClr val="FF0000"/>
                </a:solidFill>
                <a:latin typeface="Lucida Console" panose="020B0609040504020204" pitchFamily="49" charset="0"/>
              </a:rPr>
              <a:t>public class </a:t>
            </a:r>
            <a:r>
              <a:rPr lang="en-US" altLang="en-US" sz="1600" b="1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OpenHashTable</a:t>
            </a:r>
            <a:r>
              <a:rPr lang="en-US" altLang="en-US" sz="1600" b="1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1600" b="1" dirty="0">
                <a:solidFill>
                  <a:srgbClr val="008000"/>
                </a:solidFill>
                <a:latin typeface="Lucida Console" panose="020B0609040504020204" pitchFamily="49" charset="0"/>
              </a:rPr>
              <a:t>… </a:t>
            </a:r>
            <a:r>
              <a:rPr lang="en-US" altLang="en-US" sz="1600" b="1" dirty="0">
                <a:solidFill>
                  <a:srgbClr val="FF0000"/>
                </a:solidFill>
                <a:latin typeface="Lucida Console" panose="020B0609040504020204" pitchFamily="49" charset="0"/>
              </a:rPr>
              <a:t>{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600" dirty="0">
                <a:solidFill>
                  <a:schemeClr val="accent2"/>
                </a:solidFill>
                <a:latin typeface="Lucida Console" panose="020B0609040504020204" pitchFamily="49" charset="0"/>
              </a:rPr>
              <a:t>    </a:t>
            </a:r>
            <a:endParaRPr lang="en-US" altLang="en-US" sz="1600" b="1" dirty="0">
              <a:solidFill>
                <a:schemeClr val="accent2"/>
              </a:solidFill>
              <a:latin typeface="Lucida Console" panose="020B0609040504020204" pitchFamily="49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600" b="1" dirty="0">
                <a:solidFill>
                  <a:schemeClr val="accent2"/>
                </a:solidFill>
                <a:latin typeface="Lucida Console" panose="020B0609040504020204" pitchFamily="49" charset="0"/>
              </a:rPr>
              <a:t>        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600" b="1" dirty="0">
                <a:solidFill>
                  <a:schemeClr val="accent2"/>
                </a:solidFill>
                <a:latin typeface="Lucida Console" panose="020B0609040504020204" pitchFamily="49" charset="0"/>
              </a:rPr>
              <a:t>        </a:t>
            </a:r>
          </a:p>
          <a:p>
            <a:pPr>
              <a:lnSpc>
                <a:spcPct val="5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600" b="1" dirty="0">
                <a:solidFill>
                  <a:schemeClr val="accent2"/>
                </a:solidFill>
                <a:latin typeface="Lucida Console" panose="020B0609040504020204" pitchFamily="49" charset="0"/>
              </a:rPr>
              <a:t>        …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600" b="1" dirty="0">
                <a:solidFill>
                  <a:schemeClr val="accent2"/>
                </a:solidFill>
                <a:latin typeface="Lucida Console" panose="020B0609040504020204" pitchFamily="49" charset="0"/>
              </a:rPr>
              <a:t>    </a:t>
            </a:r>
          </a:p>
          <a:p>
            <a:pPr>
              <a:lnSpc>
                <a:spcPct val="5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600" dirty="0">
                <a:solidFill>
                  <a:schemeClr val="tx1"/>
                </a:solidFill>
                <a:latin typeface="Lucida Console" panose="020B0609040504020204" pitchFamily="49" charset="0"/>
              </a:rPr>
              <a:t>    …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600" dirty="0">
                <a:solidFill>
                  <a:srgbClr val="FF0000"/>
                </a:solidFill>
                <a:latin typeface="Lucida Console" panose="020B0609040504020204" pitchFamily="49" charset="0"/>
              </a:rPr>
              <a:t>    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600" dirty="0">
                <a:solidFill>
                  <a:srgbClr val="FF0000"/>
                </a:solidFill>
                <a:latin typeface="Lucida Console" panose="020B0609040504020204" pitchFamily="49" charset="0"/>
              </a:rPr>
              <a:t>    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600" b="1" dirty="0">
                <a:solidFill>
                  <a:srgbClr val="FF0000"/>
                </a:solidFill>
                <a:latin typeface="Lucida Console" panose="020B0609040504020204" pitchFamily="49" charset="0"/>
              </a:rPr>
              <a:t>}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endParaRPr lang="en-US" altLang="en-US" sz="160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>
              <a:lnSpc>
                <a:spcPct val="90000"/>
              </a:lnSpc>
              <a:spcBef>
                <a:spcPts val="1000"/>
              </a:spcBef>
              <a:buFontTx/>
              <a:buChar char="•"/>
              <a:tabLst>
                <a:tab pos="344488" algn="l"/>
                <a:tab pos="569913" algn="l"/>
                <a:tab pos="688975" algn="l"/>
              </a:tabLst>
            </a:pPr>
            <a:endParaRPr lang="en-US" altLang="en-US" dirty="0">
              <a:solidFill>
                <a:srgbClr val="FF0000"/>
              </a:solidFill>
            </a:endParaRPr>
          </a:p>
          <a:p>
            <a:pPr>
              <a:lnSpc>
                <a:spcPct val="90000"/>
              </a:lnSpc>
              <a:spcBef>
                <a:spcPts val="1000"/>
              </a:spcBef>
              <a:buFontTx/>
              <a:buChar char="•"/>
              <a:tabLst>
                <a:tab pos="344488" algn="l"/>
                <a:tab pos="569913" algn="l"/>
                <a:tab pos="688975" algn="l"/>
              </a:tabLst>
            </a:pPr>
            <a:endParaRPr lang="en-US" altLang="en-US" dirty="0"/>
          </a:p>
          <a:p>
            <a:pPr>
              <a:lnSpc>
                <a:spcPct val="90000"/>
              </a:lnSpc>
              <a:spcBef>
                <a:spcPts val="1000"/>
              </a:spcBef>
              <a:buFontTx/>
              <a:buChar char="•"/>
              <a:tabLst>
                <a:tab pos="344488" algn="l"/>
                <a:tab pos="569913" algn="l"/>
                <a:tab pos="688975" algn="l"/>
              </a:tabLst>
            </a:pPr>
            <a:endParaRPr lang="en-US" altLang="en-US" dirty="0"/>
          </a:p>
          <a:p>
            <a:pPr>
              <a:lnSpc>
                <a:spcPct val="90000"/>
              </a:lnSpc>
              <a:spcBef>
                <a:spcPts val="1000"/>
              </a:spcBef>
              <a:buFontTx/>
              <a:buChar char="•"/>
              <a:tabLst>
                <a:tab pos="344488" algn="l"/>
                <a:tab pos="569913" algn="l"/>
                <a:tab pos="688975" algn="l"/>
              </a:tabLst>
            </a:pPr>
            <a:endParaRPr lang="en-US" altLang="en-US" dirty="0"/>
          </a:p>
          <a:p>
            <a:pPr marL="0" indent="0">
              <a:lnSpc>
                <a:spcPct val="90000"/>
              </a:lnSpc>
              <a:spcBef>
                <a:spcPts val="1000"/>
              </a:spcBef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dirty="0"/>
              <a:t> </a:t>
            </a:r>
          </a:p>
        </p:txBody>
      </p:sp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258763" y="-63500"/>
            <a:ext cx="8683625" cy="847725"/>
          </a:xfrm>
        </p:spPr>
        <p:txBody>
          <a:bodyPr/>
          <a:lstStyle/>
          <a:p>
            <a:r>
              <a:rPr lang="en-US" altLang="en-US" dirty="0"/>
              <a:t>An Implementation Using Open Addressing</a:t>
            </a:r>
            <a:endParaRPr lang="en-US" altLang="en-US" sz="1600" dirty="0"/>
          </a:p>
        </p:txBody>
      </p:sp>
      <p:graphicFrame>
        <p:nvGraphicFramePr>
          <p:cNvPr id="2245637" name="Group 5"/>
          <p:cNvGraphicFramePr>
            <a:graphicFrameLocks noGrp="1"/>
          </p:cNvGraphicFramePr>
          <p:nvPr/>
        </p:nvGraphicFramePr>
        <p:xfrm>
          <a:off x="2686050" y="2834956"/>
          <a:ext cx="2097088" cy="1830388"/>
        </p:xfrm>
        <a:graphic>
          <a:graphicData uri="http://schemas.openxmlformats.org/drawingml/2006/table">
            <a:tbl>
              <a:tblPr/>
              <a:tblGrid>
                <a:gridCol w="105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61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0</a:t>
                      </a:r>
                    </a:p>
                  </a:txBody>
                  <a:tcPr marL="0" marR="64008" marT="0" marB="0"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</a:t>
                      </a:r>
                    </a:p>
                  </a:txBody>
                  <a:tcPr marL="0" marR="64008" marT="0" marB="0"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</a:t>
                      </a:r>
                    </a:p>
                  </a:txBody>
                  <a:tcPr marL="0" marR="64008" marT="0" marB="0"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null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3</a:t>
                      </a:r>
                    </a:p>
                  </a:txBody>
                  <a:tcPr marL="0" marR="64008" marT="0" marB="0"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null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4</a:t>
                      </a:r>
                    </a:p>
                  </a:txBody>
                  <a:tcPr marL="0" marR="64008" marT="0" marB="0"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null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…</a:t>
                      </a:r>
                    </a:p>
                  </a:txBody>
                  <a:tcPr marL="0" marR="64008" marT="0" marB="0"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…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8394" name="Line 33"/>
          <p:cNvSpPr>
            <a:spLocks noChangeShapeType="1"/>
          </p:cNvSpPr>
          <p:nvPr/>
        </p:nvSpPr>
        <p:spPr bwMode="auto">
          <a:xfrm>
            <a:off x="5740400" y="2669856"/>
            <a:ext cx="78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endParaRPr lang="en-US"/>
          </a:p>
        </p:txBody>
      </p:sp>
      <p:graphicFrame>
        <p:nvGraphicFramePr>
          <p:cNvPr id="2245666" name="Group 34"/>
          <p:cNvGraphicFramePr>
            <a:graphicFrameLocks noGrp="1"/>
          </p:cNvGraphicFramePr>
          <p:nvPr/>
        </p:nvGraphicFramePr>
        <p:xfrm>
          <a:off x="5316538" y="2292031"/>
          <a:ext cx="811212" cy="501650"/>
        </p:xfrm>
        <a:graphic>
          <a:graphicData uri="http://schemas.openxmlformats.org/drawingml/2006/table">
            <a:tbl>
              <a:tblPr/>
              <a:tblGrid>
                <a:gridCol w="8112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0825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  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  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245676" name="Group 44"/>
          <p:cNvGraphicFramePr>
            <a:graphicFrameLocks noGrp="1"/>
          </p:cNvGraphicFramePr>
          <p:nvPr/>
        </p:nvGraphicFramePr>
        <p:xfrm>
          <a:off x="6532563" y="2604768"/>
          <a:ext cx="811212" cy="457200"/>
        </p:xfrm>
        <a:graphic>
          <a:graphicData uri="http://schemas.openxmlformats.org/drawingml/2006/table">
            <a:tbl>
              <a:tblPr/>
              <a:tblGrid>
                <a:gridCol w="8112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LLQueue</a:t>
                      </a:r>
                      <a:b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</a:b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object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CC0099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rgbClr val="CC0099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rgbClr val="CC0099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rgbClr val="CC0099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8413" name="Line 52"/>
          <p:cNvSpPr>
            <a:spLocks noChangeShapeType="1"/>
          </p:cNvSpPr>
          <p:nvPr/>
        </p:nvSpPr>
        <p:spPr bwMode="auto">
          <a:xfrm flipV="1">
            <a:off x="4243388" y="2660331"/>
            <a:ext cx="1077912" cy="3460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endParaRPr lang="en-US"/>
          </a:p>
        </p:txBody>
      </p:sp>
      <p:sp>
        <p:nvSpPr>
          <p:cNvPr id="58414" name="Line 53"/>
          <p:cNvSpPr>
            <a:spLocks noChangeShapeType="1"/>
          </p:cNvSpPr>
          <p:nvPr/>
        </p:nvSpPr>
        <p:spPr bwMode="auto">
          <a:xfrm>
            <a:off x="2640013" y="3131818"/>
            <a:ext cx="10874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endParaRPr lang="en-US"/>
          </a:p>
        </p:txBody>
      </p:sp>
      <p:graphicFrame>
        <p:nvGraphicFramePr>
          <p:cNvPr id="2245686" name="Group 54"/>
          <p:cNvGraphicFramePr>
            <a:graphicFrameLocks noGrp="1"/>
          </p:cNvGraphicFramePr>
          <p:nvPr/>
        </p:nvGraphicFramePr>
        <p:xfrm>
          <a:off x="6529388" y="2277743"/>
          <a:ext cx="811212" cy="244475"/>
        </p:xfrm>
        <a:graphic>
          <a:graphicData uri="http://schemas.openxmlformats.org/drawingml/2006/table">
            <a:tbl>
              <a:tblPr/>
              <a:tblGrid>
                <a:gridCol w="8112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44475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"ant"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8421" name="Line 60"/>
          <p:cNvSpPr>
            <a:spLocks noChangeShapeType="1"/>
          </p:cNvSpPr>
          <p:nvPr/>
        </p:nvSpPr>
        <p:spPr bwMode="auto">
          <a:xfrm>
            <a:off x="5735638" y="2407918"/>
            <a:ext cx="78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endParaRPr lang="en-US"/>
          </a:p>
        </p:txBody>
      </p:sp>
      <p:sp>
        <p:nvSpPr>
          <p:cNvPr id="58422" name="Line 61"/>
          <p:cNvSpPr>
            <a:spLocks noChangeShapeType="1"/>
          </p:cNvSpPr>
          <p:nvPr/>
        </p:nvSpPr>
        <p:spPr bwMode="auto">
          <a:xfrm>
            <a:off x="5735638" y="3565206"/>
            <a:ext cx="78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endParaRPr lang="en-US"/>
          </a:p>
        </p:txBody>
      </p:sp>
      <p:graphicFrame>
        <p:nvGraphicFramePr>
          <p:cNvPr id="2245694" name="Group 62"/>
          <p:cNvGraphicFramePr>
            <a:graphicFrameLocks noGrp="1"/>
          </p:cNvGraphicFramePr>
          <p:nvPr/>
        </p:nvGraphicFramePr>
        <p:xfrm>
          <a:off x="6524625" y="3173093"/>
          <a:ext cx="811213" cy="244475"/>
        </p:xfrm>
        <a:graphic>
          <a:graphicData uri="http://schemas.openxmlformats.org/drawingml/2006/table">
            <a:tbl>
              <a:tblPr/>
              <a:tblGrid>
                <a:gridCol w="8112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44475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"ape"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8429" name="Line 68"/>
          <p:cNvSpPr>
            <a:spLocks noChangeShapeType="1"/>
          </p:cNvSpPr>
          <p:nvPr/>
        </p:nvSpPr>
        <p:spPr bwMode="auto">
          <a:xfrm>
            <a:off x="5730875" y="3303268"/>
            <a:ext cx="78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endParaRPr lang="en-US"/>
          </a:p>
        </p:txBody>
      </p:sp>
      <p:sp>
        <p:nvSpPr>
          <p:cNvPr id="58430" name="Line 69"/>
          <p:cNvSpPr>
            <a:spLocks noChangeShapeType="1"/>
          </p:cNvSpPr>
          <p:nvPr/>
        </p:nvSpPr>
        <p:spPr bwMode="auto">
          <a:xfrm>
            <a:off x="4246563" y="3293743"/>
            <a:ext cx="1063625" cy="25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endParaRPr lang="en-US"/>
          </a:p>
        </p:txBody>
      </p:sp>
      <p:graphicFrame>
        <p:nvGraphicFramePr>
          <p:cNvPr id="2245724" name="Group 92"/>
          <p:cNvGraphicFramePr>
            <a:graphicFrameLocks noGrp="1"/>
          </p:cNvGraphicFramePr>
          <p:nvPr/>
        </p:nvGraphicFramePr>
        <p:xfrm>
          <a:off x="5311775" y="3187381"/>
          <a:ext cx="811213" cy="501650"/>
        </p:xfrm>
        <a:graphic>
          <a:graphicData uri="http://schemas.openxmlformats.org/drawingml/2006/table">
            <a:tbl>
              <a:tblPr/>
              <a:tblGrid>
                <a:gridCol w="8112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0825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  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  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245734" name="Group 102"/>
          <p:cNvGraphicFramePr>
            <a:graphicFrameLocks noGrp="1"/>
          </p:cNvGraphicFramePr>
          <p:nvPr/>
        </p:nvGraphicFramePr>
        <p:xfrm>
          <a:off x="989013" y="3006406"/>
          <a:ext cx="1992312" cy="519112"/>
        </p:xfrm>
        <a:graphic>
          <a:graphicData uri="http://schemas.openxmlformats.org/drawingml/2006/table">
            <a:tbl>
              <a:tblPr/>
              <a:tblGrid>
                <a:gridCol w="1247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45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1300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table</a:t>
                      </a:r>
                    </a:p>
                  </a:txBody>
                  <a:tcPr marL="0" marR="64008" marT="0" marB="0" anchor="ctr" horzOverflow="overflow">
                    <a:lnL cap="flat">
                      <a:noFill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7812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probeType</a:t>
                      </a:r>
                    </a:p>
                  </a:txBody>
                  <a:tcPr marL="0" marR="64008" marT="0" marB="0" anchor="ctr" horzOverflow="overflow">
                    <a:lnL cap="flat">
                      <a:noFill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LINEAR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3" name="Group 44"/>
          <p:cNvGraphicFramePr>
            <a:graphicFrameLocks noGrp="1"/>
          </p:cNvGraphicFramePr>
          <p:nvPr/>
        </p:nvGraphicFramePr>
        <p:xfrm>
          <a:off x="6532563" y="3487418"/>
          <a:ext cx="811212" cy="457200"/>
        </p:xfrm>
        <a:graphic>
          <a:graphicData uri="http://schemas.openxmlformats.org/drawingml/2006/table">
            <a:tbl>
              <a:tblPr/>
              <a:tblGrid>
                <a:gridCol w="8112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LLQueue</a:t>
                      </a:r>
                      <a:b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</a:b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object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CC0099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rgbClr val="CC0099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rgbClr val="CC0099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rgbClr val="CC0099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1CD55A24-9B1E-4955-B550-4DDC280B7C3D}"/>
              </a:ext>
            </a:extLst>
          </p:cNvPr>
          <p:cNvSpPr txBox="1"/>
          <p:nvPr/>
        </p:nvSpPr>
        <p:spPr>
          <a:xfrm>
            <a:off x="5115287" y="3893518"/>
            <a:ext cx="1320078" cy="66197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00FF"/>
                </a:solidFill>
              </a:rPr>
              <a:t>Entry</a:t>
            </a:r>
          </a:p>
          <a:p>
            <a:r>
              <a:rPr lang="en-US" i="1" dirty="0">
                <a:solidFill>
                  <a:srgbClr val="0000FF"/>
                </a:solidFill>
              </a:rPr>
              <a:t>object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7F28640-5739-42F6-A4C9-A87515DEEAE4}"/>
              </a:ext>
            </a:extLst>
          </p:cNvPr>
          <p:cNvSpPr txBox="1"/>
          <p:nvPr/>
        </p:nvSpPr>
        <p:spPr>
          <a:xfrm>
            <a:off x="1849438" y="3652198"/>
            <a:ext cx="1581150" cy="64633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0000FF"/>
                </a:solidFill>
              </a:rPr>
              <a:t>OpenHashTable</a:t>
            </a:r>
            <a:endParaRPr lang="en-US" dirty="0">
              <a:solidFill>
                <a:srgbClr val="0000FF"/>
              </a:solidFill>
            </a:endParaRPr>
          </a:p>
          <a:p>
            <a:r>
              <a:rPr lang="en-US" i="1" dirty="0">
                <a:solidFill>
                  <a:srgbClr val="0000FF"/>
                </a:solidFill>
              </a:rPr>
              <a:t>object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0986153-FA1C-4522-A1FE-E9A59708BE29}"/>
              </a:ext>
            </a:extLst>
          </p:cNvPr>
          <p:cNvSpPr txBox="1"/>
          <p:nvPr/>
        </p:nvSpPr>
        <p:spPr>
          <a:xfrm>
            <a:off x="3326751" y="4839969"/>
            <a:ext cx="1983437" cy="92333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00FF"/>
                </a:solidFill>
              </a:rPr>
              <a:t>Array used to store the entries of our Hash Table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CFBDF46-3FE4-471F-91B8-38CBA0AE6A17}"/>
              </a:ext>
            </a:extLst>
          </p:cNvPr>
          <p:cNvSpPr txBox="1"/>
          <p:nvPr/>
        </p:nvSpPr>
        <p:spPr>
          <a:xfrm>
            <a:off x="7367228" y="2655538"/>
            <a:ext cx="1320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00FF"/>
                </a:solidFill>
              </a:rPr>
              <a:t>Values</a:t>
            </a:r>
          </a:p>
        </p:txBody>
      </p:sp>
      <p:sp>
        <p:nvSpPr>
          <p:cNvPr id="25" name="Right Brace 24">
            <a:extLst>
              <a:ext uri="{FF2B5EF4-FFF2-40B4-BE49-F238E27FC236}">
                <a16:creationId xmlns:a16="http://schemas.microsoft.com/office/drawing/2014/main" id="{46D6814B-DE1A-4E6E-9BC5-DB978E17266C}"/>
              </a:ext>
            </a:extLst>
          </p:cNvPr>
          <p:cNvSpPr/>
          <p:nvPr/>
        </p:nvSpPr>
        <p:spPr bwMode="auto">
          <a:xfrm>
            <a:off x="7420049" y="2614262"/>
            <a:ext cx="197137" cy="447705"/>
          </a:xfrm>
          <a:prstGeom prst="rightBrac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2929844"/>
      </p:ext>
    </p:extLst>
  </p:cSld>
  <p:clrMapOvr>
    <a:masterClrMapping/>
  </p:clrMapOvr>
</p:sld>
</file>

<file path=ppt/slides/slide2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/>
          <p:cNvSpPr txBox="1"/>
          <p:nvPr/>
        </p:nvSpPr>
        <p:spPr>
          <a:xfrm>
            <a:off x="705853" y="2053389"/>
            <a:ext cx="3144252" cy="55137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2" y="704850"/>
            <a:ext cx="8802687" cy="5614988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600" dirty="0">
                <a:solidFill>
                  <a:srgbClr val="FF0000"/>
                </a:solidFill>
                <a:latin typeface="Lucida Console" panose="020B0609040504020204" pitchFamily="49" charset="0"/>
              </a:rPr>
              <a:t>public class </a:t>
            </a:r>
            <a:r>
              <a:rPr lang="en-US" altLang="en-US" sz="16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OpenHashTable</a:t>
            </a:r>
            <a:r>
              <a:rPr lang="en-US" altLang="en-US" sz="160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1600" dirty="0">
                <a:solidFill>
                  <a:srgbClr val="008000"/>
                </a:solidFill>
                <a:latin typeface="Lucida Console" panose="020B0609040504020204" pitchFamily="49" charset="0"/>
              </a:rPr>
              <a:t>implements </a:t>
            </a:r>
            <a:r>
              <a:rPr lang="en-US" altLang="en-US" sz="1600" dirty="0" err="1">
                <a:solidFill>
                  <a:srgbClr val="008000"/>
                </a:solidFill>
                <a:latin typeface="Lucida Console" panose="020B0609040504020204" pitchFamily="49" charset="0"/>
              </a:rPr>
              <a:t>HashTable</a:t>
            </a:r>
            <a:r>
              <a:rPr lang="en-US" altLang="en-US" sz="1600" dirty="0">
                <a:solidFill>
                  <a:srgbClr val="FF0000"/>
                </a:solidFill>
                <a:latin typeface="Lucida Console" panose="020B0609040504020204" pitchFamily="49" charset="0"/>
              </a:rPr>
              <a:t> {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600" dirty="0">
                <a:solidFill>
                  <a:schemeClr val="accent2"/>
                </a:solidFill>
                <a:latin typeface="Lucida Console" panose="020B0609040504020204" pitchFamily="49" charset="0"/>
              </a:rPr>
              <a:t>    private class Entry {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600" dirty="0">
                <a:solidFill>
                  <a:schemeClr val="accent2"/>
                </a:solidFill>
                <a:latin typeface="Lucida Console" panose="020B0609040504020204" pitchFamily="49" charset="0"/>
              </a:rPr>
              <a:t>        private Object key;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600" dirty="0">
                <a:solidFill>
                  <a:schemeClr val="accent2"/>
                </a:solidFill>
                <a:latin typeface="Lucida Console" panose="020B0609040504020204" pitchFamily="49" charset="0"/>
              </a:rPr>
              <a:t>        </a:t>
            </a:r>
            <a:r>
              <a:rPr lang="en-US" altLang="en-US" sz="1600" b="1" dirty="0">
                <a:solidFill>
                  <a:srgbClr val="CC0099"/>
                </a:solidFill>
                <a:latin typeface="Lucida Console" panose="020B0609040504020204" pitchFamily="49" charset="0"/>
              </a:rPr>
              <a:t>private </a:t>
            </a:r>
            <a:r>
              <a:rPr lang="en-US" altLang="en-US" sz="1600" b="1" dirty="0" err="1">
                <a:solidFill>
                  <a:srgbClr val="CC0099"/>
                </a:solidFill>
                <a:latin typeface="Lucida Console" panose="020B0609040504020204" pitchFamily="49" charset="0"/>
              </a:rPr>
              <a:t>LLQueue</a:t>
            </a:r>
            <a:r>
              <a:rPr lang="en-US" altLang="en-US" sz="1600" b="1" dirty="0">
                <a:solidFill>
                  <a:srgbClr val="CC0099"/>
                </a:solidFill>
                <a:latin typeface="Lucida Console" panose="020B0609040504020204" pitchFamily="49" charset="0"/>
              </a:rPr>
              <a:t>&lt;Object&gt; values;</a:t>
            </a:r>
            <a:endParaRPr lang="en-US" altLang="en-US" sz="1600" b="1" dirty="0">
              <a:solidFill>
                <a:schemeClr val="accent2"/>
              </a:solidFill>
              <a:latin typeface="Lucida Console" panose="020B0609040504020204" pitchFamily="49" charset="0"/>
            </a:endParaRPr>
          </a:p>
          <a:p>
            <a:pPr>
              <a:lnSpc>
                <a:spcPct val="5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600" dirty="0">
                <a:solidFill>
                  <a:schemeClr val="accent2"/>
                </a:solidFill>
                <a:latin typeface="Lucida Console" panose="020B0609040504020204" pitchFamily="49" charset="0"/>
              </a:rPr>
              <a:t>        …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600" dirty="0">
                <a:solidFill>
                  <a:schemeClr val="accent2"/>
                </a:solidFill>
                <a:latin typeface="Lucida Console" panose="020B0609040504020204" pitchFamily="49" charset="0"/>
              </a:rPr>
              <a:t>    }</a:t>
            </a:r>
          </a:p>
          <a:p>
            <a:pPr>
              <a:lnSpc>
                <a:spcPct val="5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600" dirty="0">
                <a:solidFill>
                  <a:schemeClr val="tx1"/>
                </a:solidFill>
                <a:latin typeface="Lucida Console" panose="020B0609040504020204" pitchFamily="49" charset="0"/>
              </a:rPr>
              <a:t>    …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600" dirty="0">
                <a:solidFill>
                  <a:srgbClr val="FF0000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1600" b="1" dirty="0">
                <a:solidFill>
                  <a:srgbClr val="FF0000"/>
                </a:solidFill>
                <a:latin typeface="Lucida Console" panose="020B0609040504020204" pitchFamily="49" charset="0"/>
              </a:rPr>
              <a:t>private Entry[] table;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600" b="1" dirty="0">
                <a:solidFill>
                  <a:srgbClr val="FF0000"/>
                </a:solidFill>
                <a:latin typeface="Lucida Console" panose="020B0609040504020204" pitchFamily="49" charset="0"/>
              </a:rPr>
              <a:t>    private </a:t>
            </a:r>
            <a:r>
              <a:rPr lang="en-US" altLang="en-US" sz="1600" b="1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sz="1600" b="1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1600" b="1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probeType</a:t>
            </a:r>
            <a:r>
              <a:rPr lang="en-US" altLang="en-US" sz="1600" b="1" dirty="0">
                <a:solidFill>
                  <a:srgbClr val="FF0000"/>
                </a:solidFill>
                <a:latin typeface="Lucida Console" panose="020B0609040504020204" pitchFamily="49" charset="0"/>
              </a:rPr>
              <a:t>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600" dirty="0">
                <a:solidFill>
                  <a:srgbClr val="FF0000"/>
                </a:solidFill>
                <a:latin typeface="Lucida Console" panose="020B0609040504020204" pitchFamily="49" charset="0"/>
              </a:rPr>
              <a:t>}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endParaRPr lang="en-US" altLang="en-US" sz="160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>
              <a:lnSpc>
                <a:spcPct val="90000"/>
              </a:lnSpc>
              <a:spcBef>
                <a:spcPts val="1000"/>
              </a:spcBef>
              <a:buFontTx/>
              <a:buChar char="•"/>
              <a:tabLst>
                <a:tab pos="344488" algn="l"/>
                <a:tab pos="569913" algn="l"/>
                <a:tab pos="688975" algn="l"/>
              </a:tabLst>
            </a:pPr>
            <a:endParaRPr lang="en-US" altLang="en-US" dirty="0">
              <a:solidFill>
                <a:srgbClr val="FF0000"/>
              </a:solidFill>
            </a:endParaRPr>
          </a:p>
          <a:p>
            <a:pPr>
              <a:lnSpc>
                <a:spcPct val="90000"/>
              </a:lnSpc>
              <a:spcBef>
                <a:spcPts val="1000"/>
              </a:spcBef>
              <a:buFontTx/>
              <a:buChar char="•"/>
              <a:tabLst>
                <a:tab pos="344488" algn="l"/>
                <a:tab pos="569913" algn="l"/>
                <a:tab pos="688975" algn="l"/>
              </a:tabLst>
            </a:pPr>
            <a:endParaRPr lang="en-US" altLang="en-US" dirty="0"/>
          </a:p>
          <a:p>
            <a:pPr>
              <a:lnSpc>
                <a:spcPct val="90000"/>
              </a:lnSpc>
              <a:spcBef>
                <a:spcPts val="1000"/>
              </a:spcBef>
              <a:buFontTx/>
              <a:buChar char="•"/>
              <a:tabLst>
                <a:tab pos="344488" algn="l"/>
                <a:tab pos="569913" algn="l"/>
                <a:tab pos="688975" algn="l"/>
              </a:tabLst>
            </a:pPr>
            <a:endParaRPr lang="en-US" altLang="en-US" dirty="0"/>
          </a:p>
          <a:p>
            <a:pPr>
              <a:lnSpc>
                <a:spcPct val="90000"/>
              </a:lnSpc>
              <a:spcBef>
                <a:spcPts val="1000"/>
              </a:spcBef>
              <a:buFontTx/>
              <a:buChar char="•"/>
              <a:tabLst>
                <a:tab pos="344488" algn="l"/>
                <a:tab pos="569913" algn="l"/>
                <a:tab pos="688975" algn="l"/>
              </a:tabLst>
            </a:pPr>
            <a:endParaRPr lang="en-US" altLang="en-US" dirty="0"/>
          </a:p>
          <a:p>
            <a:pPr marL="0" indent="0">
              <a:lnSpc>
                <a:spcPct val="90000"/>
              </a:lnSpc>
              <a:spcBef>
                <a:spcPts val="1000"/>
              </a:spcBef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dirty="0"/>
              <a:t> </a:t>
            </a:r>
          </a:p>
        </p:txBody>
      </p:sp>
      <p:graphicFrame>
        <p:nvGraphicFramePr>
          <p:cNvPr id="2245734" name="Group 10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9237108"/>
              </p:ext>
            </p:extLst>
          </p:nvPr>
        </p:nvGraphicFramePr>
        <p:xfrm>
          <a:off x="989013" y="3006406"/>
          <a:ext cx="1992312" cy="519112"/>
        </p:xfrm>
        <a:graphic>
          <a:graphicData uri="http://schemas.openxmlformats.org/drawingml/2006/table">
            <a:tbl>
              <a:tblPr/>
              <a:tblGrid>
                <a:gridCol w="1247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45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1300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table</a:t>
                      </a:r>
                    </a:p>
                  </a:txBody>
                  <a:tcPr marL="0" marR="64008" marT="0" marB="0" anchor="ctr" horzOverflow="overflow">
                    <a:lnL cap="flat">
                      <a:noFill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7812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probeType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L="0" marR="64008" marT="0" marB="0" anchor="ctr" horzOverflow="overflow">
                    <a:lnL cap="flat">
                      <a:noFill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LINEAR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258763" y="-63500"/>
            <a:ext cx="8683625" cy="847725"/>
          </a:xfrm>
        </p:spPr>
        <p:txBody>
          <a:bodyPr/>
          <a:lstStyle/>
          <a:p>
            <a:r>
              <a:rPr lang="en-US" altLang="en-US" dirty="0"/>
              <a:t>An Implementation Using Open Addressing</a:t>
            </a:r>
            <a:endParaRPr lang="en-US" altLang="en-US" sz="1600" dirty="0"/>
          </a:p>
        </p:txBody>
      </p:sp>
      <p:graphicFrame>
        <p:nvGraphicFramePr>
          <p:cNvPr id="2245637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3788224"/>
              </p:ext>
            </p:extLst>
          </p:nvPr>
        </p:nvGraphicFramePr>
        <p:xfrm>
          <a:off x="2686050" y="2834956"/>
          <a:ext cx="2097088" cy="1830388"/>
        </p:xfrm>
        <a:graphic>
          <a:graphicData uri="http://schemas.openxmlformats.org/drawingml/2006/table">
            <a:tbl>
              <a:tblPr/>
              <a:tblGrid>
                <a:gridCol w="105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61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0</a:t>
                      </a:r>
                    </a:p>
                  </a:txBody>
                  <a:tcPr marL="0" marR="64008" marT="0" marB="0"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</a:t>
                      </a:r>
                    </a:p>
                  </a:txBody>
                  <a:tcPr marL="0" marR="64008" marT="0" marB="0"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</a:t>
                      </a:r>
                    </a:p>
                  </a:txBody>
                  <a:tcPr marL="0" marR="64008" marT="0" marB="0"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null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3</a:t>
                      </a:r>
                    </a:p>
                  </a:txBody>
                  <a:tcPr marL="0" marR="64008" marT="0" marB="0"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null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4</a:t>
                      </a:r>
                    </a:p>
                  </a:txBody>
                  <a:tcPr marL="0" marR="64008" marT="0" marB="0"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null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…</a:t>
                      </a:r>
                    </a:p>
                  </a:txBody>
                  <a:tcPr marL="0" marR="64008" marT="0" marB="0"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…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8394" name="Line 33"/>
          <p:cNvSpPr>
            <a:spLocks noChangeShapeType="1"/>
          </p:cNvSpPr>
          <p:nvPr/>
        </p:nvSpPr>
        <p:spPr bwMode="auto">
          <a:xfrm>
            <a:off x="5740400" y="2669856"/>
            <a:ext cx="78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endParaRPr lang="en-US"/>
          </a:p>
        </p:txBody>
      </p:sp>
      <p:graphicFrame>
        <p:nvGraphicFramePr>
          <p:cNvPr id="2245666" name="Group 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2525702"/>
              </p:ext>
            </p:extLst>
          </p:nvPr>
        </p:nvGraphicFramePr>
        <p:xfrm>
          <a:off x="5316538" y="2292031"/>
          <a:ext cx="811212" cy="501650"/>
        </p:xfrm>
        <a:graphic>
          <a:graphicData uri="http://schemas.openxmlformats.org/drawingml/2006/table">
            <a:tbl>
              <a:tblPr/>
              <a:tblGrid>
                <a:gridCol w="8112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0825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  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  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245676" name="Group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9225157"/>
              </p:ext>
            </p:extLst>
          </p:nvPr>
        </p:nvGraphicFramePr>
        <p:xfrm>
          <a:off x="6532563" y="2604768"/>
          <a:ext cx="811212" cy="457200"/>
        </p:xfrm>
        <a:graphic>
          <a:graphicData uri="http://schemas.openxmlformats.org/drawingml/2006/table">
            <a:tbl>
              <a:tblPr/>
              <a:tblGrid>
                <a:gridCol w="8112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LLQueue</a:t>
                      </a:r>
                      <a:b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</a:b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object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CC0099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rgbClr val="CC0099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rgbClr val="CC0099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rgbClr val="CC0099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8413" name="Line 52"/>
          <p:cNvSpPr>
            <a:spLocks noChangeShapeType="1"/>
          </p:cNvSpPr>
          <p:nvPr/>
        </p:nvSpPr>
        <p:spPr bwMode="auto">
          <a:xfrm flipV="1">
            <a:off x="4243388" y="2660331"/>
            <a:ext cx="1077912" cy="3460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endParaRPr lang="en-US"/>
          </a:p>
        </p:txBody>
      </p:sp>
      <p:sp>
        <p:nvSpPr>
          <p:cNvPr id="58414" name="Line 53"/>
          <p:cNvSpPr>
            <a:spLocks noChangeShapeType="1"/>
          </p:cNvSpPr>
          <p:nvPr/>
        </p:nvSpPr>
        <p:spPr bwMode="auto">
          <a:xfrm>
            <a:off x="2640013" y="3131818"/>
            <a:ext cx="10874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endParaRPr lang="en-US"/>
          </a:p>
        </p:txBody>
      </p:sp>
      <p:graphicFrame>
        <p:nvGraphicFramePr>
          <p:cNvPr id="2245686" name="Group 5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8578055"/>
              </p:ext>
            </p:extLst>
          </p:nvPr>
        </p:nvGraphicFramePr>
        <p:xfrm>
          <a:off x="6529388" y="2277743"/>
          <a:ext cx="811212" cy="244475"/>
        </p:xfrm>
        <a:graphic>
          <a:graphicData uri="http://schemas.openxmlformats.org/drawingml/2006/table">
            <a:tbl>
              <a:tblPr/>
              <a:tblGrid>
                <a:gridCol w="8112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44475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"ant"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8421" name="Line 60"/>
          <p:cNvSpPr>
            <a:spLocks noChangeShapeType="1"/>
          </p:cNvSpPr>
          <p:nvPr/>
        </p:nvSpPr>
        <p:spPr bwMode="auto">
          <a:xfrm>
            <a:off x="5735638" y="2407918"/>
            <a:ext cx="78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endParaRPr lang="en-US"/>
          </a:p>
        </p:txBody>
      </p:sp>
      <p:sp>
        <p:nvSpPr>
          <p:cNvPr id="58422" name="Line 61"/>
          <p:cNvSpPr>
            <a:spLocks noChangeShapeType="1"/>
          </p:cNvSpPr>
          <p:nvPr/>
        </p:nvSpPr>
        <p:spPr bwMode="auto">
          <a:xfrm>
            <a:off x="5735638" y="3565206"/>
            <a:ext cx="78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endParaRPr lang="en-US"/>
          </a:p>
        </p:txBody>
      </p:sp>
      <p:graphicFrame>
        <p:nvGraphicFramePr>
          <p:cNvPr id="2245694" name="Group 6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3814601"/>
              </p:ext>
            </p:extLst>
          </p:nvPr>
        </p:nvGraphicFramePr>
        <p:xfrm>
          <a:off x="6524625" y="3173093"/>
          <a:ext cx="811213" cy="244475"/>
        </p:xfrm>
        <a:graphic>
          <a:graphicData uri="http://schemas.openxmlformats.org/drawingml/2006/table">
            <a:tbl>
              <a:tblPr/>
              <a:tblGrid>
                <a:gridCol w="8112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44475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"ape"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8429" name="Line 68"/>
          <p:cNvSpPr>
            <a:spLocks noChangeShapeType="1"/>
          </p:cNvSpPr>
          <p:nvPr/>
        </p:nvSpPr>
        <p:spPr bwMode="auto">
          <a:xfrm>
            <a:off x="5730875" y="3303268"/>
            <a:ext cx="78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endParaRPr lang="en-US"/>
          </a:p>
        </p:txBody>
      </p:sp>
      <p:sp>
        <p:nvSpPr>
          <p:cNvPr id="58430" name="Line 69"/>
          <p:cNvSpPr>
            <a:spLocks noChangeShapeType="1"/>
          </p:cNvSpPr>
          <p:nvPr/>
        </p:nvSpPr>
        <p:spPr bwMode="auto">
          <a:xfrm>
            <a:off x="4246563" y="3293743"/>
            <a:ext cx="1063625" cy="25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endParaRPr lang="en-US"/>
          </a:p>
        </p:txBody>
      </p:sp>
      <p:graphicFrame>
        <p:nvGraphicFramePr>
          <p:cNvPr id="2245724" name="Group 9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3794401"/>
              </p:ext>
            </p:extLst>
          </p:nvPr>
        </p:nvGraphicFramePr>
        <p:xfrm>
          <a:off x="5311775" y="3187381"/>
          <a:ext cx="811213" cy="501650"/>
        </p:xfrm>
        <a:graphic>
          <a:graphicData uri="http://schemas.openxmlformats.org/drawingml/2006/table">
            <a:tbl>
              <a:tblPr/>
              <a:tblGrid>
                <a:gridCol w="8112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0825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  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  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3" name="Group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1440093"/>
              </p:ext>
            </p:extLst>
          </p:nvPr>
        </p:nvGraphicFramePr>
        <p:xfrm>
          <a:off x="6532563" y="3487418"/>
          <a:ext cx="811212" cy="457200"/>
        </p:xfrm>
        <a:graphic>
          <a:graphicData uri="http://schemas.openxmlformats.org/drawingml/2006/table">
            <a:tbl>
              <a:tblPr/>
              <a:tblGrid>
                <a:gridCol w="8112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LLQueue</a:t>
                      </a:r>
                      <a:b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</a:b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object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CC0099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rgbClr val="CC0099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rgbClr val="CC0099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rgbClr val="CC0099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1849438" y="3652198"/>
            <a:ext cx="1581150" cy="64633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0000FF"/>
                </a:solidFill>
              </a:rPr>
              <a:t>OpenHashTable</a:t>
            </a:r>
            <a:endParaRPr lang="en-US" dirty="0">
              <a:solidFill>
                <a:srgbClr val="0000FF"/>
              </a:solidFill>
            </a:endParaRPr>
          </a:p>
          <a:p>
            <a:r>
              <a:rPr lang="en-US" i="1" dirty="0">
                <a:solidFill>
                  <a:srgbClr val="0000FF"/>
                </a:solidFill>
              </a:rPr>
              <a:t>object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51413" y="3745257"/>
            <a:ext cx="15811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Entry</a:t>
            </a:r>
          </a:p>
          <a:p>
            <a:r>
              <a:rPr lang="en-US" i="1" dirty="0"/>
              <a:t>object</a:t>
            </a:r>
          </a:p>
        </p:txBody>
      </p:sp>
    </p:spTree>
    <p:extLst>
      <p:ext uri="{BB962C8B-B14F-4D97-AF65-F5344CB8AC3E}">
        <p14:creationId xmlns:p14="http://schemas.microsoft.com/office/powerpoint/2010/main" val="2252101960"/>
      </p:ext>
    </p:extLst>
  </p:cSld>
  <p:clrMapOvr>
    <a:masterClrMapping/>
  </p:clrMapOvr>
</p:sld>
</file>

<file path=ppt/slides/slide2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93558" y="906706"/>
            <a:ext cx="4716630" cy="108251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2" y="704850"/>
            <a:ext cx="8802687" cy="5614988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600" dirty="0">
                <a:solidFill>
                  <a:srgbClr val="FF0000"/>
                </a:solidFill>
                <a:latin typeface="Lucida Console" panose="020B0609040504020204" pitchFamily="49" charset="0"/>
              </a:rPr>
              <a:t>public class </a:t>
            </a:r>
            <a:r>
              <a:rPr lang="en-US" altLang="en-US" sz="16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OpenHashTable</a:t>
            </a:r>
            <a:r>
              <a:rPr lang="en-US" altLang="en-US" sz="160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1600" dirty="0">
                <a:solidFill>
                  <a:srgbClr val="008000"/>
                </a:solidFill>
                <a:latin typeface="Lucida Console" panose="020B0609040504020204" pitchFamily="49" charset="0"/>
              </a:rPr>
              <a:t>implements </a:t>
            </a:r>
            <a:r>
              <a:rPr lang="en-US" altLang="en-US" sz="1600" dirty="0" err="1">
                <a:solidFill>
                  <a:srgbClr val="008000"/>
                </a:solidFill>
                <a:latin typeface="Lucida Console" panose="020B0609040504020204" pitchFamily="49" charset="0"/>
              </a:rPr>
              <a:t>HashTable</a:t>
            </a:r>
            <a:r>
              <a:rPr lang="en-US" altLang="en-US" sz="1600" dirty="0">
                <a:solidFill>
                  <a:srgbClr val="FF0000"/>
                </a:solidFill>
                <a:latin typeface="Lucida Console" panose="020B0609040504020204" pitchFamily="49" charset="0"/>
              </a:rPr>
              <a:t> {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600" dirty="0">
                <a:solidFill>
                  <a:schemeClr val="accent2"/>
                </a:solidFill>
                <a:latin typeface="Lucida Console" panose="020B0609040504020204" pitchFamily="49" charset="0"/>
              </a:rPr>
              <a:t>    private class Entry {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600" dirty="0">
                <a:solidFill>
                  <a:schemeClr val="accent2"/>
                </a:solidFill>
                <a:latin typeface="Lucida Console" panose="020B0609040504020204" pitchFamily="49" charset="0"/>
              </a:rPr>
              <a:t>        </a:t>
            </a:r>
            <a:r>
              <a:rPr lang="en-US" altLang="en-US" sz="1600" b="1" dirty="0">
                <a:solidFill>
                  <a:schemeClr val="accent2"/>
                </a:solidFill>
                <a:latin typeface="Lucida Console" panose="020B0609040504020204" pitchFamily="49" charset="0"/>
              </a:rPr>
              <a:t>private Object key;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600" b="1" dirty="0">
                <a:solidFill>
                  <a:schemeClr val="accent2"/>
                </a:solidFill>
                <a:latin typeface="Lucida Console" panose="020B0609040504020204" pitchFamily="49" charset="0"/>
              </a:rPr>
              <a:t>        </a:t>
            </a:r>
            <a:r>
              <a:rPr lang="en-US" altLang="en-US" sz="1600" b="1" dirty="0">
                <a:solidFill>
                  <a:srgbClr val="CC0099"/>
                </a:solidFill>
                <a:latin typeface="Lucida Console" panose="020B0609040504020204" pitchFamily="49" charset="0"/>
              </a:rPr>
              <a:t>private </a:t>
            </a:r>
            <a:r>
              <a:rPr lang="en-US" altLang="en-US" sz="1600" b="1" dirty="0" err="1">
                <a:solidFill>
                  <a:srgbClr val="CC0099"/>
                </a:solidFill>
                <a:latin typeface="Lucida Console" panose="020B0609040504020204" pitchFamily="49" charset="0"/>
              </a:rPr>
              <a:t>LLQueue</a:t>
            </a:r>
            <a:r>
              <a:rPr lang="en-US" altLang="en-US" sz="1600" b="1" dirty="0">
                <a:solidFill>
                  <a:srgbClr val="CC0099"/>
                </a:solidFill>
                <a:latin typeface="Lucida Console" panose="020B0609040504020204" pitchFamily="49" charset="0"/>
              </a:rPr>
              <a:t>&lt;Object&gt; values;</a:t>
            </a:r>
            <a:endParaRPr lang="en-US" altLang="en-US" sz="1600" b="1" dirty="0">
              <a:solidFill>
                <a:schemeClr val="accent2"/>
              </a:solidFill>
              <a:latin typeface="Lucida Console" panose="020B0609040504020204" pitchFamily="49" charset="0"/>
            </a:endParaRPr>
          </a:p>
          <a:p>
            <a:pPr>
              <a:lnSpc>
                <a:spcPct val="5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600" dirty="0">
                <a:solidFill>
                  <a:schemeClr val="accent2"/>
                </a:solidFill>
                <a:latin typeface="Lucida Console" panose="020B0609040504020204" pitchFamily="49" charset="0"/>
              </a:rPr>
              <a:t>        …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600" dirty="0">
                <a:solidFill>
                  <a:schemeClr val="accent2"/>
                </a:solidFill>
                <a:latin typeface="Lucida Console" panose="020B0609040504020204" pitchFamily="49" charset="0"/>
              </a:rPr>
              <a:t>    }</a:t>
            </a:r>
          </a:p>
          <a:p>
            <a:pPr>
              <a:lnSpc>
                <a:spcPct val="5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600" dirty="0">
                <a:solidFill>
                  <a:schemeClr val="tx1"/>
                </a:solidFill>
                <a:latin typeface="Lucida Console" panose="020B0609040504020204" pitchFamily="49" charset="0"/>
              </a:rPr>
              <a:t>    …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600" dirty="0">
                <a:solidFill>
                  <a:srgbClr val="FF0000"/>
                </a:solidFill>
                <a:latin typeface="Lucida Console" panose="020B0609040504020204" pitchFamily="49" charset="0"/>
              </a:rPr>
              <a:t>    private Entry[] table;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600" dirty="0">
                <a:solidFill>
                  <a:srgbClr val="FF0000"/>
                </a:solidFill>
                <a:latin typeface="Lucida Console" panose="020B0609040504020204" pitchFamily="49" charset="0"/>
              </a:rPr>
              <a:t>    private </a:t>
            </a:r>
            <a:r>
              <a:rPr lang="en-US" altLang="en-US" sz="16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sz="160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16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probeType</a:t>
            </a:r>
            <a:r>
              <a:rPr lang="en-US" altLang="en-US" sz="1600" dirty="0">
                <a:solidFill>
                  <a:srgbClr val="FF0000"/>
                </a:solidFill>
                <a:latin typeface="Lucida Console" panose="020B0609040504020204" pitchFamily="49" charset="0"/>
              </a:rPr>
              <a:t>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600" dirty="0">
                <a:solidFill>
                  <a:srgbClr val="FF0000"/>
                </a:solidFill>
                <a:latin typeface="Lucida Console" panose="020B0609040504020204" pitchFamily="49" charset="0"/>
              </a:rPr>
              <a:t>}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endParaRPr lang="en-US" altLang="en-US" sz="160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>
              <a:lnSpc>
                <a:spcPct val="90000"/>
              </a:lnSpc>
              <a:spcBef>
                <a:spcPts val="1000"/>
              </a:spcBef>
              <a:buFontTx/>
              <a:buChar char="•"/>
              <a:tabLst>
                <a:tab pos="344488" algn="l"/>
                <a:tab pos="569913" algn="l"/>
                <a:tab pos="688975" algn="l"/>
              </a:tabLst>
            </a:pPr>
            <a:endParaRPr lang="en-US" altLang="en-US" dirty="0">
              <a:solidFill>
                <a:srgbClr val="FF0000"/>
              </a:solidFill>
            </a:endParaRPr>
          </a:p>
          <a:p>
            <a:pPr>
              <a:lnSpc>
                <a:spcPct val="90000"/>
              </a:lnSpc>
              <a:spcBef>
                <a:spcPts val="1000"/>
              </a:spcBef>
              <a:buFontTx/>
              <a:buChar char="•"/>
              <a:tabLst>
                <a:tab pos="344488" algn="l"/>
                <a:tab pos="569913" algn="l"/>
                <a:tab pos="688975" algn="l"/>
              </a:tabLst>
            </a:pPr>
            <a:endParaRPr lang="en-US" altLang="en-US" dirty="0"/>
          </a:p>
          <a:p>
            <a:pPr>
              <a:lnSpc>
                <a:spcPct val="90000"/>
              </a:lnSpc>
              <a:spcBef>
                <a:spcPts val="1000"/>
              </a:spcBef>
              <a:buFontTx/>
              <a:buChar char="•"/>
              <a:tabLst>
                <a:tab pos="344488" algn="l"/>
                <a:tab pos="569913" algn="l"/>
                <a:tab pos="688975" algn="l"/>
              </a:tabLst>
            </a:pPr>
            <a:endParaRPr lang="en-US" altLang="en-US" dirty="0"/>
          </a:p>
          <a:p>
            <a:pPr>
              <a:lnSpc>
                <a:spcPct val="90000"/>
              </a:lnSpc>
              <a:spcBef>
                <a:spcPts val="1000"/>
              </a:spcBef>
              <a:buFontTx/>
              <a:buChar char="•"/>
              <a:tabLst>
                <a:tab pos="344488" algn="l"/>
                <a:tab pos="569913" algn="l"/>
                <a:tab pos="688975" algn="l"/>
              </a:tabLst>
            </a:pPr>
            <a:endParaRPr lang="en-US" altLang="en-US" dirty="0"/>
          </a:p>
        </p:txBody>
      </p:sp>
      <p:graphicFrame>
        <p:nvGraphicFramePr>
          <p:cNvPr id="2245724" name="Group 9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0640510"/>
              </p:ext>
            </p:extLst>
          </p:nvPr>
        </p:nvGraphicFramePr>
        <p:xfrm>
          <a:off x="5311775" y="3187381"/>
          <a:ext cx="811213" cy="501650"/>
        </p:xfrm>
        <a:graphic>
          <a:graphicData uri="http://schemas.openxmlformats.org/drawingml/2006/table">
            <a:tbl>
              <a:tblPr/>
              <a:tblGrid>
                <a:gridCol w="8112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0825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  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  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245666" name="Group 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8124275"/>
              </p:ext>
            </p:extLst>
          </p:nvPr>
        </p:nvGraphicFramePr>
        <p:xfrm>
          <a:off x="5316538" y="2292031"/>
          <a:ext cx="811212" cy="501650"/>
        </p:xfrm>
        <a:graphic>
          <a:graphicData uri="http://schemas.openxmlformats.org/drawingml/2006/table">
            <a:tbl>
              <a:tblPr/>
              <a:tblGrid>
                <a:gridCol w="8112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0825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  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  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258763" y="-63500"/>
            <a:ext cx="8683625" cy="847725"/>
          </a:xfrm>
        </p:spPr>
        <p:txBody>
          <a:bodyPr/>
          <a:lstStyle/>
          <a:p>
            <a:r>
              <a:rPr lang="en-US" altLang="en-US" dirty="0"/>
              <a:t>An Implementation Using Open Addressing</a:t>
            </a:r>
            <a:endParaRPr lang="en-US" altLang="en-US" sz="1600" dirty="0"/>
          </a:p>
        </p:txBody>
      </p:sp>
      <p:graphicFrame>
        <p:nvGraphicFramePr>
          <p:cNvPr id="2245637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3788224"/>
              </p:ext>
            </p:extLst>
          </p:nvPr>
        </p:nvGraphicFramePr>
        <p:xfrm>
          <a:off x="2686050" y="2834956"/>
          <a:ext cx="2097088" cy="1830388"/>
        </p:xfrm>
        <a:graphic>
          <a:graphicData uri="http://schemas.openxmlformats.org/drawingml/2006/table">
            <a:tbl>
              <a:tblPr/>
              <a:tblGrid>
                <a:gridCol w="105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61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0</a:t>
                      </a:r>
                    </a:p>
                  </a:txBody>
                  <a:tcPr marL="0" marR="64008" marT="0" marB="0"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</a:t>
                      </a:r>
                    </a:p>
                  </a:txBody>
                  <a:tcPr marL="0" marR="64008" marT="0" marB="0"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</a:t>
                      </a:r>
                    </a:p>
                  </a:txBody>
                  <a:tcPr marL="0" marR="64008" marT="0" marB="0"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null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3</a:t>
                      </a:r>
                    </a:p>
                  </a:txBody>
                  <a:tcPr marL="0" marR="64008" marT="0" marB="0"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null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4</a:t>
                      </a:r>
                    </a:p>
                  </a:txBody>
                  <a:tcPr marL="0" marR="64008" marT="0" marB="0"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null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…</a:t>
                      </a:r>
                    </a:p>
                  </a:txBody>
                  <a:tcPr marL="0" marR="64008" marT="0" marB="0"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…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8394" name="Line 33"/>
          <p:cNvSpPr>
            <a:spLocks noChangeShapeType="1"/>
          </p:cNvSpPr>
          <p:nvPr/>
        </p:nvSpPr>
        <p:spPr bwMode="auto">
          <a:xfrm>
            <a:off x="5740400" y="2669856"/>
            <a:ext cx="78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endParaRPr lang="en-US"/>
          </a:p>
        </p:txBody>
      </p:sp>
      <p:graphicFrame>
        <p:nvGraphicFramePr>
          <p:cNvPr id="2245676" name="Group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9225157"/>
              </p:ext>
            </p:extLst>
          </p:nvPr>
        </p:nvGraphicFramePr>
        <p:xfrm>
          <a:off x="6532563" y="2604768"/>
          <a:ext cx="811212" cy="457200"/>
        </p:xfrm>
        <a:graphic>
          <a:graphicData uri="http://schemas.openxmlformats.org/drawingml/2006/table">
            <a:tbl>
              <a:tblPr/>
              <a:tblGrid>
                <a:gridCol w="8112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LLQueue</a:t>
                      </a:r>
                      <a:b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</a:b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object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CC0099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rgbClr val="CC0099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rgbClr val="CC0099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rgbClr val="CC0099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8413" name="Line 52"/>
          <p:cNvSpPr>
            <a:spLocks noChangeShapeType="1"/>
          </p:cNvSpPr>
          <p:nvPr/>
        </p:nvSpPr>
        <p:spPr bwMode="auto">
          <a:xfrm flipV="1">
            <a:off x="4243388" y="2660331"/>
            <a:ext cx="1077912" cy="3460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endParaRPr lang="en-US"/>
          </a:p>
        </p:txBody>
      </p:sp>
      <p:sp>
        <p:nvSpPr>
          <p:cNvPr id="58414" name="Line 53"/>
          <p:cNvSpPr>
            <a:spLocks noChangeShapeType="1"/>
          </p:cNvSpPr>
          <p:nvPr/>
        </p:nvSpPr>
        <p:spPr bwMode="auto">
          <a:xfrm>
            <a:off x="2640013" y="3131818"/>
            <a:ext cx="10874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endParaRPr lang="en-US"/>
          </a:p>
        </p:txBody>
      </p:sp>
      <p:graphicFrame>
        <p:nvGraphicFramePr>
          <p:cNvPr id="2245686" name="Group 5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8578055"/>
              </p:ext>
            </p:extLst>
          </p:nvPr>
        </p:nvGraphicFramePr>
        <p:xfrm>
          <a:off x="6529388" y="2277743"/>
          <a:ext cx="811212" cy="244475"/>
        </p:xfrm>
        <a:graphic>
          <a:graphicData uri="http://schemas.openxmlformats.org/drawingml/2006/table">
            <a:tbl>
              <a:tblPr/>
              <a:tblGrid>
                <a:gridCol w="8112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44475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"ant"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8421" name="Line 60"/>
          <p:cNvSpPr>
            <a:spLocks noChangeShapeType="1"/>
          </p:cNvSpPr>
          <p:nvPr/>
        </p:nvSpPr>
        <p:spPr bwMode="auto">
          <a:xfrm>
            <a:off x="5735638" y="2407918"/>
            <a:ext cx="78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endParaRPr lang="en-US"/>
          </a:p>
        </p:txBody>
      </p:sp>
      <p:sp>
        <p:nvSpPr>
          <p:cNvPr id="58422" name="Line 61"/>
          <p:cNvSpPr>
            <a:spLocks noChangeShapeType="1"/>
          </p:cNvSpPr>
          <p:nvPr/>
        </p:nvSpPr>
        <p:spPr bwMode="auto">
          <a:xfrm>
            <a:off x="5735638" y="3565206"/>
            <a:ext cx="78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endParaRPr lang="en-US"/>
          </a:p>
        </p:txBody>
      </p:sp>
      <p:graphicFrame>
        <p:nvGraphicFramePr>
          <p:cNvPr id="2245694" name="Group 6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3814601"/>
              </p:ext>
            </p:extLst>
          </p:nvPr>
        </p:nvGraphicFramePr>
        <p:xfrm>
          <a:off x="6524625" y="3173093"/>
          <a:ext cx="811213" cy="244475"/>
        </p:xfrm>
        <a:graphic>
          <a:graphicData uri="http://schemas.openxmlformats.org/drawingml/2006/table">
            <a:tbl>
              <a:tblPr/>
              <a:tblGrid>
                <a:gridCol w="8112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44475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"ape"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8429" name="Line 68"/>
          <p:cNvSpPr>
            <a:spLocks noChangeShapeType="1"/>
          </p:cNvSpPr>
          <p:nvPr/>
        </p:nvSpPr>
        <p:spPr bwMode="auto">
          <a:xfrm>
            <a:off x="5730875" y="3303268"/>
            <a:ext cx="78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endParaRPr lang="en-US"/>
          </a:p>
        </p:txBody>
      </p:sp>
      <p:sp>
        <p:nvSpPr>
          <p:cNvPr id="58430" name="Line 69"/>
          <p:cNvSpPr>
            <a:spLocks noChangeShapeType="1"/>
          </p:cNvSpPr>
          <p:nvPr/>
        </p:nvSpPr>
        <p:spPr bwMode="auto">
          <a:xfrm>
            <a:off x="4246563" y="3293743"/>
            <a:ext cx="1063625" cy="254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endParaRPr lang="en-US"/>
          </a:p>
        </p:txBody>
      </p:sp>
      <p:graphicFrame>
        <p:nvGraphicFramePr>
          <p:cNvPr id="2245734" name="Group 10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3850359"/>
              </p:ext>
            </p:extLst>
          </p:nvPr>
        </p:nvGraphicFramePr>
        <p:xfrm>
          <a:off x="989013" y="3006406"/>
          <a:ext cx="1992312" cy="519112"/>
        </p:xfrm>
        <a:graphic>
          <a:graphicData uri="http://schemas.openxmlformats.org/drawingml/2006/table">
            <a:tbl>
              <a:tblPr/>
              <a:tblGrid>
                <a:gridCol w="1247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45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1300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table</a:t>
                      </a:r>
                    </a:p>
                  </a:txBody>
                  <a:tcPr marL="0" marR="64008" marT="0" marB="0" anchor="ctr" horzOverflow="overflow">
                    <a:lnL cap="flat">
                      <a:noFill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7812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probeType</a:t>
                      </a:r>
                    </a:p>
                  </a:txBody>
                  <a:tcPr marL="0" marR="64008" marT="0" marB="0" anchor="ctr" horzOverflow="overflow">
                    <a:lnL cap="flat">
                      <a:noFill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LINEAR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3" name="Group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1440093"/>
              </p:ext>
            </p:extLst>
          </p:nvPr>
        </p:nvGraphicFramePr>
        <p:xfrm>
          <a:off x="6532563" y="3487418"/>
          <a:ext cx="811212" cy="457200"/>
        </p:xfrm>
        <a:graphic>
          <a:graphicData uri="http://schemas.openxmlformats.org/drawingml/2006/table">
            <a:tbl>
              <a:tblPr/>
              <a:tblGrid>
                <a:gridCol w="8112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LLQueue</a:t>
                      </a:r>
                      <a:b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</a:b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object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CC0099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rgbClr val="CC0099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rgbClr val="CC0099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rgbClr val="CC0099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1849438" y="3652198"/>
            <a:ext cx="1581150" cy="64633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err="1"/>
              <a:t>OpenHashTable</a:t>
            </a:r>
            <a:endParaRPr lang="en-US" dirty="0"/>
          </a:p>
          <a:p>
            <a:r>
              <a:rPr lang="en-US" i="1" dirty="0"/>
              <a:t>object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51413" y="3745257"/>
            <a:ext cx="1581150" cy="64633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00FF"/>
                </a:solidFill>
              </a:rPr>
              <a:t>Entry</a:t>
            </a:r>
          </a:p>
          <a:p>
            <a:r>
              <a:rPr lang="en-US" i="1" dirty="0">
                <a:solidFill>
                  <a:srgbClr val="0000FF"/>
                </a:solidFill>
              </a:rPr>
              <a:t>object</a:t>
            </a:r>
          </a:p>
        </p:txBody>
      </p:sp>
    </p:spTree>
    <p:extLst>
      <p:ext uri="{BB962C8B-B14F-4D97-AF65-F5344CB8AC3E}">
        <p14:creationId xmlns:p14="http://schemas.microsoft.com/office/powerpoint/2010/main" val="3225039317"/>
      </p:ext>
    </p:extLst>
  </p:cSld>
  <p:clrMapOvr>
    <a:masterClrMapping/>
  </p:clrMapOvr>
</p:sld>
</file>

<file path=ppt/slides/slide2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/>
          <p:cNvSpPr txBox="1"/>
          <p:nvPr/>
        </p:nvSpPr>
        <p:spPr>
          <a:xfrm>
            <a:off x="625642" y="4753340"/>
            <a:ext cx="8316746" cy="199194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2" y="704850"/>
            <a:ext cx="8802687" cy="5614988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600" dirty="0">
                <a:solidFill>
                  <a:srgbClr val="FF0000"/>
                </a:solidFill>
                <a:latin typeface="Lucida Console" panose="020B0609040504020204" pitchFamily="49" charset="0"/>
              </a:rPr>
              <a:t>public class </a:t>
            </a:r>
            <a:r>
              <a:rPr lang="en-US" altLang="en-US" sz="16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OpenHashTable</a:t>
            </a:r>
            <a:r>
              <a:rPr lang="en-US" altLang="en-US" sz="160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1600" dirty="0">
                <a:solidFill>
                  <a:srgbClr val="008000"/>
                </a:solidFill>
                <a:latin typeface="Lucida Console" panose="020B0609040504020204" pitchFamily="49" charset="0"/>
              </a:rPr>
              <a:t>implements </a:t>
            </a:r>
            <a:r>
              <a:rPr lang="en-US" altLang="en-US" sz="1600" dirty="0" err="1">
                <a:solidFill>
                  <a:srgbClr val="008000"/>
                </a:solidFill>
                <a:latin typeface="Lucida Console" panose="020B0609040504020204" pitchFamily="49" charset="0"/>
              </a:rPr>
              <a:t>HashTable</a:t>
            </a:r>
            <a:r>
              <a:rPr lang="en-US" altLang="en-US" sz="1600" dirty="0">
                <a:solidFill>
                  <a:srgbClr val="FF0000"/>
                </a:solidFill>
                <a:latin typeface="Lucida Console" panose="020B0609040504020204" pitchFamily="49" charset="0"/>
              </a:rPr>
              <a:t> {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600" dirty="0">
                <a:solidFill>
                  <a:schemeClr val="accent2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1600" b="1" dirty="0">
                <a:solidFill>
                  <a:schemeClr val="accent2"/>
                </a:solidFill>
                <a:latin typeface="Lucida Console" panose="020B0609040504020204" pitchFamily="49" charset="0"/>
              </a:rPr>
              <a:t>private class Entry {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600" b="1" dirty="0">
                <a:solidFill>
                  <a:schemeClr val="accent2"/>
                </a:solidFill>
                <a:latin typeface="Lucida Console" panose="020B0609040504020204" pitchFamily="49" charset="0"/>
              </a:rPr>
              <a:t>        private Object key;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600" b="1" dirty="0">
                <a:solidFill>
                  <a:schemeClr val="accent2"/>
                </a:solidFill>
                <a:latin typeface="Lucida Console" panose="020B0609040504020204" pitchFamily="49" charset="0"/>
              </a:rPr>
              <a:t>        </a:t>
            </a:r>
            <a:r>
              <a:rPr lang="en-US" altLang="en-US" sz="1600" b="1" dirty="0">
                <a:solidFill>
                  <a:srgbClr val="CC0099"/>
                </a:solidFill>
                <a:latin typeface="Lucida Console" panose="020B0609040504020204" pitchFamily="49" charset="0"/>
              </a:rPr>
              <a:t>private </a:t>
            </a:r>
            <a:r>
              <a:rPr lang="en-US" altLang="en-US" sz="1600" b="1" dirty="0" err="1">
                <a:solidFill>
                  <a:srgbClr val="CC0099"/>
                </a:solidFill>
                <a:latin typeface="Lucida Console" panose="020B0609040504020204" pitchFamily="49" charset="0"/>
              </a:rPr>
              <a:t>LLQueue</a:t>
            </a:r>
            <a:r>
              <a:rPr lang="en-US" altLang="en-US" sz="1600" b="1" dirty="0">
                <a:solidFill>
                  <a:srgbClr val="CC0099"/>
                </a:solidFill>
                <a:latin typeface="Lucida Console" panose="020B0609040504020204" pitchFamily="49" charset="0"/>
              </a:rPr>
              <a:t>&lt;Object&gt; values;</a:t>
            </a:r>
            <a:endParaRPr lang="en-US" altLang="en-US" sz="1600" b="1" dirty="0">
              <a:solidFill>
                <a:schemeClr val="accent2"/>
              </a:solidFill>
              <a:latin typeface="Lucida Console" panose="020B0609040504020204" pitchFamily="49" charset="0"/>
            </a:endParaRPr>
          </a:p>
          <a:p>
            <a:pPr>
              <a:lnSpc>
                <a:spcPct val="5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600" b="1" dirty="0">
                <a:solidFill>
                  <a:schemeClr val="accent2"/>
                </a:solidFill>
                <a:latin typeface="Lucida Console" panose="020B0609040504020204" pitchFamily="49" charset="0"/>
              </a:rPr>
              <a:t>        …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600" b="1" dirty="0">
                <a:solidFill>
                  <a:schemeClr val="accent2"/>
                </a:solidFill>
                <a:latin typeface="Lucida Console" panose="020B0609040504020204" pitchFamily="49" charset="0"/>
              </a:rPr>
              <a:t>    }</a:t>
            </a:r>
          </a:p>
          <a:p>
            <a:pPr>
              <a:lnSpc>
                <a:spcPct val="5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600" dirty="0">
                <a:solidFill>
                  <a:schemeClr val="tx1"/>
                </a:solidFill>
                <a:latin typeface="Lucida Console" panose="020B0609040504020204" pitchFamily="49" charset="0"/>
              </a:rPr>
              <a:t>    …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600" dirty="0">
                <a:solidFill>
                  <a:srgbClr val="FF0000"/>
                </a:solidFill>
                <a:latin typeface="Lucida Console" panose="020B0609040504020204" pitchFamily="49" charset="0"/>
              </a:rPr>
              <a:t>    private Entry[] table;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600" dirty="0">
                <a:solidFill>
                  <a:srgbClr val="FF0000"/>
                </a:solidFill>
                <a:latin typeface="Lucida Console" panose="020B0609040504020204" pitchFamily="49" charset="0"/>
              </a:rPr>
              <a:t>    private </a:t>
            </a:r>
            <a:r>
              <a:rPr lang="en-US" altLang="en-US" sz="16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sz="160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16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probeType</a:t>
            </a:r>
            <a:r>
              <a:rPr lang="en-US" altLang="en-US" sz="1600" dirty="0">
                <a:solidFill>
                  <a:srgbClr val="FF0000"/>
                </a:solidFill>
                <a:latin typeface="Lucida Console" panose="020B0609040504020204" pitchFamily="49" charset="0"/>
              </a:rPr>
              <a:t>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600" dirty="0">
                <a:solidFill>
                  <a:srgbClr val="FF0000"/>
                </a:solidFill>
                <a:latin typeface="Lucida Console" panose="020B0609040504020204" pitchFamily="49" charset="0"/>
              </a:rPr>
              <a:t>}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endParaRPr lang="en-US" altLang="en-US" sz="160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>
              <a:lnSpc>
                <a:spcPct val="90000"/>
              </a:lnSpc>
              <a:spcBef>
                <a:spcPts val="1000"/>
              </a:spcBef>
              <a:buFontTx/>
              <a:buChar char="•"/>
              <a:tabLst>
                <a:tab pos="344488" algn="l"/>
                <a:tab pos="569913" algn="l"/>
                <a:tab pos="688975" algn="l"/>
              </a:tabLst>
            </a:pPr>
            <a:endParaRPr lang="en-US" altLang="en-US" dirty="0">
              <a:solidFill>
                <a:srgbClr val="FF0000"/>
              </a:solidFill>
            </a:endParaRPr>
          </a:p>
          <a:p>
            <a:pPr>
              <a:lnSpc>
                <a:spcPct val="90000"/>
              </a:lnSpc>
              <a:spcBef>
                <a:spcPts val="1000"/>
              </a:spcBef>
              <a:buFontTx/>
              <a:buChar char="•"/>
              <a:tabLst>
                <a:tab pos="344488" algn="l"/>
                <a:tab pos="569913" algn="l"/>
                <a:tab pos="688975" algn="l"/>
              </a:tabLst>
            </a:pPr>
            <a:endParaRPr lang="en-US" altLang="en-US" dirty="0"/>
          </a:p>
          <a:p>
            <a:pPr>
              <a:lnSpc>
                <a:spcPct val="90000"/>
              </a:lnSpc>
              <a:spcBef>
                <a:spcPts val="1000"/>
              </a:spcBef>
              <a:buFontTx/>
              <a:buChar char="•"/>
              <a:tabLst>
                <a:tab pos="344488" algn="l"/>
                <a:tab pos="569913" algn="l"/>
                <a:tab pos="688975" algn="l"/>
              </a:tabLst>
            </a:pPr>
            <a:endParaRPr lang="en-US" altLang="en-US" dirty="0"/>
          </a:p>
          <a:p>
            <a:pPr>
              <a:lnSpc>
                <a:spcPct val="90000"/>
              </a:lnSpc>
              <a:spcBef>
                <a:spcPts val="1000"/>
              </a:spcBef>
              <a:buFontTx/>
              <a:buChar char="•"/>
              <a:tabLst>
                <a:tab pos="344488" algn="l"/>
                <a:tab pos="569913" algn="l"/>
                <a:tab pos="688975" algn="l"/>
              </a:tabLst>
            </a:pPr>
            <a:endParaRPr lang="en-US" altLang="en-US" dirty="0"/>
          </a:p>
          <a:p>
            <a:pPr>
              <a:lnSpc>
                <a:spcPct val="90000"/>
              </a:lnSpc>
              <a:spcBef>
                <a:spcPts val="1800"/>
              </a:spcBef>
              <a:buFontTx/>
              <a:buChar char="•"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dirty="0"/>
              <a:t>We use a private inner class for the entries in the hash table. Composed of: </a:t>
            </a:r>
          </a:p>
          <a:p>
            <a:pPr marL="0" indent="0">
              <a:lnSpc>
                <a:spcPct val="90000"/>
              </a:lnSpc>
              <a:spcBef>
                <a:spcPts val="1000"/>
              </a:spcBef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dirty="0"/>
              <a:t> </a:t>
            </a:r>
          </a:p>
        </p:txBody>
      </p:sp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258763" y="-63500"/>
            <a:ext cx="8683625" cy="847725"/>
          </a:xfrm>
        </p:spPr>
        <p:txBody>
          <a:bodyPr/>
          <a:lstStyle/>
          <a:p>
            <a:r>
              <a:rPr lang="en-US" altLang="en-US" dirty="0"/>
              <a:t>An Implementation Using Open Addressing</a:t>
            </a:r>
            <a:endParaRPr lang="en-US" altLang="en-US" sz="1600" dirty="0"/>
          </a:p>
        </p:txBody>
      </p:sp>
      <p:graphicFrame>
        <p:nvGraphicFramePr>
          <p:cNvPr id="2245637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3788224"/>
              </p:ext>
            </p:extLst>
          </p:nvPr>
        </p:nvGraphicFramePr>
        <p:xfrm>
          <a:off x="2686050" y="2834956"/>
          <a:ext cx="2097088" cy="1830388"/>
        </p:xfrm>
        <a:graphic>
          <a:graphicData uri="http://schemas.openxmlformats.org/drawingml/2006/table">
            <a:tbl>
              <a:tblPr/>
              <a:tblGrid>
                <a:gridCol w="105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61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0</a:t>
                      </a:r>
                    </a:p>
                  </a:txBody>
                  <a:tcPr marL="0" marR="64008" marT="0" marB="0"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</a:t>
                      </a:r>
                    </a:p>
                  </a:txBody>
                  <a:tcPr marL="0" marR="64008" marT="0" marB="0"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</a:t>
                      </a:r>
                    </a:p>
                  </a:txBody>
                  <a:tcPr marL="0" marR="64008" marT="0" marB="0"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null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3</a:t>
                      </a:r>
                    </a:p>
                  </a:txBody>
                  <a:tcPr marL="0" marR="64008" marT="0" marB="0"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null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4</a:t>
                      </a:r>
                    </a:p>
                  </a:txBody>
                  <a:tcPr marL="0" marR="64008" marT="0" marB="0"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null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…</a:t>
                      </a:r>
                    </a:p>
                  </a:txBody>
                  <a:tcPr marL="0" marR="64008" marT="0" marB="0"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…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8394" name="Line 33"/>
          <p:cNvSpPr>
            <a:spLocks noChangeShapeType="1"/>
          </p:cNvSpPr>
          <p:nvPr/>
        </p:nvSpPr>
        <p:spPr bwMode="auto">
          <a:xfrm>
            <a:off x="5740400" y="2669856"/>
            <a:ext cx="78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endParaRPr lang="en-US"/>
          </a:p>
        </p:txBody>
      </p:sp>
      <p:graphicFrame>
        <p:nvGraphicFramePr>
          <p:cNvPr id="2245666" name="Group 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2525702"/>
              </p:ext>
            </p:extLst>
          </p:nvPr>
        </p:nvGraphicFramePr>
        <p:xfrm>
          <a:off x="5316538" y="2292031"/>
          <a:ext cx="811212" cy="501650"/>
        </p:xfrm>
        <a:graphic>
          <a:graphicData uri="http://schemas.openxmlformats.org/drawingml/2006/table">
            <a:tbl>
              <a:tblPr/>
              <a:tblGrid>
                <a:gridCol w="8112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0825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  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  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245676" name="Group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9225157"/>
              </p:ext>
            </p:extLst>
          </p:nvPr>
        </p:nvGraphicFramePr>
        <p:xfrm>
          <a:off x="6532563" y="2604768"/>
          <a:ext cx="811212" cy="457200"/>
        </p:xfrm>
        <a:graphic>
          <a:graphicData uri="http://schemas.openxmlformats.org/drawingml/2006/table">
            <a:tbl>
              <a:tblPr/>
              <a:tblGrid>
                <a:gridCol w="8112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LLQueue</a:t>
                      </a:r>
                      <a:b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</a:b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object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CC0099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rgbClr val="CC0099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rgbClr val="CC0099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rgbClr val="CC0099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8413" name="Line 52"/>
          <p:cNvSpPr>
            <a:spLocks noChangeShapeType="1"/>
          </p:cNvSpPr>
          <p:nvPr/>
        </p:nvSpPr>
        <p:spPr bwMode="auto">
          <a:xfrm flipV="1">
            <a:off x="4243388" y="2660331"/>
            <a:ext cx="1077912" cy="3460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endParaRPr lang="en-US"/>
          </a:p>
        </p:txBody>
      </p:sp>
      <p:sp>
        <p:nvSpPr>
          <p:cNvPr id="58414" name="Line 53"/>
          <p:cNvSpPr>
            <a:spLocks noChangeShapeType="1"/>
          </p:cNvSpPr>
          <p:nvPr/>
        </p:nvSpPr>
        <p:spPr bwMode="auto">
          <a:xfrm>
            <a:off x="2640013" y="3131818"/>
            <a:ext cx="10874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endParaRPr lang="en-US"/>
          </a:p>
        </p:txBody>
      </p:sp>
      <p:graphicFrame>
        <p:nvGraphicFramePr>
          <p:cNvPr id="2245686" name="Group 5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8578055"/>
              </p:ext>
            </p:extLst>
          </p:nvPr>
        </p:nvGraphicFramePr>
        <p:xfrm>
          <a:off x="6529388" y="2277743"/>
          <a:ext cx="811212" cy="244475"/>
        </p:xfrm>
        <a:graphic>
          <a:graphicData uri="http://schemas.openxmlformats.org/drawingml/2006/table">
            <a:tbl>
              <a:tblPr/>
              <a:tblGrid>
                <a:gridCol w="8112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44475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"ant"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8421" name="Line 60"/>
          <p:cNvSpPr>
            <a:spLocks noChangeShapeType="1"/>
          </p:cNvSpPr>
          <p:nvPr/>
        </p:nvSpPr>
        <p:spPr bwMode="auto">
          <a:xfrm>
            <a:off x="5735638" y="2407918"/>
            <a:ext cx="78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endParaRPr lang="en-US"/>
          </a:p>
        </p:txBody>
      </p:sp>
      <p:sp>
        <p:nvSpPr>
          <p:cNvPr id="58422" name="Line 61"/>
          <p:cNvSpPr>
            <a:spLocks noChangeShapeType="1"/>
          </p:cNvSpPr>
          <p:nvPr/>
        </p:nvSpPr>
        <p:spPr bwMode="auto">
          <a:xfrm>
            <a:off x="5735638" y="3565206"/>
            <a:ext cx="78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endParaRPr lang="en-US"/>
          </a:p>
        </p:txBody>
      </p:sp>
      <p:graphicFrame>
        <p:nvGraphicFramePr>
          <p:cNvPr id="2245694" name="Group 6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3814601"/>
              </p:ext>
            </p:extLst>
          </p:nvPr>
        </p:nvGraphicFramePr>
        <p:xfrm>
          <a:off x="6524625" y="3173093"/>
          <a:ext cx="811213" cy="244475"/>
        </p:xfrm>
        <a:graphic>
          <a:graphicData uri="http://schemas.openxmlformats.org/drawingml/2006/table">
            <a:tbl>
              <a:tblPr/>
              <a:tblGrid>
                <a:gridCol w="8112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44475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"ape"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8429" name="Line 68"/>
          <p:cNvSpPr>
            <a:spLocks noChangeShapeType="1"/>
          </p:cNvSpPr>
          <p:nvPr/>
        </p:nvSpPr>
        <p:spPr bwMode="auto">
          <a:xfrm>
            <a:off x="5730875" y="3303268"/>
            <a:ext cx="78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endParaRPr lang="en-US"/>
          </a:p>
        </p:txBody>
      </p:sp>
      <p:sp>
        <p:nvSpPr>
          <p:cNvPr id="58430" name="Line 69"/>
          <p:cNvSpPr>
            <a:spLocks noChangeShapeType="1"/>
          </p:cNvSpPr>
          <p:nvPr/>
        </p:nvSpPr>
        <p:spPr bwMode="auto">
          <a:xfrm>
            <a:off x="4246563" y="3293743"/>
            <a:ext cx="1063625" cy="25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endParaRPr lang="en-US"/>
          </a:p>
        </p:txBody>
      </p:sp>
      <p:graphicFrame>
        <p:nvGraphicFramePr>
          <p:cNvPr id="2245724" name="Group 9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3794401"/>
              </p:ext>
            </p:extLst>
          </p:nvPr>
        </p:nvGraphicFramePr>
        <p:xfrm>
          <a:off x="5311775" y="3187381"/>
          <a:ext cx="811213" cy="501650"/>
        </p:xfrm>
        <a:graphic>
          <a:graphicData uri="http://schemas.openxmlformats.org/drawingml/2006/table">
            <a:tbl>
              <a:tblPr/>
              <a:tblGrid>
                <a:gridCol w="8112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0825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  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  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245734" name="Group 10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3850359"/>
              </p:ext>
            </p:extLst>
          </p:nvPr>
        </p:nvGraphicFramePr>
        <p:xfrm>
          <a:off x="989013" y="3006406"/>
          <a:ext cx="1992312" cy="519112"/>
        </p:xfrm>
        <a:graphic>
          <a:graphicData uri="http://schemas.openxmlformats.org/drawingml/2006/table">
            <a:tbl>
              <a:tblPr/>
              <a:tblGrid>
                <a:gridCol w="1247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45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1300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table</a:t>
                      </a:r>
                    </a:p>
                  </a:txBody>
                  <a:tcPr marL="0" marR="64008" marT="0" marB="0" anchor="ctr" horzOverflow="overflow">
                    <a:lnL cap="flat">
                      <a:noFill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7812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probeType</a:t>
                      </a:r>
                    </a:p>
                  </a:txBody>
                  <a:tcPr marL="0" marR="64008" marT="0" marB="0" anchor="ctr" horzOverflow="overflow">
                    <a:lnL cap="flat">
                      <a:noFill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LINEAR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3" name="Group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1440093"/>
              </p:ext>
            </p:extLst>
          </p:nvPr>
        </p:nvGraphicFramePr>
        <p:xfrm>
          <a:off x="6532563" y="3487418"/>
          <a:ext cx="811212" cy="457200"/>
        </p:xfrm>
        <a:graphic>
          <a:graphicData uri="http://schemas.openxmlformats.org/drawingml/2006/table">
            <a:tbl>
              <a:tblPr/>
              <a:tblGrid>
                <a:gridCol w="8112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LLQueue</a:t>
                      </a:r>
                      <a:b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</a:b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object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CC0099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rgbClr val="CC0099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rgbClr val="CC0099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rgbClr val="CC0099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27400190"/>
      </p:ext>
    </p:extLst>
  </p:cSld>
  <p:clrMapOvr>
    <a:masterClrMapping/>
  </p:clrMapOvr>
</p:sld>
</file>

<file path=ppt/slides/slide2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5642" y="4753340"/>
            <a:ext cx="8316746" cy="199194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2" y="704850"/>
            <a:ext cx="8802687" cy="5614988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600" dirty="0">
                <a:solidFill>
                  <a:srgbClr val="FF0000"/>
                </a:solidFill>
                <a:latin typeface="Lucida Console" panose="020B0609040504020204" pitchFamily="49" charset="0"/>
              </a:rPr>
              <a:t>public class </a:t>
            </a:r>
            <a:r>
              <a:rPr lang="en-US" altLang="en-US" sz="16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OpenHashTable</a:t>
            </a:r>
            <a:r>
              <a:rPr lang="en-US" altLang="en-US" sz="160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1600" dirty="0">
                <a:solidFill>
                  <a:srgbClr val="008000"/>
                </a:solidFill>
                <a:latin typeface="Lucida Console" panose="020B0609040504020204" pitchFamily="49" charset="0"/>
              </a:rPr>
              <a:t>implements </a:t>
            </a:r>
            <a:r>
              <a:rPr lang="en-US" altLang="en-US" sz="1600" dirty="0" err="1">
                <a:solidFill>
                  <a:srgbClr val="008000"/>
                </a:solidFill>
                <a:latin typeface="Lucida Console" panose="020B0609040504020204" pitchFamily="49" charset="0"/>
              </a:rPr>
              <a:t>HashTable</a:t>
            </a:r>
            <a:r>
              <a:rPr lang="en-US" altLang="en-US" sz="1600" dirty="0">
                <a:solidFill>
                  <a:srgbClr val="FF0000"/>
                </a:solidFill>
                <a:latin typeface="Lucida Console" panose="020B0609040504020204" pitchFamily="49" charset="0"/>
              </a:rPr>
              <a:t> {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600" dirty="0">
                <a:solidFill>
                  <a:schemeClr val="accent2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1600" b="1" dirty="0">
                <a:solidFill>
                  <a:schemeClr val="accent2"/>
                </a:solidFill>
                <a:latin typeface="Lucida Console" panose="020B0609040504020204" pitchFamily="49" charset="0"/>
              </a:rPr>
              <a:t>private class Entry {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600" b="1" dirty="0">
                <a:solidFill>
                  <a:schemeClr val="accent2"/>
                </a:solidFill>
                <a:latin typeface="Lucida Console" panose="020B0609040504020204" pitchFamily="49" charset="0"/>
              </a:rPr>
              <a:t>        private Object key;					// key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600" b="1" dirty="0">
                <a:solidFill>
                  <a:schemeClr val="accent2"/>
                </a:solidFill>
                <a:latin typeface="Lucida Console" panose="020B0609040504020204" pitchFamily="49" charset="0"/>
              </a:rPr>
              <a:t>        </a:t>
            </a:r>
            <a:r>
              <a:rPr lang="en-US" altLang="en-US" sz="1600" b="1" dirty="0">
                <a:solidFill>
                  <a:srgbClr val="CC0099"/>
                </a:solidFill>
                <a:latin typeface="Lucida Console" panose="020B0609040504020204" pitchFamily="49" charset="0"/>
              </a:rPr>
              <a:t>private </a:t>
            </a:r>
            <a:r>
              <a:rPr lang="en-US" altLang="en-US" sz="1600" b="1" dirty="0" err="1">
                <a:solidFill>
                  <a:srgbClr val="CC0099"/>
                </a:solidFill>
                <a:latin typeface="Lucida Console" panose="020B0609040504020204" pitchFamily="49" charset="0"/>
              </a:rPr>
              <a:t>LLQueue</a:t>
            </a:r>
            <a:r>
              <a:rPr lang="en-US" altLang="en-US" sz="1600" b="1" dirty="0">
                <a:solidFill>
                  <a:srgbClr val="CC0099"/>
                </a:solidFill>
                <a:latin typeface="Lucida Console" panose="020B0609040504020204" pitchFamily="49" charset="0"/>
              </a:rPr>
              <a:t>&lt;Object&gt; values;		</a:t>
            </a:r>
            <a:endParaRPr lang="en-US" altLang="en-US" sz="1600" b="1" dirty="0">
              <a:solidFill>
                <a:schemeClr val="accent2"/>
              </a:solidFill>
              <a:latin typeface="Lucida Console" panose="020B0609040504020204" pitchFamily="49" charset="0"/>
            </a:endParaRPr>
          </a:p>
          <a:p>
            <a:pPr>
              <a:lnSpc>
                <a:spcPct val="5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600" b="1" dirty="0">
                <a:solidFill>
                  <a:schemeClr val="accent2"/>
                </a:solidFill>
                <a:latin typeface="Lucida Console" panose="020B0609040504020204" pitchFamily="49" charset="0"/>
              </a:rPr>
              <a:t>        …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600" b="1" dirty="0">
                <a:solidFill>
                  <a:schemeClr val="accent2"/>
                </a:solidFill>
                <a:latin typeface="Lucida Console" panose="020B0609040504020204" pitchFamily="49" charset="0"/>
              </a:rPr>
              <a:t>    }</a:t>
            </a:r>
          </a:p>
          <a:p>
            <a:pPr>
              <a:lnSpc>
                <a:spcPct val="5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600" dirty="0">
                <a:solidFill>
                  <a:schemeClr val="tx1"/>
                </a:solidFill>
                <a:latin typeface="Lucida Console" panose="020B0609040504020204" pitchFamily="49" charset="0"/>
              </a:rPr>
              <a:t>    …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600" dirty="0">
                <a:solidFill>
                  <a:srgbClr val="FF0000"/>
                </a:solidFill>
                <a:latin typeface="Lucida Console" panose="020B0609040504020204" pitchFamily="49" charset="0"/>
              </a:rPr>
              <a:t>    private Entry[] table;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600" dirty="0">
                <a:solidFill>
                  <a:srgbClr val="FF0000"/>
                </a:solidFill>
                <a:latin typeface="Lucida Console" panose="020B0609040504020204" pitchFamily="49" charset="0"/>
              </a:rPr>
              <a:t>    private </a:t>
            </a:r>
            <a:r>
              <a:rPr lang="en-US" altLang="en-US" sz="16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sz="160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16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probeType</a:t>
            </a:r>
            <a:r>
              <a:rPr lang="en-US" altLang="en-US" sz="1600" dirty="0">
                <a:solidFill>
                  <a:srgbClr val="FF0000"/>
                </a:solidFill>
                <a:latin typeface="Lucida Console" panose="020B0609040504020204" pitchFamily="49" charset="0"/>
              </a:rPr>
              <a:t>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600" dirty="0">
                <a:solidFill>
                  <a:srgbClr val="FF0000"/>
                </a:solidFill>
                <a:latin typeface="Lucida Console" panose="020B0609040504020204" pitchFamily="49" charset="0"/>
              </a:rPr>
              <a:t>}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endParaRPr lang="en-US" altLang="en-US" sz="160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>
              <a:lnSpc>
                <a:spcPct val="90000"/>
              </a:lnSpc>
              <a:spcBef>
                <a:spcPts val="1000"/>
              </a:spcBef>
              <a:buFontTx/>
              <a:buChar char="•"/>
              <a:tabLst>
                <a:tab pos="344488" algn="l"/>
                <a:tab pos="569913" algn="l"/>
                <a:tab pos="688975" algn="l"/>
              </a:tabLst>
            </a:pPr>
            <a:endParaRPr lang="en-US" altLang="en-US" dirty="0">
              <a:solidFill>
                <a:srgbClr val="FF0000"/>
              </a:solidFill>
            </a:endParaRPr>
          </a:p>
          <a:p>
            <a:pPr>
              <a:lnSpc>
                <a:spcPct val="90000"/>
              </a:lnSpc>
              <a:spcBef>
                <a:spcPts val="1000"/>
              </a:spcBef>
              <a:buFontTx/>
              <a:buChar char="•"/>
              <a:tabLst>
                <a:tab pos="344488" algn="l"/>
                <a:tab pos="569913" algn="l"/>
                <a:tab pos="688975" algn="l"/>
              </a:tabLst>
            </a:pPr>
            <a:endParaRPr lang="en-US" altLang="en-US" dirty="0"/>
          </a:p>
          <a:p>
            <a:pPr>
              <a:lnSpc>
                <a:spcPct val="90000"/>
              </a:lnSpc>
              <a:spcBef>
                <a:spcPts val="1000"/>
              </a:spcBef>
              <a:buFontTx/>
              <a:buChar char="•"/>
              <a:tabLst>
                <a:tab pos="344488" algn="l"/>
                <a:tab pos="569913" algn="l"/>
                <a:tab pos="688975" algn="l"/>
              </a:tabLst>
            </a:pPr>
            <a:endParaRPr lang="en-US" altLang="en-US" dirty="0"/>
          </a:p>
          <a:p>
            <a:pPr>
              <a:lnSpc>
                <a:spcPct val="90000"/>
              </a:lnSpc>
              <a:spcBef>
                <a:spcPts val="1000"/>
              </a:spcBef>
              <a:buFontTx/>
              <a:buChar char="•"/>
              <a:tabLst>
                <a:tab pos="344488" algn="l"/>
                <a:tab pos="569913" algn="l"/>
                <a:tab pos="688975" algn="l"/>
              </a:tabLst>
            </a:pPr>
            <a:endParaRPr lang="en-US" altLang="en-US" dirty="0"/>
          </a:p>
          <a:p>
            <a:pPr>
              <a:lnSpc>
                <a:spcPct val="90000"/>
              </a:lnSpc>
              <a:spcBef>
                <a:spcPts val="1800"/>
              </a:spcBef>
              <a:buFontTx/>
              <a:buChar char="•"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dirty="0"/>
              <a:t>We use a private inner class for the entries in the hash table. Composed of:</a:t>
            </a:r>
          </a:p>
          <a:p>
            <a:pPr lvl="1">
              <a:lnSpc>
                <a:spcPct val="90000"/>
              </a:lnSpc>
              <a:spcBef>
                <a:spcPts val="1800"/>
              </a:spcBef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dirty="0">
                <a:solidFill>
                  <a:schemeClr val="accent2"/>
                </a:solidFill>
              </a:rPr>
              <a:t>a </a:t>
            </a:r>
            <a:r>
              <a:rPr lang="en-US" altLang="en-US" i="1" dirty="0">
                <a:solidFill>
                  <a:schemeClr val="accent2"/>
                </a:solidFill>
              </a:rPr>
              <a:t>reference to a </a:t>
            </a:r>
            <a:r>
              <a:rPr lang="en-US" altLang="en-US" dirty="0">
                <a:solidFill>
                  <a:schemeClr val="accent2"/>
                </a:solidFill>
              </a:rPr>
              <a:t>key </a:t>
            </a:r>
          </a:p>
          <a:p>
            <a:pPr marL="0" indent="0">
              <a:lnSpc>
                <a:spcPct val="90000"/>
              </a:lnSpc>
              <a:spcBef>
                <a:spcPts val="1000"/>
              </a:spcBef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dirty="0"/>
              <a:t> </a:t>
            </a:r>
          </a:p>
        </p:txBody>
      </p:sp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258763" y="-63500"/>
            <a:ext cx="8683625" cy="847725"/>
          </a:xfrm>
        </p:spPr>
        <p:txBody>
          <a:bodyPr/>
          <a:lstStyle/>
          <a:p>
            <a:r>
              <a:rPr lang="en-US" altLang="en-US" dirty="0"/>
              <a:t>An Implementation Using Open Addressing</a:t>
            </a:r>
            <a:endParaRPr lang="en-US" altLang="en-US" sz="1600" dirty="0"/>
          </a:p>
        </p:txBody>
      </p:sp>
      <p:graphicFrame>
        <p:nvGraphicFramePr>
          <p:cNvPr id="2245637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3788224"/>
              </p:ext>
            </p:extLst>
          </p:nvPr>
        </p:nvGraphicFramePr>
        <p:xfrm>
          <a:off x="2686050" y="2834956"/>
          <a:ext cx="2097088" cy="1830388"/>
        </p:xfrm>
        <a:graphic>
          <a:graphicData uri="http://schemas.openxmlformats.org/drawingml/2006/table">
            <a:tbl>
              <a:tblPr/>
              <a:tblGrid>
                <a:gridCol w="105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61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0</a:t>
                      </a:r>
                    </a:p>
                  </a:txBody>
                  <a:tcPr marL="0" marR="64008" marT="0" marB="0"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</a:t>
                      </a:r>
                    </a:p>
                  </a:txBody>
                  <a:tcPr marL="0" marR="64008" marT="0" marB="0"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</a:t>
                      </a:r>
                    </a:p>
                  </a:txBody>
                  <a:tcPr marL="0" marR="64008" marT="0" marB="0"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null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3</a:t>
                      </a:r>
                    </a:p>
                  </a:txBody>
                  <a:tcPr marL="0" marR="64008" marT="0" marB="0"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null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4</a:t>
                      </a:r>
                    </a:p>
                  </a:txBody>
                  <a:tcPr marL="0" marR="64008" marT="0" marB="0"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null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…</a:t>
                      </a:r>
                    </a:p>
                  </a:txBody>
                  <a:tcPr marL="0" marR="64008" marT="0" marB="0"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…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8394" name="Line 33"/>
          <p:cNvSpPr>
            <a:spLocks noChangeShapeType="1"/>
          </p:cNvSpPr>
          <p:nvPr/>
        </p:nvSpPr>
        <p:spPr bwMode="auto">
          <a:xfrm>
            <a:off x="5740400" y="2669856"/>
            <a:ext cx="78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endParaRPr lang="en-US"/>
          </a:p>
        </p:txBody>
      </p:sp>
      <p:graphicFrame>
        <p:nvGraphicFramePr>
          <p:cNvPr id="2245666" name="Group 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2525702"/>
              </p:ext>
            </p:extLst>
          </p:nvPr>
        </p:nvGraphicFramePr>
        <p:xfrm>
          <a:off x="5316538" y="2292031"/>
          <a:ext cx="811212" cy="501650"/>
        </p:xfrm>
        <a:graphic>
          <a:graphicData uri="http://schemas.openxmlformats.org/drawingml/2006/table">
            <a:tbl>
              <a:tblPr/>
              <a:tblGrid>
                <a:gridCol w="8112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0825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  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  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245676" name="Group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9225157"/>
              </p:ext>
            </p:extLst>
          </p:nvPr>
        </p:nvGraphicFramePr>
        <p:xfrm>
          <a:off x="6532563" y="2604768"/>
          <a:ext cx="811212" cy="457200"/>
        </p:xfrm>
        <a:graphic>
          <a:graphicData uri="http://schemas.openxmlformats.org/drawingml/2006/table">
            <a:tbl>
              <a:tblPr/>
              <a:tblGrid>
                <a:gridCol w="8112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LLQueue</a:t>
                      </a:r>
                      <a:b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</a:b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object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CC0099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rgbClr val="CC0099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rgbClr val="CC0099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rgbClr val="CC0099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8413" name="Line 52"/>
          <p:cNvSpPr>
            <a:spLocks noChangeShapeType="1"/>
          </p:cNvSpPr>
          <p:nvPr/>
        </p:nvSpPr>
        <p:spPr bwMode="auto">
          <a:xfrm flipV="1">
            <a:off x="4243388" y="2660331"/>
            <a:ext cx="1077912" cy="3460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endParaRPr lang="en-US"/>
          </a:p>
        </p:txBody>
      </p:sp>
      <p:sp>
        <p:nvSpPr>
          <p:cNvPr id="58414" name="Line 53"/>
          <p:cNvSpPr>
            <a:spLocks noChangeShapeType="1"/>
          </p:cNvSpPr>
          <p:nvPr/>
        </p:nvSpPr>
        <p:spPr bwMode="auto">
          <a:xfrm>
            <a:off x="2640013" y="3131818"/>
            <a:ext cx="10874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endParaRPr lang="en-US"/>
          </a:p>
        </p:txBody>
      </p:sp>
      <p:graphicFrame>
        <p:nvGraphicFramePr>
          <p:cNvPr id="2245686" name="Group 5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8578055"/>
              </p:ext>
            </p:extLst>
          </p:nvPr>
        </p:nvGraphicFramePr>
        <p:xfrm>
          <a:off x="6529388" y="2277743"/>
          <a:ext cx="811212" cy="244475"/>
        </p:xfrm>
        <a:graphic>
          <a:graphicData uri="http://schemas.openxmlformats.org/drawingml/2006/table">
            <a:tbl>
              <a:tblPr/>
              <a:tblGrid>
                <a:gridCol w="8112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44475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"ant"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8421" name="Line 60"/>
          <p:cNvSpPr>
            <a:spLocks noChangeShapeType="1"/>
          </p:cNvSpPr>
          <p:nvPr/>
        </p:nvSpPr>
        <p:spPr bwMode="auto">
          <a:xfrm>
            <a:off x="5735638" y="2407918"/>
            <a:ext cx="78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endParaRPr lang="en-US"/>
          </a:p>
        </p:txBody>
      </p:sp>
      <p:sp>
        <p:nvSpPr>
          <p:cNvPr id="58422" name="Line 61"/>
          <p:cNvSpPr>
            <a:spLocks noChangeShapeType="1"/>
          </p:cNvSpPr>
          <p:nvPr/>
        </p:nvSpPr>
        <p:spPr bwMode="auto">
          <a:xfrm>
            <a:off x="5735638" y="3565206"/>
            <a:ext cx="78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endParaRPr lang="en-US"/>
          </a:p>
        </p:txBody>
      </p:sp>
      <p:graphicFrame>
        <p:nvGraphicFramePr>
          <p:cNvPr id="2245694" name="Group 6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3814601"/>
              </p:ext>
            </p:extLst>
          </p:nvPr>
        </p:nvGraphicFramePr>
        <p:xfrm>
          <a:off x="6524625" y="3173093"/>
          <a:ext cx="811213" cy="244475"/>
        </p:xfrm>
        <a:graphic>
          <a:graphicData uri="http://schemas.openxmlformats.org/drawingml/2006/table">
            <a:tbl>
              <a:tblPr/>
              <a:tblGrid>
                <a:gridCol w="8112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44475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"ape"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8429" name="Line 68"/>
          <p:cNvSpPr>
            <a:spLocks noChangeShapeType="1"/>
          </p:cNvSpPr>
          <p:nvPr/>
        </p:nvSpPr>
        <p:spPr bwMode="auto">
          <a:xfrm>
            <a:off x="5730875" y="3303268"/>
            <a:ext cx="78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endParaRPr lang="en-US"/>
          </a:p>
        </p:txBody>
      </p:sp>
      <p:sp>
        <p:nvSpPr>
          <p:cNvPr id="58430" name="Line 69"/>
          <p:cNvSpPr>
            <a:spLocks noChangeShapeType="1"/>
          </p:cNvSpPr>
          <p:nvPr/>
        </p:nvSpPr>
        <p:spPr bwMode="auto">
          <a:xfrm>
            <a:off x="4246563" y="3293743"/>
            <a:ext cx="1063625" cy="25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endParaRPr lang="en-US"/>
          </a:p>
        </p:txBody>
      </p:sp>
      <p:graphicFrame>
        <p:nvGraphicFramePr>
          <p:cNvPr id="2245724" name="Group 9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3794401"/>
              </p:ext>
            </p:extLst>
          </p:nvPr>
        </p:nvGraphicFramePr>
        <p:xfrm>
          <a:off x="5311775" y="3187381"/>
          <a:ext cx="811213" cy="501650"/>
        </p:xfrm>
        <a:graphic>
          <a:graphicData uri="http://schemas.openxmlformats.org/drawingml/2006/table">
            <a:tbl>
              <a:tblPr/>
              <a:tblGrid>
                <a:gridCol w="8112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0825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  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  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245734" name="Group 10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3850359"/>
              </p:ext>
            </p:extLst>
          </p:nvPr>
        </p:nvGraphicFramePr>
        <p:xfrm>
          <a:off x="989013" y="3006406"/>
          <a:ext cx="1992312" cy="519112"/>
        </p:xfrm>
        <a:graphic>
          <a:graphicData uri="http://schemas.openxmlformats.org/drawingml/2006/table">
            <a:tbl>
              <a:tblPr/>
              <a:tblGrid>
                <a:gridCol w="1247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45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1300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table</a:t>
                      </a:r>
                    </a:p>
                  </a:txBody>
                  <a:tcPr marL="0" marR="64008" marT="0" marB="0" anchor="ctr" horzOverflow="overflow">
                    <a:lnL cap="flat">
                      <a:noFill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7812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probeType</a:t>
                      </a:r>
                    </a:p>
                  </a:txBody>
                  <a:tcPr marL="0" marR="64008" marT="0" marB="0" anchor="ctr" horzOverflow="overflow">
                    <a:lnL cap="flat">
                      <a:noFill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LINEAR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3" name="Group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1440093"/>
              </p:ext>
            </p:extLst>
          </p:nvPr>
        </p:nvGraphicFramePr>
        <p:xfrm>
          <a:off x="6532563" y="3487418"/>
          <a:ext cx="811212" cy="457200"/>
        </p:xfrm>
        <a:graphic>
          <a:graphicData uri="http://schemas.openxmlformats.org/drawingml/2006/table">
            <a:tbl>
              <a:tblPr/>
              <a:tblGrid>
                <a:gridCol w="8112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LLQueue</a:t>
                      </a:r>
                      <a:b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</a:b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object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CC0099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rgbClr val="CC0099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rgbClr val="CC0099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rgbClr val="CC0099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0227787"/>
      </p:ext>
    </p:extLst>
  </p:cSld>
  <p:clrMapOvr>
    <a:masterClrMapping/>
  </p:clrMapOvr>
</p:sld>
</file>

<file path=ppt/slides/slide2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/>
          <p:cNvSpPr txBox="1"/>
          <p:nvPr/>
        </p:nvSpPr>
        <p:spPr>
          <a:xfrm>
            <a:off x="625642" y="4753340"/>
            <a:ext cx="8316746" cy="199194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2" y="704850"/>
            <a:ext cx="8802687" cy="5614988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600" dirty="0">
                <a:solidFill>
                  <a:srgbClr val="FF0000"/>
                </a:solidFill>
                <a:latin typeface="Lucida Console" panose="020B0609040504020204" pitchFamily="49" charset="0"/>
              </a:rPr>
              <a:t>public class </a:t>
            </a:r>
            <a:r>
              <a:rPr lang="en-US" altLang="en-US" sz="16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OpenHashTable</a:t>
            </a:r>
            <a:r>
              <a:rPr lang="en-US" altLang="en-US" sz="160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1600" dirty="0">
                <a:solidFill>
                  <a:srgbClr val="008000"/>
                </a:solidFill>
                <a:latin typeface="Lucida Console" panose="020B0609040504020204" pitchFamily="49" charset="0"/>
              </a:rPr>
              <a:t>implements </a:t>
            </a:r>
            <a:r>
              <a:rPr lang="en-US" altLang="en-US" sz="1600" dirty="0" err="1">
                <a:solidFill>
                  <a:srgbClr val="008000"/>
                </a:solidFill>
                <a:latin typeface="Lucida Console" panose="020B0609040504020204" pitchFamily="49" charset="0"/>
              </a:rPr>
              <a:t>HashTable</a:t>
            </a:r>
            <a:r>
              <a:rPr lang="en-US" altLang="en-US" sz="1600" dirty="0">
                <a:solidFill>
                  <a:srgbClr val="FF0000"/>
                </a:solidFill>
                <a:latin typeface="Lucida Console" panose="020B0609040504020204" pitchFamily="49" charset="0"/>
              </a:rPr>
              <a:t> {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600" dirty="0">
                <a:solidFill>
                  <a:schemeClr val="accent2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1600" b="1" dirty="0">
                <a:solidFill>
                  <a:schemeClr val="accent2"/>
                </a:solidFill>
                <a:latin typeface="Lucida Console" panose="020B0609040504020204" pitchFamily="49" charset="0"/>
              </a:rPr>
              <a:t>private class Entry {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600" b="1" dirty="0">
                <a:solidFill>
                  <a:schemeClr val="accent2"/>
                </a:solidFill>
                <a:latin typeface="Lucida Console" panose="020B0609040504020204" pitchFamily="49" charset="0"/>
              </a:rPr>
              <a:t>        private Object key;					// key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600" b="1" dirty="0">
                <a:solidFill>
                  <a:schemeClr val="accent2"/>
                </a:solidFill>
                <a:latin typeface="Lucida Console" panose="020B0609040504020204" pitchFamily="49" charset="0"/>
              </a:rPr>
              <a:t>        </a:t>
            </a:r>
            <a:r>
              <a:rPr lang="en-US" altLang="en-US" sz="1600" b="1" dirty="0">
                <a:solidFill>
                  <a:srgbClr val="CC0099"/>
                </a:solidFill>
                <a:latin typeface="Lucida Console" panose="020B0609040504020204" pitchFamily="49" charset="0"/>
              </a:rPr>
              <a:t>private </a:t>
            </a:r>
            <a:r>
              <a:rPr lang="en-US" altLang="en-US" sz="1600" b="1" dirty="0" err="1">
                <a:solidFill>
                  <a:srgbClr val="CC0099"/>
                </a:solidFill>
                <a:latin typeface="Lucida Console" panose="020B0609040504020204" pitchFamily="49" charset="0"/>
              </a:rPr>
              <a:t>LLQueue</a:t>
            </a:r>
            <a:r>
              <a:rPr lang="en-US" altLang="en-US" sz="1600" b="1" dirty="0">
                <a:solidFill>
                  <a:srgbClr val="CC0099"/>
                </a:solidFill>
                <a:latin typeface="Lucida Console" panose="020B0609040504020204" pitchFamily="49" charset="0"/>
              </a:rPr>
              <a:t>&lt;Object&gt; values;		// value</a:t>
            </a:r>
            <a:endParaRPr lang="en-US" altLang="en-US" sz="1600" b="1" dirty="0">
              <a:solidFill>
                <a:schemeClr val="accent2"/>
              </a:solidFill>
              <a:latin typeface="Lucida Console" panose="020B0609040504020204" pitchFamily="49" charset="0"/>
            </a:endParaRPr>
          </a:p>
          <a:p>
            <a:pPr>
              <a:lnSpc>
                <a:spcPct val="5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600" b="1" dirty="0">
                <a:solidFill>
                  <a:schemeClr val="accent2"/>
                </a:solidFill>
                <a:latin typeface="Lucida Console" panose="020B0609040504020204" pitchFamily="49" charset="0"/>
              </a:rPr>
              <a:t>        …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600" b="1" dirty="0">
                <a:solidFill>
                  <a:schemeClr val="accent2"/>
                </a:solidFill>
                <a:latin typeface="Lucida Console" panose="020B0609040504020204" pitchFamily="49" charset="0"/>
              </a:rPr>
              <a:t>    }</a:t>
            </a:r>
          </a:p>
          <a:p>
            <a:pPr>
              <a:lnSpc>
                <a:spcPct val="5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600" dirty="0">
                <a:solidFill>
                  <a:schemeClr val="tx1"/>
                </a:solidFill>
                <a:latin typeface="Lucida Console" panose="020B0609040504020204" pitchFamily="49" charset="0"/>
              </a:rPr>
              <a:t>    …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600" dirty="0">
                <a:solidFill>
                  <a:srgbClr val="FF0000"/>
                </a:solidFill>
                <a:latin typeface="Lucida Console" panose="020B0609040504020204" pitchFamily="49" charset="0"/>
              </a:rPr>
              <a:t>    private Entry[] table;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600" dirty="0">
                <a:solidFill>
                  <a:srgbClr val="FF0000"/>
                </a:solidFill>
                <a:latin typeface="Lucida Console" panose="020B0609040504020204" pitchFamily="49" charset="0"/>
              </a:rPr>
              <a:t>    private </a:t>
            </a:r>
            <a:r>
              <a:rPr lang="en-US" altLang="en-US" sz="16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sz="160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16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probeType</a:t>
            </a:r>
            <a:r>
              <a:rPr lang="en-US" altLang="en-US" sz="1600" dirty="0">
                <a:solidFill>
                  <a:srgbClr val="FF0000"/>
                </a:solidFill>
                <a:latin typeface="Lucida Console" panose="020B0609040504020204" pitchFamily="49" charset="0"/>
              </a:rPr>
              <a:t>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600" dirty="0">
                <a:solidFill>
                  <a:srgbClr val="FF0000"/>
                </a:solidFill>
                <a:latin typeface="Lucida Console" panose="020B0609040504020204" pitchFamily="49" charset="0"/>
              </a:rPr>
              <a:t>}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endParaRPr lang="en-US" altLang="en-US" sz="160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>
              <a:lnSpc>
                <a:spcPct val="90000"/>
              </a:lnSpc>
              <a:spcBef>
                <a:spcPts val="1000"/>
              </a:spcBef>
              <a:buFontTx/>
              <a:buChar char="•"/>
              <a:tabLst>
                <a:tab pos="344488" algn="l"/>
                <a:tab pos="569913" algn="l"/>
                <a:tab pos="688975" algn="l"/>
              </a:tabLst>
            </a:pPr>
            <a:endParaRPr lang="en-US" altLang="en-US" dirty="0">
              <a:solidFill>
                <a:srgbClr val="FF0000"/>
              </a:solidFill>
            </a:endParaRPr>
          </a:p>
          <a:p>
            <a:pPr>
              <a:lnSpc>
                <a:spcPct val="90000"/>
              </a:lnSpc>
              <a:spcBef>
                <a:spcPts val="1000"/>
              </a:spcBef>
              <a:buFontTx/>
              <a:buChar char="•"/>
              <a:tabLst>
                <a:tab pos="344488" algn="l"/>
                <a:tab pos="569913" algn="l"/>
                <a:tab pos="688975" algn="l"/>
              </a:tabLst>
            </a:pPr>
            <a:endParaRPr lang="en-US" altLang="en-US" dirty="0"/>
          </a:p>
          <a:p>
            <a:pPr>
              <a:lnSpc>
                <a:spcPct val="90000"/>
              </a:lnSpc>
              <a:spcBef>
                <a:spcPts val="1000"/>
              </a:spcBef>
              <a:buFontTx/>
              <a:buChar char="•"/>
              <a:tabLst>
                <a:tab pos="344488" algn="l"/>
                <a:tab pos="569913" algn="l"/>
                <a:tab pos="688975" algn="l"/>
              </a:tabLst>
            </a:pPr>
            <a:endParaRPr lang="en-US" altLang="en-US" dirty="0"/>
          </a:p>
          <a:p>
            <a:pPr>
              <a:lnSpc>
                <a:spcPct val="90000"/>
              </a:lnSpc>
              <a:spcBef>
                <a:spcPts val="1000"/>
              </a:spcBef>
              <a:buFontTx/>
              <a:buChar char="•"/>
              <a:tabLst>
                <a:tab pos="344488" algn="l"/>
                <a:tab pos="569913" algn="l"/>
                <a:tab pos="688975" algn="l"/>
              </a:tabLst>
            </a:pPr>
            <a:endParaRPr lang="en-US" altLang="en-US" dirty="0"/>
          </a:p>
          <a:p>
            <a:pPr>
              <a:lnSpc>
                <a:spcPct val="90000"/>
              </a:lnSpc>
              <a:spcBef>
                <a:spcPts val="1800"/>
              </a:spcBef>
              <a:buFontTx/>
              <a:buChar char="•"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dirty="0"/>
              <a:t>We use a private inner class for the entries in the hash table. Composed of:</a:t>
            </a:r>
          </a:p>
          <a:p>
            <a:pPr lvl="1">
              <a:lnSpc>
                <a:spcPct val="90000"/>
              </a:lnSpc>
              <a:spcBef>
                <a:spcPts val="1800"/>
              </a:spcBef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dirty="0"/>
              <a:t>a </a:t>
            </a:r>
            <a:r>
              <a:rPr lang="en-US" altLang="en-US" i="1" dirty="0"/>
              <a:t>reference to a </a:t>
            </a:r>
            <a:r>
              <a:rPr lang="en-US" altLang="en-US" dirty="0"/>
              <a:t>key </a:t>
            </a:r>
          </a:p>
          <a:p>
            <a:pPr lvl="1">
              <a:lnSpc>
                <a:spcPct val="90000"/>
              </a:lnSpc>
              <a:spcBef>
                <a:spcPts val="1800"/>
              </a:spcBef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dirty="0">
                <a:solidFill>
                  <a:schemeClr val="accent2"/>
                </a:solidFill>
              </a:rPr>
              <a:t>a </a:t>
            </a:r>
            <a:r>
              <a:rPr lang="en-US" altLang="en-US" i="1" dirty="0">
                <a:solidFill>
                  <a:schemeClr val="accent2"/>
                </a:solidFill>
              </a:rPr>
              <a:t>reference to </a:t>
            </a:r>
            <a:r>
              <a:rPr lang="en-US" altLang="en-US" dirty="0">
                <a:solidFill>
                  <a:schemeClr val="accent2"/>
                </a:solidFill>
              </a:rPr>
              <a:t>the value(s) associated with the key</a:t>
            </a:r>
          </a:p>
        </p:txBody>
      </p:sp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258763" y="-63500"/>
            <a:ext cx="8683625" cy="847725"/>
          </a:xfrm>
        </p:spPr>
        <p:txBody>
          <a:bodyPr/>
          <a:lstStyle/>
          <a:p>
            <a:r>
              <a:rPr lang="en-US" altLang="en-US" dirty="0"/>
              <a:t>An Implementation Using Open Addressing</a:t>
            </a:r>
            <a:endParaRPr lang="en-US" altLang="en-US" sz="1600" dirty="0"/>
          </a:p>
        </p:txBody>
      </p:sp>
      <p:graphicFrame>
        <p:nvGraphicFramePr>
          <p:cNvPr id="2245637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3788224"/>
              </p:ext>
            </p:extLst>
          </p:nvPr>
        </p:nvGraphicFramePr>
        <p:xfrm>
          <a:off x="2686050" y="2834956"/>
          <a:ext cx="2097088" cy="1830388"/>
        </p:xfrm>
        <a:graphic>
          <a:graphicData uri="http://schemas.openxmlformats.org/drawingml/2006/table">
            <a:tbl>
              <a:tblPr/>
              <a:tblGrid>
                <a:gridCol w="105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61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0</a:t>
                      </a:r>
                    </a:p>
                  </a:txBody>
                  <a:tcPr marL="0" marR="64008" marT="0" marB="0"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</a:t>
                      </a:r>
                    </a:p>
                  </a:txBody>
                  <a:tcPr marL="0" marR="64008" marT="0" marB="0"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</a:t>
                      </a:r>
                    </a:p>
                  </a:txBody>
                  <a:tcPr marL="0" marR="64008" marT="0" marB="0"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null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3</a:t>
                      </a:r>
                    </a:p>
                  </a:txBody>
                  <a:tcPr marL="0" marR="64008" marT="0" marB="0"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null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4</a:t>
                      </a:r>
                    </a:p>
                  </a:txBody>
                  <a:tcPr marL="0" marR="64008" marT="0" marB="0"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null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…</a:t>
                      </a:r>
                    </a:p>
                  </a:txBody>
                  <a:tcPr marL="0" marR="64008" marT="0" marB="0"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…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8394" name="Line 33"/>
          <p:cNvSpPr>
            <a:spLocks noChangeShapeType="1"/>
          </p:cNvSpPr>
          <p:nvPr/>
        </p:nvSpPr>
        <p:spPr bwMode="auto">
          <a:xfrm>
            <a:off x="5740400" y="2669856"/>
            <a:ext cx="78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endParaRPr lang="en-US"/>
          </a:p>
        </p:txBody>
      </p:sp>
      <p:graphicFrame>
        <p:nvGraphicFramePr>
          <p:cNvPr id="2245666" name="Group 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2525702"/>
              </p:ext>
            </p:extLst>
          </p:nvPr>
        </p:nvGraphicFramePr>
        <p:xfrm>
          <a:off x="5316538" y="2292031"/>
          <a:ext cx="811212" cy="501650"/>
        </p:xfrm>
        <a:graphic>
          <a:graphicData uri="http://schemas.openxmlformats.org/drawingml/2006/table">
            <a:tbl>
              <a:tblPr/>
              <a:tblGrid>
                <a:gridCol w="8112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0825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  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  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245676" name="Group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9225157"/>
              </p:ext>
            </p:extLst>
          </p:nvPr>
        </p:nvGraphicFramePr>
        <p:xfrm>
          <a:off x="6532563" y="2604768"/>
          <a:ext cx="811212" cy="457200"/>
        </p:xfrm>
        <a:graphic>
          <a:graphicData uri="http://schemas.openxmlformats.org/drawingml/2006/table">
            <a:tbl>
              <a:tblPr/>
              <a:tblGrid>
                <a:gridCol w="8112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LLQueue</a:t>
                      </a:r>
                      <a:b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</a:b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object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CC0099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rgbClr val="CC0099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rgbClr val="CC0099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rgbClr val="CC0099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8413" name="Line 52"/>
          <p:cNvSpPr>
            <a:spLocks noChangeShapeType="1"/>
          </p:cNvSpPr>
          <p:nvPr/>
        </p:nvSpPr>
        <p:spPr bwMode="auto">
          <a:xfrm flipV="1">
            <a:off x="4243388" y="2660331"/>
            <a:ext cx="1077912" cy="3460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endParaRPr lang="en-US"/>
          </a:p>
        </p:txBody>
      </p:sp>
      <p:sp>
        <p:nvSpPr>
          <p:cNvPr id="58414" name="Line 53"/>
          <p:cNvSpPr>
            <a:spLocks noChangeShapeType="1"/>
          </p:cNvSpPr>
          <p:nvPr/>
        </p:nvSpPr>
        <p:spPr bwMode="auto">
          <a:xfrm>
            <a:off x="2640013" y="3131818"/>
            <a:ext cx="10874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endParaRPr lang="en-US"/>
          </a:p>
        </p:txBody>
      </p:sp>
      <p:graphicFrame>
        <p:nvGraphicFramePr>
          <p:cNvPr id="2245686" name="Group 5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8578055"/>
              </p:ext>
            </p:extLst>
          </p:nvPr>
        </p:nvGraphicFramePr>
        <p:xfrm>
          <a:off x="6529388" y="2277743"/>
          <a:ext cx="811212" cy="244475"/>
        </p:xfrm>
        <a:graphic>
          <a:graphicData uri="http://schemas.openxmlformats.org/drawingml/2006/table">
            <a:tbl>
              <a:tblPr/>
              <a:tblGrid>
                <a:gridCol w="8112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44475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"ant"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8421" name="Line 60"/>
          <p:cNvSpPr>
            <a:spLocks noChangeShapeType="1"/>
          </p:cNvSpPr>
          <p:nvPr/>
        </p:nvSpPr>
        <p:spPr bwMode="auto">
          <a:xfrm>
            <a:off x="5735638" y="2407918"/>
            <a:ext cx="78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endParaRPr lang="en-US"/>
          </a:p>
        </p:txBody>
      </p:sp>
      <p:sp>
        <p:nvSpPr>
          <p:cNvPr id="58422" name="Line 61"/>
          <p:cNvSpPr>
            <a:spLocks noChangeShapeType="1"/>
          </p:cNvSpPr>
          <p:nvPr/>
        </p:nvSpPr>
        <p:spPr bwMode="auto">
          <a:xfrm>
            <a:off x="5735638" y="3565206"/>
            <a:ext cx="78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endParaRPr lang="en-US"/>
          </a:p>
        </p:txBody>
      </p:sp>
      <p:graphicFrame>
        <p:nvGraphicFramePr>
          <p:cNvPr id="2245694" name="Group 6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3814601"/>
              </p:ext>
            </p:extLst>
          </p:nvPr>
        </p:nvGraphicFramePr>
        <p:xfrm>
          <a:off x="6524625" y="3173093"/>
          <a:ext cx="811213" cy="244475"/>
        </p:xfrm>
        <a:graphic>
          <a:graphicData uri="http://schemas.openxmlformats.org/drawingml/2006/table">
            <a:tbl>
              <a:tblPr/>
              <a:tblGrid>
                <a:gridCol w="8112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44475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"ape"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8429" name="Line 68"/>
          <p:cNvSpPr>
            <a:spLocks noChangeShapeType="1"/>
          </p:cNvSpPr>
          <p:nvPr/>
        </p:nvSpPr>
        <p:spPr bwMode="auto">
          <a:xfrm>
            <a:off x="5730875" y="3303268"/>
            <a:ext cx="78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endParaRPr lang="en-US"/>
          </a:p>
        </p:txBody>
      </p:sp>
      <p:sp>
        <p:nvSpPr>
          <p:cNvPr id="58430" name="Line 69"/>
          <p:cNvSpPr>
            <a:spLocks noChangeShapeType="1"/>
          </p:cNvSpPr>
          <p:nvPr/>
        </p:nvSpPr>
        <p:spPr bwMode="auto">
          <a:xfrm>
            <a:off x="4246563" y="3293743"/>
            <a:ext cx="1063625" cy="25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endParaRPr lang="en-US"/>
          </a:p>
        </p:txBody>
      </p:sp>
      <p:graphicFrame>
        <p:nvGraphicFramePr>
          <p:cNvPr id="2245724" name="Group 9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3794401"/>
              </p:ext>
            </p:extLst>
          </p:nvPr>
        </p:nvGraphicFramePr>
        <p:xfrm>
          <a:off x="5311775" y="3187381"/>
          <a:ext cx="811213" cy="501650"/>
        </p:xfrm>
        <a:graphic>
          <a:graphicData uri="http://schemas.openxmlformats.org/drawingml/2006/table">
            <a:tbl>
              <a:tblPr/>
              <a:tblGrid>
                <a:gridCol w="8112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0825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  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  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245734" name="Group 10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3850359"/>
              </p:ext>
            </p:extLst>
          </p:nvPr>
        </p:nvGraphicFramePr>
        <p:xfrm>
          <a:off x="989013" y="3006406"/>
          <a:ext cx="1992312" cy="519112"/>
        </p:xfrm>
        <a:graphic>
          <a:graphicData uri="http://schemas.openxmlformats.org/drawingml/2006/table">
            <a:tbl>
              <a:tblPr/>
              <a:tblGrid>
                <a:gridCol w="1247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45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1300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table</a:t>
                      </a:r>
                    </a:p>
                  </a:txBody>
                  <a:tcPr marL="0" marR="64008" marT="0" marB="0" anchor="ctr" horzOverflow="overflow">
                    <a:lnL cap="flat">
                      <a:noFill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7812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probeType</a:t>
                      </a:r>
                    </a:p>
                  </a:txBody>
                  <a:tcPr marL="0" marR="64008" marT="0" marB="0" anchor="ctr" horzOverflow="overflow">
                    <a:lnL cap="flat">
                      <a:noFill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LINEAR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3" name="Group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1440093"/>
              </p:ext>
            </p:extLst>
          </p:nvPr>
        </p:nvGraphicFramePr>
        <p:xfrm>
          <a:off x="6532563" y="3487418"/>
          <a:ext cx="811212" cy="457200"/>
        </p:xfrm>
        <a:graphic>
          <a:graphicData uri="http://schemas.openxmlformats.org/drawingml/2006/table">
            <a:tbl>
              <a:tblPr/>
              <a:tblGrid>
                <a:gridCol w="8112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LLQueue</a:t>
                      </a:r>
                      <a:b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</a:b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object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CC0099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rgbClr val="CC0099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rgbClr val="CC0099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rgbClr val="CC0099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16972907"/>
      </p:ext>
    </p:extLst>
  </p:cSld>
  <p:clrMapOvr>
    <a:masterClrMapping/>
  </p:clrMapOvr>
</p:sld>
</file>

<file path=ppt/slides/slide2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/>
          <p:cNvSpPr txBox="1"/>
          <p:nvPr/>
        </p:nvSpPr>
        <p:spPr>
          <a:xfrm>
            <a:off x="609600" y="4753340"/>
            <a:ext cx="8332788" cy="230087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2" y="704850"/>
            <a:ext cx="8802687" cy="5614988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600" dirty="0">
                <a:solidFill>
                  <a:srgbClr val="FF0000"/>
                </a:solidFill>
                <a:latin typeface="Lucida Console" panose="020B0609040504020204" pitchFamily="49" charset="0"/>
              </a:rPr>
              <a:t>public class </a:t>
            </a:r>
            <a:r>
              <a:rPr lang="en-US" altLang="en-US" sz="16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OpenHashTable</a:t>
            </a:r>
            <a:r>
              <a:rPr lang="en-US" altLang="en-US" sz="160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1600" dirty="0">
                <a:solidFill>
                  <a:srgbClr val="008000"/>
                </a:solidFill>
                <a:latin typeface="Lucida Console" panose="020B0609040504020204" pitchFamily="49" charset="0"/>
              </a:rPr>
              <a:t>implements </a:t>
            </a:r>
            <a:r>
              <a:rPr lang="en-US" altLang="en-US" sz="1600" dirty="0" err="1">
                <a:solidFill>
                  <a:srgbClr val="008000"/>
                </a:solidFill>
                <a:latin typeface="Lucida Console" panose="020B0609040504020204" pitchFamily="49" charset="0"/>
              </a:rPr>
              <a:t>HashTable</a:t>
            </a:r>
            <a:r>
              <a:rPr lang="en-US" altLang="en-US" sz="1600" dirty="0">
                <a:solidFill>
                  <a:srgbClr val="FF0000"/>
                </a:solidFill>
                <a:latin typeface="Lucida Console" panose="020B0609040504020204" pitchFamily="49" charset="0"/>
              </a:rPr>
              <a:t> {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600" dirty="0">
                <a:solidFill>
                  <a:schemeClr val="accent2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1600" b="1" dirty="0">
                <a:solidFill>
                  <a:schemeClr val="accent2"/>
                </a:solidFill>
                <a:latin typeface="Lucida Console" panose="020B0609040504020204" pitchFamily="49" charset="0"/>
              </a:rPr>
              <a:t>private class Entry {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600" b="1" dirty="0">
                <a:solidFill>
                  <a:schemeClr val="accent2"/>
                </a:solidFill>
                <a:latin typeface="Lucida Console" panose="020B0609040504020204" pitchFamily="49" charset="0"/>
              </a:rPr>
              <a:t>        private Object key;					// key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600" b="1" dirty="0">
                <a:solidFill>
                  <a:schemeClr val="accent2"/>
                </a:solidFill>
                <a:latin typeface="Lucida Console" panose="020B0609040504020204" pitchFamily="49" charset="0"/>
              </a:rPr>
              <a:t>        </a:t>
            </a:r>
            <a:r>
              <a:rPr lang="en-US" altLang="en-US" sz="1600" b="1" dirty="0">
                <a:solidFill>
                  <a:srgbClr val="CC0099"/>
                </a:solidFill>
                <a:latin typeface="Lucida Console" panose="020B0609040504020204" pitchFamily="49" charset="0"/>
              </a:rPr>
              <a:t>private </a:t>
            </a:r>
            <a:r>
              <a:rPr lang="en-US" altLang="en-US" sz="1600" b="1" dirty="0" err="1">
                <a:solidFill>
                  <a:srgbClr val="CC0099"/>
                </a:solidFill>
                <a:latin typeface="Lucida Console" panose="020B0609040504020204" pitchFamily="49" charset="0"/>
              </a:rPr>
              <a:t>LLQueue</a:t>
            </a:r>
            <a:r>
              <a:rPr lang="en-US" altLang="en-US" sz="1600" b="1" dirty="0">
                <a:solidFill>
                  <a:srgbClr val="CC0099"/>
                </a:solidFill>
                <a:latin typeface="Lucida Console" panose="020B0609040504020204" pitchFamily="49" charset="0"/>
              </a:rPr>
              <a:t>&lt;Object&gt; values;		// value</a:t>
            </a:r>
            <a:endParaRPr lang="en-US" altLang="en-US" sz="1600" b="1" dirty="0">
              <a:solidFill>
                <a:schemeClr val="accent2"/>
              </a:solidFill>
              <a:latin typeface="Lucida Console" panose="020B0609040504020204" pitchFamily="49" charset="0"/>
            </a:endParaRPr>
          </a:p>
          <a:p>
            <a:pPr>
              <a:lnSpc>
                <a:spcPct val="5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600" b="1" dirty="0">
                <a:solidFill>
                  <a:schemeClr val="accent2"/>
                </a:solidFill>
                <a:latin typeface="Lucida Console" panose="020B0609040504020204" pitchFamily="49" charset="0"/>
              </a:rPr>
              <a:t>        …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600" b="1" dirty="0">
                <a:solidFill>
                  <a:schemeClr val="accent2"/>
                </a:solidFill>
                <a:latin typeface="Lucida Console" panose="020B0609040504020204" pitchFamily="49" charset="0"/>
              </a:rPr>
              <a:t>    }</a:t>
            </a:r>
          </a:p>
          <a:p>
            <a:pPr>
              <a:lnSpc>
                <a:spcPct val="5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600" dirty="0">
                <a:solidFill>
                  <a:schemeClr val="tx1"/>
                </a:solidFill>
                <a:latin typeface="Lucida Console" panose="020B0609040504020204" pitchFamily="49" charset="0"/>
              </a:rPr>
              <a:t>    …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600" dirty="0">
                <a:solidFill>
                  <a:srgbClr val="FF0000"/>
                </a:solidFill>
                <a:latin typeface="Lucida Console" panose="020B0609040504020204" pitchFamily="49" charset="0"/>
              </a:rPr>
              <a:t>    private Entry[] table;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600" dirty="0">
                <a:solidFill>
                  <a:srgbClr val="FF0000"/>
                </a:solidFill>
                <a:latin typeface="Lucida Console" panose="020B0609040504020204" pitchFamily="49" charset="0"/>
              </a:rPr>
              <a:t>    private </a:t>
            </a:r>
            <a:r>
              <a:rPr lang="en-US" altLang="en-US" sz="16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sz="160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16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probeType</a:t>
            </a:r>
            <a:r>
              <a:rPr lang="en-US" altLang="en-US" sz="1600" dirty="0">
                <a:solidFill>
                  <a:srgbClr val="FF0000"/>
                </a:solidFill>
                <a:latin typeface="Lucida Console" panose="020B0609040504020204" pitchFamily="49" charset="0"/>
              </a:rPr>
              <a:t>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600" dirty="0">
                <a:solidFill>
                  <a:srgbClr val="FF0000"/>
                </a:solidFill>
                <a:latin typeface="Lucida Console" panose="020B0609040504020204" pitchFamily="49" charset="0"/>
              </a:rPr>
              <a:t>}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endParaRPr lang="en-US" altLang="en-US" sz="160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>
              <a:lnSpc>
                <a:spcPct val="90000"/>
              </a:lnSpc>
              <a:spcBef>
                <a:spcPts val="1000"/>
              </a:spcBef>
              <a:buFontTx/>
              <a:buChar char="•"/>
              <a:tabLst>
                <a:tab pos="344488" algn="l"/>
                <a:tab pos="569913" algn="l"/>
                <a:tab pos="688975" algn="l"/>
              </a:tabLst>
            </a:pPr>
            <a:endParaRPr lang="en-US" altLang="en-US" dirty="0">
              <a:solidFill>
                <a:srgbClr val="FF0000"/>
              </a:solidFill>
            </a:endParaRPr>
          </a:p>
          <a:p>
            <a:pPr>
              <a:lnSpc>
                <a:spcPct val="90000"/>
              </a:lnSpc>
              <a:spcBef>
                <a:spcPts val="1000"/>
              </a:spcBef>
              <a:buFontTx/>
              <a:buChar char="•"/>
              <a:tabLst>
                <a:tab pos="344488" algn="l"/>
                <a:tab pos="569913" algn="l"/>
                <a:tab pos="688975" algn="l"/>
              </a:tabLst>
            </a:pPr>
            <a:endParaRPr lang="en-US" altLang="en-US" dirty="0"/>
          </a:p>
          <a:p>
            <a:pPr>
              <a:lnSpc>
                <a:spcPct val="90000"/>
              </a:lnSpc>
              <a:spcBef>
                <a:spcPts val="1000"/>
              </a:spcBef>
              <a:buFontTx/>
              <a:buChar char="•"/>
              <a:tabLst>
                <a:tab pos="344488" algn="l"/>
                <a:tab pos="569913" algn="l"/>
                <a:tab pos="688975" algn="l"/>
              </a:tabLst>
            </a:pPr>
            <a:endParaRPr lang="en-US" altLang="en-US" dirty="0"/>
          </a:p>
          <a:p>
            <a:pPr>
              <a:lnSpc>
                <a:spcPct val="90000"/>
              </a:lnSpc>
              <a:spcBef>
                <a:spcPts val="1000"/>
              </a:spcBef>
              <a:buFontTx/>
              <a:buChar char="•"/>
              <a:tabLst>
                <a:tab pos="344488" algn="l"/>
                <a:tab pos="569913" algn="l"/>
                <a:tab pos="688975" algn="l"/>
              </a:tabLst>
            </a:pPr>
            <a:endParaRPr lang="en-US" altLang="en-US" dirty="0"/>
          </a:p>
          <a:p>
            <a:pPr>
              <a:lnSpc>
                <a:spcPct val="90000"/>
              </a:lnSpc>
              <a:spcBef>
                <a:spcPts val="1800"/>
              </a:spcBef>
              <a:buFontTx/>
              <a:buChar char="•"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dirty="0"/>
              <a:t>We use a private inner class for the entries in the hash table. Composed of:</a:t>
            </a:r>
          </a:p>
          <a:p>
            <a:pPr lvl="1">
              <a:lnSpc>
                <a:spcPct val="90000"/>
              </a:lnSpc>
              <a:spcBef>
                <a:spcPts val="1800"/>
              </a:spcBef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dirty="0"/>
              <a:t>a key </a:t>
            </a:r>
          </a:p>
          <a:p>
            <a:pPr lvl="1">
              <a:lnSpc>
                <a:spcPct val="90000"/>
              </a:lnSpc>
              <a:spcBef>
                <a:spcPts val="1800"/>
              </a:spcBef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i="1" dirty="0">
                <a:solidFill>
                  <a:schemeClr val="accent2"/>
                </a:solidFill>
              </a:rPr>
              <a:t>Note that as there may be more than one value for a specific key, </a:t>
            </a:r>
            <a:r>
              <a:rPr lang="en-US" altLang="en-US" b="1" dirty="0">
                <a:solidFill>
                  <a:schemeClr val="accent2"/>
                </a:solidFill>
                <a:latin typeface="Lucida Console" panose="020B0609040504020204" pitchFamily="49" charset="0"/>
              </a:rPr>
              <a:t>values</a:t>
            </a:r>
            <a:r>
              <a:rPr lang="en-US" altLang="en-US" i="1" dirty="0">
                <a:solidFill>
                  <a:schemeClr val="accent2"/>
                </a:solidFill>
              </a:rPr>
              <a:t> is a reference to a </a:t>
            </a:r>
            <a:r>
              <a:rPr lang="en-US" altLang="en-US" i="1" dirty="0" err="1">
                <a:solidFill>
                  <a:schemeClr val="accent2"/>
                </a:solidFill>
              </a:rPr>
              <a:t>LLQueue</a:t>
            </a:r>
            <a:r>
              <a:rPr lang="en-US" altLang="en-US" i="1" dirty="0">
                <a:solidFill>
                  <a:schemeClr val="accent2"/>
                </a:solidFill>
              </a:rPr>
              <a:t> object.</a:t>
            </a:r>
          </a:p>
          <a:p>
            <a:pPr marL="0" indent="0">
              <a:lnSpc>
                <a:spcPct val="90000"/>
              </a:lnSpc>
              <a:spcBef>
                <a:spcPts val="1000"/>
              </a:spcBef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dirty="0"/>
              <a:t> </a:t>
            </a:r>
          </a:p>
        </p:txBody>
      </p:sp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258763" y="-63500"/>
            <a:ext cx="8683625" cy="847725"/>
          </a:xfrm>
        </p:spPr>
        <p:txBody>
          <a:bodyPr/>
          <a:lstStyle/>
          <a:p>
            <a:r>
              <a:rPr lang="en-US" altLang="en-US" dirty="0"/>
              <a:t>An Implementation Using Open Addressing</a:t>
            </a:r>
            <a:endParaRPr lang="en-US" altLang="en-US" sz="1600" dirty="0"/>
          </a:p>
        </p:txBody>
      </p:sp>
      <p:graphicFrame>
        <p:nvGraphicFramePr>
          <p:cNvPr id="2245637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3788224"/>
              </p:ext>
            </p:extLst>
          </p:nvPr>
        </p:nvGraphicFramePr>
        <p:xfrm>
          <a:off x="2686050" y="2834956"/>
          <a:ext cx="2097088" cy="1830388"/>
        </p:xfrm>
        <a:graphic>
          <a:graphicData uri="http://schemas.openxmlformats.org/drawingml/2006/table">
            <a:tbl>
              <a:tblPr/>
              <a:tblGrid>
                <a:gridCol w="105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61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0</a:t>
                      </a:r>
                    </a:p>
                  </a:txBody>
                  <a:tcPr marL="0" marR="64008" marT="0" marB="0"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</a:t>
                      </a:r>
                    </a:p>
                  </a:txBody>
                  <a:tcPr marL="0" marR="64008" marT="0" marB="0"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</a:t>
                      </a:r>
                    </a:p>
                  </a:txBody>
                  <a:tcPr marL="0" marR="64008" marT="0" marB="0"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null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3</a:t>
                      </a:r>
                    </a:p>
                  </a:txBody>
                  <a:tcPr marL="0" marR="64008" marT="0" marB="0"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null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4</a:t>
                      </a:r>
                    </a:p>
                  </a:txBody>
                  <a:tcPr marL="0" marR="64008" marT="0" marB="0"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null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…</a:t>
                      </a:r>
                    </a:p>
                  </a:txBody>
                  <a:tcPr marL="0" marR="64008" marT="0" marB="0"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…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8394" name="Line 33"/>
          <p:cNvSpPr>
            <a:spLocks noChangeShapeType="1"/>
          </p:cNvSpPr>
          <p:nvPr/>
        </p:nvSpPr>
        <p:spPr bwMode="auto">
          <a:xfrm>
            <a:off x="5740400" y="2669856"/>
            <a:ext cx="78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endParaRPr lang="en-US"/>
          </a:p>
        </p:txBody>
      </p:sp>
      <p:graphicFrame>
        <p:nvGraphicFramePr>
          <p:cNvPr id="2245666" name="Group 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2525702"/>
              </p:ext>
            </p:extLst>
          </p:nvPr>
        </p:nvGraphicFramePr>
        <p:xfrm>
          <a:off x="5316538" y="2292031"/>
          <a:ext cx="811212" cy="501650"/>
        </p:xfrm>
        <a:graphic>
          <a:graphicData uri="http://schemas.openxmlformats.org/drawingml/2006/table">
            <a:tbl>
              <a:tblPr/>
              <a:tblGrid>
                <a:gridCol w="8112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0825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  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  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245676" name="Group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9225157"/>
              </p:ext>
            </p:extLst>
          </p:nvPr>
        </p:nvGraphicFramePr>
        <p:xfrm>
          <a:off x="6532563" y="2604768"/>
          <a:ext cx="811212" cy="457200"/>
        </p:xfrm>
        <a:graphic>
          <a:graphicData uri="http://schemas.openxmlformats.org/drawingml/2006/table">
            <a:tbl>
              <a:tblPr/>
              <a:tblGrid>
                <a:gridCol w="8112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LLQueue</a:t>
                      </a:r>
                      <a:b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</a:b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object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CC0099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rgbClr val="CC0099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rgbClr val="CC0099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rgbClr val="CC0099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8413" name="Line 52"/>
          <p:cNvSpPr>
            <a:spLocks noChangeShapeType="1"/>
          </p:cNvSpPr>
          <p:nvPr/>
        </p:nvSpPr>
        <p:spPr bwMode="auto">
          <a:xfrm flipV="1">
            <a:off x="4243388" y="2660331"/>
            <a:ext cx="1077912" cy="3460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endParaRPr lang="en-US"/>
          </a:p>
        </p:txBody>
      </p:sp>
      <p:sp>
        <p:nvSpPr>
          <p:cNvPr id="58414" name="Line 53"/>
          <p:cNvSpPr>
            <a:spLocks noChangeShapeType="1"/>
          </p:cNvSpPr>
          <p:nvPr/>
        </p:nvSpPr>
        <p:spPr bwMode="auto">
          <a:xfrm>
            <a:off x="2640013" y="3131818"/>
            <a:ext cx="10874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endParaRPr lang="en-US"/>
          </a:p>
        </p:txBody>
      </p:sp>
      <p:graphicFrame>
        <p:nvGraphicFramePr>
          <p:cNvPr id="2245686" name="Group 5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8578055"/>
              </p:ext>
            </p:extLst>
          </p:nvPr>
        </p:nvGraphicFramePr>
        <p:xfrm>
          <a:off x="6529388" y="2277743"/>
          <a:ext cx="811212" cy="244475"/>
        </p:xfrm>
        <a:graphic>
          <a:graphicData uri="http://schemas.openxmlformats.org/drawingml/2006/table">
            <a:tbl>
              <a:tblPr/>
              <a:tblGrid>
                <a:gridCol w="8112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44475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"ant"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8421" name="Line 60"/>
          <p:cNvSpPr>
            <a:spLocks noChangeShapeType="1"/>
          </p:cNvSpPr>
          <p:nvPr/>
        </p:nvSpPr>
        <p:spPr bwMode="auto">
          <a:xfrm>
            <a:off x="5735638" y="2407918"/>
            <a:ext cx="78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endParaRPr lang="en-US"/>
          </a:p>
        </p:txBody>
      </p:sp>
      <p:sp>
        <p:nvSpPr>
          <p:cNvPr id="58422" name="Line 61"/>
          <p:cNvSpPr>
            <a:spLocks noChangeShapeType="1"/>
          </p:cNvSpPr>
          <p:nvPr/>
        </p:nvSpPr>
        <p:spPr bwMode="auto">
          <a:xfrm>
            <a:off x="5735638" y="3565206"/>
            <a:ext cx="78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endParaRPr lang="en-US"/>
          </a:p>
        </p:txBody>
      </p:sp>
      <p:graphicFrame>
        <p:nvGraphicFramePr>
          <p:cNvPr id="2245694" name="Group 6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3814601"/>
              </p:ext>
            </p:extLst>
          </p:nvPr>
        </p:nvGraphicFramePr>
        <p:xfrm>
          <a:off x="6524625" y="3173093"/>
          <a:ext cx="811213" cy="244475"/>
        </p:xfrm>
        <a:graphic>
          <a:graphicData uri="http://schemas.openxmlformats.org/drawingml/2006/table">
            <a:tbl>
              <a:tblPr/>
              <a:tblGrid>
                <a:gridCol w="8112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44475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"ape"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8429" name="Line 68"/>
          <p:cNvSpPr>
            <a:spLocks noChangeShapeType="1"/>
          </p:cNvSpPr>
          <p:nvPr/>
        </p:nvSpPr>
        <p:spPr bwMode="auto">
          <a:xfrm>
            <a:off x="5730875" y="3303268"/>
            <a:ext cx="78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endParaRPr lang="en-US"/>
          </a:p>
        </p:txBody>
      </p:sp>
      <p:sp>
        <p:nvSpPr>
          <p:cNvPr id="58430" name="Line 69"/>
          <p:cNvSpPr>
            <a:spLocks noChangeShapeType="1"/>
          </p:cNvSpPr>
          <p:nvPr/>
        </p:nvSpPr>
        <p:spPr bwMode="auto">
          <a:xfrm>
            <a:off x="4246563" y="3293743"/>
            <a:ext cx="1063625" cy="25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endParaRPr lang="en-US"/>
          </a:p>
        </p:txBody>
      </p:sp>
      <p:graphicFrame>
        <p:nvGraphicFramePr>
          <p:cNvPr id="2245724" name="Group 9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3794401"/>
              </p:ext>
            </p:extLst>
          </p:nvPr>
        </p:nvGraphicFramePr>
        <p:xfrm>
          <a:off x="5311775" y="3187381"/>
          <a:ext cx="811213" cy="501650"/>
        </p:xfrm>
        <a:graphic>
          <a:graphicData uri="http://schemas.openxmlformats.org/drawingml/2006/table">
            <a:tbl>
              <a:tblPr/>
              <a:tblGrid>
                <a:gridCol w="8112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0825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  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  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245734" name="Group 10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3850359"/>
              </p:ext>
            </p:extLst>
          </p:nvPr>
        </p:nvGraphicFramePr>
        <p:xfrm>
          <a:off x="989013" y="3006406"/>
          <a:ext cx="1992312" cy="519112"/>
        </p:xfrm>
        <a:graphic>
          <a:graphicData uri="http://schemas.openxmlformats.org/drawingml/2006/table">
            <a:tbl>
              <a:tblPr/>
              <a:tblGrid>
                <a:gridCol w="1247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45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1300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table</a:t>
                      </a:r>
                    </a:p>
                  </a:txBody>
                  <a:tcPr marL="0" marR="64008" marT="0" marB="0" anchor="ctr" horzOverflow="overflow">
                    <a:lnL cap="flat">
                      <a:noFill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7812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probeType</a:t>
                      </a:r>
                    </a:p>
                  </a:txBody>
                  <a:tcPr marL="0" marR="64008" marT="0" marB="0" anchor="ctr" horzOverflow="overflow">
                    <a:lnL cap="flat">
                      <a:noFill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LINEAR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3" name="Group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1440093"/>
              </p:ext>
            </p:extLst>
          </p:nvPr>
        </p:nvGraphicFramePr>
        <p:xfrm>
          <a:off x="6532563" y="3487418"/>
          <a:ext cx="811212" cy="457200"/>
        </p:xfrm>
        <a:graphic>
          <a:graphicData uri="http://schemas.openxmlformats.org/drawingml/2006/table">
            <a:tbl>
              <a:tblPr/>
              <a:tblGrid>
                <a:gridCol w="8112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LLQueue</a:t>
                      </a:r>
                      <a:b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</a:b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object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CC0099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rgbClr val="CC0099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rgbClr val="CC0099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rgbClr val="CC0099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" name="Straight Arrow Connector 2"/>
          <p:cNvCxnSpPr/>
          <p:nvPr/>
        </p:nvCxnSpPr>
        <p:spPr bwMode="auto">
          <a:xfrm flipV="1">
            <a:off x="2486526" y="1812758"/>
            <a:ext cx="2181727" cy="4235116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6652069"/>
      </p:ext>
    </p:extLst>
  </p:cSld>
  <p:clrMapOvr>
    <a:masterClrMapping/>
  </p:clrMapOvr>
</p:sld>
</file>

<file path=ppt/slides/slide2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2" y="704850"/>
            <a:ext cx="8802687" cy="5614988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600" dirty="0">
                <a:solidFill>
                  <a:srgbClr val="FF0000"/>
                </a:solidFill>
                <a:latin typeface="Lucida Console" panose="020B0609040504020204" pitchFamily="49" charset="0"/>
              </a:rPr>
              <a:t>public class </a:t>
            </a:r>
            <a:r>
              <a:rPr lang="en-US" altLang="en-US" sz="16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OpenHashTable</a:t>
            </a:r>
            <a:r>
              <a:rPr lang="en-US" altLang="en-US" sz="160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1600" dirty="0">
                <a:solidFill>
                  <a:srgbClr val="008000"/>
                </a:solidFill>
                <a:latin typeface="Lucida Console" panose="020B0609040504020204" pitchFamily="49" charset="0"/>
              </a:rPr>
              <a:t>implements </a:t>
            </a:r>
            <a:r>
              <a:rPr lang="en-US" altLang="en-US" sz="1600" dirty="0" err="1">
                <a:solidFill>
                  <a:srgbClr val="008000"/>
                </a:solidFill>
                <a:latin typeface="Lucida Console" panose="020B0609040504020204" pitchFamily="49" charset="0"/>
              </a:rPr>
              <a:t>HashTable</a:t>
            </a:r>
            <a:r>
              <a:rPr lang="en-US" altLang="en-US" sz="1600" dirty="0">
                <a:solidFill>
                  <a:srgbClr val="FF0000"/>
                </a:solidFill>
                <a:latin typeface="Lucida Console" panose="020B0609040504020204" pitchFamily="49" charset="0"/>
              </a:rPr>
              <a:t> {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600" dirty="0">
                <a:solidFill>
                  <a:schemeClr val="accent2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1600" b="1" dirty="0">
                <a:solidFill>
                  <a:schemeClr val="accent2"/>
                </a:solidFill>
                <a:latin typeface="Lucida Console" panose="020B0609040504020204" pitchFamily="49" charset="0"/>
              </a:rPr>
              <a:t>private class Entry {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600" b="1" dirty="0">
                <a:solidFill>
                  <a:schemeClr val="accent2"/>
                </a:solidFill>
                <a:latin typeface="Lucida Console" panose="020B0609040504020204" pitchFamily="49" charset="0"/>
              </a:rPr>
              <a:t>        private Object key;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600" b="1" dirty="0">
                <a:solidFill>
                  <a:schemeClr val="accent2"/>
                </a:solidFill>
                <a:latin typeface="Lucida Console" panose="020B0609040504020204" pitchFamily="49" charset="0"/>
              </a:rPr>
              <a:t>        </a:t>
            </a:r>
            <a:r>
              <a:rPr lang="en-US" altLang="en-US" sz="1600" b="1" dirty="0">
                <a:solidFill>
                  <a:srgbClr val="CC0099"/>
                </a:solidFill>
                <a:latin typeface="Lucida Console" panose="020B0609040504020204" pitchFamily="49" charset="0"/>
              </a:rPr>
              <a:t>private </a:t>
            </a:r>
            <a:r>
              <a:rPr lang="en-US" altLang="en-US" sz="1600" b="1" dirty="0" err="1">
                <a:solidFill>
                  <a:srgbClr val="CC0099"/>
                </a:solidFill>
                <a:latin typeface="Lucida Console" panose="020B0609040504020204" pitchFamily="49" charset="0"/>
              </a:rPr>
              <a:t>LLQueue</a:t>
            </a:r>
            <a:r>
              <a:rPr lang="en-US" altLang="en-US" sz="1600" b="1" dirty="0">
                <a:solidFill>
                  <a:srgbClr val="CC0099"/>
                </a:solidFill>
                <a:latin typeface="Lucida Console" panose="020B0609040504020204" pitchFamily="49" charset="0"/>
              </a:rPr>
              <a:t>&lt;Object&gt; values;</a:t>
            </a:r>
            <a:endParaRPr lang="en-US" altLang="en-US" sz="1600" b="1" dirty="0">
              <a:solidFill>
                <a:schemeClr val="accent2"/>
              </a:solidFill>
              <a:latin typeface="Lucida Console" panose="020B0609040504020204" pitchFamily="49" charset="0"/>
            </a:endParaRPr>
          </a:p>
          <a:p>
            <a:pPr>
              <a:lnSpc>
                <a:spcPct val="5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600" b="1" dirty="0">
                <a:solidFill>
                  <a:schemeClr val="accent2"/>
                </a:solidFill>
                <a:latin typeface="Lucida Console" panose="020B0609040504020204" pitchFamily="49" charset="0"/>
              </a:rPr>
              <a:t>        …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600" b="1" dirty="0">
                <a:solidFill>
                  <a:schemeClr val="accent2"/>
                </a:solidFill>
                <a:latin typeface="Lucida Console" panose="020B0609040504020204" pitchFamily="49" charset="0"/>
              </a:rPr>
              <a:t>    }</a:t>
            </a:r>
          </a:p>
          <a:p>
            <a:pPr>
              <a:lnSpc>
                <a:spcPct val="5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600" dirty="0">
                <a:solidFill>
                  <a:schemeClr val="tx1"/>
                </a:solidFill>
                <a:latin typeface="Lucida Console" panose="020B0609040504020204" pitchFamily="49" charset="0"/>
              </a:rPr>
              <a:t>    …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600" dirty="0">
                <a:solidFill>
                  <a:srgbClr val="FF0000"/>
                </a:solidFill>
                <a:latin typeface="Lucida Console" panose="020B0609040504020204" pitchFamily="49" charset="0"/>
              </a:rPr>
              <a:t>    private Entry[] table;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600" dirty="0">
                <a:solidFill>
                  <a:srgbClr val="FF0000"/>
                </a:solidFill>
                <a:latin typeface="Lucida Console" panose="020B0609040504020204" pitchFamily="49" charset="0"/>
              </a:rPr>
              <a:t>    private </a:t>
            </a:r>
            <a:r>
              <a:rPr lang="en-US" altLang="en-US" sz="16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sz="160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16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probeType</a:t>
            </a:r>
            <a:r>
              <a:rPr lang="en-US" altLang="en-US" sz="1600" dirty="0">
                <a:solidFill>
                  <a:srgbClr val="FF0000"/>
                </a:solidFill>
                <a:latin typeface="Lucida Console" panose="020B0609040504020204" pitchFamily="49" charset="0"/>
              </a:rPr>
              <a:t>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600" dirty="0">
                <a:solidFill>
                  <a:srgbClr val="FF0000"/>
                </a:solidFill>
                <a:latin typeface="Lucida Console" panose="020B0609040504020204" pitchFamily="49" charset="0"/>
              </a:rPr>
              <a:t>}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endParaRPr lang="en-US" altLang="en-US" sz="160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>
              <a:lnSpc>
                <a:spcPct val="90000"/>
              </a:lnSpc>
              <a:spcBef>
                <a:spcPts val="1000"/>
              </a:spcBef>
              <a:buFontTx/>
              <a:buChar char="•"/>
              <a:tabLst>
                <a:tab pos="344488" algn="l"/>
                <a:tab pos="569913" algn="l"/>
                <a:tab pos="688975" algn="l"/>
              </a:tabLst>
            </a:pPr>
            <a:endParaRPr lang="en-US" altLang="en-US" dirty="0">
              <a:solidFill>
                <a:srgbClr val="FF0000"/>
              </a:solidFill>
            </a:endParaRPr>
          </a:p>
          <a:p>
            <a:pPr>
              <a:lnSpc>
                <a:spcPct val="90000"/>
              </a:lnSpc>
              <a:spcBef>
                <a:spcPts val="1000"/>
              </a:spcBef>
              <a:buFontTx/>
              <a:buChar char="•"/>
              <a:tabLst>
                <a:tab pos="344488" algn="l"/>
                <a:tab pos="569913" algn="l"/>
                <a:tab pos="688975" algn="l"/>
              </a:tabLst>
            </a:pPr>
            <a:endParaRPr lang="en-US" altLang="en-US" dirty="0"/>
          </a:p>
          <a:p>
            <a:pPr>
              <a:lnSpc>
                <a:spcPct val="90000"/>
              </a:lnSpc>
              <a:spcBef>
                <a:spcPts val="1000"/>
              </a:spcBef>
              <a:buFontTx/>
              <a:buChar char="•"/>
              <a:tabLst>
                <a:tab pos="344488" algn="l"/>
                <a:tab pos="569913" algn="l"/>
                <a:tab pos="688975" algn="l"/>
              </a:tabLst>
            </a:pPr>
            <a:endParaRPr lang="en-US" altLang="en-US" dirty="0"/>
          </a:p>
          <a:p>
            <a:pPr>
              <a:lnSpc>
                <a:spcPct val="90000"/>
              </a:lnSpc>
              <a:spcBef>
                <a:spcPts val="1000"/>
              </a:spcBef>
              <a:buFontTx/>
              <a:buChar char="•"/>
              <a:tabLst>
                <a:tab pos="344488" algn="l"/>
                <a:tab pos="569913" algn="l"/>
                <a:tab pos="688975" algn="l"/>
              </a:tabLst>
            </a:pPr>
            <a:endParaRPr lang="en-US" altLang="en-US" dirty="0"/>
          </a:p>
        </p:txBody>
      </p:sp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258763" y="-63500"/>
            <a:ext cx="8683625" cy="847725"/>
          </a:xfrm>
        </p:spPr>
        <p:txBody>
          <a:bodyPr/>
          <a:lstStyle/>
          <a:p>
            <a:r>
              <a:rPr lang="en-US" altLang="en-US" dirty="0"/>
              <a:t>An Implementation Using Open Addressing</a:t>
            </a:r>
            <a:endParaRPr lang="en-US" altLang="en-US" sz="1600" dirty="0"/>
          </a:p>
        </p:txBody>
      </p:sp>
      <p:graphicFrame>
        <p:nvGraphicFramePr>
          <p:cNvPr id="2245637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3788224"/>
              </p:ext>
            </p:extLst>
          </p:nvPr>
        </p:nvGraphicFramePr>
        <p:xfrm>
          <a:off x="2686050" y="2834956"/>
          <a:ext cx="2097088" cy="1830388"/>
        </p:xfrm>
        <a:graphic>
          <a:graphicData uri="http://schemas.openxmlformats.org/drawingml/2006/table">
            <a:tbl>
              <a:tblPr/>
              <a:tblGrid>
                <a:gridCol w="105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61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0</a:t>
                      </a:r>
                    </a:p>
                  </a:txBody>
                  <a:tcPr marL="0" marR="64008" marT="0" marB="0"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</a:t>
                      </a:r>
                    </a:p>
                  </a:txBody>
                  <a:tcPr marL="0" marR="64008" marT="0" marB="0"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</a:t>
                      </a:r>
                    </a:p>
                  </a:txBody>
                  <a:tcPr marL="0" marR="64008" marT="0" marB="0"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null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3</a:t>
                      </a:r>
                    </a:p>
                  </a:txBody>
                  <a:tcPr marL="0" marR="64008" marT="0" marB="0"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null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4</a:t>
                      </a:r>
                    </a:p>
                  </a:txBody>
                  <a:tcPr marL="0" marR="64008" marT="0" marB="0"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null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…</a:t>
                      </a:r>
                    </a:p>
                  </a:txBody>
                  <a:tcPr marL="0" marR="64008" marT="0" marB="0"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…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8394" name="Line 33"/>
          <p:cNvSpPr>
            <a:spLocks noChangeShapeType="1"/>
          </p:cNvSpPr>
          <p:nvPr/>
        </p:nvSpPr>
        <p:spPr bwMode="auto">
          <a:xfrm>
            <a:off x="5740400" y="2669856"/>
            <a:ext cx="78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endParaRPr lang="en-US"/>
          </a:p>
        </p:txBody>
      </p:sp>
      <p:graphicFrame>
        <p:nvGraphicFramePr>
          <p:cNvPr id="2245666" name="Group 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2525702"/>
              </p:ext>
            </p:extLst>
          </p:nvPr>
        </p:nvGraphicFramePr>
        <p:xfrm>
          <a:off x="5316538" y="2292031"/>
          <a:ext cx="811212" cy="501650"/>
        </p:xfrm>
        <a:graphic>
          <a:graphicData uri="http://schemas.openxmlformats.org/drawingml/2006/table">
            <a:tbl>
              <a:tblPr/>
              <a:tblGrid>
                <a:gridCol w="8112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0825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  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  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245676" name="Group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9225157"/>
              </p:ext>
            </p:extLst>
          </p:nvPr>
        </p:nvGraphicFramePr>
        <p:xfrm>
          <a:off x="6532563" y="2604768"/>
          <a:ext cx="811212" cy="457200"/>
        </p:xfrm>
        <a:graphic>
          <a:graphicData uri="http://schemas.openxmlformats.org/drawingml/2006/table">
            <a:tbl>
              <a:tblPr/>
              <a:tblGrid>
                <a:gridCol w="8112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LLQueue</a:t>
                      </a:r>
                      <a:b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</a:b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object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CC0099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rgbClr val="CC0099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rgbClr val="CC0099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rgbClr val="CC0099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8413" name="Line 52"/>
          <p:cNvSpPr>
            <a:spLocks noChangeShapeType="1"/>
          </p:cNvSpPr>
          <p:nvPr/>
        </p:nvSpPr>
        <p:spPr bwMode="auto">
          <a:xfrm flipV="1">
            <a:off x="4243388" y="2660331"/>
            <a:ext cx="1077912" cy="3460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endParaRPr lang="en-US"/>
          </a:p>
        </p:txBody>
      </p:sp>
      <p:sp>
        <p:nvSpPr>
          <p:cNvPr id="58414" name="Line 53"/>
          <p:cNvSpPr>
            <a:spLocks noChangeShapeType="1"/>
          </p:cNvSpPr>
          <p:nvPr/>
        </p:nvSpPr>
        <p:spPr bwMode="auto">
          <a:xfrm>
            <a:off x="2640013" y="3131818"/>
            <a:ext cx="10874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endParaRPr lang="en-US"/>
          </a:p>
        </p:txBody>
      </p:sp>
      <p:graphicFrame>
        <p:nvGraphicFramePr>
          <p:cNvPr id="2245686" name="Group 5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8578055"/>
              </p:ext>
            </p:extLst>
          </p:nvPr>
        </p:nvGraphicFramePr>
        <p:xfrm>
          <a:off x="6529388" y="2277743"/>
          <a:ext cx="811212" cy="244475"/>
        </p:xfrm>
        <a:graphic>
          <a:graphicData uri="http://schemas.openxmlformats.org/drawingml/2006/table">
            <a:tbl>
              <a:tblPr/>
              <a:tblGrid>
                <a:gridCol w="8112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44475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"ant"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8421" name="Line 60"/>
          <p:cNvSpPr>
            <a:spLocks noChangeShapeType="1"/>
          </p:cNvSpPr>
          <p:nvPr/>
        </p:nvSpPr>
        <p:spPr bwMode="auto">
          <a:xfrm>
            <a:off x="5735638" y="2407918"/>
            <a:ext cx="78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endParaRPr lang="en-US"/>
          </a:p>
        </p:txBody>
      </p:sp>
      <p:sp>
        <p:nvSpPr>
          <p:cNvPr id="58422" name="Line 61"/>
          <p:cNvSpPr>
            <a:spLocks noChangeShapeType="1"/>
          </p:cNvSpPr>
          <p:nvPr/>
        </p:nvSpPr>
        <p:spPr bwMode="auto">
          <a:xfrm>
            <a:off x="5735638" y="3565206"/>
            <a:ext cx="78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endParaRPr lang="en-US"/>
          </a:p>
        </p:txBody>
      </p:sp>
      <p:graphicFrame>
        <p:nvGraphicFramePr>
          <p:cNvPr id="2245694" name="Group 6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3814601"/>
              </p:ext>
            </p:extLst>
          </p:nvPr>
        </p:nvGraphicFramePr>
        <p:xfrm>
          <a:off x="6524625" y="3173093"/>
          <a:ext cx="811213" cy="244475"/>
        </p:xfrm>
        <a:graphic>
          <a:graphicData uri="http://schemas.openxmlformats.org/drawingml/2006/table">
            <a:tbl>
              <a:tblPr/>
              <a:tblGrid>
                <a:gridCol w="8112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44475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"ape"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8429" name="Line 68"/>
          <p:cNvSpPr>
            <a:spLocks noChangeShapeType="1"/>
          </p:cNvSpPr>
          <p:nvPr/>
        </p:nvSpPr>
        <p:spPr bwMode="auto">
          <a:xfrm>
            <a:off x="5730875" y="3303268"/>
            <a:ext cx="78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endParaRPr lang="en-US"/>
          </a:p>
        </p:txBody>
      </p:sp>
      <p:sp>
        <p:nvSpPr>
          <p:cNvPr id="58430" name="Line 69"/>
          <p:cNvSpPr>
            <a:spLocks noChangeShapeType="1"/>
          </p:cNvSpPr>
          <p:nvPr/>
        </p:nvSpPr>
        <p:spPr bwMode="auto">
          <a:xfrm>
            <a:off x="4246563" y="3293743"/>
            <a:ext cx="1063625" cy="25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endParaRPr lang="en-US"/>
          </a:p>
        </p:txBody>
      </p:sp>
      <p:graphicFrame>
        <p:nvGraphicFramePr>
          <p:cNvPr id="2245724" name="Group 9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3794401"/>
              </p:ext>
            </p:extLst>
          </p:nvPr>
        </p:nvGraphicFramePr>
        <p:xfrm>
          <a:off x="5311775" y="3187381"/>
          <a:ext cx="811213" cy="501650"/>
        </p:xfrm>
        <a:graphic>
          <a:graphicData uri="http://schemas.openxmlformats.org/drawingml/2006/table">
            <a:tbl>
              <a:tblPr/>
              <a:tblGrid>
                <a:gridCol w="8112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0825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  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  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245734" name="Group 10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3850359"/>
              </p:ext>
            </p:extLst>
          </p:nvPr>
        </p:nvGraphicFramePr>
        <p:xfrm>
          <a:off x="989013" y="3006406"/>
          <a:ext cx="1992312" cy="519112"/>
        </p:xfrm>
        <a:graphic>
          <a:graphicData uri="http://schemas.openxmlformats.org/drawingml/2006/table">
            <a:tbl>
              <a:tblPr/>
              <a:tblGrid>
                <a:gridCol w="1247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45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1300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table</a:t>
                      </a:r>
                    </a:p>
                  </a:txBody>
                  <a:tcPr marL="0" marR="64008" marT="0" marB="0" anchor="ctr" horzOverflow="overflow">
                    <a:lnL cap="flat">
                      <a:noFill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7812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probeType</a:t>
                      </a:r>
                    </a:p>
                  </a:txBody>
                  <a:tcPr marL="0" marR="64008" marT="0" marB="0" anchor="ctr" horzOverflow="overflow">
                    <a:lnL cap="flat">
                      <a:noFill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LINEAR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3" name="Group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1440093"/>
              </p:ext>
            </p:extLst>
          </p:nvPr>
        </p:nvGraphicFramePr>
        <p:xfrm>
          <a:off x="6532563" y="3487418"/>
          <a:ext cx="811212" cy="457200"/>
        </p:xfrm>
        <a:graphic>
          <a:graphicData uri="http://schemas.openxmlformats.org/drawingml/2006/table">
            <a:tbl>
              <a:tblPr/>
              <a:tblGrid>
                <a:gridCol w="8112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LLQueue</a:t>
                      </a:r>
                      <a:b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</a:b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object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CC0099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rgbClr val="CC0099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rgbClr val="CC0099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rgbClr val="CC0099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Cloud Callout 2"/>
          <p:cNvSpPr/>
          <p:nvPr/>
        </p:nvSpPr>
        <p:spPr bwMode="auto">
          <a:xfrm>
            <a:off x="1995754" y="4410332"/>
            <a:ext cx="4741155" cy="1974594"/>
          </a:xfrm>
          <a:prstGeom prst="cloudCallout">
            <a:avLst>
              <a:gd name="adj1" fmla="val 24713"/>
              <a:gd name="adj2" fmla="val -120582"/>
            </a:avLst>
          </a:prstGeom>
          <a:solidFill>
            <a:schemeClr val="bg1">
              <a:lumMod val="95000"/>
            </a:schemeClr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Narrow" pitchFamily="34" charset="0"/>
              </a:rPr>
              <a:t>How would </a:t>
            </a:r>
            <a:r>
              <a:rPr lang="en-US" sz="2200" dirty="0"/>
              <a:t>you </a:t>
            </a:r>
            <a:r>
              <a:rPr kumimoji="0" lang="en-US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Narrow" pitchFamily="34" charset="0"/>
              </a:rPr>
              <a:t>reference the </a:t>
            </a:r>
            <a:r>
              <a:rPr kumimoji="0" lang="en-US" sz="22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 Narrow" pitchFamily="34" charset="0"/>
              </a:rPr>
              <a:t>key</a:t>
            </a:r>
            <a:r>
              <a:rPr kumimoji="0" lang="en-US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Narrow" pitchFamily="34" charset="0"/>
              </a:rPr>
              <a:t> of the first entry in our</a:t>
            </a:r>
            <a:r>
              <a:rPr kumimoji="0" lang="en-US" sz="2200" b="0" i="0" u="none" strike="noStrike" cap="none" normalizeH="0" dirty="0">
                <a:ln>
                  <a:noFill/>
                </a:ln>
                <a:solidFill>
                  <a:srgbClr val="000000"/>
                </a:solidFill>
                <a:effectLst/>
                <a:latin typeface="Arial Narrow" pitchFamily="34" charset="0"/>
              </a:rPr>
              <a:t> table from within a method of this class?</a:t>
            </a:r>
            <a:endParaRPr kumimoji="0" lang="en-US" sz="22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6055831"/>
      </p:ext>
    </p:extLst>
  </p:cSld>
  <p:clrMapOvr>
    <a:masterClrMapping/>
  </p:clrMapOvr>
</p:sld>
</file>

<file path=ppt/slides/slide2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2" y="704850"/>
            <a:ext cx="8802687" cy="5614988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600" dirty="0">
                <a:solidFill>
                  <a:srgbClr val="FF0000"/>
                </a:solidFill>
                <a:latin typeface="Lucida Console" panose="020B0609040504020204" pitchFamily="49" charset="0"/>
              </a:rPr>
              <a:t>public class </a:t>
            </a:r>
            <a:r>
              <a:rPr lang="en-US" altLang="en-US" sz="16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OpenHashTable</a:t>
            </a:r>
            <a:r>
              <a:rPr lang="en-US" altLang="en-US" sz="160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1600" dirty="0">
                <a:solidFill>
                  <a:srgbClr val="008000"/>
                </a:solidFill>
                <a:latin typeface="Lucida Console" panose="020B0609040504020204" pitchFamily="49" charset="0"/>
              </a:rPr>
              <a:t>implements </a:t>
            </a:r>
            <a:r>
              <a:rPr lang="en-US" altLang="en-US" sz="1600" dirty="0" err="1">
                <a:solidFill>
                  <a:srgbClr val="008000"/>
                </a:solidFill>
                <a:latin typeface="Lucida Console" panose="020B0609040504020204" pitchFamily="49" charset="0"/>
              </a:rPr>
              <a:t>HashTable</a:t>
            </a:r>
            <a:r>
              <a:rPr lang="en-US" altLang="en-US" sz="1600" dirty="0">
                <a:solidFill>
                  <a:srgbClr val="FF0000"/>
                </a:solidFill>
                <a:latin typeface="Lucida Console" panose="020B0609040504020204" pitchFamily="49" charset="0"/>
              </a:rPr>
              <a:t> {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600" dirty="0">
                <a:solidFill>
                  <a:schemeClr val="accent2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1600" b="1" dirty="0">
                <a:solidFill>
                  <a:schemeClr val="accent2"/>
                </a:solidFill>
                <a:latin typeface="Lucida Console" panose="020B0609040504020204" pitchFamily="49" charset="0"/>
              </a:rPr>
              <a:t>private class Entry {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600" b="1" dirty="0">
                <a:solidFill>
                  <a:schemeClr val="accent2"/>
                </a:solidFill>
                <a:latin typeface="Lucida Console" panose="020B0609040504020204" pitchFamily="49" charset="0"/>
              </a:rPr>
              <a:t>        private Object key;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600" b="1" dirty="0">
                <a:solidFill>
                  <a:schemeClr val="accent2"/>
                </a:solidFill>
                <a:latin typeface="Lucida Console" panose="020B0609040504020204" pitchFamily="49" charset="0"/>
              </a:rPr>
              <a:t>        </a:t>
            </a:r>
            <a:r>
              <a:rPr lang="en-US" altLang="en-US" sz="1600" b="1" dirty="0">
                <a:solidFill>
                  <a:srgbClr val="CC0099"/>
                </a:solidFill>
                <a:latin typeface="Lucida Console" panose="020B0609040504020204" pitchFamily="49" charset="0"/>
              </a:rPr>
              <a:t>private </a:t>
            </a:r>
            <a:r>
              <a:rPr lang="en-US" altLang="en-US" sz="1600" b="1" dirty="0" err="1">
                <a:solidFill>
                  <a:srgbClr val="CC0099"/>
                </a:solidFill>
                <a:latin typeface="Lucida Console" panose="020B0609040504020204" pitchFamily="49" charset="0"/>
              </a:rPr>
              <a:t>LLQueue</a:t>
            </a:r>
            <a:r>
              <a:rPr lang="en-US" altLang="en-US" sz="1600" b="1" dirty="0">
                <a:solidFill>
                  <a:srgbClr val="CC0099"/>
                </a:solidFill>
                <a:latin typeface="Lucida Console" panose="020B0609040504020204" pitchFamily="49" charset="0"/>
              </a:rPr>
              <a:t>&lt;Object&gt; values;</a:t>
            </a:r>
            <a:endParaRPr lang="en-US" altLang="en-US" sz="1600" b="1" dirty="0">
              <a:solidFill>
                <a:schemeClr val="accent2"/>
              </a:solidFill>
              <a:latin typeface="Lucida Console" panose="020B0609040504020204" pitchFamily="49" charset="0"/>
            </a:endParaRPr>
          </a:p>
          <a:p>
            <a:pPr>
              <a:lnSpc>
                <a:spcPct val="5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600" b="1" dirty="0">
                <a:solidFill>
                  <a:schemeClr val="accent2"/>
                </a:solidFill>
                <a:latin typeface="Lucida Console" panose="020B0609040504020204" pitchFamily="49" charset="0"/>
              </a:rPr>
              <a:t>        …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600" b="1" dirty="0">
                <a:solidFill>
                  <a:schemeClr val="accent2"/>
                </a:solidFill>
                <a:latin typeface="Lucida Console" panose="020B0609040504020204" pitchFamily="49" charset="0"/>
              </a:rPr>
              <a:t>    }</a:t>
            </a:r>
          </a:p>
          <a:p>
            <a:pPr>
              <a:lnSpc>
                <a:spcPct val="5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600" dirty="0">
                <a:solidFill>
                  <a:schemeClr val="tx1"/>
                </a:solidFill>
                <a:latin typeface="Lucida Console" panose="020B0609040504020204" pitchFamily="49" charset="0"/>
              </a:rPr>
              <a:t>    …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600" dirty="0">
                <a:solidFill>
                  <a:srgbClr val="FF0000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1600" b="1" dirty="0">
                <a:solidFill>
                  <a:srgbClr val="FF0000"/>
                </a:solidFill>
                <a:latin typeface="Lucida Console" panose="020B0609040504020204" pitchFamily="49" charset="0"/>
              </a:rPr>
              <a:t>private Entry[] table;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600" dirty="0">
                <a:solidFill>
                  <a:srgbClr val="FF0000"/>
                </a:solidFill>
                <a:latin typeface="Lucida Console" panose="020B0609040504020204" pitchFamily="49" charset="0"/>
              </a:rPr>
              <a:t>    private </a:t>
            </a:r>
            <a:r>
              <a:rPr lang="en-US" altLang="en-US" sz="16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sz="160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16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probeType</a:t>
            </a:r>
            <a:r>
              <a:rPr lang="en-US" altLang="en-US" sz="1600" dirty="0">
                <a:solidFill>
                  <a:srgbClr val="FF0000"/>
                </a:solidFill>
                <a:latin typeface="Lucida Console" panose="020B0609040504020204" pitchFamily="49" charset="0"/>
              </a:rPr>
              <a:t>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600" dirty="0">
                <a:solidFill>
                  <a:srgbClr val="FF0000"/>
                </a:solidFill>
                <a:latin typeface="Lucida Console" panose="020B0609040504020204" pitchFamily="49" charset="0"/>
              </a:rPr>
              <a:t>}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endParaRPr lang="en-US" altLang="en-US" sz="160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>
              <a:lnSpc>
                <a:spcPct val="90000"/>
              </a:lnSpc>
              <a:spcBef>
                <a:spcPts val="1000"/>
              </a:spcBef>
              <a:buFontTx/>
              <a:buChar char="•"/>
              <a:tabLst>
                <a:tab pos="344488" algn="l"/>
                <a:tab pos="569913" algn="l"/>
                <a:tab pos="688975" algn="l"/>
              </a:tabLst>
            </a:pPr>
            <a:endParaRPr lang="en-US" altLang="en-US" dirty="0">
              <a:solidFill>
                <a:srgbClr val="FF0000"/>
              </a:solidFill>
            </a:endParaRPr>
          </a:p>
          <a:p>
            <a:pPr>
              <a:lnSpc>
                <a:spcPct val="90000"/>
              </a:lnSpc>
              <a:spcBef>
                <a:spcPts val="1000"/>
              </a:spcBef>
              <a:buFontTx/>
              <a:buChar char="•"/>
              <a:tabLst>
                <a:tab pos="344488" algn="l"/>
                <a:tab pos="569913" algn="l"/>
                <a:tab pos="688975" algn="l"/>
              </a:tabLst>
            </a:pPr>
            <a:endParaRPr lang="en-US" altLang="en-US" dirty="0"/>
          </a:p>
          <a:p>
            <a:pPr>
              <a:lnSpc>
                <a:spcPct val="90000"/>
              </a:lnSpc>
              <a:spcBef>
                <a:spcPts val="1000"/>
              </a:spcBef>
              <a:buFontTx/>
              <a:buChar char="•"/>
              <a:tabLst>
                <a:tab pos="344488" algn="l"/>
                <a:tab pos="569913" algn="l"/>
                <a:tab pos="688975" algn="l"/>
              </a:tabLst>
            </a:pPr>
            <a:endParaRPr lang="en-US" altLang="en-US" dirty="0"/>
          </a:p>
          <a:p>
            <a:pPr>
              <a:lnSpc>
                <a:spcPct val="90000"/>
              </a:lnSpc>
              <a:spcBef>
                <a:spcPts val="1000"/>
              </a:spcBef>
              <a:buFontTx/>
              <a:buChar char="•"/>
              <a:tabLst>
                <a:tab pos="344488" algn="l"/>
                <a:tab pos="569913" algn="l"/>
                <a:tab pos="688975" algn="l"/>
              </a:tabLst>
            </a:pPr>
            <a:endParaRPr lang="en-US" altLang="en-US" dirty="0"/>
          </a:p>
        </p:txBody>
      </p:sp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258763" y="-63500"/>
            <a:ext cx="8683625" cy="847725"/>
          </a:xfrm>
        </p:spPr>
        <p:txBody>
          <a:bodyPr/>
          <a:lstStyle/>
          <a:p>
            <a:r>
              <a:rPr lang="en-US" altLang="en-US" dirty="0"/>
              <a:t>An Implementation Using Open Addressing</a:t>
            </a:r>
            <a:endParaRPr lang="en-US" altLang="en-US" sz="1600" dirty="0"/>
          </a:p>
        </p:txBody>
      </p:sp>
      <p:graphicFrame>
        <p:nvGraphicFramePr>
          <p:cNvPr id="2245637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3788224"/>
              </p:ext>
            </p:extLst>
          </p:nvPr>
        </p:nvGraphicFramePr>
        <p:xfrm>
          <a:off x="2686050" y="2834956"/>
          <a:ext cx="2097088" cy="1830388"/>
        </p:xfrm>
        <a:graphic>
          <a:graphicData uri="http://schemas.openxmlformats.org/drawingml/2006/table">
            <a:tbl>
              <a:tblPr/>
              <a:tblGrid>
                <a:gridCol w="105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61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0</a:t>
                      </a:r>
                    </a:p>
                  </a:txBody>
                  <a:tcPr marL="0" marR="64008" marT="0" marB="0"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</a:t>
                      </a:r>
                    </a:p>
                  </a:txBody>
                  <a:tcPr marL="0" marR="64008" marT="0" marB="0"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</a:t>
                      </a:r>
                    </a:p>
                  </a:txBody>
                  <a:tcPr marL="0" marR="64008" marT="0" marB="0"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null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3</a:t>
                      </a:r>
                    </a:p>
                  </a:txBody>
                  <a:tcPr marL="0" marR="64008" marT="0" marB="0"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null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4</a:t>
                      </a:r>
                    </a:p>
                  </a:txBody>
                  <a:tcPr marL="0" marR="64008" marT="0" marB="0"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null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…</a:t>
                      </a:r>
                    </a:p>
                  </a:txBody>
                  <a:tcPr marL="0" marR="64008" marT="0" marB="0"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…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8394" name="Line 33"/>
          <p:cNvSpPr>
            <a:spLocks noChangeShapeType="1"/>
          </p:cNvSpPr>
          <p:nvPr/>
        </p:nvSpPr>
        <p:spPr bwMode="auto">
          <a:xfrm>
            <a:off x="5740400" y="2669856"/>
            <a:ext cx="78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endParaRPr lang="en-US"/>
          </a:p>
        </p:txBody>
      </p:sp>
      <p:graphicFrame>
        <p:nvGraphicFramePr>
          <p:cNvPr id="2245666" name="Group 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3302214"/>
              </p:ext>
            </p:extLst>
          </p:nvPr>
        </p:nvGraphicFramePr>
        <p:xfrm>
          <a:off x="5316538" y="2292031"/>
          <a:ext cx="811212" cy="501650"/>
        </p:xfrm>
        <a:graphic>
          <a:graphicData uri="http://schemas.openxmlformats.org/drawingml/2006/table">
            <a:tbl>
              <a:tblPr/>
              <a:tblGrid>
                <a:gridCol w="8112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0825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  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  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245676" name="Group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9225157"/>
              </p:ext>
            </p:extLst>
          </p:nvPr>
        </p:nvGraphicFramePr>
        <p:xfrm>
          <a:off x="6532563" y="2604768"/>
          <a:ext cx="811212" cy="457200"/>
        </p:xfrm>
        <a:graphic>
          <a:graphicData uri="http://schemas.openxmlformats.org/drawingml/2006/table">
            <a:tbl>
              <a:tblPr/>
              <a:tblGrid>
                <a:gridCol w="8112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LLQueue</a:t>
                      </a:r>
                      <a:b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</a:b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object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CC0099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rgbClr val="CC0099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rgbClr val="CC0099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rgbClr val="CC0099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8413" name="Line 52"/>
          <p:cNvSpPr>
            <a:spLocks noChangeShapeType="1"/>
          </p:cNvSpPr>
          <p:nvPr/>
        </p:nvSpPr>
        <p:spPr bwMode="auto">
          <a:xfrm flipV="1">
            <a:off x="4243388" y="2660331"/>
            <a:ext cx="1077912" cy="3460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endParaRPr lang="en-US"/>
          </a:p>
        </p:txBody>
      </p:sp>
      <p:sp>
        <p:nvSpPr>
          <p:cNvPr id="58414" name="Line 53"/>
          <p:cNvSpPr>
            <a:spLocks noChangeShapeType="1"/>
          </p:cNvSpPr>
          <p:nvPr/>
        </p:nvSpPr>
        <p:spPr bwMode="auto">
          <a:xfrm>
            <a:off x="2640013" y="3131818"/>
            <a:ext cx="10874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endParaRPr lang="en-US"/>
          </a:p>
        </p:txBody>
      </p:sp>
      <p:graphicFrame>
        <p:nvGraphicFramePr>
          <p:cNvPr id="2245686" name="Group 5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8578055"/>
              </p:ext>
            </p:extLst>
          </p:nvPr>
        </p:nvGraphicFramePr>
        <p:xfrm>
          <a:off x="6529388" y="2277743"/>
          <a:ext cx="811212" cy="244475"/>
        </p:xfrm>
        <a:graphic>
          <a:graphicData uri="http://schemas.openxmlformats.org/drawingml/2006/table">
            <a:tbl>
              <a:tblPr/>
              <a:tblGrid>
                <a:gridCol w="8112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44475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"ant"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8421" name="Line 60"/>
          <p:cNvSpPr>
            <a:spLocks noChangeShapeType="1"/>
          </p:cNvSpPr>
          <p:nvPr/>
        </p:nvSpPr>
        <p:spPr bwMode="auto">
          <a:xfrm>
            <a:off x="5735638" y="2407918"/>
            <a:ext cx="787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endParaRPr lang="en-US"/>
          </a:p>
        </p:txBody>
      </p:sp>
      <p:sp>
        <p:nvSpPr>
          <p:cNvPr id="58422" name="Line 61"/>
          <p:cNvSpPr>
            <a:spLocks noChangeShapeType="1"/>
          </p:cNvSpPr>
          <p:nvPr/>
        </p:nvSpPr>
        <p:spPr bwMode="auto">
          <a:xfrm>
            <a:off x="5735638" y="3565206"/>
            <a:ext cx="78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endParaRPr lang="en-US"/>
          </a:p>
        </p:txBody>
      </p:sp>
      <p:graphicFrame>
        <p:nvGraphicFramePr>
          <p:cNvPr id="2245694" name="Group 6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3814601"/>
              </p:ext>
            </p:extLst>
          </p:nvPr>
        </p:nvGraphicFramePr>
        <p:xfrm>
          <a:off x="6524625" y="3173093"/>
          <a:ext cx="811213" cy="244475"/>
        </p:xfrm>
        <a:graphic>
          <a:graphicData uri="http://schemas.openxmlformats.org/drawingml/2006/table">
            <a:tbl>
              <a:tblPr/>
              <a:tblGrid>
                <a:gridCol w="8112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44475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"ape"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8429" name="Line 68"/>
          <p:cNvSpPr>
            <a:spLocks noChangeShapeType="1"/>
          </p:cNvSpPr>
          <p:nvPr/>
        </p:nvSpPr>
        <p:spPr bwMode="auto">
          <a:xfrm>
            <a:off x="5730875" y="3303268"/>
            <a:ext cx="78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endParaRPr lang="en-US"/>
          </a:p>
        </p:txBody>
      </p:sp>
      <p:sp>
        <p:nvSpPr>
          <p:cNvPr id="58430" name="Line 69"/>
          <p:cNvSpPr>
            <a:spLocks noChangeShapeType="1"/>
          </p:cNvSpPr>
          <p:nvPr/>
        </p:nvSpPr>
        <p:spPr bwMode="auto">
          <a:xfrm>
            <a:off x="4246563" y="3293743"/>
            <a:ext cx="1063625" cy="25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endParaRPr lang="en-US"/>
          </a:p>
        </p:txBody>
      </p:sp>
      <p:graphicFrame>
        <p:nvGraphicFramePr>
          <p:cNvPr id="2245724" name="Group 9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3794401"/>
              </p:ext>
            </p:extLst>
          </p:nvPr>
        </p:nvGraphicFramePr>
        <p:xfrm>
          <a:off x="5311775" y="3187381"/>
          <a:ext cx="811213" cy="501650"/>
        </p:xfrm>
        <a:graphic>
          <a:graphicData uri="http://schemas.openxmlformats.org/drawingml/2006/table">
            <a:tbl>
              <a:tblPr/>
              <a:tblGrid>
                <a:gridCol w="8112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0825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  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  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245734" name="Group 10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3850359"/>
              </p:ext>
            </p:extLst>
          </p:nvPr>
        </p:nvGraphicFramePr>
        <p:xfrm>
          <a:off x="989013" y="3006406"/>
          <a:ext cx="1992312" cy="519112"/>
        </p:xfrm>
        <a:graphic>
          <a:graphicData uri="http://schemas.openxmlformats.org/drawingml/2006/table">
            <a:tbl>
              <a:tblPr/>
              <a:tblGrid>
                <a:gridCol w="1247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45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1300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table</a:t>
                      </a:r>
                    </a:p>
                  </a:txBody>
                  <a:tcPr marL="0" marR="64008" marT="0" marB="0" anchor="ctr" horzOverflow="overflow">
                    <a:lnL cap="flat">
                      <a:noFill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7812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probeType</a:t>
                      </a:r>
                    </a:p>
                  </a:txBody>
                  <a:tcPr marL="0" marR="64008" marT="0" marB="0" anchor="ctr" horzOverflow="overflow">
                    <a:lnL cap="flat">
                      <a:noFill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LINEAR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3" name="Group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1440093"/>
              </p:ext>
            </p:extLst>
          </p:nvPr>
        </p:nvGraphicFramePr>
        <p:xfrm>
          <a:off x="6532563" y="3487418"/>
          <a:ext cx="811212" cy="457200"/>
        </p:xfrm>
        <a:graphic>
          <a:graphicData uri="http://schemas.openxmlformats.org/drawingml/2006/table">
            <a:tbl>
              <a:tblPr/>
              <a:tblGrid>
                <a:gridCol w="8112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LLQueue</a:t>
                      </a:r>
                      <a:b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</a:b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object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CC0099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rgbClr val="CC0099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rgbClr val="CC0099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rgbClr val="CC0099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Cloud Callout 2"/>
          <p:cNvSpPr/>
          <p:nvPr/>
        </p:nvSpPr>
        <p:spPr bwMode="auto">
          <a:xfrm>
            <a:off x="2719217" y="4527560"/>
            <a:ext cx="3799058" cy="2043896"/>
          </a:xfrm>
          <a:prstGeom prst="cloudCallout">
            <a:avLst>
              <a:gd name="adj1" fmla="val 24713"/>
              <a:gd name="adj2" fmla="val -120582"/>
            </a:avLst>
          </a:prstGeom>
          <a:solidFill>
            <a:schemeClr val="bg1">
              <a:lumMod val="95000"/>
            </a:schemeClr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200" dirty="0"/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200" dirty="0"/>
              <a:t>t</a:t>
            </a:r>
            <a:r>
              <a:rPr kumimoji="0" lang="en-US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Narrow" pitchFamily="34" charset="0"/>
              </a:rPr>
              <a:t>able[</a:t>
            </a:r>
            <a:r>
              <a:rPr kumimoji="0" lang="en-US" sz="22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 Narrow" pitchFamily="34" charset="0"/>
              </a:rPr>
              <a:t>0</a:t>
            </a:r>
            <a:r>
              <a:rPr kumimoji="0" lang="en-US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Narrow" pitchFamily="34" charset="0"/>
              </a:rPr>
              <a:t>].key</a:t>
            </a:r>
          </a:p>
        </p:txBody>
      </p:sp>
    </p:spTree>
    <p:extLst>
      <p:ext uri="{BB962C8B-B14F-4D97-AF65-F5344CB8AC3E}">
        <p14:creationId xmlns:p14="http://schemas.microsoft.com/office/powerpoint/2010/main" val="3726001228"/>
      </p:ext>
    </p:extLst>
  </p:cSld>
  <p:clrMapOvr>
    <a:masterClrMapping/>
  </p:clrMapOvr>
</p:sld>
</file>

<file path=ppt/slides/slide2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/>
          <p:cNvSpPr txBox="1"/>
          <p:nvPr/>
        </p:nvSpPr>
        <p:spPr>
          <a:xfrm>
            <a:off x="593558" y="704850"/>
            <a:ext cx="7571874" cy="171750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258763" y="-63500"/>
            <a:ext cx="8683625" cy="847725"/>
          </a:xfrm>
        </p:spPr>
        <p:txBody>
          <a:bodyPr/>
          <a:lstStyle/>
          <a:p>
            <a:r>
              <a:rPr lang="en-US" altLang="en-US" dirty="0"/>
              <a:t>Empty vs. Removed</a:t>
            </a:r>
            <a:endParaRPr lang="en-US" altLang="en-US" sz="2000" dirty="0"/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704850"/>
            <a:ext cx="8488362" cy="5614988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ts val="1000"/>
              </a:spcBef>
              <a:buFontTx/>
              <a:buChar char="•"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dirty="0"/>
              <a:t>When we remove a key and its values, we:</a:t>
            </a:r>
          </a:p>
          <a:p>
            <a:pPr lvl="1">
              <a:lnSpc>
                <a:spcPct val="90000"/>
              </a:lnSpc>
              <a:spcBef>
                <a:spcPts val="1000"/>
              </a:spcBef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dirty="0"/>
              <a:t>……</a:t>
            </a:r>
          </a:p>
          <a:p>
            <a:pPr lvl="1">
              <a:lnSpc>
                <a:spcPct val="90000"/>
              </a:lnSpc>
              <a:spcBef>
                <a:spcPts val="1000"/>
              </a:spcBef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dirty="0"/>
              <a:t>……</a:t>
            </a:r>
          </a:p>
          <a:p>
            <a:pPr marL="457200" lvl="1" indent="0">
              <a:lnSpc>
                <a:spcPct val="90000"/>
              </a:lnSpc>
              <a:spcBef>
                <a:spcPts val="1000"/>
              </a:spcBef>
              <a:buNone/>
              <a:tabLst>
                <a:tab pos="344488" algn="l"/>
                <a:tab pos="569913" algn="l"/>
                <a:tab pos="688975" algn="l"/>
              </a:tabLst>
            </a:pPr>
            <a:endParaRPr lang="en-US" altLang="en-US" dirty="0"/>
          </a:p>
          <a:p>
            <a:pPr lvl="1">
              <a:lnSpc>
                <a:spcPct val="90000"/>
              </a:lnSpc>
              <a:spcBef>
                <a:spcPts val="1000"/>
              </a:spcBef>
              <a:tabLst>
                <a:tab pos="344488" algn="l"/>
                <a:tab pos="569913" algn="l"/>
                <a:tab pos="688975" algn="l"/>
              </a:tabLst>
            </a:pPr>
            <a:endParaRPr lang="en-US" altLang="en-US" sz="2000" dirty="0">
              <a:latin typeface="Lucida Console" panose="020B0609040504020204" pitchFamily="49" charset="0"/>
            </a:endParaRPr>
          </a:p>
          <a:p>
            <a:pPr marL="457200" lvl="1" indent="0">
              <a:lnSpc>
                <a:spcPct val="90000"/>
              </a:lnSpc>
              <a:spcBef>
                <a:spcPts val="1000"/>
              </a:spcBef>
              <a:buNone/>
              <a:tabLst>
                <a:tab pos="344488" algn="l"/>
                <a:tab pos="569913" algn="l"/>
                <a:tab pos="688975" algn="l"/>
              </a:tabLst>
            </a:pPr>
            <a:endParaRPr lang="en-US" altLang="en-US" sz="2200" dirty="0"/>
          </a:p>
        </p:txBody>
      </p:sp>
      <p:graphicFrame>
        <p:nvGraphicFramePr>
          <p:cNvPr id="2245637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453999"/>
              </p:ext>
            </p:extLst>
          </p:nvPr>
        </p:nvGraphicFramePr>
        <p:xfrm>
          <a:off x="2686050" y="3109277"/>
          <a:ext cx="2097088" cy="1830388"/>
        </p:xfrm>
        <a:graphic>
          <a:graphicData uri="http://schemas.openxmlformats.org/drawingml/2006/table">
            <a:tbl>
              <a:tblPr/>
              <a:tblGrid>
                <a:gridCol w="105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61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0</a:t>
                      </a:r>
                    </a:p>
                  </a:txBody>
                  <a:tcPr marL="0" marR="64008" marT="0" marB="0"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</a:t>
                      </a:r>
                    </a:p>
                  </a:txBody>
                  <a:tcPr marL="0" marR="64008" marT="0" marB="0"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</a:t>
                      </a:r>
                    </a:p>
                  </a:txBody>
                  <a:tcPr marL="0" marR="64008" marT="0" marB="0"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null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3</a:t>
                      </a:r>
                    </a:p>
                  </a:txBody>
                  <a:tcPr marL="0" marR="64008" marT="0" marB="0"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null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4</a:t>
                      </a:r>
                    </a:p>
                  </a:txBody>
                  <a:tcPr marL="0" marR="64008" marT="0" marB="0"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null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…</a:t>
                      </a:r>
                    </a:p>
                  </a:txBody>
                  <a:tcPr marL="0" marR="64008" marT="0" marB="0"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…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8394" name="Line 33"/>
          <p:cNvSpPr>
            <a:spLocks noChangeShapeType="1"/>
          </p:cNvSpPr>
          <p:nvPr/>
        </p:nvSpPr>
        <p:spPr bwMode="auto">
          <a:xfrm>
            <a:off x="5740400" y="2944177"/>
            <a:ext cx="78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endParaRPr lang="en-US"/>
          </a:p>
        </p:txBody>
      </p:sp>
      <p:graphicFrame>
        <p:nvGraphicFramePr>
          <p:cNvPr id="2245666" name="Group 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4615903"/>
              </p:ext>
            </p:extLst>
          </p:nvPr>
        </p:nvGraphicFramePr>
        <p:xfrm>
          <a:off x="5316538" y="2566352"/>
          <a:ext cx="811212" cy="501650"/>
        </p:xfrm>
        <a:graphic>
          <a:graphicData uri="http://schemas.openxmlformats.org/drawingml/2006/table">
            <a:tbl>
              <a:tblPr/>
              <a:tblGrid>
                <a:gridCol w="8112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0825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  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  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245676" name="Group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8774738"/>
              </p:ext>
            </p:extLst>
          </p:nvPr>
        </p:nvGraphicFramePr>
        <p:xfrm>
          <a:off x="6532563" y="2879089"/>
          <a:ext cx="811212" cy="457200"/>
        </p:xfrm>
        <a:graphic>
          <a:graphicData uri="http://schemas.openxmlformats.org/drawingml/2006/table">
            <a:tbl>
              <a:tblPr/>
              <a:tblGrid>
                <a:gridCol w="8112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LLQueue</a:t>
                      </a:r>
                      <a:b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</a:b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object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CC0099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rgbClr val="CC0099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rgbClr val="CC0099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rgbClr val="CC0099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8413" name="Line 52"/>
          <p:cNvSpPr>
            <a:spLocks noChangeShapeType="1"/>
          </p:cNvSpPr>
          <p:nvPr/>
        </p:nvSpPr>
        <p:spPr bwMode="auto">
          <a:xfrm flipV="1">
            <a:off x="4243388" y="2934652"/>
            <a:ext cx="1077912" cy="3460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endParaRPr lang="en-US"/>
          </a:p>
        </p:txBody>
      </p:sp>
      <p:sp>
        <p:nvSpPr>
          <p:cNvPr id="58414" name="Line 53"/>
          <p:cNvSpPr>
            <a:spLocks noChangeShapeType="1"/>
          </p:cNvSpPr>
          <p:nvPr/>
        </p:nvSpPr>
        <p:spPr bwMode="auto">
          <a:xfrm>
            <a:off x="2640013" y="3406139"/>
            <a:ext cx="10874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endParaRPr lang="en-US"/>
          </a:p>
        </p:txBody>
      </p:sp>
      <p:graphicFrame>
        <p:nvGraphicFramePr>
          <p:cNvPr id="2245686" name="Group 5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0755862"/>
              </p:ext>
            </p:extLst>
          </p:nvPr>
        </p:nvGraphicFramePr>
        <p:xfrm>
          <a:off x="6529388" y="2552064"/>
          <a:ext cx="811212" cy="244475"/>
        </p:xfrm>
        <a:graphic>
          <a:graphicData uri="http://schemas.openxmlformats.org/drawingml/2006/table">
            <a:tbl>
              <a:tblPr/>
              <a:tblGrid>
                <a:gridCol w="8112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44475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"ant"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8421" name="Line 60"/>
          <p:cNvSpPr>
            <a:spLocks noChangeShapeType="1"/>
          </p:cNvSpPr>
          <p:nvPr/>
        </p:nvSpPr>
        <p:spPr bwMode="auto">
          <a:xfrm>
            <a:off x="5735638" y="2682239"/>
            <a:ext cx="78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endParaRPr lang="en-US"/>
          </a:p>
        </p:txBody>
      </p:sp>
      <p:sp>
        <p:nvSpPr>
          <p:cNvPr id="58422" name="Line 61"/>
          <p:cNvSpPr>
            <a:spLocks noChangeShapeType="1"/>
          </p:cNvSpPr>
          <p:nvPr/>
        </p:nvSpPr>
        <p:spPr bwMode="auto">
          <a:xfrm>
            <a:off x="5735638" y="3839527"/>
            <a:ext cx="78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endParaRPr lang="en-US"/>
          </a:p>
        </p:txBody>
      </p:sp>
      <p:graphicFrame>
        <p:nvGraphicFramePr>
          <p:cNvPr id="2245694" name="Group 6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0648623"/>
              </p:ext>
            </p:extLst>
          </p:nvPr>
        </p:nvGraphicFramePr>
        <p:xfrm>
          <a:off x="6524625" y="3447414"/>
          <a:ext cx="811213" cy="244475"/>
        </p:xfrm>
        <a:graphic>
          <a:graphicData uri="http://schemas.openxmlformats.org/drawingml/2006/table">
            <a:tbl>
              <a:tblPr/>
              <a:tblGrid>
                <a:gridCol w="8112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44475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"ape"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8429" name="Line 68"/>
          <p:cNvSpPr>
            <a:spLocks noChangeShapeType="1"/>
          </p:cNvSpPr>
          <p:nvPr/>
        </p:nvSpPr>
        <p:spPr bwMode="auto">
          <a:xfrm>
            <a:off x="5730875" y="3577589"/>
            <a:ext cx="78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endParaRPr lang="en-US"/>
          </a:p>
        </p:txBody>
      </p:sp>
      <p:sp>
        <p:nvSpPr>
          <p:cNvPr id="58430" name="Line 69"/>
          <p:cNvSpPr>
            <a:spLocks noChangeShapeType="1"/>
          </p:cNvSpPr>
          <p:nvPr/>
        </p:nvSpPr>
        <p:spPr bwMode="auto">
          <a:xfrm>
            <a:off x="4246563" y="3568064"/>
            <a:ext cx="1063625" cy="25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endParaRPr lang="en-US"/>
          </a:p>
        </p:txBody>
      </p:sp>
      <p:graphicFrame>
        <p:nvGraphicFramePr>
          <p:cNvPr id="2245724" name="Group 9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0313791"/>
              </p:ext>
            </p:extLst>
          </p:nvPr>
        </p:nvGraphicFramePr>
        <p:xfrm>
          <a:off x="5311775" y="3461702"/>
          <a:ext cx="811213" cy="501650"/>
        </p:xfrm>
        <a:graphic>
          <a:graphicData uri="http://schemas.openxmlformats.org/drawingml/2006/table">
            <a:tbl>
              <a:tblPr/>
              <a:tblGrid>
                <a:gridCol w="8112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0825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  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  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245734" name="Group 10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4721643"/>
              </p:ext>
            </p:extLst>
          </p:nvPr>
        </p:nvGraphicFramePr>
        <p:xfrm>
          <a:off x="989013" y="3280727"/>
          <a:ext cx="1992312" cy="519112"/>
        </p:xfrm>
        <a:graphic>
          <a:graphicData uri="http://schemas.openxmlformats.org/drawingml/2006/table">
            <a:tbl>
              <a:tblPr/>
              <a:tblGrid>
                <a:gridCol w="1247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45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1300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table</a:t>
                      </a:r>
                    </a:p>
                  </a:txBody>
                  <a:tcPr marL="0" marR="64008" marT="0" marB="0" anchor="ctr" horzOverflow="overflow">
                    <a:lnL cap="flat">
                      <a:noFill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7812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probeType</a:t>
                      </a:r>
                    </a:p>
                  </a:txBody>
                  <a:tcPr marL="0" marR="64008" marT="0" marB="0" anchor="ctr" horzOverflow="overflow">
                    <a:lnL cap="flat">
                      <a:noFill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LINEAR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3" name="Group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8212878"/>
              </p:ext>
            </p:extLst>
          </p:nvPr>
        </p:nvGraphicFramePr>
        <p:xfrm>
          <a:off x="6532563" y="3761739"/>
          <a:ext cx="811212" cy="457200"/>
        </p:xfrm>
        <a:graphic>
          <a:graphicData uri="http://schemas.openxmlformats.org/drawingml/2006/table">
            <a:tbl>
              <a:tblPr/>
              <a:tblGrid>
                <a:gridCol w="8112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LLQueue</a:t>
                      </a:r>
                      <a:b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</a:b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object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CC0099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rgbClr val="CC0099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rgbClr val="CC0099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rgbClr val="CC0099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9057582"/>
      </p:ext>
    </p:extLst>
  </p:cSld>
  <p:clrMapOvr>
    <a:masterClrMapping/>
  </p:clrMapOvr>
</p:sld>
</file>

<file path=ppt/slides/slide2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/>
          <p:cNvSpPr txBox="1"/>
          <p:nvPr/>
        </p:nvSpPr>
        <p:spPr>
          <a:xfrm>
            <a:off x="593558" y="704850"/>
            <a:ext cx="7571874" cy="171750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5116680" y="3272265"/>
            <a:ext cx="1203158" cy="90649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258763" y="-63500"/>
            <a:ext cx="8683625" cy="847725"/>
          </a:xfrm>
        </p:spPr>
        <p:txBody>
          <a:bodyPr/>
          <a:lstStyle/>
          <a:p>
            <a:r>
              <a:rPr lang="en-US" altLang="en-US" dirty="0"/>
              <a:t>Empty vs. Removed</a:t>
            </a:r>
            <a:endParaRPr lang="en-US" altLang="en-US" sz="2000" dirty="0"/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704850"/>
            <a:ext cx="8488362" cy="5614988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ts val="1000"/>
              </a:spcBef>
              <a:buFontTx/>
              <a:buChar char="•"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dirty="0"/>
              <a:t>When we remove a key and its values, we:</a:t>
            </a:r>
          </a:p>
          <a:p>
            <a:pPr lvl="1">
              <a:lnSpc>
                <a:spcPct val="90000"/>
              </a:lnSpc>
              <a:spcBef>
                <a:spcPts val="1000"/>
              </a:spcBef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dirty="0">
                <a:solidFill>
                  <a:schemeClr val="accent2"/>
                </a:solidFill>
              </a:rPr>
              <a:t>leave the </a:t>
            </a:r>
            <a:r>
              <a:rPr lang="en-US" altLang="en-US" sz="2000" dirty="0">
                <a:solidFill>
                  <a:schemeClr val="accent2"/>
                </a:solidFill>
                <a:latin typeface="Lucida Console" panose="020B0609040504020204" pitchFamily="49" charset="0"/>
              </a:rPr>
              <a:t>Entry</a:t>
            </a:r>
            <a:r>
              <a:rPr lang="en-US" altLang="en-US" dirty="0">
                <a:solidFill>
                  <a:schemeClr val="accent2"/>
                </a:solidFill>
              </a:rPr>
              <a:t> object in the table</a:t>
            </a:r>
          </a:p>
          <a:p>
            <a:pPr marL="457200" lvl="1" indent="0">
              <a:lnSpc>
                <a:spcPct val="90000"/>
              </a:lnSpc>
              <a:spcBef>
                <a:spcPts val="1000"/>
              </a:spcBef>
              <a:buNone/>
              <a:tabLst>
                <a:tab pos="344488" algn="l"/>
                <a:tab pos="569913" algn="l"/>
                <a:tab pos="688975" algn="l"/>
              </a:tabLst>
            </a:pPr>
            <a:endParaRPr lang="en-US" altLang="en-US" sz="2000" dirty="0">
              <a:latin typeface="Lucida Console" panose="020B0609040504020204" pitchFamily="49" charset="0"/>
            </a:endParaRPr>
          </a:p>
          <a:p>
            <a:pPr marL="457200" lvl="1" indent="0">
              <a:lnSpc>
                <a:spcPct val="90000"/>
              </a:lnSpc>
              <a:spcBef>
                <a:spcPts val="1000"/>
              </a:spcBef>
              <a:buNone/>
              <a:tabLst>
                <a:tab pos="344488" algn="l"/>
                <a:tab pos="569913" algn="l"/>
                <a:tab pos="688975" algn="l"/>
              </a:tabLst>
            </a:pPr>
            <a:endParaRPr lang="en-US" altLang="en-US" sz="2200" dirty="0"/>
          </a:p>
        </p:txBody>
      </p:sp>
      <p:graphicFrame>
        <p:nvGraphicFramePr>
          <p:cNvPr id="2245637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453999"/>
              </p:ext>
            </p:extLst>
          </p:nvPr>
        </p:nvGraphicFramePr>
        <p:xfrm>
          <a:off x="2686050" y="3109277"/>
          <a:ext cx="2097088" cy="1830388"/>
        </p:xfrm>
        <a:graphic>
          <a:graphicData uri="http://schemas.openxmlformats.org/drawingml/2006/table">
            <a:tbl>
              <a:tblPr/>
              <a:tblGrid>
                <a:gridCol w="105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61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0</a:t>
                      </a:r>
                    </a:p>
                  </a:txBody>
                  <a:tcPr marL="0" marR="64008" marT="0" marB="0"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</a:t>
                      </a:r>
                    </a:p>
                  </a:txBody>
                  <a:tcPr marL="0" marR="64008" marT="0" marB="0"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</a:t>
                      </a:r>
                    </a:p>
                  </a:txBody>
                  <a:tcPr marL="0" marR="64008" marT="0" marB="0"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null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3</a:t>
                      </a:r>
                    </a:p>
                  </a:txBody>
                  <a:tcPr marL="0" marR="64008" marT="0" marB="0"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null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4</a:t>
                      </a:r>
                    </a:p>
                  </a:txBody>
                  <a:tcPr marL="0" marR="64008" marT="0" marB="0"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null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…</a:t>
                      </a:r>
                    </a:p>
                  </a:txBody>
                  <a:tcPr marL="0" marR="64008" marT="0" marB="0"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…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8394" name="Line 33"/>
          <p:cNvSpPr>
            <a:spLocks noChangeShapeType="1"/>
          </p:cNvSpPr>
          <p:nvPr/>
        </p:nvSpPr>
        <p:spPr bwMode="auto">
          <a:xfrm>
            <a:off x="5740400" y="2944177"/>
            <a:ext cx="78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endParaRPr lang="en-US"/>
          </a:p>
        </p:txBody>
      </p:sp>
      <p:graphicFrame>
        <p:nvGraphicFramePr>
          <p:cNvPr id="2245666" name="Group 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4615903"/>
              </p:ext>
            </p:extLst>
          </p:nvPr>
        </p:nvGraphicFramePr>
        <p:xfrm>
          <a:off x="5316538" y="2566352"/>
          <a:ext cx="811212" cy="501650"/>
        </p:xfrm>
        <a:graphic>
          <a:graphicData uri="http://schemas.openxmlformats.org/drawingml/2006/table">
            <a:tbl>
              <a:tblPr/>
              <a:tblGrid>
                <a:gridCol w="8112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0825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  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  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245676" name="Group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8774738"/>
              </p:ext>
            </p:extLst>
          </p:nvPr>
        </p:nvGraphicFramePr>
        <p:xfrm>
          <a:off x="6532563" y="2879089"/>
          <a:ext cx="811212" cy="457200"/>
        </p:xfrm>
        <a:graphic>
          <a:graphicData uri="http://schemas.openxmlformats.org/drawingml/2006/table">
            <a:tbl>
              <a:tblPr/>
              <a:tblGrid>
                <a:gridCol w="8112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LLQueue</a:t>
                      </a:r>
                      <a:b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</a:b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object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CC0099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rgbClr val="CC0099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rgbClr val="CC0099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rgbClr val="CC0099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8413" name="Line 52"/>
          <p:cNvSpPr>
            <a:spLocks noChangeShapeType="1"/>
          </p:cNvSpPr>
          <p:nvPr/>
        </p:nvSpPr>
        <p:spPr bwMode="auto">
          <a:xfrm flipV="1">
            <a:off x="4243388" y="2934652"/>
            <a:ext cx="1077912" cy="3460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endParaRPr lang="en-US"/>
          </a:p>
        </p:txBody>
      </p:sp>
      <p:sp>
        <p:nvSpPr>
          <p:cNvPr id="58414" name="Line 53"/>
          <p:cNvSpPr>
            <a:spLocks noChangeShapeType="1"/>
          </p:cNvSpPr>
          <p:nvPr/>
        </p:nvSpPr>
        <p:spPr bwMode="auto">
          <a:xfrm>
            <a:off x="2640013" y="3406139"/>
            <a:ext cx="10874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endParaRPr lang="en-US"/>
          </a:p>
        </p:txBody>
      </p:sp>
      <p:graphicFrame>
        <p:nvGraphicFramePr>
          <p:cNvPr id="2245686" name="Group 5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0755862"/>
              </p:ext>
            </p:extLst>
          </p:nvPr>
        </p:nvGraphicFramePr>
        <p:xfrm>
          <a:off x="6529388" y="2552064"/>
          <a:ext cx="811212" cy="244475"/>
        </p:xfrm>
        <a:graphic>
          <a:graphicData uri="http://schemas.openxmlformats.org/drawingml/2006/table">
            <a:tbl>
              <a:tblPr/>
              <a:tblGrid>
                <a:gridCol w="8112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44475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"ant"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8421" name="Line 60"/>
          <p:cNvSpPr>
            <a:spLocks noChangeShapeType="1"/>
          </p:cNvSpPr>
          <p:nvPr/>
        </p:nvSpPr>
        <p:spPr bwMode="auto">
          <a:xfrm>
            <a:off x="5735638" y="2682239"/>
            <a:ext cx="78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endParaRPr lang="en-US"/>
          </a:p>
        </p:txBody>
      </p:sp>
      <p:sp>
        <p:nvSpPr>
          <p:cNvPr id="58422" name="Line 61"/>
          <p:cNvSpPr>
            <a:spLocks noChangeShapeType="1"/>
          </p:cNvSpPr>
          <p:nvPr/>
        </p:nvSpPr>
        <p:spPr bwMode="auto">
          <a:xfrm>
            <a:off x="5735638" y="3839527"/>
            <a:ext cx="78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endParaRPr lang="en-US"/>
          </a:p>
        </p:txBody>
      </p:sp>
      <p:graphicFrame>
        <p:nvGraphicFramePr>
          <p:cNvPr id="2245694" name="Group 6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0648623"/>
              </p:ext>
            </p:extLst>
          </p:nvPr>
        </p:nvGraphicFramePr>
        <p:xfrm>
          <a:off x="6524625" y="3447414"/>
          <a:ext cx="811213" cy="244475"/>
        </p:xfrm>
        <a:graphic>
          <a:graphicData uri="http://schemas.openxmlformats.org/drawingml/2006/table">
            <a:tbl>
              <a:tblPr/>
              <a:tblGrid>
                <a:gridCol w="8112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44475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"ape"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8429" name="Line 68"/>
          <p:cNvSpPr>
            <a:spLocks noChangeShapeType="1"/>
          </p:cNvSpPr>
          <p:nvPr/>
        </p:nvSpPr>
        <p:spPr bwMode="auto">
          <a:xfrm>
            <a:off x="5730875" y="3577589"/>
            <a:ext cx="78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endParaRPr lang="en-US"/>
          </a:p>
        </p:txBody>
      </p:sp>
      <p:sp>
        <p:nvSpPr>
          <p:cNvPr id="58430" name="Line 69"/>
          <p:cNvSpPr>
            <a:spLocks noChangeShapeType="1"/>
          </p:cNvSpPr>
          <p:nvPr/>
        </p:nvSpPr>
        <p:spPr bwMode="auto">
          <a:xfrm>
            <a:off x="4246563" y="3568064"/>
            <a:ext cx="1063625" cy="25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endParaRPr lang="en-US"/>
          </a:p>
        </p:txBody>
      </p:sp>
      <p:graphicFrame>
        <p:nvGraphicFramePr>
          <p:cNvPr id="2245724" name="Group 9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0313791"/>
              </p:ext>
            </p:extLst>
          </p:nvPr>
        </p:nvGraphicFramePr>
        <p:xfrm>
          <a:off x="5311775" y="3461702"/>
          <a:ext cx="811213" cy="501650"/>
        </p:xfrm>
        <a:graphic>
          <a:graphicData uri="http://schemas.openxmlformats.org/drawingml/2006/table">
            <a:tbl>
              <a:tblPr/>
              <a:tblGrid>
                <a:gridCol w="8112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0825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  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  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245734" name="Group 10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4721643"/>
              </p:ext>
            </p:extLst>
          </p:nvPr>
        </p:nvGraphicFramePr>
        <p:xfrm>
          <a:off x="989013" y="3280727"/>
          <a:ext cx="1992312" cy="519112"/>
        </p:xfrm>
        <a:graphic>
          <a:graphicData uri="http://schemas.openxmlformats.org/drawingml/2006/table">
            <a:tbl>
              <a:tblPr/>
              <a:tblGrid>
                <a:gridCol w="1247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45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1300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table</a:t>
                      </a:r>
                    </a:p>
                  </a:txBody>
                  <a:tcPr marL="0" marR="64008" marT="0" marB="0" anchor="ctr" horzOverflow="overflow">
                    <a:lnL cap="flat">
                      <a:noFill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7812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probeType</a:t>
                      </a:r>
                    </a:p>
                  </a:txBody>
                  <a:tcPr marL="0" marR="64008" marT="0" marB="0" anchor="ctr" horzOverflow="overflow">
                    <a:lnL cap="flat">
                      <a:noFill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LINEAR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3" name="Group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8212878"/>
              </p:ext>
            </p:extLst>
          </p:nvPr>
        </p:nvGraphicFramePr>
        <p:xfrm>
          <a:off x="6532563" y="3761739"/>
          <a:ext cx="811212" cy="457200"/>
        </p:xfrm>
        <a:graphic>
          <a:graphicData uri="http://schemas.openxmlformats.org/drawingml/2006/table">
            <a:tbl>
              <a:tblPr/>
              <a:tblGrid>
                <a:gridCol w="8112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LLQueue</a:t>
                      </a:r>
                      <a:b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</a:b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object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CC0099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rgbClr val="CC0099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rgbClr val="CC0099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rgbClr val="CC0099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3728339"/>
      </p:ext>
    </p:extLst>
  </p:cSld>
  <p:clrMapOvr>
    <a:masterClrMapping/>
  </p:clrMapOvr>
</p:sld>
</file>

<file path=ppt/slides/slide2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/>
          <p:cNvSpPr txBox="1"/>
          <p:nvPr/>
        </p:nvSpPr>
        <p:spPr>
          <a:xfrm>
            <a:off x="593558" y="704850"/>
            <a:ext cx="7571874" cy="171750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5116680" y="3272265"/>
            <a:ext cx="1203158" cy="90649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258763" y="-63500"/>
            <a:ext cx="8683625" cy="847725"/>
          </a:xfrm>
        </p:spPr>
        <p:txBody>
          <a:bodyPr/>
          <a:lstStyle/>
          <a:p>
            <a:r>
              <a:rPr lang="en-US" altLang="en-US" dirty="0"/>
              <a:t>Empty vs. Removed</a:t>
            </a:r>
            <a:endParaRPr lang="en-US" altLang="en-US" sz="2000" dirty="0"/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704850"/>
            <a:ext cx="8488362" cy="5614988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ts val="1000"/>
              </a:spcBef>
              <a:buFontTx/>
              <a:buChar char="•"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dirty="0"/>
              <a:t>When we remove a key and its values, we:</a:t>
            </a:r>
          </a:p>
          <a:p>
            <a:pPr lvl="1">
              <a:lnSpc>
                <a:spcPct val="90000"/>
              </a:lnSpc>
              <a:spcBef>
                <a:spcPts val="1000"/>
              </a:spcBef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dirty="0"/>
              <a:t>leave the </a:t>
            </a:r>
            <a:r>
              <a:rPr lang="en-US" altLang="en-US" sz="2000" dirty="0">
                <a:latin typeface="Lucida Console" panose="020B0609040504020204" pitchFamily="49" charset="0"/>
              </a:rPr>
              <a:t>Entry</a:t>
            </a:r>
            <a:r>
              <a:rPr lang="en-US" altLang="en-US" dirty="0"/>
              <a:t> object in the table</a:t>
            </a:r>
          </a:p>
          <a:p>
            <a:pPr lvl="1">
              <a:lnSpc>
                <a:spcPct val="90000"/>
              </a:lnSpc>
              <a:spcBef>
                <a:spcPts val="1000"/>
              </a:spcBef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dirty="0">
                <a:solidFill>
                  <a:srgbClr val="0000FF"/>
                </a:solidFill>
              </a:rPr>
              <a:t>set the </a:t>
            </a:r>
            <a:r>
              <a:rPr lang="en-US" altLang="en-US" sz="2000" dirty="0">
                <a:solidFill>
                  <a:srgbClr val="0000FF"/>
                </a:solidFill>
                <a:latin typeface="Lucida Console" panose="020B0609040504020204" pitchFamily="49" charset="0"/>
              </a:rPr>
              <a:t>Entry</a:t>
            </a:r>
            <a:r>
              <a:rPr lang="en-US" altLang="en-US" dirty="0">
                <a:solidFill>
                  <a:srgbClr val="0000FF"/>
                </a:solidFill>
              </a:rPr>
              <a:t> object's </a:t>
            </a:r>
            <a:r>
              <a:rPr lang="en-US" altLang="en-US" sz="2000" dirty="0">
                <a:solidFill>
                  <a:srgbClr val="0000FF"/>
                </a:solidFill>
                <a:latin typeface="Lucida Console" panose="020B0609040504020204" pitchFamily="49" charset="0"/>
              </a:rPr>
              <a:t>key</a:t>
            </a:r>
            <a:r>
              <a:rPr lang="en-US" altLang="en-US" dirty="0">
                <a:solidFill>
                  <a:srgbClr val="0000FF"/>
                </a:solidFill>
              </a:rPr>
              <a:t> and </a:t>
            </a:r>
            <a:r>
              <a:rPr lang="en-US" altLang="en-US" sz="2000" dirty="0">
                <a:solidFill>
                  <a:srgbClr val="0000FF"/>
                </a:solidFill>
                <a:latin typeface="Lucida Console" panose="020B0609040504020204" pitchFamily="49" charset="0"/>
              </a:rPr>
              <a:t>values</a:t>
            </a:r>
            <a:r>
              <a:rPr lang="en-US" altLang="en-US" dirty="0">
                <a:solidFill>
                  <a:srgbClr val="0000FF"/>
                </a:solidFill>
              </a:rPr>
              <a:t> fields to </a:t>
            </a:r>
            <a:r>
              <a:rPr lang="en-US" altLang="en-US" sz="2000" dirty="0">
                <a:solidFill>
                  <a:srgbClr val="0000FF"/>
                </a:solidFill>
                <a:latin typeface="Lucida Console" panose="020B0609040504020204" pitchFamily="49" charset="0"/>
              </a:rPr>
              <a:t>null</a:t>
            </a:r>
          </a:p>
          <a:p>
            <a:pPr marL="457200" lvl="1" indent="0">
              <a:lnSpc>
                <a:spcPct val="90000"/>
              </a:lnSpc>
              <a:spcBef>
                <a:spcPts val="1000"/>
              </a:spcBef>
              <a:buNone/>
              <a:tabLst>
                <a:tab pos="344488" algn="l"/>
                <a:tab pos="569913" algn="l"/>
                <a:tab pos="688975" algn="l"/>
              </a:tabLst>
            </a:pPr>
            <a:endParaRPr lang="en-US" altLang="en-US" sz="2200" dirty="0">
              <a:solidFill>
                <a:schemeClr val="tx1"/>
              </a:solidFill>
            </a:endParaRPr>
          </a:p>
        </p:txBody>
      </p:sp>
      <p:graphicFrame>
        <p:nvGraphicFramePr>
          <p:cNvPr id="2245637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453999"/>
              </p:ext>
            </p:extLst>
          </p:nvPr>
        </p:nvGraphicFramePr>
        <p:xfrm>
          <a:off x="2686050" y="3109277"/>
          <a:ext cx="2097088" cy="1830388"/>
        </p:xfrm>
        <a:graphic>
          <a:graphicData uri="http://schemas.openxmlformats.org/drawingml/2006/table">
            <a:tbl>
              <a:tblPr/>
              <a:tblGrid>
                <a:gridCol w="105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61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0</a:t>
                      </a:r>
                    </a:p>
                  </a:txBody>
                  <a:tcPr marL="0" marR="64008" marT="0" marB="0"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</a:t>
                      </a:r>
                    </a:p>
                  </a:txBody>
                  <a:tcPr marL="0" marR="64008" marT="0" marB="0"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</a:t>
                      </a:r>
                    </a:p>
                  </a:txBody>
                  <a:tcPr marL="0" marR="64008" marT="0" marB="0"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null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3</a:t>
                      </a:r>
                    </a:p>
                  </a:txBody>
                  <a:tcPr marL="0" marR="64008" marT="0" marB="0"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null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4</a:t>
                      </a:r>
                    </a:p>
                  </a:txBody>
                  <a:tcPr marL="0" marR="64008" marT="0" marB="0"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null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…</a:t>
                      </a:r>
                    </a:p>
                  </a:txBody>
                  <a:tcPr marL="0" marR="64008" marT="0" marB="0"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…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8394" name="Line 33"/>
          <p:cNvSpPr>
            <a:spLocks noChangeShapeType="1"/>
          </p:cNvSpPr>
          <p:nvPr/>
        </p:nvSpPr>
        <p:spPr bwMode="auto">
          <a:xfrm>
            <a:off x="5740400" y="2944177"/>
            <a:ext cx="78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endParaRPr lang="en-US"/>
          </a:p>
        </p:txBody>
      </p:sp>
      <p:graphicFrame>
        <p:nvGraphicFramePr>
          <p:cNvPr id="2245666" name="Group 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4615903"/>
              </p:ext>
            </p:extLst>
          </p:nvPr>
        </p:nvGraphicFramePr>
        <p:xfrm>
          <a:off x="5316538" y="2566352"/>
          <a:ext cx="811212" cy="501650"/>
        </p:xfrm>
        <a:graphic>
          <a:graphicData uri="http://schemas.openxmlformats.org/drawingml/2006/table">
            <a:tbl>
              <a:tblPr/>
              <a:tblGrid>
                <a:gridCol w="8112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0825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  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  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245676" name="Group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8774738"/>
              </p:ext>
            </p:extLst>
          </p:nvPr>
        </p:nvGraphicFramePr>
        <p:xfrm>
          <a:off x="6532563" y="2879089"/>
          <a:ext cx="811212" cy="457200"/>
        </p:xfrm>
        <a:graphic>
          <a:graphicData uri="http://schemas.openxmlformats.org/drawingml/2006/table">
            <a:tbl>
              <a:tblPr/>
              <a:tblGrid>
                <a:gridCol w="8112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LLQueue</a:t>
                      </a:r>
                      <a:b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</a:b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object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CC0099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rgbClr val="CC0099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rgbClr val="CC0099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rgbClr val="CC0099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8413" name="Line 52"/>
          <p:cNvSpPr>
            <a:spLocks noChangeShapeType="1"/>
          </p:cNvSpPr>
          <p:nvPr/>
        </p:nvSpPr>
        <p:spPr bwMode="auto">
          <a:xfrm flipV="1">
            <a:off x="4243388" y="2934652"/>
            <a:ext cx="1077912" cy="3460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endParaRPr lang="en-US"/>
          </a:p>
        </p:txBody>
      </p:sp>
      <p:sp>
        <p:nvSpPr>
          <p:cNvPr id="58414" name="Line 53"/>
          <p:cNvSpPr>
            <a:spLocks noChangeShapeType="1"/>
          </p:cNvSpPr>
          <p:nvPr/>
        </p:nvSpPr>
        <p:spPr bwMode="auto">
          <a:xfrm>
            <a:off x="2640013" y="3406139"/>
            <a:ext cx="10874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endParaRPr lang="en-US"/>
          </a:p>
        </p:txBody>
      </p:sp>
      <p:graphicFrame>
        <p:nvGraphicFramePr>
          <p:cNvPr id="2245686" name="Group 5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0755862"/>
              </p:ext>
            </p:extLst>
          </p:nvPr>
        </p:nvGraphicFramePr>
        <p:xfrm>
          <a:off x="6529388" y="2552064"/>
          <a:ext cx="811212" cy="244475"/>
        </p:xfrm>
        <a:graphic>
          <a:graphicData uri="http://schemas.openxmlformats.org/drawingml/2006/table">
            <a:tbl>
              <a:tblPr/>
              <a:tblGrid>
                <a:gridCol w="8112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44475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"ant"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8421" name="Line 60"/>
          <p:cNvSpPr>
            <a:spLocks noChangeShapeType="1"/>
          </p:cNvSpPr>
          <p:nvPr/>
        </p:nvSpPr>
        <p:spPr bwMode="auto">
          <a:xfrm>
            <a:off x="5735638" y="2682239"/>
            <a:ext cx="78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endParaRPr lang="en-US"/>
          </a:p>
        </p:txBody>
      </p:sp>
      <p:sp>
        <p:nvSpPr>
          <p:cNvPr id="58422" name="Line 61"/>
          <p:cNvSpPr>
            <a:spLocks noChangeShapeType="1"/>
          </p:cNvSpPr>
          <p:nvPr/>
        </p:nvSpPr>
        <p:spPr bwMode="auto">
          <a:xfrm>
            <a:off x="5735638" y="3839527"/>
            <a:ext cx="78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endParaRPr lang="en-US"/>
          </a:p>
        </p:txBody>
      </p:sp>
      <p:graphicFrame>
        <p:nvGraphicFramePr>
          <p:cNvPr id="2245694" name="Group 6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0648623"/>
              </p:ext>
            </p:extLst>
          </p:nvPr>
        </p:nvGraphicFramePr>
        <p:xfrm>
          <a:off x="6524625" y="3447414"/>
          <a:ext cx="811213" cy="244475"/>
        </p:xfrm>
        <a:graphic>
          <a:graphicData uri="http://schemas.openxmlformats.org/drawingml/2006/table">
            <a:tbl>
              <a:tblPr/>
              <a:tblGrid>
                <a:gridCol w="8112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44475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"ape"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8429" name="Line 68"/>
          <p:cNvSpPr>
            <a:spLocks noChangeShapeType="1"/>
          </p:cNvSpPr>
          <p:nvPr/>
        </p:nvSpPr>
        <p:spPr bwMode="auto">
          <a:xfrm>
            <a:off x="5730875" y="3577589"/>
            <a:ext cx="78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endParaRPr lang="en-US"/>
          </a:p>
        </p:txBody>
      </p:sp>
      <p:sp>
        <p:nvSpPr>
          <p:cNvPr id="58430" name="Line 69"/>
          <p:cNvSpPr>
            <a:spLocks noChangeShapeType="1"/>
          </p:cNvSpPr>
          <p:nvPr/>
        </p:nvSpPr>
        <p:spPr bwMode="auto">
          <a:xfrm>
            <a:off x="4246563" y="3568064"/>
            <a:ext cx="1063625" cy="25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endParaRPr lang="en-US"/>
          </a:p>
        </p:txBody>
      </p:sp>
      <p:graphicFrame>
        <p:nvGraphicFramePr>
          <p:cNvPr id="2245724" name="Group 9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0313791"/>
              </p:ext>
            </p:extLst>
          </p:nvPr>
        </p:nvGraphicFramePr>
        <p:xfrm>
          <a:off x="5311775" y="3461702"/>
          <a:ext cx="811213" cy="501650"/>
        </p:xfrm>
        <a:graphic>
          <a:graphicData uri="http://schemas.openxmlformats.org/drawingml/2006/table">
            <a:tbl>
              <a:tblPr/>
              <a:tblGrid>
                <a:gridCol w="8112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0825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  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  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245734" name="Group 10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4721643"/>
              </p:ext>
            </p:extLst>
          </p:nvPr>
        </p:nvGraphicFramePr>
        <p:xfrm>
          <a:off x="989013" y="3280727"/>
          <a:ext cx="1992312" cy="519112"/>
        </p:xfrm>
        <a:graphic>
          <a:graphicData uri="http://schemas.openxmlformats.org/drawingml/2006/table">
            <a:tbl>
              <a:tblPr/>
              <a:tblGrid>
                <a:gridCol w="1247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45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1300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table</a:t>
                      </a:r>
                    </a:p>
                  </a:txBody>
                  <a:tcPr marL="0" marR="64008" marT="0" marB="0" anchor="ctr" horzOverflow="overflow">
                    <a:lnL cap="flat">
                      <a:noFill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7812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probeType</a:t>
                      </a:r>
                    </a:p>
                  </a:txBody>
                  <a:tcPr marL="0" marR="64008" marT="0" marB="0" anchor="ctr" horzOverflow="overflow">
                    <a:lnL cap="flat">
                      <a:noFill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LINEAR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3" name="Group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8212878"/>
              </p:ext>
            </p:extLst>
          </p:nvPr>
        </p:nvGraphicFramePr>
        <p:xfrm>
          <a:off x="6532563" y="3761739"/>
          <a:ext cx="811212" cy="457200"/>
        </p:xfrm>
        <a:graphic>
          <a:graphicData uri="http://schemas.openxmlformats.org/drawingml/2006/table">
            <a:tbl>
              <a:tblPr/>
              <a:tblGrid>
                <a:gridCol w="8112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LLQueue</a:t>
                      </a:r>
                      <a:b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</a:b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object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CC0099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rgbClr val="CC0099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rgbClr val="CC0099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rgbClr val="CC0099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18454029"/>
      </p:ext>
    </p:extLst>
  </p:cSld>
  <p:clrMapOvr>
    <a:masterClrMapping/>
  </p:clrMapOvr>
</p:sld>
</file>

<file path=ppt/slides/slide2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/>
          <p:cNvSpPr txBox="1"/>
          <p:nvPr/>
        </p:nvSpPr>
        <p:spPr>
          <a:xfrm>
            <a:off x="593558" y="704850"/>
            <a:ext cx="7571874" cy="171750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5116680" y="3272265"/>
            <a:ext cx="1203158" cy="90649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258763" y="-63500"/>
            <a:ext cx="8683625" cy="847725"/>
          </a:xfrm>
        </p:spPr>
        <p:txBody>
          <a:bodyPr/>
          <a:lstStyle/>
          <a:p>
            <a:r>
              <a:rPr lang="en-US" altLang="en-US" dirty="0"/>
              <a:t>Empty vs. Removed</a:t>
            </a:r>
            <a:endParaRPr lang="en-US" altLang="en-US" sz="2000" dirty="0"/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704850"/>
            <a:ext cx="8488362" cy="5614988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ts val="1000"/>
              </a:spcBef>
              <a:buFontTx/>
              <a:buChar char="•"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dirty="0"/>
              <a:t>When we remove a key and its values, we:</a:t>
            </a:r>
          </a:p>
          <a:p>
            <a:pPr lvl="1">
              <a:lnSpc>
                <a:spcPct val="90000"/>
              </a:lnSpc>
              <a:spcBef>
                <a:spcPts val="1000"/>
              </a:spcBef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dirty="0"/>
              <a:t>leave the </a:t>
            </a:r>
            <a:r>
              <a:rPr lang="en-US" altLang="en-US" sz="2000" dirty="0">
                <a:latin typeface="Lucida Console" panose="020B0609040504020204" pitchFamily="49" charset="0"/>
              </a:rPr>
              <a:t>Entry</a:t>
            </a:r>
            <a:r>
              <a:rPr lang="en-US" altLang="en-US" dirty="0"/>
              <a:t> object in the table</a:t>
            </a:r>
          </a:p>
          <a:p>
            <a:pPr lvl="1">
              <a:lnSpc>
                <a:spcPct val="90000"/>
              </a:lnSpc>
              <a:spcBef>
                <a:spcPts val="1000"/>
              </a:spcBef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dirty="0">
                <a:solidFill>
                  <a:srgbClr val="0000FF"/>
                </a:solidFill>
              </a:rPr>
              <a:t>set the </a:t>
            </a:r>
            <a:r>
              <a:rPr lang="en-US" altLang="en-US" sz="2000" dirty="0">
                <a:solidFill>
                  <a:srgbClr val="0000FF"/>
                </a:solidFill>
                <a:latin typeface="Lucida Console" panose="020B0609040504020204" pitchFamily="49" charset="0"/>
              </a:rPr>
              <a:t>Entry</a:t>
            </a:r>
            <a:r>
              <a:rPr lang="en-US" altLang="en-US" dirty="0">
                <a:solidFill>
                  <a:srgbClr val="0000FF"/>
                </a:solidFill>
              </a:rPr>
              <a:t> object's </a:t>
            </a:r>
            <a:r>
              <a:rPr lang="en-US" altLang="en-US" sz="2000" dirty="0">
                <a:solidFill>
                  <a:srgbClr val="0000FF"/>
                </a:solidFill>
                <a:latin typeface="Lucida Console" panose="020B0609040504020204" pitchFamily="49" charset="0"/>
              </a:rPr>
              <a:t>key</a:t>
            </a:r>
            <a:r>
              <a:rPr lang="en-US" altLang="en-US" dirty="0">
                <a:solidFill>
                  <a:srgbClr val="0000FF"/>
                </a:solidFill>
              </a:rPr>
              <a:t> and </a:t>
            </a:r>
            <a:r>
              <a:rPr lang="en-US" altLang="en-US" sz="2000" dirty="0">
                <a:solidFill>
                  <a:srgbClr val="0000FF"/>
                </a:solidFill>
                <a:latin typeface="Lucida Console" panose="020B0609040504020204" pitchFamily="49" charset="0"/>
              </a:rPr>
              <a:t>values</a:t>
            </a:r>
            <a:r>
              <a:rPr lang="en-US" altLang="en-US" dirty="0">
                <a:solidFill>
                  <a:srgbClr val="0000FF"/>
                </a:solidFill>
              </a:rPr>
              <a:t> fields to </a:t>
            </a:r>
            <a:r>
              <a:rPr lang="en-US" altLang="en-US" sz="2000" dirty="0">
                <a:solidFill>
                  <a:srgbClr val="0000FF"/>
                </a:solidFill>
                <a:latin typeface="Lucida Console" panose="020B0609040504020204" pitchFamily="49" charset="0"/>
              </a:rPr>
              <a:t>null</a:t>
            </a:r>
          </a:p>
          <a:p>
            <a:pPr lvl="1">
              <a:lnSpc>
                <a:spcPct val="90000"/>
              </a:lnSpc>
              <a:spcBef>
                <a:spcPts val="1000"/>
              </a:spcBef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dirty="0">
                <a:solidFill>
                  <a:schemeClr val="tx1"/>
                </a:solidFill>
              </a:rPr>
              <a:t>example: </a:t>
            </a:r>
            <a:r>
              <a:rPr lang="en-US" altLang="en-US" sz="2000" dirty="0">
                <a:solidFill>
                  <a:schemeClr val="tx1"/>
                </a:solidFill>
                <a:latin typeface="Lucida Console" panose="020B0609040504020204" pitchFamily="49" charset="0"/>
              </a:rPr>
              <a:t>remove("ape")</a:t>
            </a:r>
            <a:r>
              <a:rPr lang="en-US" altLang="en-US" dirty="0">
                <a:solidFill>
                  <a:schemeClr val="tx1"/>
                </a:solidFill>
              </a:rPr>
              <a:t>:</a:t>
            </a:r>
            <a:endParaRPr lang="en-US" altLang="en-US" sz="2200" dirty="0">
              <a:solidFill>
                <a:schemeClr val="tx1"/>
              </a:solidFill>
            </a:endParaRPr>
          </a:p>
        </p:txBody>
      </p:sp>
      <p:graphicFrame>
        <p:nvGraphicFramePr>
          <p:cNvPr id="2245637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453999"/>
              </p:ext>
            </p:extLst>
          </p:nvPr>
        </p:nvGraphicFramePr>
        <p:xfrm>
          <a:off x="2686050" y="3109277"/>
          <a:ext cx="2097088" cy="1830388"/>
        </p:xfrm>
        <a:graphic>
          <a:graphicData uri="http://schemas.openxmlformats.org/drawingml/2006/table">
            <a:tbl>
              <a:tblPr/>
              <a:tblGrid>
                <a:gridCol w="105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61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0</a:t>
                      </a:r>
                    </a:p>
                  </a:txBody>
                  <a:tcPr marL="0" marR="64008" marT="0" marB="0"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</a:t>
                      </a:r>
                    </a:p>
                  </a:txBody>
                  <a:tcPr marL="0" marR="64008" marT="0" marB="0"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</a:t>
                      </a:r>
                    </a:p>
                  </a:txBody>
                  <a:tcPr marL="0" marR="64008" marT="0" marB="0"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null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3</a:t>
                      </a:r>
                    </a:p>
                  </a:txBody>
                  <a:tcPr marL="0" marR="64008" marT="0" marB="0"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null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4</a:t>
                      </a:r>
                    </a:p>
                  </a:txBody>
                  <a:tcPr marL="0" marR="64008" marT="0" marB="0"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null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…</a:t>
                      </a:r>
                    </a:p>
                  </a:txBody>
                  <a:tcPr marL="0" marR="64008" marT="0" marB="0"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…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8394" name="Line 33"/>
          <p:cNvSpPr>
            <a:spLocks noChangeShapeType="1"/>
          </p:cNvSpPr>
          <p:nvPr/>
        </p:nvSpPr>
        <p:spPr bwMode="auto">
          <a:xfrm>
            <a:off x="5740400" y="2944177"/>
            <a:ext cx="78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endParaRPr lang="en-US"/>
          </a:p>
        </p:txBody>
      </p:sp>
      <p:graphicFrame>
        <p:nvGraphicFramePr>
          <p:cNvPr id="2245666" name="Group 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4615903"/>
              </p:ext>
            </p:extLst>
          </p:nvPr>
        </p:nvGraphicFramePr>
        <p:xfrm>
          <a:off x="5316538" y="2566352"/>
          <a:ext cx="811212" cy="501650"/>
        </p:xfrm>
        <a:graphic>
          <a:graphicData uri="http://schemas.openxmlformats.org/drawingml/2006/table">
            <a:tbl>
              <a:tblPr/>
              <a:tblGrid>
                <a:gridCol w="8112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0825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  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  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245676" name="Group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8774738"/>
              </p:ext>
            </p:extLst>
          </p:nvPr>
        </p:nvGraphicFramePr>
        <p:xfrm>
          <a:off x="6532563" y="2879089"/>
          <a:ext cx="811212" cy="457200"/>
        </p:xfrm>
        <a:graphic>
          <a:graphicData uri="http://schemas.openxmlformats.org/drawingml/2006/table">
            <a:tbl>
              <a:tblPr/>
              <a:tblGrid>
                <a:gridCol w="8112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LLQueue</a:t>
                      </a:r>
                      <a:b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</a:b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object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CC0099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rgbClr val="CC0099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rgbClr val="CC0099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rgbClr val="CC0099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8413" name="Line 52"/>
          <p:cNvSpPr>
            <a:spLocks noChangeShapeType="1"/>
          </p:cNvSpPr>
          <p:nvPr/>
        </p:nvSpPr>
        <p:spPr bwMode="auto">
          <a:xfrm flipV="1">
            <a:off x="4243388" y="2934652"/>
            <a:ext cx="1077912" cy="3460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endParaRPr lang="en-US"/>
          </a:p>
        </p:txBody>
      </p:sp>
      <p:sp>
        <p:nvSpPr>
          <p:cNvPr id="58414" name="Line 53"/>
          <p:cNvSpPr>
            <a:spLocks noChangeShapeType="1"/>
          </p:cNvSpPr>
          <p:nvPr/>
        </p:nvSpPr>
        <p:spPr bwMode="auto">
          <a:xfrm>
            <a:off x="2640013" y="3406139"/>
            <a:ext cx="10874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endParaRPr lang="en-US"/>
          </a:p>
        </p:txBody>
      </p:sp>
      <p:graphicFrame>
        <p:nvGraphicFramePr>
          <p:cNvPr id="2245686" name="Group 5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0755862"/>
              </p:ext>
            </p:extLst>
          </p:nvPr>
        </p:nvGraphicFramePr>
        <p:xfrm>
          <a:off x="6529388" y="2552064"/>
          <a:ext cx="811212" cy="244475"/>
        </p:xfrm>
        <a:graphic>
          <a:graphicData uri="http://schemas.openxmlformats.org/drawingml/2006/table">
            <a:tbl>
              <a:tblPr/>
              <a:tblGrid>
                <a:gridCol w="8112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44475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"ant"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8421" name="Line 60"/>
          <p:cNvSpPr>
            <a:spLocks noChangeShapeType="1"/>
          </p:cNvSpPr>
          <p:nvPr/>
        </p:nvSpPr>
        <p:spPr bwMode="auto">
          <a:xfrm>
            <a:off x="5735638" y="2682239"/>
            <a:ext cx="78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endParaRPr lang="en-US"/>
          </a:p>
        </p:txBody>
      </p:sp>
      <p:sp>
        <p:nvSpPr>
          <p:cNvPr id="58422" name="Line 61"/>
          <p:cNvSpPr>
            <a:spLocks noChangeShapeType="1"/>
          </p:cNvSpPr>
          <p:nvPr/>
        </p:nvSpPr>
        <p:spPr bwMode="auto">
          <a:xfrm>
            <a:off x="5735638" y="3839527"/>
            <a:ext cx="78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endParaRPr lang="en-US"/>
          </a:p>
        </p:txBody>
      </p:sp>
      <p:graphicFrame>
        <p:nvGraphicFramePr>
          <p:cNvPr id="2245694" name="Group 6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0648623"/>
              </p:ext>
            </p:extLst>
          </p:nvPr>
        </p:nvGraphicFramePr>
        <p:xfrm>
          <a:off x="6524625" y="3447414"/>
          <a:ext cx="811213" cy="244475"/>
        </p:xfrm>
        <a:graphic>
          <a:graphicData uri="http://schemas.openxmlformats.org/drawingml/2006/table">
            <a:tbl>
              <a:tblPr/>
              <a:tblGrid>
                <a:gridCol w="8112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44475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"ape"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8429" name="Line 68"/>
          <p:cNvSpPr>
            <a:spLocks noChangeShapeType="1"/>
          </p:cNvSpPr>
          <p:nvPr/>
        </p:nvSpPr>
        <p:spPr bwMode="auto">
          <a:xfrm>
            <a:off x="5730875" y="3577589"/>
            <a:ext cx="78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endParaRPr lang="en-US"/>
          </a:p>
        </p:txBody>
      </p:sp>
      <p:sp>
        <p:nvSpPr>
          <p:cNvPr id="58430" name="Line 69"/>
          <p:cNvSpPr>
            <a:spLocks noChangeShapeType="1"/>
          </p:cNvSpPr>
          <p:nvPr/>
        </p:nvSpPr>
        <p:spPr bwMode="auto">
          <a:xfrm>
            <a:off x="4246563" y="3568064"/>
            <a:ext cx="1063625" cy="25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endParaRPr lang="en-US"/>
          </a:p>
        </p:txBody>
      </p:sp>
      <p:graphicFrame>
        <p:nvGraphicFramePr>
          <p:cNvPr id="2245724" name="Group 9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0313791"/>
              </p:ext>
            </p:extLst>
          </p:nvPr>
        </p:nvGraphicFramePr>
        <p:xfrm>
          <a:off x="5311775" y="3461702"/>
          <a:ext cx="811213" cy="501650"/>
        </p:xfrm>
        <a:graphic>
          <a:graphicData uri="http://schemas.openxmlformats.org/drawingml/2006/table">
            <a:tbl>
              <a:tblPr/>
              <a:tblGrid>
                <a:gridCol w="8112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0825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  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  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245734" name="Group 10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4721643"/>
              </p:ext>
            </p:extLst>
          </p:nvPr>
        </p:nvGraphicFramePr>
        <p:xfrm>
          <a:off x="989013" y="3280727"/>
          <a:ext cx="1992312" cy="519112"/>
        </p:xfrm>
        <a:graphic>
          <a:graphicData uri="http://schemas.openxmlformats.org/drawingml/2006/table">
            <a:tbl>
              <a:tblPr/>
              <a:tblGrid>
                <a:gridCol w="1247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45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1300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table</a:t>
                      </a:r>
                    </a:p>
                  </a:txBody>
                  <a:tcPr marL="0" marR="64008" marT="0" marB="0" anchor="ctr" horzOverflow="overflow">
                    <a:lnL cap="flat">
                      <a:noFill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7812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probeType</a:t>
                      </a:r>
                    </a:p>
                  </a:txBody>
                  <a:tcPr marL="0" marR="64008" marT="0" marB="0" anchor="ctr" horzOverflow="overflow">
                    <a:lnL cap="flat">
                      <a:noFill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LINEAR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3" name="Group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8212878"/>
              </p:ext>
            </p:extLst>
          </p:nvPr>
        </p:nvGraphicFramePr>
        <p:xfrm>
          <a:off x="6532563" y="3761739"/>
          <a:ext cx="811212" cy="457200"/>
        </p:xfrm>
        <a:graphic>
          <a:graphicData uri="http://schemas.openxmlformats.org/drawingml/2006/table">
            <a:tbl>
              <a:tblPr/>
              <a:tblGrid>
                <a:gridCol w="8112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LLQueue</a:t>
                      </a:r>
                      <a:b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</a:b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object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CC0099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rgbClr val="CC0099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rgbClr val="CC0099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rgbClr val="CC0099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3909778"/>
      </p:ext>
    </p:extLst>
  </p:cSld>
  <p:clrMapOvr>
    <a:masterClrMapping/>
  </p:clrMapOvr>
</p:sld>
</file>

<file path=ppt/slides/slide2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/>
          <p:cNvSpPr txBox="1"/>
          <p:nvPr/>
        </p:nvSpPr>
        <p:spPr>
          <a:xfrm>
            <a:off x="5116680" y="3272265"/>
            <a:ext cx="1203158" cy="90649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593558" y="704850"/>
            <a:ext cx="7571874" cy="171750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258763" y="-63500"/>
            <a:ext cx="8683625" cy="847725"/>
          </a:xfrm>
        </p:spPr>
        <p:txBody>
          <a:bodyPr/>
          <a:lstStyle/>
          <a:p>
            <a:r>
              <a:rPr lang="en-US" altLang="en-US" dirty="0"/>
              <a:t>Empty vs. Removed</a:t>
            </a:r>
            <a:endParaRPr lang="en-US" altLang="en-US" sz="2000" dirty="0"/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2" y="704850"/>
            <a:ext cx="8802687" cy="5614988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ts val="1000"/>
              </a:spcBef>
              <a:buFontTx/>
              <a:buChar char="•"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dirty="0"/>
              <a:t>When we remove a key and its values, we:</a:t>
            </a:r>
          </a:p>
          <a:p>
            <a:pPr lvl="1">
              <a:lnSpc>
                <a:spcPct val="90000"/>
              </a:lnSpc>
              <a:spcBef>
                <a:spcPts val="1000"/>
              </a:spcBef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dirty="0"/>
              <a:t>leave the </a:t>
            </a:r>
            <a:r>
              <a:rPr lang="en-US" altLang="en-US" sz="2000" dirty="0">
                <a:latin typeface="Lucida Console" panose="020B0609040504020204" pitchFamily="49" charset="0"/>
              </a:rPr>
              <a:t>Entry</a:t>
            </a:r>
            <a:r>
              <a:rPr lang="en-US" altLang="en-US" dirty="0"/>
              <a:t> object in the table</a:t>
            </a:r>
          </a:p>
          <a:p>
            <a:pPr lvl="1">
              <a:lnSpc>
                <a:spcPct val="90000"/>
              </a:lnSpc>
              <a:spcBef>
                <a:spcPts val="1000"/>
              </a:spcBef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dirty="0"/>
              <a:t>set the </a:t>
            </a:r>
            <a:r>
              <a:rPr lang="en-US" altLang="en-US" sz="2000" dirty="0">
                <a:latin typeface="Lucida Console" panose="020B0609040504020204" pitchFamily="49" charset="0"/>
              </a:rPr>
              <a:t>Entry</a:t>
            </a:r>
            <a:r>
              <a:rPr lang="en-US" altLang="en-US" dirty="0"/>
              <a:t> object's </a:t>
            </a:r>
            <a:r>
              <a:rPr lang="en-US" altLang="en-US" sz="2000" dirty="0">
                <a:latin typeface="Lucida Console" panose="020B0609040504020204" pitchFamily="49" charset="0"/>
              </a:rPr>
              <a:t>key</a:t>
            </a:r>
            <a:r>
              <a:rPr lang="en-US" altLang="en-US" dirty="0"/>
              <a:t> and </a:t>
            </a:r>
            <a:r>
              <a:rPr lang="en-US" altLang="en-US" sz="2000" dirty="0">
                <a:latin typeface="Lucida Console" panose="020B0609040504020204" pitchFamily="49" charset="0"/>
              </a:rPr>
              <a:t>values</a:t>
            </a:r>
            <a:r>
              <a:rPr lang="en-US" altLang="en-US" dirty="0"/>
              <a:t> fields to </a:t>
            </a:r>
            <a:r>
              <a:rPr lang="en-US" altLang="en-US" sz="2000" dirty="0">
                <a:latin typeface="Lucida Console" panose="020B0609040504020204" pitchFamily="49" charset="0"/>
              </a:rPr>
              <a:t>null</a:t>
            </a:r>
          </a:p>
          <a:p>
            <a:pPr lvl="1">
              <a:lnSpc>
                <a:spcPct val="90000"/>
              </a:lnSpc>
              <a:spcBef>
                <a:spcPts val="1000"/>
              </a:spcBef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dirty="0">
                <a:solidFill>
                  <a:schemeClr val="accent2"/>
                </a:solidFill>
              </a:rPr>
              <a:t>example: </a:t>
            </a:r>
            <a:r>
              <a:rPr lang="en-US" altLang="en-US" b="1" dirty="0">
                <a:solidFill>
                  <a:schemeClr val="accent2"/>
                </a:solidFill>
              </a:rPr>
              <a:t>after</a:t>
            </a:r>
            <a:r>
              <a:rPr lang="en-US" altLang="en-US" dirty="0">
                <a:solidFill>
                  <a:schemeClr val="accent2"/>
                </a:solidFill>
              </a:rPr>
              <a:t> </a:t>
            </a:r>
            <a:r>
              <a:rPr lang="en-US" altLang="en-US" sz="2000" dirty="0">
                <a:solidFill>
                  <a:schemeClr val="accent2"/>
                </a:solidFill>
                <a:latin typeface="Lucida Console" panose="020B0609040504020204" pitchFamily="49" charset="0"/>
              </a:rPr>
              <a:t>remove("ape")</a:t>
            </a:r>
            <a:r>
              <a:rPr lang="en-US" altLang="en-US" dirty="0">
                <a:solidFill>
                  <a:schemeClr val="accent2"/>
                </a:solidFill>
              </a:rPr>
              <a:t>:</a:t>
            </a:r>
          </a:p>
          <a:p>
            <a:pPr lvl="1">
              <a:lnSpc>
                <a:spcPct val="90000"/>
              </a:lnSpc>
              <a:spcBef>
                <a:spcPts val="1000"/>
              </a:spcBef>
              <a:tabLst>
                <a:tab pos="344488" algn="l"/>
                <a:tab pos="569913" algn="l"/>
                <a:tab pos="688975" algn="l"/>
              </a:tabLst>
            </a:pPr>
            <a:endParaRPr lang="en-US" altLang="en-US" sz="2200" dirty="0"/>
          </a:p>
          <a:p>
            <a:pPr lvl="1">
              <a:lnSpc>
                <a:spcPct val="90000"/>
              </a:lnSpc>
              <a:spcBef>
                <a:spcPts val="1000"/>
              </a:spcBef>
              <a:tabLst>
                <a:tab pos="344488" algn="l"/>
                <a:tab pos="569913" algn="l"/>
                <a:tab pos="688975" algn="l"/>
              </a:tabLst>
            </a:pPr>
            <a:endParaRPr lang="en-US" altLang="en-US" dirty="0"/>
          </a:p>
          <a:p>
            <a:pPr lvl="1">
              <a:lnSpc>
                <a:spcPct val="90000"/>
              </a:lnSpc>
              <a:spcBef>
                <a:spcPts val="1000"/>
              </a:spcBef>
              <a:tabLst>
                <a:tab pos="344488" algn="l"/>
                <a:tab pos="569913" algn="l"/>
                <a:tab pos="688975" algn="l"/>
              </a:tabLst>
            </a:pPr>
            <a:endParaRPr lang="en-US" altLang="en-US" sz="2200" dirty="0"/>
          </a:p>
          <a:p>
            <a:pPr lvl="1">
              <a:lnSpc>
                <a:spcPct val="90000"/>
              </a:lnSpc>
              <a:spcBef>
                <a:spcPts val="1000"/>
              </a:spcBef>
              <a:tabLst>
                <a:tab pos="344488" algn="l"/>
                <a:tab pos="569913" algn="l"/>
                <a:tab pos="688975" algn="l"/>
              </a:tabLst>
            </a:pPr>
            <a:endParaRPr lang="en-US" altLang="en-US" dirty="0"/>
          </a:p>
          <a:p>
            <a:pPr lvl="1">
              <a:lnSpc>
                <a:spcPct val="90000"/>
              </a:lnSpc>
              <a:spcBef>
                <a:spcPts val="1000"/>
              </a:spcBef>
              <a:tabLst>
                <a:tab pos="344488" algn="l"/>
                <a:tab pos="569913" algn="l"/>
                <a:tab pos="688975" algn="l"/>
              </a:tabLst>
            </a:pPr>
            <a:endParaRPr lang="en-US" altLang="en-US" sz="2200" dirty="0"/>
          </a:p>
          <a:p>
            <a:pPr lvl="1">
              <a:lnSpc>
                <a:spcPct val="90000"/>
              </a:lnSpc>
              <a:spcBef>
                <a:spcPts val="1000"/>
              </a:spcBef>
              <a:tabLst>
                <a:tab pos="344488" algn="l"/>
                <a:tab pos="569913" algn="l"/>
                <a:tab pos="688975" algn="l"/>
              </a:tabLst>
            </a:pPr>
            <a:endParaRPr lang="en-US" altLang="en-US" dirty="0"/>
          </a:p>
        </p:txBody>
      </p:sp>
      <p:graphicFrame>
        <p:nvGraphicFramePr>
          <p:cNvPr id="2245637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453999"/>
              </p:ext>
            </p:extLst>
          </p:nvPr>
        </p:nvGraphicFramePr>
        <p:xfrm>
          <a:off x="2686050" y="3109277"/>
          <a:ext cx="2097088" cy="1830388"/>
        </p:xfrm>
        <a:graphic>
          <a:graphicData uri="http://schemas.openxmlformats.org/drawingml/2006/table">
            <a:tbl>
              <a:tblPr/>
              <a:tblGrid>
                <a:gridCol w="105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61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0</a:t>
                      </a:r>
                    </a:p>
                  </a:txBody>
                  <a:tcPr marL="0" marR="64008" marT="0" marB="0"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</a:t>
                      </a:r>
                    </a:p>
                  </a:txBody>
                  <a:tcPr marL="0" marR="64008" marT="0" marB="0"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</a:t>
                      </a:r>
                    </a:p>
                  </a:txBody>
                  <a:tcPr marL="0" marR="64008" marT="0" marB="0"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null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3</a:t>
                      </a:r>
                    </a:p>
                  </a:txBody>
                  <a:tcPr marL="0" marR="64008" marT="0" marB="0"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null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4</a:t>
                      </a:r>
                    </a:p>
                  </a:txBody>
                  <a:tcPr marL="0" marR="64008" marT="0" marB="0"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null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…</a:t>
                      </a:r>
                    </a:p>
                  </a:txBody>
                  <a:tcPr marL="0" marR="64008" marT="0" marB="0"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…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8394" name="Line 33"/>
          <p:cNvSpPr>
            <a:spLocks noChangeShapeType="1"/>
          </p:cNvSpPr>
          <p:nvPr/>
        </p:nvSpPr>
        <p:spPr bwMode="auto">
          <a:xfrm>
            <a:off x="5740400" y="2944177"/>
            <a:ext cx="78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endParaRPr lang="en-US"/>
          </a:p>
        </p:txBody>
      </p:sp>
      <p:graphicFrame>
        <p:nvGraphicFramePr>
          <p:cNvPr id="2245666" name="Group 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4615903"/>
              </p:ext>
            </p:extLst>
          </p:nvPr>
        </p:nvGraphicFramePr>
        <p:xfrm>
          <a:off x="5316538" y="2566352"/>
          <a:ext cx="811212" cy="501650"/>
        </p:xfrm>
        <a:graphic>
          <a:graphicData uri="http://schemas.openxmlformats.org/drawingml/2006/table">
            <a:tbl>
              <a:tblPr/>
              <a:tblGrid>
                <a:gridCol w="8112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0825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  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  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245676" name="Group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8774738"/>
              </p:ext>
            </p:extLst>
          </p:nvPr>
        </p:nvGraphicFramePr>
        <p:xfrm>
          <a:off x="6532563" y="2879089"/>
          <a:ext cx="811212" cy="457200"/>
        </p:xfrm>
        <a:graphic>
          <a:graphicData uri="http://schemas.openxmlformats.org/drawingml/2006/table">
            <a:tbl>
              <a:tblPr/>
              <a:tblGrid>
                <a:gridCol w="8112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LLQueue</a:t>
                      </a:r>
                      <a:b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</a:b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object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CC0099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rgbClr val="CC0099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rgbClr val="CC0099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rgbClr val="CC0099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8413" name="Line 52"/>
          <p:cNvSpPr>
            <a:spLocks noChangeShapeType="1"/>
          </p:cNvSpPr>
          <p:nvPr/>
        </p:nvSpPr>
        <p:spPr bwMode="auto">
          <a:xfrm flipV="1">
            <a:off x="4243388" y="2934652"/>
            <a:ext cx="1077912" cy="3460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endParaRPr lang="en-US"/>
          </a:p>
        </p:txBody>
      </p:sp>
      <p:sp>
        <p:nvSpPr>
          <p:cNvPr id="58414" name="Line 53"/>
          <p:cNvSpPr>
            <a:spLocks noChangeShapeType="1"/>
          </p:cNvSpPr>
          <p:nvPr/>
        </p:nvSpPr>
        <p:spPr bwMode="auto">
          <a:xfrm>
            <a:off x="2640013" y="3406139"/>
            <a:ext cx="10874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endParaRPr lang="en-US"/>
          </a:p>
        </p:txBody>
      </p:sp>
      <p:graphicFrame>
        <p:nvGraphicFramePr>
          <p:cNvPr id="2245686" name="Group 5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0755862"/>
              </p:ext>
            </p:extLst>
          </p:nvPr>
        </p:nvGraphicFramePr>
        <p:xfrm>
          <a:off x="6529388" y="2552064"/>
          <a:ext cx="811212" cy="244475"/>
        </p:xfrm>
        <a:graphic>
          <a:graphicData uri="http://schemas.openxmlformats.org/drawingml/2006/table">
            <a:tbl>
              <a:tblPr/>
              <a:tblGrid>
                <a:gridCol w="8112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44475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"ant"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8421" name="Line 60"/>
          <p:cNvSpPr>
            <a:spLocks noChangeShapeType="1"/>
          </p:cNvSpPr>
          <p:nvPr/>
        </p:nvSpPr>
        <p:spPr bwMode="auto">
          <a:xfrm>
            <a:off x="5735638" y="2682239"/>
            <a:ext cx="78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endParaRPr lang="en-US"/>
          </a:p>
        </p:txBody>
      </p:sp>
      <p:graphicFrame>
        <p:nvGraphicFramePr>
          <p:cNvPr id="2245694" name="Group 6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0648623"/>
              </p:ext>
            </p:extLst>
          </p:nvPr>
        </p:nvGraphicFramePr>
        <p:xfrm>
          <a:off x="6524625" y="3447414"/>
          <a:ext cx="811213" cy="244475"/>
        </p:xfrm>
        <a:graphic>
          <a:graphicData uri="http://schemas.openxmlformats.org/drawingml/2006/table">
            <a:tbl>
              <a:tblPr/>
              <a:tblGrid>
                <a:gridCol w="8112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44475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"ape"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8430" name="Line 69"/>
          <p:cNvSpPr>
            <a:spLocks noChangeShapeType="1"/>
          </p:cNvSpPr>
          <p:nvPr/>
        </p:nvSpPr>
        <p:spPr bwMode="auto">
          <a:xfrm>
            <a:off x="4246563" y="3568064"/>
            <a:ext cx="1063625" cy="25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endParaRPr lang="en-US"/>
          </a:p>
        </p:txBody>
      </p:sp>
      <p:graphicFrame>
        <p:nvGraphicFramePr>
          <p:cNvPr id="2245724" name="Group 9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4907883"/>
              </p:ext>
            </p:extLst>
          </p:nvPr>
        </p:nvGraphicFramePr>
        <p:xfrm>
          <a:off x="5311775" y="3461702"/>
          <a:ext cx="811213" cy="501650"/>
        </p:xfrm>
        <a:graphic>
          <a:graphicData uri="http://schemas.openxmlformats.org/drawingml/2006/table">
            <a:tbl>
              <a:tblPr/>
              <a:tblGrid>
                <a:gridCol w="8112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0825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Lucida Console" pitchFamily="49" charset="0"/>
                        </a:rPr>
                        <a:t>null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  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Lucida Console" pitchFamily="49" charset="0"/>
                        </a:rPr>
                        <a:t>null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  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245734" name="Group 10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4721643"/>
              </p:ext>
            </p:extLst>
          </p:nvPr>
        </p:nvGraphicFramePr>
        <p:xfrm>
          <a:off x="989013" y="3280727"/>
          <a:ext cx="1992312" cy="519112"/>
        </p:xfrm>
        <a:graphic>
          <a:graphicData uri="http://schemas.openxmlformats.org/drawingml/2006/table">
            <a:tbl>
              <a:tblPr/>
              <a:tblGrid>
                <a:gridCol w="1247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45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1300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table</a:t>
                      </a:r>
                    </a:p>
                  </a:txBody>
                  <a:tcPr marL="0" marR="64008" marT="0" marB="0" anchor="ctr" horzOverflow="overflow">
                    <a:lnL cap="flat">
                      <a:noFill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7812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probeType</a:t>
                      </a:r>
                    </a:p>
                  </a:txBody>
                  <a:tcPr marL="0" marR="64008" marT="0" marB="0" anchor="ctr" horzOverflow="overflow">
                    <a:lnL cap="flat">
                      <a:noFill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LINEAR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3" name="Group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8212878"/>
              </p:ext>
            </p:extLst>
          </p:nvPr>
        </p:nvGraphicFramePr>
        <p:xfrm>
          <a:off x="6532563" y="3761739"/>
          <a:ext cx="811212" cy="457200"/>
        </p:xfrm>
        <a:graphic>
          <a:graphicData uri="http://schemas.openxmlformats.org/drawingml/2006/table">
            <a:tbl>
              <a:tblPr/>
              <a:tblGrid>
                <a:gridCol w="8112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LLQueue</a:t>
                      </a:r>
                      <a:b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</a:b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object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CC0099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rgbClr val="CC0099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rgbClr val="CC0099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rgbClr val="CC0099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57555523"/>
      </p:ext>
    </p:extLst>
  </p:cSld>
  <p:clrMapOvr>
    <a:masterClrMapping/>
  </p:clrMapOvr>
</p:sld>
</file>

<file path=ppt/slides/slide2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3768" y="5046027"/>
            <a:ext cx="7363327" cy="146706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258763" y="-63500"/>
            <a:ext cx="8683625" cy="847725"/>
          </a:xfrm>
        </p:spPr>
        <p:txBody>
          <a:bodyPr/>
          <a:lstStyle/>
          <a:p>
            <a:r>
              <a:rPr lang="en-US" altLang="en-US" dirty="0"/>
              <a:t>Empty vs. Removed</a:t>
            </a:r>
            <a:endParaRPr lang="en-US" altLang="en-US" sz="2000" dirty="0"/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2" y="704850"/>
            <a:ext cx="8802687" cy="5614988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ts val="1000"/>
              </a:spcBef>
              <a:buFontTx/>
              <a:buChar char="•"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dirty="0"/>
              <a:t>When we remove a key and its values, we:</a:t>
            </a:r>
          </a:p>
          <a:p>
            <a:pPr lvl="1">
              <a:lnSpc>
                <a:spcPct val="90000"/>
              </a:lnSpc>
              <a:spcBef>
                <a:spcPts val="1000"/>
              </a:spcBef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dirty="0"/>
              <a:t>leave the </a:t>
            </a:r>
            <a:r>
              <a:rPr lang="en-US" altLang="en-US" sz="2000" dirty="0">
                <a:latin typeface="Lucida Console" panose="020B0609040504020204" pitchFamily="49" charset="0"/>
              </a:rPr>
              <a:t>Entry</a:t>
            </a:r>
            <a:r>
              <a:rPr lang="en-US" altLang="en-US" dirty="0"/>
              <a:t> object in the table</a:t>
            </a:r>
          </a:p>
          <a:p>
            <a:pPr lvl="1">
              <a:lnSpc>
                <a:spcPct val="90000"/>
              </a:lnSpc>
              <a:spcBef>
                <a:spcPts val="1000"/>
              </a:spcBef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dirty="0"/>
              <a:t>set the </a:t>
            </a:r>
            <a:r>
              <a:rPr lang="en-US" altLang="en-US" sz="2000" dirty="0">
                <a:latin typeface="Lucida Console" panose="020B0609040504020204" pitchFamily="49" charset="0"/>
              </a:rPr>
              <a:t>Entry</a:t>
            </a:r>
            <a:r>
              <a:rPr lang="en-US" altLang="en-US" dirty="0"/>
              <a:t> object's </a:t>
            </a:r>
            <a:r>
              <a:rPr lang="en-US" altLang="en-US" sz="2000" dirty="0">
                <a:latin typeface="Lucida Console" panose="020B0609040504020204" pitchFamily="49" charset="0"/>
              </a:rPr>
              <a:t>key</a:t>
            </a:r>
            <a:r>
              <a:rPr lang="en-US" altLang="en-US" dirty="0"/>
              <a:t> and </a:t>
            </a:r>
            <a:r>
              <a:rPr lang="en-US" altLang="en-US" sz="2000" dirty="0">
                <a:latin typeface="Lucida Console" panose="020B0609040504020204" pitchFamily="49" charset="0"/>
              </a:rPr>
              <a:t>values</a:t>
            </a:r>
            <a:r>
              <a:rPr lang="en-US" altLang="en-US" dirty="0"/>
              <a:t> fields to </a:t>
            </a:r>
            <a:r>
              <a:rPr lang="en-US" altLang="en-US" sz="2000" dirty="0">
                <a:latin typeface="Lucida Console" panose="020B0609040504020204" pitchFamily="49" charset="0"/>
              </a:rPr>
              <a:t>null</a:t>
            </a:r>
          </a:p>
          <a:p>
            <a:pPr lvl="1">
              <a:lnSpc>
                <a:spcPct val="90000"/>
              </a:lnSpc>
              <a:spcBef>
                <a:spcPts val="1000"/>
              </a:spcBef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dirty="0"/>
              <a:t>example: after </a:t>
            </a:r>
            <a:r>
              <a:rPr lang="en-US" altLang="en-US" sz="2000" dirty="0">
                <a:latin typeface="Lucida Console" panose="020B0609040504020204" pitchFamily="49" charset="0"/>
              </a:rPr>
              <a:t>remove("ape")</a:t>
            </a:r>
            <a:r>
              <a:rPr lang="en-US" altLang="en-US" dirty="0"/>
              <a:t>:</a:t>
            </a:r>
          </a:p>
          <a:p>
            <a:pPr lvl="1">
              <a:lnSpc>
                <a:spcPct val="90000"/>
              </a:lnSpc>
              <a:spcBef>
                <a:spcPts val="1000"/>
              </a:spcBef>
              <a:tabLst>
                <a:tab pos="344488" algn="l"/>
                <a:tab pos="569913" algn="l"/>
                <a:tab pos="688975" algn="l"/>
              </a:tabLst>
            </a:pPr>
            <a:endParaRPr lang="en-US" altLang="en-US" sz="2200" dirty="0"/>
          </a:p>
          <a:p>
            <a:pPr lvl="1">
              <a:lnSpc>
                <a:spcPct val="90000"/>
              </a:lnSpc>
              <a:spcBef>
                <a:spcPts val="1000"/>
              </a:spcBef>
              <a:tabLst>
                <a:tab pos="344488" algn="l"/>
                <a:tab pos="569913" algn="l"/>
                <a:tab pos="688975" algn="l"/>
              </a:tabLst>
            </a:pPr>
            <a:endParaRPr lang="en-US" altLang="en-US" dirty="0"/>
          </a:p>
          <a:p>
            <a:pPr lvl="1">
              <a:lnSpc>
                <a:spcPct val="90000"/>
              </a:lnSpc>
              <a:spcBef>
                <a:spcPts val="1000"/>
              </a:spcBef>
              <a:tabLst>
                <a:tab pos="344488" algn="l"/>
                <a:tab pos="569913" algn="l"/>
                <a:tab pos="688975" algn="l"/>
              </a:tabLst>
            </a:pPr>
            <a:endParaRPr lang="en-US" altLang="en-US" sz="2200" dirty="0"/>
          </a:p>
          <a:p>
            <a:pPr lvl="1">
              <a:lnSpc>
                <a:spcPct val="90000"/>
              </a:lnSpc>
              <a:spcBef>
                <a:spcPts val="1000"/>
              </a:spcBef>
              <a:tabLst>
                <a:tab pos="344488" algn="l"/>
                <a:tab pos="569913" algn="l"/>
                <a:tab pos="688975" algn="l"/>
              </a:tabLst>
            </a:pPr>
            <a:endParaRPr lang="en-US" altLang="en-US" dirty="0"/>
          </a:p>
          <a:p>
            <a:pPr lvl="1">
              <a:lnSpc>
                <a:spcPct val="90000"/>
              </a:lnSpc>
              <a:spcBef>
                <a:spcPts val="1000"/>
              </a:spcBef>
              <a:tabLst>
                <a:tab pos="344488" algn="l"/>
                <a:tab pos="569913" algn="l"/>
                <a:tab pos="688975" algn="l"/>
              </a:tabLst>
            </a:pPr>
            <a:endParaRPr lang="en-US" altLang="en-US" sz="2200" dirty="0"/>
          </a:p>
          <a:p>
            <a:pPr lvl="1">
              <a:lnSpc>
                <a:spcPct val="90000"/>
              </a:lnSpc>
              <a:spcBef>
                <a:spcPts val="1000"/>
              </a:spcBef>
              <a:tabLst>
                <a:tab pos="344488" algn="l"/>
                <a:tab pos="569913" algn="l"/>
                <a:tab pos="688975" algn="l"/>
              </a:tabLst>
            </a:pPr>
            <a:endParaRPr lang="en-US" altLang="en-US" dirty="0"/>
          </a:p>
          <a:p>
            <a:pPr>
              <a:lnSpc>
                <a:spcPct val="90000"/>
              </a:lnSpc>
              <a:spcBef>
                <a:spcPts val="1000"/>
              </a:spcBef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dirty="0"/>
              <a:t>Note the difference:</a:t>
            </a:r>
          </a:p>
          <a:p>
            <a:pPr lvl="1">
              <a:lnSpc>
                <a:spcPct val="90000"/>
              </a:lnSpc>
              <a:spcBef>
                <a:spcPts val="1000"/>
              </a:spcBef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dirty="0">
                <a:solidFill>
                  <a:srgbClr val="0000FF"/>
                </a:solidFill>
              </a:rPr>
              <a:t>a truly empty position has a value of </a:t>
            </a:r>
            <a:r>
              <a:rPr lang="en-US" altLang="en-US" sz="2000" dirty="0">
                <a:solidFill>
                  <a:srgbClr val="0000FF"/>
                </a:solidFill>
                <a:latin typeface="Lucida Console" panose="020B0609040504020204" pitchFamily="49" charset="0"/>
              </a:rPr>
              <a:t>null</a:t>
            </a:r>
            <a:r>
              <a:rPr lang="en-US" altLang="en-US" dirty="0">
                <a:solidFill>
                  <a:srgbClr val="0000FF"/>
                </a:solidFill>
              </a:rPr>
              <a:t> in the table</a:t>
            </a:r>
            <a:br>
              <a:rPr lang="en-US" altLang="en-US" dirty="0"/>
            </a:br>
            <a:r>
              <a:rPr lang="en-US" altLang="en-US" dirty="0"/>
              <a:t>(example: positions 2, 3 and 4 above)</a:t>
            </a:r>
          </a:p>
        </p:txBody>
      </p:sp>
      <p:graphicFrame>
        <p:nvGraphicFramePr>
          <p:cNvPr id="2245637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2193567"/>
              </p:ext>
            </p:extLst>
          </p:nvPr>
        </p:nvGraphicFramePr>
        <p:xfrm>
          <a:off x="2686050" y="3109277"/>
          <a:ext cx="2097088" cy="1830388"/>
        </p:xfrm>
        <a:graphic>
          <a:graphicData uri="http://schemas.openxmlformats.org/drawingml/2006/table">
            <a:tbl>
              <a:tblPr/>
              <a:tblGrid>
                <a:gridCol w="105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61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0</a:t>
                      </a:r>
                    </a:p>
                  </a:txBody>
                  <a:tcPr marL="0" marR="64008" marT="0" marB="0"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</a:t>
                      </a:r>
                    </a:p>
                  </a:txBody>
                  <a:tcPr marL="0" marR="64008" marT="0" marB="0"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</a:t>
                      </a:r>
                    </a:p>
                  </a:txBody>
                  <a:tcPr marL="0" marR="64008" marT="0" marB="0"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null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3</a:t>
                      </a:r>
                    </a:p>
                  </a:txBody>
                  <a:tcPr marL="0" marR="64008" marT="0" marB="0"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null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4</a:t>
                      </a:r>
                    </a:p>
                  </a:txBody>
                  <a:tcPr marL="0" marR="64008" marT="0" marB="0"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null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…</a:t>
                      </a:r>
                    </a:p>
                  </a:txBody>
                  <a:tcPr marL="0" marR="64008" marT="0" marB="0"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…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8394" name="Line 33"/>
          <p:cNvSpPr>
            <a:spLocks noChangeShapeType="1"/>
          </p:cNvSpPr>
          <p:nvPr/>
        </p:nvSpPr>
        <p:spPr bwMode="auto">
          <a:xfrm>
            <a:off x="5740400" y="2944177"/>
            <a:ext cx="78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endParaRPr lang="en-US"/>
          </a:p>
        </p:txBody>
      </p:sp>
      <p:graphicFrame>
        <p:nvGraphicFramePr>
          <p:cNvPr id="2245666" name="Group 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4615903"/>
              </p:ext>
            </p:extLst>
          </p:nvPr>
        </p:nvGraphicFramePr>
        <p:xfrm>
          <a:off x="5316538" y="2566352"/>
          <a:ext cx="811212" cy="501650"/>
        </p:xfrm>
        <a:graphic>
          <a:graphicData uri="http://schemas.openxmlformats.org/drawingml/2006/table">
            <a:tbl>
              <a:tblPr/>
              <a:tblGrid>
                <a:gridCol w="8112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0825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  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  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245676" name="Group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8774738"/>
              </p:ext>
            </p:extLst>
          </p:nvPr>
        </p:nvGraphicFramePr>
        <p:xfrm>
          <a:off x="6532563" y="2879089"/>
          <a:ext cx="811212" cy="457200"/>
        </p:xfrm>
        <a:graphic>
          <a:graphicData uri="http://schemas.openxmlformats.org/drawingml/2006/table">
            <a:tbl>
              <a:tblPr/>
              <a:tblGrid>
                <a:gridCol w="8112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LLQueue</a:t>
                      </a:r>
                      <a:b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</a:b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object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CC0099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rgbClr val="CC0099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rgbClr val="CC0099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rgbClr val="CC0099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8413" name="Line 52"/>
          <p:cNvSpPr>
            <a:spLocks noChangeShapeType="1"/>
          </p:cNvSpPr>
          <p:nvPr/>
        </p:nvSpPr>
        <p:spPr bwMode="auto">
          <a:xfrm flipV="1">
            <a:off x="4243388" y="2934652"/>
            <a:ext cx="1077912" cy="3460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endParaRPr lang="en-US"/>
          </a:p>
        </p:txBody>
      </p:sp>
      <p:sp>
        <p:nvSpPr>
          <p:cNvPr id="58414" name="Line 53"/>
          <p:cNvSpPr>
            <a:spLocks noChangeShapeType="1"/>
          </p:cNvSpPr>
          <p:nvPr/>
        </p:nvSpPr>
        <p:spPr bwMode="auto">
          <a:xfrm>
            <a:off x="2640013" y="3406139"/>
            <a:ext cx="10874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endParaRPr lang="en-US"/>
          </a:p>
        </p:txBody>
      </p:sp>
      <p:graphicFrame>
        <p:nvGraphicFramePr>
          <p:cNvPr id="2245686" name="Group 5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0755862"/>
              </p:ext>
            </p:extLst>
          </p:nvPr>
        </p:nvGraphicFramePr>
        <p:xfrm>
          <a:off x="6529388" y="2552064"/>
          <a:ext cx="811212" cy="244475"/>
        </p:xfrm>
        <a:graphic>
          <a:graphicData uri="http://schemas.openxmlformats.org/drawingml/2006/table">
            <a:tbl>
              <a:tblPr/>
              <a:tblGrid>
                <a:gridCol w="8112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44475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"ant"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8421" name="Line 60"/>
          <p:cNvSpPr>
            <a:spLocks noChangeShapeType="1"/>
          </p:cNvSpPr>
          <p:nvPr/>
        </p:nvSpPr>
        <p:spPr bwMode="auto">
          <a:xfrm>
            <a:off x="5735638" y="2682239"/>
            <a:ext cx="78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endParaRPr lang="en-US"/>
          </a:p>
        </p:txBody>
      </p:sp>
      <p:graphicFrame>
        <p:nvGraphicFramePr>
          <p:cNvPr id="2245694" name="Group 6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0648623"/>
              </p:ext>
            </p:extLst>
          </p:nvPr>
        </p:nvGraphicFramePr>
        <p:xfrm>
          <a:off x="6524625" y="3447414"/>
          <a:ext cx="811213" cy="244475"/>
        </p:xfrm>
        <a:graphic>
          <a:graphicData uri="http://schemas.openxmlformats.org/drawingml/2006/table">
            <a:tbl>
              <a:tblPr/>
              <a:tblGrid>
                <a:gridCol w="8112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44475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"ape"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8430" name="Line 69"/>
          <p:cNvSpPr>
            <a:spLocks noChangeShapeType="1"/>
          </p:cNvSpPr>
          <p:nvPr/>
        </p:nvSpPr>
        <p:spPr bwMode="auto">
          <a:xfrm>
            <a:off x="4246563" y="3568064"/>
            <a:ext cx="1063625" cy="25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endParaRPr lang="en-US"/>
          </a:p>
        </p:txBody>
      </p:sp>
      <p:graphicFrame>
        <p:nvGraphicFramePr>
          <p:cNvPr id="2245724" name="Group 9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4907883"/>
              </p:ext>
            </p:extLst>
          </p:nvPr>
        </p:nvGraphicFramePr>
        <p:xfrm>
          <a:off x="5311775" y="3461702"/>
          <a:ext cx="811213" cy="501650"/>
        </p:xfrm>
        <a:graphic>
          <a:graphicData uri="http://schemas.openxmlformats.org/drawingml/2006/table">
            <a:tbl>
              <a:tblPr/>
              <a:tblGrid>
                <a:gridCol w="8112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0825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Lucida Console" pitchFamily="49" charset="0"/>
                        </a:rPr>
                        <a:t>null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  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Lucida Console" pitchFamily="49" charset="0"/>
                        </a:rPr>
                        <a:t>null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  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245734" name="Group 10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4721643"/>
              </p:ext>
            </p:extLst>
          </p:nvPr>
        </p:nvGraphicFramePr>
        <p:xfrm>
          <a:off x="989013" y="3280727"/>
          <a:ext cx="1992312" cy="519112"/>
        </p:xfrm>
        <a:graphic>
          <a:graphicData uri="http://schemas.openxmlformats.org/drawingml/2006/table">
            <a:tbl>
              <a:tblPr/>
              <a:tblGrid>
                <a:gridCol w="1247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45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1300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table</a:t>
                      </a:r>
                    </a:p>
                  </a:txBody>
                  <a:tcPr marL="0" marR="64008" marT="0" marB="0" anchor="ctr" horzOverflow="overflow">
                    <a:lnL cap="flat">
                      <a:noFill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7812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probeType</a:t>
                      </a:r>
                    </a:p>
                  </a:txBody>
                  <a:tcPr marL="0" marR="64008" marT="0" marB="0" anchor="ctr" horzOverflow="overflow">
                    <a:lnL cap="flat">
                      <a:noFill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LINEAR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3" name="Group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8212878"/>
              </p:ext>
            </p:extLst>
          </p:nvPr>
        </p:nvGraphicFramePr>
        <p:xfrm>
          <a:off x="6532563" y="3761739"/>
          <a:ext cx="811212" cy="457200"/>
        </p:xfrm>
        <a:graphic>
          <a:graphicData uri="http://schemas.openxmlformats.org/drawingml/2006/table">
            <a:tbl>
              <a:tblPr/>
              <a:tblGrid>
                <a:gridCol w="8112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LLQueue</a:t>
                      </a:r>
                      <a:b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</a:b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object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CC0099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rgbClr val="CC0099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rgbClr val="CC0099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rgbClr val="CC0099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77444752"/>
      </p:ext>
    </p:extLst>
  </p:cSld>
  <p:clrMapOvr>
    <a:masterClrMapping/>
  </p:clrMapOvr>
</p:sld>
</file>

<file path=ppt/slides/slide2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3723" y="6119446"/>
            <a:ext cx="8168665" cy="738554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258763" y="-63500"/>
            <a:ext cx="8683625" cy="847725"/>
          </a:xfrm>
        </p:spPr>
        <p:txBody>
          <a:bodyPr/>
          <a:lstStyle/>
          <a:p>
            <a:r>
              <a:rPr lang="en-US" altLang="en-US" dirty="0"/>
              <a:t>Empty vs. Removed</a:t>
            </a:r>
            <a:endParaRPr lang="en-US" altLang="en-US" sz="2000" dirty="0"/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2" y="704850"/>
            <a:ext cx="8802687" cy="5614988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ts val="1000"/>
              </a:spcBef>
              <a:buFontTx/>
              <a:buChar char="•"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dirty="0"/>
              <a:t>When we remove a key and its values, we:</a:t>
            </a:r>
          </a:p>
          <a:p>
            <a:pPr lvl="1">
              <a:lnSpc>
                <a:spcPct val="90000"/>
              </a:lnSpc>
              <a:spcBef>
                <a:spcPts val="1000"/>
              </a:spcBef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dirty="0"/>
              <a:t>leave the </a:t>
            </a:r>
            <a:r>
              <a:rPr lang="en-US" altLang="en-US" sz="2000" dirty="0">
                <a:latin typeface="Lucida Console" panose="020B0609040504020204" pitchFamily="49" charset="0"/>
              </a:rPr>
              <a:t>Entry</a:t>
            </a:r>
            <a:r>
              <a:rPr lang="en-US" altLang="en-US" dirty="0"/>
              <a:t> object in the table</a:t>
            </a:r>
          </a:p>
          <a:p>
            <a:pPr lvl="1">
              <a:lnSpc>
                <a:spcPct val="90000"/>
              </a:lnSpc>
              <a:spcBef>
                <a:spcPts val="1000"/>
              </a:spcBef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dirty="0"/>
              <a:t>set the </a:t>
            </a:r>
            <a:r>
              <a:rPr lang="en-US" altLang="en-US" sz="2000" dirty="0">
                <a:latin typeface="Lucida Console" panose="020B0609040504020204" pitchFamily="49" charset="0"/>
              </a:rPr>
              <a:t>Entry</a:t>
            </a:r>
            <a:r>
              <a:rPr lang="en-US" altLang="en-US" dirty="0"/>
              <a:t> object's </a:t>
            </a:r>
            <a:r>
              <a:rPr lang="en-US" altLang="en-US" sz="2000" dirty="0">
                <a:latin typeface="Lucida Console" panose="020B0609040504020204" pitchFamily="49" charset="0"/>
              </a:rPr>
              <a:t>key</a:t>
            </a:r>
            <a:r>
              <a:rPr lang="en-US" altLang="en-US" dirty="0"/>
              <a:t> and </a:t>
            </a:r>
            <a:r>
              <a:rPr lang="en-US" altLang="en-US" sz="2000" dirty="0">
                <a:latin typeface="Lucida Console" panose="020B0609040504020204" pitchFamily="49" charset="0"/>
              </a:rPr>
              <a:t>values</a:t>
            </a:r>
            <a:r>
              <a:rPr lang="en-US" altLang="en-US" dirty="0"/>
              <a:t> fields to </a:t>
            </a:r>
            <a:r>
              <a:rPr lang="en-US" altLang="en-US" sz="2000" dirty="0">
                <a:latin typeface="Lucida Console" panose="020B0609040504020204" pitchFamily="49" charset="0"/>
              </a:rPr>
              <a:t>null</a:t>
            </a:r>
          </a:p>
          <a:p>
            <a:pPr lvl="1">
              <a:lnSpc>
                <a:spcPct val="90000"/>
              </a:lnSpc>
              <a:spcBef>
                <a:spcPts val="1000"/>
              </a:spcBef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dirty="0"/>
              <a:t>example: after </a:t>
            </a:r>
            <a:r>
              <a:rPr lang="en-US" altLang="en-US" sz="2000" dirty="0">
                <a:latin typeface="Lucida Console" panose="020B0609040504020204" pitchFamily="49" charset="0"/>
              </a:rPr>
              <a:t>remove("ape")</a:t>
            </a:r>
            <a:r>
              <a:rPr lang="en-US" altLang="en-US" dirty="0"/>
              <a:t>:</a:t>
            </a:r>
          </a:p>
          <a:p>
            <a:pPr lvl="1">
              <a:lnSpc>
                <a:spcPct val="90000"/>
              </a:lnSpc>
              <a:spcBef>
                <a:spcPts val="1000"/>
              </a:spcBef>
              <a:tabLst>
                <a:tab pos="344488" algn="l"/>
                <a:tab pos="569913" algn="l"/>
                <a:tab pos="688975" algn="l"/>
              </a:tabLst>
            </a:pPr>
            <a:endParaRPr lang="en-US" altLang="en-US" sz="2200" dirty="0"/>
          </a:p>
          <a:p>
            <a:pPr lvl="1">
              <a:lnSpc>
                <a:spcPct val="90000"/>
              </a:lnSpc>
              <a:spcBef>
                <a:spcPts val="1000"/>
              </a:spcBef>
              <a:tabLst>
                <a:tab pos="344488" algn="l"/>
                <a:tab pos="569913" algn="l"/>
                <a:tab pos="688975" algn="l"/>
              </a:tabLst>
            </a:pPr>
            <a:endParaRPr lang="en-US" altLang="en-US" dirty="0"/>
          </a:p>
          <a:p>
            <a:pPr lvl="1">
              <a:lnSpc>
                <a:spcPct val="90000"/>
              </a:lnSpc>
              <a:spcBef>
                <a:spcPts val="1000"/>
              </a:spcBef>
              <a:tabLst>
                <a:tab pos="344488" algn="l"/>
                <a:tab pos="569913" algn="l"/>
                <a:tab pos="688975" algn="l"/>
              </a:tabLst>
            </a:pPr>
            <a:endParaRPr lang="en-US" altLang="en-US" sz="2200" dirty="0"/>
          </a:p>
          <a:p>
            <a:pPr lvl="1">
              <a:lnSpc>
                <a:spcPct val="90000"/>
              </a:lnSpc>
              <a:spcBef>
                <a:spcPts val="1000"/>
              </a:spcBef>
              <a:tabLst>
                <a:tab pos="344488" algn="l"/>
                <a:tab pos="569913" algn="l"/>
                <a:tab pos="688975" algn="l"/>
              </a:tabLst>
            </a:pPr>
            <a:endParaRPr lang="en-US" altLang="en-US" dirty="0"/>
          </a:p>
          <a:p>
            <a:pPr lvl="1">
              <a:lnSpc>
                <a:spcPct val="90000"/>
              </a:lnSpc>
              <a:spcBef>
                <a:spcPts val="1000"/>
              </a:spcBef>
              <a:tabLst>
                <a:tab pos="344488" algn="l"/>
                <a:tab pos="569913" algn="l"/>
                <a:tab pos="688975" algn="l"/>
              </a:tabLst>
            </a:pPr>
            <a:endParaRPr lang="en-US" altLang="en-US" sz="2200" dirty="0"/>
          </a:p>
          <a:p>
            <a:pPr lvl="1">
              <a:lnSpc>
                <a:spcPct val="90000"/>
              </a:lnSpc>
              <a:spcBef>
                <a:spcPts val="1000"/>
              </a:spcBef>
              <a:tabLst>
                <a:tab pos="344488" algn="l"/>
                <a:tab pos="569913" algn="l"/>
                <a:tab pos="688975" algn="l"/>
              </a:tabLst>
            </a:pPr>
            <a:endParaRPr lang="en-US" altLang="en-US" dirty="0"/>
          </a:p>
          <a:p>
            <a:pPr>
              <a:lnSpc>
                <a:spcPct val="90000"/>
              </a:lnSpc>
              <a:spcBef>
                <a:spcPts val="1000"/>
              </a:spcBef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dirty="0"/>
              <a:t>Note the difference:</a:t>
            </a:r>
          </a:p>
          <a:p>
            <a:pPr lvl="1">
              <a:lnSpc>
                <a:spcPct val="90000"/>
              </a:lnSpc>
              <a:spcBef>
                <a:spcPts val="1000"/>
              </a:spcBef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dirty="0"/>
              <a:t>a truly empty position has a value of </a:t>
            </a:r>
            <a:r>
              <a:rPr lang="en-US" altLang="en-US" sz="2000" dirty="0">
                <a:latin typeface="Lucida Console" panose="020B0609040504020204" pitchFamily="49" charset="0"/>
              </a:rPr>
              <a:t>null</a:t>
            </a:r>
            <a:r>
              <a:rPr lang="en-US" altLang="en-US" dirty="0"/>
              <a:t> in the table</a:t>
            </a:r>
            <a:br>
              <a:rPr lang="en-US" altLang="en-US" dirty="0"/>
            </a:br>
            <a:r>
              <a:rPr lang="en-US" altLang="en-US" dirty="0"/>
              <a:t>(example: positions 2, 3 and 4 above)</a:t>
            </a:r>
          </a:p>
          <a:p>
            <a:pPr lvl="1">
              <a:lnSpc>
                <a:spcPct val="90000"/>
              </a:lnSpc>
              <a:spcBef>
                <a:spcPts val="1000"/>
              </a:spcBef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dirty="0"/>
              <a:t>a removed position refers to an </a:t>
            </a:r>
            <a:r>
              <a:rPr lang="en-US" altLang="en-US" sz="2000" dirty="0">
                <a:latin typeface="Lucida Console" panose="020B0609040504020204" pitchFamily="49" charset="0"/>
              </a:rPr>
              <a:t>Entry</a:t>
            </a:r>
            <a:r>
              <a:rPr lang="en-US" altLang="en-US" dirty="0"/>
              <a:t> object whose</a:t>
            </a:r>
            <a:br>
              <a:rPr lang="en-US" altLang="en-US" dirty="0"/>
            </a:br>
            <a:r>
              <a:rPr lang="en-US" altLang="en-US" sz="2000" dirty="0">
                <a:solidFill>
                  <a:srgbClr val="0000FF"/>
                </a:solidFill>
                <a:latin typeface="Lucida Console" panose="020B0609040504020204" pitchFamily="49" charset="0"/>
              </a:rPr>
              <a:t>key</a:t>
            </a:r>
            <a:r>
              <a:rPr lang="en-US" altLang="en-US" dirty="0"/>
              <a:t> and </a:t>
            </a:r>
            <a:r>
              <a:rPr lang="en-US" altLang="en-US" sz="2000" dirty="0">
                <a:solidFill>
                  <a:srgbClr val="0000FF"/>
                </a:solidFill>
                <a:latin typeface="Lucida Console" panose="020B0609040504020204" pitchFamily="49" charset="0"/>
              </a:rPr>
              <a:t>values</a:t>
            </a:r>
            <a:r>
              <a:rPr lang="en-US" altLang="en-US" dirty="0"/>
              <a:t> fields are </a:t>
            </a:r>
            <a:r>
              <a:rPr lang="en-US" altLang="en-US" sz="2000" dirty="0">
                <a:latin typeface="Lucida Console" panose="020B0609040504020204" pitchFamily="49" charset="0"/>
              </a:rPr>
              <a:t>null</a:t>
            </a:r>
            <a:r>
              <a:rPr lang="en-US" altLang="en-US" dirty="0"/>
              <a:t> (example: position 1 above)</a:t>
            </a:r>
          </a:p>
        </p:txBody>
      </p:sp>
      <p:graphicFrame>
        <p:nvGraphicFramePr>
          <p:cNvPr id="2245637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3042628"/>
              </p:ext>
            </p:extLst>
          </p:nvPr>
        </p:nvGraphicFramePr>
        <p:xfrm>
          <a:off x="2686050" y="3109277"/>
          <a:ext cx="2097088" cy="1830388"/>
        </p:xfrm>
        <a:graphic>
          <a:graphicData uri="http://schemas.openxmlformats.org/drawingml/2006/table">
            <a:tbl>
              <a:tblPr/>
              <a:tblGrid>
                <a:gridCol w="105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61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0</a:t>
                      </a:r>
                    </a:p>
                  </a:txBody>
                  <a:tcPr marL="0" marR="64008" marT="0" marB="0"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</a:t>
                      </a:r>
                    </a:p>
                  </a:txBody>
                  <a:tcPr marL="0" marR="64008" marT="0" marB="0"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</a:t>
                      </a:r>
                    </a:p>
                  </a:txBody>
                  <a:tcPr marL="0" marR="64008" marT="0" marB="0"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null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3</a:t>
                      </a:r>
                    </a:p>
                  </a:txBody>
                  <a:tcPr marL="0" marR="64008" marT="0" marB="0"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null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4</a:t>
                      </a:r>
                    </a:p>
                  </a:txBody>
                  <a:tcPr marL="0" marR="64008" marT="0" marB="0"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null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…</a:t>
                      </a:r>
                    </a:p>
                  </a:txBody>
                  <a:tcPr marL="0" marR="64008" marT="0" marB="0"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…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8394" name="Line 33"/>
          <p:cNvSpPr>
            <a:spLocks noChangeShapeType="1"/>
          </p:cNvSpPr>
          <p:nvPr/>
        </p:nvSpPr>
        <p:spPr bwMode="auto">
          <a:xfrm>
            <a:off x="5740400" y="2944177"/>
            <a:ext cx="78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endParaRPr lang="en-US"/>
          </a:p>
        </p:txBody>
      </p:sp>
      <p:graphicFrame>
        <p:nvGraphicFramePr>
          <p:cNvPr id="2245666" name="Group 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4615903"/>
              </p:ext>
            </p:extLst>
          </p:nvPr>
        </p:nvGraphicFramePr>
        <p:xfrm>
          <a:off x="5316538" y="2566352"/>
          <a:ext cx="811212" cy="501650"/>
        </p:xfrm>
        <a:graphic>
          <a:graphicData uri="http://schemas.openxmlformats.org/drawingml/2006/table">
            <a:tbl>
              <a:tblPr/>
              <a:tblGrid>
                <a:gridCol w="8112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0825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  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  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245676" name="Group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8774738"/>
              </p:ext>
            </p:extLst>
          </p:nvPr>
        </p:nvGraphicFramePr>
        <p:xfrm>
          <a:off x="6532563" y="2879089"/>
          <a:ext cx="811212" cy="457200"/>
        </p:xfrm>
        <a:graphic>
          <a:graphicData uri="http://schemas.openxmlformats.org/drawingml/2006/table">
            <a:tbl>
              <a:tblPr/>
              <a:tblGrid>
                <a:gridCol w="8112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LLQueue</a:t>
                      </a:r>
                      <a:b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</a:b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object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CC0099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rgbClr val="CC0099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rgbClr val="CC0099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rgbClr val="CC0099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8413" name="Line 52"/>
          <p:cNvSpPr>
            <a:spLocks noChangeShapeType="1"/>
          </p:cNvSpPr>
          <p:nvPr/>
        </p:nvSpPr>
        <p:spPr bwMode="auto">
          <a:xfrm flipV="1">
            <a:off x="4243388" y="2934652"/>
            <a:ext cx="1077912" cy="3460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endParaRPr lang="en-US"/>
          </a:p>
        </p:txBody>
      </p:sp>
      <p:sp>
        <p:nvSpPr>
          <p:cNvPr id="58414" name="Line 53"/>
          <p:cNvSpPr>
            <a:spLocks noChangeShapeType="1"/>
          </p:cNvSpPr>
          <p:nvPr/>
        </p:nvSpPr>
        <p:spPr bwMode="auto">
          <a:xfrm>
            <a:off x="2640013" y="3406139"/>
            <a:ext cx="10874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endParaRPr lang="en-US"/>
          </a:p>
        </p:txBody>
      </p:sp>
      <p:graphicFrame>
        <p:nvGraphicFramePr>
          <p:cNvPr id="2245686" name="Group 5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0755862"/>
              </p:ext>
            </p:extLst>
          </p:nvPr>
        </p:nvGraphicFramePr>
        <p:xfrm>
          <a:off x="6529388" y="2552064"/>
          <a:ext cx="811212" cy="244475"/>
        </p:xfrm>
        <a:graphic>
          <a:graphicData uri="http://schemas.openxmlformats.org/drawingml/2006/table">
            <a:tbl>
              <a:tblPr/>
              <a:tblGrid>
                <a:gridCol w="8112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44475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"ant"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8421" name="Line 60"/>
          <p:cNvSpPr>
            <a:spLocks noChangeShapeType="1"/>
          </p:cNvSpPr>
          <p:nvPr/>
        </p:nvSpPr>
        <p:spPr bwMode="auto">
          <a:xfrm>
            <a:off x="5735638" y="2682239"/>
            <a:ext cx="78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endParaRPr lang="en-US"/>
          </a:p>
        </p:txBody>
      </p:sp>
      <p:graphicFrame>
        <p:nvGraphicFramePr>
          <p:cNvPr id="2245694" name="Group 6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0648623"/>
              </p:ext>
            </p:extLst>
          </p:nvPr>
        </p:nvGraphicFramePr>
        <p:xfrm>
          <a:off x="6524625" y="3447414"/>
          <a:ext cx="811213" cy="244475"/>
        </p:xfrm>
        <a:graphic>
          <a:graphicData uri="http://schemas.openxmlformats.org/drawingml/2006/table">
            <a:tbl>
              <a:tblPr/>
              <a:tblGrid>
                <a:gridCol w="8112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44475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"ape"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8430" name="Line 69"/>
          <p:cNvSpPr>
            <a:spLocks noChangeShapeType="1"/>
          </p:cNvSpPr>
          <p:nvPr/>
        </p:nvSpPr>
        <p:spPr bwMode="auto">
          <a:xfrm>
            <a:off x="4246563" y="3568064"/>
            <a:ext cx="1063625" cy="254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endParaRPr lang="en-US"/>
          </a:p>
        </p:txBody>
      </p:sp>
      <p:graphicFrame>
        <p:nvGraphicFramePr>
          <p:cNvPr id="2245724" name="Group 9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3513520"/>
              </p:ext>
            </p:extLst>
          </p:nvPr>
        </p:nvGraphicFramePr>
        <p:xfrm>
          <a:off x="5311775" y="3461702"/>
          <a:ext cx="811213" cy="501650"/>
        </p:xfrm>
        <a:graphic>
          <a:graphicData uri="http://schemas.openxmlformats.org/drawingml/2006/table">
            <a:tbl>
              <a:tblPr/>
              <a:tblGrid>
                <a:gridCol w="8112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0825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Lucida Console" pitchFamily="49" charset="0"/>
                        </a:rPr>
                        <a:t>null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  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Lucida Console" pitchFamily="49" charset="0"/>
                        </a:rPr>
                        <a:t>null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  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245734" name="Group 10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4721643"/>
              </p:ext>
            </p:extLst>
          </p:nvPr>
        </p:nvGraphicFramePr>
        <p:xfrm>
          <a:off x="989013" y="3280727"/>
          <a:ext cx="1992312" cy="519112"/>
        </p:xfrm>
        <a:graphic>
          <a:graphicData uri="http://schemas.openxmlformats.org/drawingml/2006/table">
            <a:tbl>
              <a:tblPr/>
              <a:tblGrid>
                <a:gridCol w="1247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45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1300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table</a:t>
                      </a:r>
                    </a:p>
                  </a:txBody>
                  <a:tcPr marL="0" marR="64008" marT="0" marB="0" anchor="ctr" horzOverflow="overflow">
                    <a:lnL cap="flat">
                      <a:noFill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7812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probeType</a:t>
                      </a:r>
                    </a:p>
                  </a:txBody>
                  <a:tcPr marL="0" marR="64008" marT="0" marB="0" anchor="ctr" horzOverflow="overflow">
                    <a:lnL cap="flat">
                      <a:noFill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LINEAR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3" name="Group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8212878"/>
              </p:ext>
            </p:extLst>
          </p:nvPr>
        </p:nvGraphicFramePr>
        <p:xfrm>
          <a:off x="6532563" y="3761739"/>
          <a:ext cx="811212" cy="457200"/>
        </p:xfrm>
        <a:graphic>
          <a:graphicData uri="http://schemas.openxmlformats.org/drawingml/2006/table">
            <a:tbl>
              <a:tblPr/>
              <a:tblGrid>
                <a:gridCol w="8112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LLQueue</a:t>
                      </a:r>
                      <a:b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</a:b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object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CC0099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rgbClr val="CC0099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rgbClr val="CC0099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rgbClr val="CC0099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42693738"/>
      </p:ext>
    </p:extLst>
  </p:cSld>
  <p:clrMapOvr>
    <a:masterClrMapping/>
  </p:clrMapOvr>
</p:sld>
</file>

<file path=ppt/slides/slide2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3723" y="6119446"/>
            <a:ext cx="8168665" cy="738554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258763" y="-63500"/>
            <a:ext cx="8683625" cy="847725"/>
          </a:xfrm>
        </p:spPr>
        <p:txBody>
          <a:bodyPr/>
          <a:lstStyle/>
          <a:p>
            <a:r>
              <a:rPr lang="en-US" altLang="en-US" dirty="0"/>
              <a:t>Empty vs. Removed</a:t>
            </a:r>
            <a:endParaRPr lang="en-US" altLang="en-US" sz="2000" dirty="0"/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2" y="704850"/>
            <a:ext cx="8802687" cy="5614988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ts val="1000"/>
              </a:spcBef>
              <a:buFontTx/>
              <a:buChar char="•"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dirty="0"/>
              <a:t>When we remove a key and its values, we:</a:t>
            </a:r>
          </a:p>
          <a:p>
            <a:pPr lvl="1">
              <a:lnSpc>
                <a:spcPct val="90000"/>
              </a:lnSpc>
              <a:spcBef>
                <a:spcPts val="1000"/>
              </a:spcBef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dirty="0"/>
              <a:t>leave the </a:t>
            </a:r>
            <a:r>
              <a:rPr lang="en-US" altLang="en-US" sz="2000" dirty="0">
                <a:latin typeface="Lucida Console" panose="020B0609040504020204" pitchFamily="49" charset="0"/>
              </a:rPr>
              <a:t>Entry</a:t>
            </a:r>
            <a:r>
              <a:rPr lang="en-US" altLang="en-US" dirty="0"/>
              <a:t> object in the table</a:t>
            </a:r>
          </a:p>
          <a:p>
            <a:pPr lvl="1">
              <a:lnSpc>
                <a:spcPct val="90000"/>
              </a:lnSpc>
              <a:spcBef>
                <a:spcPts val="1000"/>
              </a:spcBef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dirty="0"/>
              <a:t>set the </a:t>
            </a:r>
            <a:r>
              <a:rPr lang="en-US" altLang="en-US" sz="2000" dirty="0">
                <a:latin typeface="Lucida Console" panose="020B0609040504020204" pitchFamily="49" charset="0"/>
              </a:rPr>
              <a:t>Entry</a:t>
            </a:r>
            <a:r>
              <a:rPr lang="en-US" altLang="en-US" dirty="0"/>
              <a:t> object's </a:t>
            </a:r>
            <a:r>
              <a:rPr lang="en-US" altLang="en-US" sz="2000" dirty="0">
                <a:latin typeface="Lucida Console" panose="020B0609040504020204" pitchFamily="49" charset="0"/>
              </a:rPr>
              <a:t>key</a:t>
            </a:r>
            <a:r>
              <a:rPr lang="en-US" altLang="en-US" dirty="0"/>
              <a:t> and </a:t>
            </a:r>
            <a:r>
              <a:rPr lang="en-US" altLang="en-US" sz="2000" dirty="0">
                <a:latin typeface="Lucida Console" panose="020B0609040504020204" pitchFamily="49" charset="0"/>
              </a:rPr>
              <a:t>values</a:t>
            </a:r>
            <a:r>
              <a:rPr lang="en-US" altLang="en-US" dirty="0"/>
              <a:t> fields to </a:t>
            </a:r>
            <a:r>
              <a:rPr lang="en-US" altLang="en-US" sz="2000" dirty="0">
                <a:latin typeface="Lucida Console" panose="020B0609040504020204" pitchFamily="49" charset="0"/>
              </a:rPr>
              <a:t>null</a:t>
            </a:r>
          </a:p>
          <a:p>
            <a:pPr lvl="1">
              <a:lnSpc>
                <a:spcPct val="90000"/>
              </a:lnSpc>
              <a:spcBef>
                <a:spcPts val="1000"/>
              </a:spcBef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dirty="0"/>
              <a:t>example: after </a:t>
            </a:r>
            <a:r>
              <a:rPr lang="en-US" altLang="en-US" sz="2000" dirty="0">
                <a:latin typeface="Lucida Console" panose="020B0609040504020204" pitchFamily="49" charset="0"/>
              </a:rPr>
              <a:t>remove("ape")</a:t>
            </a:r>
            <a:r>
              <a:rPr lang="en-US" altLang="en-US" dirty="0"/>
              <a:t>:</a:t>
            </a:r>
          </a:p>
          <a:p>
            <a:pPr lvl="1">
              <a:lnSpc>
                <a:spcPct val="90000"/>
              </a:lnSpc>
              <a:spcBef>
                <a:spcPts val="1000"/>
              </a:spcBef>
              <a:tabLst>
                <a:tab pos="344488" algn="l"/>
                <a:tab pos="569913" algn="l"/>
                <a:tab pos="688975" algn="l"/>
              </a:tabLst>
            </a:pPr>
            <a:endParaRPr lang="en-US" altLang="en-US" sz="2200" dirty="0"/>
          </a:p>
          <a:p>
            <a:pPr lvl="1">
              <a:lnSpc>
                <a:spcPct val="90000"/>
              </a:lnSpc>
              <a:spcBef>
                <a:spcPts val="1000"/>
              </a:spcBef>
              <a:tabLst>
                <a:tab pos="344488" algn="l"/>
                <a:tab pos="569913" algn="l"/>
                <a:tab pos="688975" algn="l"/>
              </a:tabLst>
            </a:pPr>
            <a:endParaRPr lang="en-US" altLang="en-US" dirty="0"/>
          </a:p>
          <a:p>
            <a:pPr lvl="1">
              <a:lnSpc>
                <a:spcPct val="90000"/>
              </a:lnSpc>
              <a:spcBef>
                <a:spcPts val="1000"/>
              </a:spcBef>
              <a:tabLst>
                <a:tab pos="344488" algn="l"/>
                <a:tab pos="569913" algn="l"/>
                <a:tab pos="688975" algn="l"/>
              </a:tabLst>
            </a:pPr>
            <a:endParaRPr lang="en-US" altLang="en-US" sz="2200" dirty="0"/>
          </a:p>
          <a:p>
            <a:pPr lvl="1">
              <a:lnSpc>
                <a:spcPct val="90000"/>
              </a:lnSpc>
              <a:spcBef>
                <a:spcPts val="1000"/>
              </a:spcBef>
              <a:tabLst>
                <a:tab pos="344488" algn="l"/>
                <a:tab pos="569913" algn="l"/>
                <a:tab pos="688975" algn="l"/>
              </a:tabLst>
            </a:pPr>
            <a:endParaRPr lang="en-US" altLang="en-US" dirty="0"/>
          </a:p>
          <a:p>
            <a:pPr lvl="1">
              <a:lnSpc>
                <a:spcPct val="90000"/>
              </a:lnSpc>
              <a:spcBef>
                <a:spcPts val="1000"/>
              </a:spcBef>
              <a:tabLst>
                <a:tab pos="344488" algn="l"/>
                <a:tab pos="569913" algn="l"/>
                <a:tab pos="688975" algn="l"/>
              </a:tabLst>
            </a:pPr>
            <a:endParaRPr lang="en-US" altLang="en-US" sz="2200" dirty="0"/>
          </a:p>
          <a:p>
            <a:pPr lvl="1">
              <a:lnSpc>
                <a:spcPct val="90000"/>
              </a:lnSpc>
              <a:spcBef>
                <a:spcPts val="1000"/>
              </a:spcBef>
              <a:tabLst>
                <a:tab pos="344488" algn="l"/>
                <a:tab pos="569913" algn="l"/>
                <a:tab pos="688975" algn="l"/>
              </a:tabLst>
            </a:pPr>
            <a:endParaRPr lang="en-US" altLang="en-US" dirty="0"/>
          </a:p>
          <a:p>
            <a:pPr>
              <a:lnSpc>
                <a:spcPct val="90000"/>
              </a:lnSpc>
              <a:spcBef>
                <a:spcPts val="1000"/>
              </a:spcBef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dirty="0"/>
              <a:t>Note the difference:</a:t>
            </a:r>
          </a:p>
          <a:p>
            <a:pPr lvl="1">
              <a:lnSpc>
                <a:spcPct val="90000"/>
              </a:lnSpc>
              <a:spcBef>
                <a:spcPts val="1000"/>
              </a:spcBef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dirty="0"/>
              <a:t>a truly empty position has a value of </a:t>
            </a:r>
            <a:r>
              <a:rPr lang="en-US" altLang="en-US" sz="2000" dirty="0">
                <a:latin typeface="Lucida Console" panose="020B0609040504020204" pitchFamily="49" charset="0"/>
              </a:rPr>
              <a:t>null</a:t>
            </a:r>
            <a:r>
              <a:rPr lang="en-US" altLang="en-US" dirty="0"/>
              <a:t> in the table</a:t>
            </a:r>
            <a:br>
              <a:rPr lang="en-US" altLang="en-US" dirty="0"/>
            </a:br>
            <a:r>
              <a:rPr lang="en-US" altLang="en-US" dirty="0"/>
              <a:t>(example: positions 2, 3 and 4 above)</a:t>
            </a:r>
          </a:p>
          <a:p>
            <a:pPr lvl="1">
              <a:lnSpc>
                <a:spcPct val="90000"/>
              </a:lnSpc>
              <a:spcBef>
                <a:spcPts val="1000"/>
              </a:spcBef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dirty="0"/>
              <a:t>a removed position refers to an </a:t>
            </a:r>
            <a:r>
              <a:rPr lang="en-US" altLang="en-US" sz="2000" dirty="0">
                <a:latin typeface="Lucida Console" panose="020B0609040504020204" pitchFamily="49" charset="0"/>
              </a:rPr>
              <a:t>Entry</a:t>
            </a:r>
            <a:r>
              <a:rPr lang="en-US" altLang="en-US" dirty="0"/>
              <a:t> object whose</a:t>
            </a:r>
            <a:br>
              <a:rPr lang="en-US" altLang="en-US" dirty="0"/>
            </a:br>
            <a:r>
              <a:rPr lang="en-US" altLang="en-US" sz="2000" dirty="0">
                <a:latin typeface="Lucida Console" panose="020B0609040504020204" pitchFamily="49" charset="0"/>
              </a:rPr>
              <a:t>key</a:t>
            </a:r>
            <a:r>
              <a:rPr lang="en-US" altLang="en-US" dirty="0"/>
              <a:t> and </a:t>
            </a:r>
            <a:r>
              <a:rPr lang="en-US" altLang="en-US" sz="2000" dirty="0">
                <a:latin typeface="Lucida Console" panose="020B0609040504020204" pitchFamily="49" charset="0"/>
              </a:rPr>
              <a:t>values</a:t>
            </a:r>
            <a:r>
              <a:rPr lang="en-US" altLang="en-US" dirty="0"/>
              <a:t> fields are </a:t>
            </a:r>
            <a:r>
              <a:rPr lang="en-US" altLang="en-US" sz="2000" dirty="0">
                <a:latin typeface="Lucida Console" panose="020B0609040504020204" pitchFamily="49" charset="0"/>
              </a:rPr>
              <a:t>null</a:t>
            </a:r>
            <a:r>
              <a:rPr lang="en-US" altLang="en-US" dirty="0"/>
              <a:t> (example: position 1 above)</a:t>
            </a:r>
          </a:p>
        </p:txBody>
      </p:sp>
      <p:graphicFrame>
        <p:nvGraphicFramePr>
          <p:cNvPr id="2245637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3042628"/>
              </p:ext>
            </p:extLst>
          </p:nvPr>
        </p:nvGraphicFramePr>
        <p:xfrm>
          <a:off x="2686050" y="3109277"/>
          <a:ext cx="2097088" cy="1830388"/>
        </p:xfrm>
        <a:graphic>
          <a:graphicData uri="http://schemas.openxmlformats.org/drawingml/2006/table">
            <a:tbl>
              <a:tblPr/>
              <a:tblGrid>
                <a:gridCol w="105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61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0</a:t>
                      </a:r>
                    </a:p>
                  </a:txBody>
                  <a:tcPr marL="0" marR="64008" marT="0" marB="0"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</a:t>
                      </a:r>
                    </a:p>
                  </a:txBody>
                  <a:tcPr marL="0" marR="64008" marT="0" marB="0"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</a:t>
                      </a:r>
                    </a:p>
                  </a:txBody>
                  <a:tcPr marL="0" marR="64008" marT="0" marB="0"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null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3</a:t>
                      </a:r>
                    </a:p>
                  </a:txBody>
                  <a:tcPr marL="0" marR="64008" marT="0" marB="0"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null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4</a:t>
                      </a:r>
                    </a:p>
                  </a:txBody>
                  <a:tcPr marL="0" marR="64008" marT="0" marB="0"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null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…</a:t>
                      </a:r>
                    </a:p>
                  </a:txBody>
                  <a:tcPr marL="0" marR="64008" marT="0" marB="0"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…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8394" name="Line 33"/>
          <p:cNvSpPr>
            <a:spLocks noChangeShapeType="1"/>
          </p:cNvSpPr>
          <p:nvPr/>
        </p:nvSpPr>
        <p:spPr bwMode="auto">
          <a:xfrm>
            <a:off x="5740400" y="2944177"/>
            <a:ext cx="78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endParaRPr lang="en-US"/>
          </a:p>
        </p:txBody>
      </p:sp>
      <p:graphicFrame>
        <p:nvGraphicFramePr>
          <p:cNvPr id="2245666" name="Group 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4615903"/>
              </p:ext>
            </p:extLst>
          </p:nvPr>
        </p:nvGraphicFramePr>
        <p:xfrm>
          <a:off x="5316538" y="2566352"/>
          <a:ext cx="811212" cy="501650"/>
        </p:xfrm>
        <a:graphic>
          <a:graphicData uri="http://schemas.openxmlformats.org/drawingml/2006/table">
            <a:tbl>
              <a:tblPr/>
              <a:tblGrid>
                <a:gridCol w="8112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0825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  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  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245676" name="Group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8774738"/>
              </p:ext>
            </p:extLst>
          </p:nvPr>
        </p:nvGraphicFramePr>
        <p:xfrm>
          <a:off x="6532563" y="2879089"/>
          <a:ext cx="811212" cy="457200"/>
        </p:xfrm>
        <a:graphic>
          <a:graphicData uri="http://schemas.openxmlformats.org/drawingml/2006/table">
            <a:tbl>
              <a:tblPr/>
              <a:tblGrid>
                <a:gridCol w="8112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LLQueue</a:t>
                      </a:r>
                      <a:b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</a:b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object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CC0099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rgbClr val="CC0099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rgbClr val="CC0099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rgbClr val="CC0099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8413" name="Line 52"/>
          <p:cNvSpPr>
            <a:spLocks noChangeShapeType="1"/>
          </p:cNvSpPr>
          <p:nvPr/>
        </p:nvSpPr>
        <p:spPr bwMode="auto">
          <a:xfrm flipV="1">
            <a:off x="4243388" y="2934652"/>
            <a:ext cx="1077912" cy="3460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endParaRPr lang="en-US"/>
          </a:p>
        </p:txBody>
      </p:sp>
      <p:sp>
        <p:nvSpPr>
          <p:cNvPr id="58414" name="Line 53"/>
          <p:cNvSpPr>
            <a:spLocks noChangeShapeType="1"/>
          </p:cNvSpPr>
          <p:nvPr/>
        </p:nvSpPr>
        <p:spPr bwMode="auto">
          <a:xfrm>
            <a:off x="2640013" y="3406139"/>
            <a:ext cx="10874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endParaRPr lang="en-US"/>
          </a:p>
        </p:txBody>
      </p:sp>
      <p:graphicFrame>
        <p:nvGraphicFramePr>
          <p:cNvPr id="2245686" name="Group 5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0755862"/>
              </p:ext>
            </p:extLst>
          </p:nvPr>
        </p:nvGraphicFramePr>
        <p:xfrm>
          <a:off x="6529388" y="2552064"/>
          <a:ext cx="811212" cy="244475"/>
        </p:xfrm>
        <a:graphic>
          <a:graphicData uri="http://schemas.openxmlformats.org/drawingml/2006/table">
            <a:tbl>
              <a:tblPr/>
              <a:tblGrid>
                <a:gridCol w="8112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44475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"ant"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8421" name="Line 60"/>
          <p:cNvSpPr>
            <a:spLocks noChangeShapeType="1"/>
          </p:cNvSpPr>
          <p:nvPr/>
        </p:nvSpPr>
        <p:spPr bwMode="auto">
          <a:xfrm>
            <a:off x="5735638" y="2682239"/>
            <a:ext cx="78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endParaRPr lang="en-US"/>
          </a:p>
        </p:txBody>
      </p:sp>
      <p:graphicFrame>
        <p:nvGraphicFramePr>
          <p:cNvPr id="2245694" name="Group 6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0648623"/>
              </p:ext>
            </p:extLst>
          </p:nvPr>
        </p:nvGraphicFramePr>
        <p:xfrm>
          <a:off x="6524625" y="3447414"/>
          <a:ext cx="811213" cy="244475"/>
        </p:xfrm>
        <a:graphic>
          <a:graphicData uri="http://schemas.openxmlformats.org/drawingml/2006/table">
            <a:tbl>
              <a:tblPr/>
              <a:tblGrid>
                <a:gridCol w="8112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44475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"ape"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8430" name="Line 69"/>
          <p:cNvSpPr>
            <a:spLocks noChangeShapeType="1"/>
          </p:cNvSpPr>
          <p:nvPr/>
        </p:nvSpPr>
        <p:spPr bwMode="auto">
          <a:xfrm>
            <a:off x="4246563" y="3568064"/>
            <a:ext cx="1063625" cy="25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endParaRPr lang="en-US"/>
          </a:p>
        </p:txBody>
      </p:sp>
      <p:graphicFrame>
        <p:nvGraphicFramePr>
          <p:cNvPr id="2245724" name="Group 9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4907883"/>
              </p:ext>
            </p:extLst>
          </p:nvPr>
        </p:nvGraphicFramePr>
        <p:xfrm>
          <a:off x="5311775" y="3461702"/>
          <a:ext cx="811213" cy="501650"/>
        </p:xfrm>
        <a:graphic>
          <a:graphicData uri="http://schemas.openxmlformats.org/drawingml/2006/table">
            <a:tbl>
              <a:tblPr/>
              <a:tblGrid>
                <a:gridCol w="8112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0825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Lucida Console" pitchFamily="49" charset="0"/>
                        </a:rPr>
                        <a:t>null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  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Lucida Console" pitchFamily="49" charset="0"/>
                        </a:rPr>
                        <a:t>null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  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245734" name="Group 10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4721643"/>
              </p:ext>
            </p:extLst>
          </p:nvPr>
        </p:nvGraphicFramePr>
        <p:xfrm>
          <a:off x="989013" y="3280727"/>
          <a:ext cx="1992312" cy="519112"/>
        </p:xfrm>
        <a:graphic>
          <a:graphicData uri="http://schemas.openxmlformats.org/drawingml/2006/table">
            <a:tbl>
              <a:tblPr/>
              <a:tblGrid>
                <a:gridCol w="1247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45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1300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table</a:t>
                      </a:r>
                    </a:p>
                  </a:txBody>
                  <a:tcPr marL="0" marR="64008" marT="0" marB="0" anchor="ctr" horzOverflow="overflow">
                    <a:lnL cap="flat">
                      <a:noFill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7812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probeType</a:t>
                      </a:r>
                    </a:p>
                  </a:txBody>
                  <a:tcPr marL="0" marR="64008" marT="0" marB="0" anchor="ctr" horzOverflow="overflow">
                    <a:lnL cap="flat">
                      <a:noFill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LINEAR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3" name="Group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8212878"/>
              </p:ext>
            </p:extLst>
          </p:nvPr>
        </p:nvGraphicFramePr>
        <p:xfrm>
          <a:off x="6532563" y="3761739"/>
          <a:ext cx="811212" cy="457200"/>
        </p:xfrm>
        <a:graphic>
          <a:graphicData uri="http://schemas.openxmlformats.org/drawingml/2006/table">
            <a:tbl>
              <a:tblPr/>
              <a:tblGrid>
                <a:gridCol w="8112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LLQueue</a:t>
                      </a:r>
                      <a:b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</a:b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object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CC0099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rgbClr val="CC0099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rgbClr val="CC0099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rgbClr val="CC0099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8" name="Cloud Callout 17"/>
          <p:cNvSpPr/>
          <p:nvPr/>
        </p:nvSpPr>
        <p:spPr bwMode="auto">
          <a:xfrm>
            <a:off x="661182" y="4460508"/>
            <a:ext cx="3942902" cy="1373190"/>
          </a:xfrm>
          <a:prstGeom prst="cloudCallout">
            <a:avLst>
              <a:gd name="adj1" fmla="val 36134"/>
              <a:gd name="adj2" fmla="val -110966"/>
            </a:avLst>
          </a:prstGeom>
          <a:solidFill>
            <a:schemeClr val="bg1">
              <a:lumMod val="95000"/>
            </a:schemeClr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200" dirty="0"/>
              <a:t>What would happen if we reference t</a:t>
            </a:r>
            <a:r>
              <a:rPr kumimoji="0" lang="en-US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Narrow" pitchFamily="34" charset="0"/>
              </a:rPr>
              <a:t>able[</a:t>
            </a:r>
            <a:r>
              <a:rPr lang="en-US" sz="2200" dirty="0">
                <a:solidFill>
                  <a:srgbClr val="0000FF"/>
                </a:solidFill>
              </a:rPr>
              <a:t>1</a:t>
            </a:r>
            <a:r>
              <a:rPr kumimoji="0" lang="en-US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Narrow" pitchFamily="34" charset="0"/>
              </a:rPr>
              <a:t>] ?</a:t>
            </a:r>
          </a:p>
        </p:txBody>
      </p:sp>
    </p:spTree>
    <p:extLst>
      <p:ext uri="{BB962C8B-B14F-4D97-AF65-F5344CB8AC3E}">
        <p14:creationId xmlns:p14="http://schemas.microsoft.com/office/powerpoint/2010/main" val="1037558444"/>
      </p:ext>
    </p:extLst>
  </p:cSld>
  <p:clrMapOvr>
    <a:masterClrMapping/>
  </p:clrMapOvr>
</p:sld>
</file>

<file path=ppt/slides/slide2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3723" y="6119446"/>
            <a:ext cx="8168665" cy="738554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258763" y="-63500"/>
            <a:ext cx="8683625" cy="847725"/>
          </a:xfrm>
        </p:spPr>
        <p:txBody>
          <a:bodyPr/>
          <a:lstStyle/>
          <a:p>
            <a:r>
              <a:rPr lang="en-US" altLang="en-US" dirty="0"/>
              <a:t>Empty vs. Removed</a:t>
            </a:r>
            <a:endParaRPr lang="en-US" altLang="en-US" sz="2000" dirty="0"/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2" y="704850"/>
            <a:ext cx="8802687" cy="5614988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ts val="1000"/>
              </a:spcBef>
              <a:buFontTx/>
              <a:buChar char="•"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dirty="0"/>
              <a:t>When we remove a key and its values, we:</a:t>
            </a:r>
          </a:p>
          <a:p>
            <a:pPr lvl="1">
              <a:lnSpc>
                <a:spcPct val="90000"/>
              </a:lnSpc>
              <a:spcBef>
                <a:spcPts val="1000"/>
              </a:spcBef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dirty="0"/>
              <a:t>leave the </a:t>
            </a:r>
            <a:r>
              <a:rPr lang="en-US" altLang="en-US" sz="2000" dirty="0">
                <a:latin typeface="Lucida Console" panose="020B0609040504020204" pitchFamily="49" charset="0"/>
              </a:rPr>
              <a:t>Entry</a:t>
            </a:r>
            <a:r>
              <a:rPr lang="en-US" altLang="en-US" dirty="0"/>
              <a:t> object in the table</a:t>
            </a:r>
          </a:p>
          <a:p>
            <a:pPr lvl="1">
              <a:lnSpc>
                <a:spcPct val="90000"/>
              </a:lnSpc>
              <a:spcBef>
                <a:spcPts val="1000"/>
              </a:spcBef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dirty="0"/>
              <a:t>set the </a:t>
            </a:r>
            <a:r>
              <a:rPr lang="en-US" altLang="en-US" sz="2000" dirty="0">
                <a:latin typeface="Lucida Console" panose="020B0609040504020204" pitchFamily="49" charset="0"/>
              </a:rPr>
              <a:t>Entry</a:t>
            </a:r>
            <a:r>
              <a:rPr lang="en-US" altLang="en-US" dirty="0"/>
              <a:t> object's </a:t>
            </a:r>
            <a:r>
              <a:rPr lang="en-US" altLang="en-US" sz="2000" dirty="0">
                <a:latin typeface="Lucida Console" panose="020B0609040504020204" pitchFamily="49" charset="0"/>
              </a:rPr>
              <a:t>key</a:t>
            </a:r>
            <a:r>
              <a:rPr lang="en-US" altLang="en-US" dirty="0"/>
              <a:t> and </a:t>
            </a:r>
            <a:r>
              <a:rPr lang="en-US" altLang="en-US" sz="2000" dirty="0">
                <a:latin typeface="Lucida Console" panose="020B0609040504020204" pitchFamily="49" charset="0"/>
              </a:rPr>
              <a:t>values</a:t>
            </a:r>
            <a:r>
              <a:rPr lang="en-US" altLang="en-US" dirty="0"/>
              <a:t> fields to </a:t>
            </a:r>
            <a:r>
              <a:rPr lang="en-US" altLang="en-US" sz="2000" dirty="0">
                <a:latin typeface="Lucida Console" panose="020B0609040504020204" pitchFamily="49" charset="0"/>
              </a:rPr>
              <a:t>null</a:t>
            </a:r>
          </a:p>
          <a:p>
            <a:pPr lvl="1">
              <a:lnSpc>
                <a:spcPct val="90000"/>
              </a:lnSpc>
              <a:spcBef>
                <a:spcPts val="1000"/>
              </a:spcBef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dirty="0"/>
              <a:t>example: after </a:t>
            </a:r>
            <a:r>
              <a:rPr lang="en-US" altLang="en-US" sz="2000" dirty="0">
                <a:latin typeface="Lucida Console" panose="020B0609040504020204" pitchFamily="49" charset="0"/>
              </a:rPr>
              <a:t>remove("ape")</a:t>
            </a:r>
            <a:r>
              <a:rPr lang="en-US" altLang="en-US" dirty="0"/>
              <a:t>:</a:t>
            </a:r>
          </a:p>
          <a:p>
            <a:pPr lvl="1">
              <a:lnSpc>
                <a:spcPct val="90000"/>
              </a:lnSpc>
              <a:spcBef>
                <a:spcPts val="1000"/>
              </a:spcBef>
              <a:tabLst>
                <a:tab pos="344488" algn="l"/>
                <a:tab pos="569913" algn="l"/>
                <a:tab pos="688975" algn="l"/>
              </a:tabLst>
            </a:pPr>
            <a:endParaRPr lang="en-US" altLang="en-US" sz="2200" dirty="0"/>
          </a:p>
          <a:p>
            <a:pPr lvl="1">
              <a:lnSpc>
                <a:spcPct val="90000"/>
              </a:lnSpc>
              <a:spcBef>
                <a:spcPts val="1000"/>
              </a:spcBef>
              <a:tabLst>
                <a:tab pos="344488" algn="l"/>
                <a:tab pos="569913" algn="l"/>
                <a:tab pos="688975" algn="l"/>
              </a:tabLst>
            </a:pPr>
            <a:endParaRPr lang="en-US" altLang="en-US" dirty="0"/>
          </a:p>
          <a:p>
            <a:pPr lvl="1">
              <a:lnSpc>
                <a:spcPct val="90000"/>
              </a:lnSpc>
              <a:spcBef>
                <a:spcPts val="1000"/>
              </a:spcBef>
              <a:tabLst>
                <a:tab pos="344488" algn="l"/>
                <a:tab pos="569913" algn="l"/>
                <a:tab pos="688975" algn="l"/>
              </a:tabLst>
            </a:pPr>
            <a:endParaRPr lang="en-US" altLang="en-US" sz="2200" dirty="0"/>
          </a:p>
          <a:p>
            <a:pPr lvl="1">
              <a:lnSpc>
                <a:spcPct val="90000"/>
              </a:lnSpc>
              <a:spcBef>
                <a:spcPts val="1000"/>
              </a:spcBef>
              <a:tabLst>
                <a:tab pos="344488" algn="l"/>
                <a:tab pos="569913" algn="l"/>
                <a:tab pos="688975" algn="l"/>
              </a:tabLst>
            </a:pPr>
            <a:endParaRPr lang="en-US" altLang="en-US" dirty="0"/>
          </a:p>
          <a:p>
            <a:pPr lvl="1">
              <a:lnSpc>
                <a:spcPct val="90000"/>
              </a:lnSpc>
              <a:spcBef>
                <a:spcPts val="1000"/>
              </a:spcBef>
              <a:tabLst>
                <a:tab pos="344488" algn="l"/>
                <a:tab pos="569913" algn="l"/>
                <a:tab pos="688975" algn="l"/>
              </a:tabLst>
            </a:pPr>
            <a:endParaRPr lang="en-US" altLang="en-US" sz="2200" dirty="0"/>
          </a:p>
          <a:p>
            <a:pPr lvl="1">
              <a:lnSpc>
                <a:spcPct val="90000"/>
              </a:lnSpc>
              <a:spcBef>
                <a:spcPts val="1000"/>
              </a:spcBef>
              <a:tabLst>
                <a:tab pos="344488" algn="l"/>
                <a:tab pos="569913" algn="l"/>
                <a:tab pos="688975" algn="l"/>
              </a:tabLst>
            </a:pPr>
            <a:endParaRPr lang="en-US" altLang="en-US" dirty="0"/>
          </a:p>
          <a:p>
            <a:pPr>
              <a:lnSpc>
                <a:spcPct val="90000"/>
              </a:lnSpc>
              <a:spcBef>
                <a:spcPts val="1000"/>
              </a:spcBef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dirty="0"/>
              <a:t>Note the difference:</a:t>
            </a:r>
          </a:p>
          <a:p>
            <a:pPr lvl="1">
              <a:lnSpc>
                <a:spcPct val="90000"/>
              </a:lnSpc>
              <a:spcBef>
                <a:spcPts val="1000"/>
              </a:spcBef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dirty="0"/>
              <a:t>a truly empty position has a value of </a:t>
            </a:r>
            <a:r>
              <a:rPr lang="en-US" altLang="en-US" sz="2000" dirty="0">
                <a:latin typeface="Lucida Console" panose="020B0609040504020204" pitchFamily="49" charset="0"/>
              </a:rPr>
              <a:t>null</a:t>
            </a:r>
            <a:r>
              <a:rPr lang="en-US" altLang="en-US" dirty="0"/>
              <a:t> in the table</a:t>
            </a:r>
            <a:br>
              <a:rPr lang="en-US" altLang="en-US" dirty="0"/>
            </a:br>
            <a:r>
              <a:rPr lang="en-US" altLang="en-US" dirty="0"/>
              <a:t>(example: positions 2, 3 and 4 above)</a:t>
            </a:r>
          </a:p>
          <a:p>
            <a:pPr lvl="1">
              <a:lnSpc>
                <a:spcPct val="90000"/>
              </a:lnSpc>
              <a:spcBef>
                <a:spcPts val="1000"/>
              </a:spcBef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dirty="0"/>
              <a:t>a removed position refers to an </a:t>
            </a:r>
            <a:r>
              <a:rPr lang="en-US" altLang="en-US" sz="2000" dirty="0">
                <a:latin typeface="Lucida Console" panose="020B0609040504020204" pitchFamily="49" charset="0"/>
              </a:rPr>
              <a:t>Entry</a:t>
            </a:r>
            <a:r>
              <a:rPr lang="en-US" altLang="en-US" dirty="0"/>
              <a:t> object whose</a:t>
            </a:r>
            <a:br>
              <a:rPr lang="en-US" altLang="en-US" dirty="0"/>
            </a:br>
            <a:r>
              <a:rPr lang="en-US" altLang="en-US" sz="2000" dirty="0">
                <a:latin typeface="Lucida Console" panose="020B0609040504020204" pitchFamily="49" charset="0"/>
              </a:rPr>
              <a:t>key</a:t>
            </a:r>
            <a:r>
              <a:rPr lang="en-US" altLang="en-US" dirty="0"/>
              <a:t> and </a:t>
            </a:r>
            <a:r>
              <a:rPr lang="en-US" altLang="en-US" sz="2000" dirty="0">
                <a:latin typeface="Lucida Console" panose="020B0609040504020204" pitchFamily="49" charset="0"/>
              </a:rPr>
              <a:t>values</a:t>
            </a:r>
            <a:r>
              <a:rPr lang="en-US" altLang="en-US" dirty="0"/>
              <a:t> fields are </a:t>
            </a:r>
            <a:r>
              <a:rPr lang="en-US" altLang="en-US" sz="2000" dirty="0">
                <a:latin typeface="Lucida Console" panose="020B0609040504020204" pitchFamily="49" charset="0"/>
              </a:rPr>
              <a:t>null</a:t>
            </a:r>
            <a:r>
              <a:rPr lang="en-US" altLang="en-US" dirty="0"/>
              <a:t> (example: position 1 above)</a:t>
            </a:r>
          </a:p>
        </p:txBody>
      </p:sp>
      <p:graphicFrame>
        <p:nvGraphicFramePr>
          <p:cNvPr id="2245637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3042628"/>
              </p:ext>
            </p:extLst>
          </p:nvPr>
        </p:nvGraphicFramePr>
        <p:xfrm>
          <a:off x="2686050" y="3109277"/>
          <a:ext cx="2097088" cy="1830388"/>
        </p:xfrm>
        <a:graphic>
          <a:graphicData uri="http://schemas.openxmlformats.org/drawingml/2006/table">
            <a:tbl>
              <a:tblPr/>
              <a:tblGrid>
                <a:gridCol w="105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61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0</a:t>
                      </a:r>
                    </a:p>
                  </a:txBody>
                  <a:tcPr marL="0" marR="64008" marT="0" marB="0"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</a:t>
                      </a:r>
                    </a:p>
                  </a:txBody>
                  <a:tcPr marL="0" marR="64008" marT="0" marB="0"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</a:t>
                      </a:r>
                    </a:p>
                  </a:txBody>
                  <a:tcPr marL="0" marR="64008" marT="0" marB="0"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null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3</a:t>
                      </a:r>
                    </a:p>
                  </a:txBody>
                  <a:tcPr marL="0" marR="64008" marT="0" marB="0"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null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4</a:t>
                      </a:r>
                    </a:p>
                  </a:txBody>
                  <a:tcPr marL="0" marR="64008" marT="0" marB="0"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null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…</a:t>
                      </a:r>
                    </a:p>
                  </a:txBody>
                  <a:tcPr marL="0" marR="64008" marT="0" marB="0"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…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8394" name="Line 33"/>
          <p:cNvSpPr>
            <a:spLocks noChangeShapeType="1"/>
          </p:cNvSpPr>
          <p:nvPr/>
        </p:nvSpPr>
        <p:spPr bwMode="auto">
          <a:xfrm>
            <a:off x="5740400" y="2944177"/>
            <a:ext cx="78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endParaRPr lang="en-US"/>
          </a:p>
        </p:txBody>
      </p:sp>
      <p:graphicFrame>
        <p:nvGraphicFramePr>
          <p:cNvPr id="2245666" name="Group 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4615903"/>
              </p:ext>
            </p:extLst>
          </p:nvPr>
        </p:nvGraphicFramePr>
        <p:xfrm>
          <a:off x="5316538" y="2566352"/>
          <a:ext cx="811212" cy="501650"/>
        </p:xfrm>
        <a:graphic>
          <a:graphicData uri="http://schemas.openxmlformats.org/drawingml/2006/table">
            <a:tbl>
              <a:tblPr/>
              <a:tblGrid>
                <a:gridCol w="8112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0825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  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  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245676" name="Group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8774738"/>
              </p:ext>
            </p:extLst>
          </p:nvPr>
        </p:nvGraphicFramePr>
        <p:xfrm>
          <a:off x="6532563" y="2879089"/>
          <a:ext cx="811212" cy="457200"/>
        </p:xfrm>
        <a:graphic>
          <a:graphicData uri="http://schemas.openxmlformats.org/drawingml/2006/table">
            <a:tbl>
              <a:tblPr/>
              <a:tblGrid>
                <a:gridCol w="8112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LLQueue</a:t>
                      </a:r>
                      <a:b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</a:b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object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CC0099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rgbClr val="CC0099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rgbClr val="CC0099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rgbClr val="CC0099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8413" name="Line 52"/>
          <p:cNvSpPr>
            <a:spLocks noChangeShapeType="1"/>
          </p:cNvSpPr>
          <p:nvPr/>
        </p:nvSpPr>
        <p:spPr bwMode="auto">
          <a:xfrm flipV="1">
            <a:off x="4243388" y="2934652"/>
            <a:ext cx="1077912" cy="3460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endParaRPr lang="en-US"/>
          </a:p>
        </p:txBody>
      </p:sp>
      <p:sp>
        <p:nvSpPr>
          <p:cNvPr id="58414" name="Line 53"/>
          <p:cNvSpPr>
            <a:spLocks noChangeShapeType="1"/>
          </p:cNvSpPr>
          <p:nvPr/>
        </p:nvSpPr>
        <p:spPr bwMode="auto">
          <a:xfrm>
            <a:off x="2640013" y="3406139"/>
            <a:ext cx="10874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endParaRPr lang="en-US"/>
          </a:p>
        </p:txBody>
      </p:sp>
      <p:graphicFrame>
        <p:nvGraphicFramePr>
          <p:cNvPr id="2245686" name="Group 5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0755862"/>
              </p:ext>
            </p:extLst>
          </p:nvPr>
        </p:nvGraphicFramePr>
        <p:xfrm>
          <a:off x="6529388" y="2552064"/>
          <a:ext cx="811212" cy="244475"/>
        </p:xfrm>
        <a:graphic>
          <a:graphicData uri="http://schemas.openxmlformats.org/drawingml/2006/table">
            <a:tbl>
              <a:tblPr/>
              <a:tblGrid>
                <a:gridCol w="8112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44475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"ant"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8421" name="Line 60"/>
          <p:cNvSpPr>
            <a:spLocks noChangeShapeType="1"/>
          </p:cNvSpPr>
          <p:nvPr/>
        </p:nvSpPr>
        <p:spPr bwMode="auto">
          <a:xfrm>
            <a:off x="5735638" y="2682239"/>
            <a:ext cx="78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endParaRPr lang="en-US"/>
          </a:p>
        </p:txBody>
      </p:sp>
      <p:graphicFrame>
        <p:nvGraphicFramePr>
          <p:cNvPr id="2245694" name="Group 6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0648623"/>
              </p:ext>
            </p:extLst>
          </p:nvPr>
        </p:nvGraphicFramePr>
        <p:xfrm>
          <a:off x="6524625" y="3447414"/>
          <a:ext cx="811213" cy="244475"/>
        </p:xfrm>
        <a:graphic>
          <a:graphicData uri="http://schemas.openxmlformats.org/drawingml/2006/table">
            <a:tbl>
              <a:tblPr/>
              <a:tblGrid>
                <a:gridCol w="8112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44475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"ape"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8430" name="Line 69"/>
          <p:cNvSpPr>
            <a:spLocks noChangeShapeType="1"/>
          </p:cNvSpPr>
          <p:nvPr/>
        </p:nvSpPr>
        <p:spPr bwMode="auto">
          <a:xfrm>
            <a:off x="4246563" y="3568064"/>
            <a:ext cx="1063625" cy="25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endParaRPr lang="en-US"/>
          </a:p>
        </p:txBody>
      </p:sp>
      <p:graphicFrame>
        <p:nvGraphicFramePr>
          <p:cNvPr id="2245724" name="Group 9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4907883"/>
              </p:ext>
            </p:extLst>
          </p:nvPr>
        </p:nvGraphicFramePr>
        <p:xfrm>
          <a:off x="5311775" y="3461702"/>
          <a:ext cx="811213" cy="501650"/>
        </p:xfrm>
        <a:graphic>
          <a:graphicData uri="http://schemas.openxmlformats.org/drawingml/2006/table">
            <a:tbl>
              <a:tblPr/>
              <a:tblGrid>
                <a:gridCol w="8112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0825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Lucida Console" pitchFamily="49" charset="0"/>
                        </a:rPr>
                        <a:t>null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  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Lucida Console" pitchFamily="49" charset="0"/>
                        </a:rPr>
                        <a:t>null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  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245734" name="Group 10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4721643"/>
              </p:ext>
            </p:extLst>
          </p:nvPr>
        </p:nvGraphicFramePr>
        <p:xfrm>
          <a:off x="989013" y="3280727"/>
          <a:ext cx="1992312" cy="519112"/>
        </p:xfrm>
        <a:graphic>
          <a:graphicData uri="http://schemas.openxmlformats.org/drawingml/2006/table">
            <a:tbl>
              <a:tblPr/>
              <a:tblGrid>
                <a:gridCol w="1247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45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1300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table</a:t>
                      </a:r>
                    </a:p>
                  </a:txBody>
                  <a:tcPr marL="0" marR="64008" marT="0" marB="0" anchor="ctr" horzOverflow="overflow">
                    <a:lnL cap="flat">
                      <a:noFill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7812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probeType</a:t>
                      </a:r>
                    </a:p>
                  </a:txBody>
                  <a:tcPr marL="0" marR="64008" marT="0" marB="0" anchor="ctr" horzOverflow="overflow">
                    <a:lnL cap="flat">
                      <a:noFill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LINEAR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3" name="Group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8212878"/>
              </p:ext>
            </p:extLst>
          </p:nvPr>
        </p:nvGraphicFramePr>
        <p:xfrm>
          <a:off x="6532563" y="3761739"/>
          <a:ext cx="811212" cy="457200"/>
        </p:xfrm>
        <a:graphic>
          <a:graphicData uri="http://schemas.openxmlformats.org/drawingml/2006/table">
            <a:tbl>
              <a:tblPr/>
              <a:tblGrid>
                <a:gridCol w="8112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LLQueue</a:t>
                      </a:r>
                      <a:b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</a:b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object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CC0099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rgbClr val="CC0099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rgbClr val="CC0099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rgbClr val="CC0099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8" name="Cloud Callout 17"/>
          <p:cNvSpPr/>
          <p:nvPr/>
        </p:nvSpPr>
        <p:spPr bwMode="auto">
          <a:xfrm>
            <a:off x="792702" y="3971289"/>
            <a:ext cx="3799058" cy="2043896"/>
          </a:xfrm>
          <a:prstGeom prst="cloudCallout">
            <a:avLst>
              <a:gd name="adj1" fmla="val 64705"/>
              <a:gd name="adj2" fmla="val -66208"/>
            </a:avLst>
          </a:prstGeom>
          <a:solidFill>
            <a:schemeClr val="bg1">
              <a:lumMod val="95000"/>
            </a:schemeClr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200" dirty="0"/>
              <a:t>What would happen if we call a method on t</a:t>
            </a:r>
            <a:r>
              <a:rPr kumimoji="0" lang="en-US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Narrow" pitchFamily="34" charset="0"/>
              </a:rPr>
              <a:t>able[</a:t>
            </a:r>
            <a:r>
              <a:rPr lang="en-US" sz="2200" dirty="0">
                <a:solidFill>
                  <a:srgbClr val="0000FF"/>
                </a:solidFill>
              </a:rPr>
              <a:t>1</a:t>
            </a:r>
            <a:r>
              <a:rPr kumimoji="0" lang="en-US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Narrow" pitchFamily="34" charset="0"/>
              </a:rPr>
              <a:t>].key ?</a:t>
            </a:r>
          </a:p>
        </p:txBody>
      </p:sp>
    </p:spTree>
    <p:extLst>
      <p:ext uri="{BB962C8B-B14F-4D97-AF65-F5344CB8AC3E}">
        <p14:creationId xmlns:p14="http://schemas.microsoft.com/office/powerpoint/2010/main" val="3711959560"/>
      </p:ext>
    </p:extLst>
  </p:cSld>
  <p:clrMapOvr>
    <a:masterClrMapping/>
  </p:clrMapOvr>
</p:sld>
</file>

<file path=ppt/slides/slide2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3723" y="6119446"/>
            <a:ext cx="8168665" cy="738554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258763" y="-63500"/>
            <a:ext cx="8683625" cy="847725"/>
          </a:xfrm>
        </p:spPr>
        <p:txBody>
          <a:bodyPr/>
          <a:lstStyle/>
          <a:p>
            <a:r>
              <a:rPr lang="en-US" altLang="en-US" dirty="0"/>
              <a:t>Empty vs. Removed</a:t>
            </a:r>
            <a:endParaRPr lang="en-US" altLang="en-US" sz="2000" dirty="0"/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2" y="704850"/>
            <a:ext cx="8802687" cy="5614988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ts val="1000"/>
              </a:spcBef>
              <a:buFontTx/>
              <a:buChar char="•"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dirty="0"/>
              <a:t>When we remove a key and its values, we:</a:t>
            </a:r>
          </a:p>
          <a:p>
            <a:pPr lvl="1">
              <a:lnSpc>
                <a:spcPct val="90000"/>
              </a:lnSpc>
              <a:spcBef>
                <a:spcPts val="1000"/>
              </a:spcBef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dirty="0"/>
              <a:t>leave the </a:t>
            </a:r>
            <a:r>
              <a:rPr lang="en-US" altLang="en-US" sz="2000" dirty="0">
                <a:latin typeface="Lucida Console" panose="020B0609040504020204" pitchFamily="49" charset="0"/>
              </a:rPr>
              <a:t>Entry</a:t>
            </a:r>
            <a:r>
              <a:rPr lang="en-US" altLang="en-US" dirty="0"/>
              <a:t> object in the table</a:t>
            </a:r>
          </a:p>
          <a:p>
            <a:pPr lvl="1">
              <a:lnSpc>
                <a:spcPct val="90000"/>
              </a:lnSpc>
              <a:spcBef>
                <a:spcPts val="1000"/>
              </a:spcBef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dirty="0"/>
              <a:t>set the </a:t>
            </a:r>
            <a:r>
              <a:rPr lang="en-US" altLang="en-US" sz="2000" dirty="0">
                <a:latin typeface="Lucida Console" panose="020B0609040504020204" pitchFamily="49" charset="0"/>
              </a:rPr>
              <a:t>Entry</a:t>
            </a:r>
            <a:r>
              <a:rPr lang="en-US" altLang="en-US" dirty="0"/>
              <a:t> object's </a:t>
            </a:r>
            <a:r>
              <a:rPr lang="en-US" altLang="en-US" sz="2000" dirty="0">
                <a:latin typeface="Lucida Console" panose="020B0609040504020204" pitchFamily="49" charset="0"/>
              </a:rPr>
              <a:t>key</a:t>
            </a:r>
            <a:r>
              <a:rPr lang="en-US" altLang="en-US" dirty="0"/>
              <a:t> and </a:t>
            </a:r>
            <a:r>
              <a:rPr lang="en-US" altLang="en-US" sz="2000" dirty="0">
                <a:latin typeface="Lucida Console" panose="020B0609040504020204" pitchFamily="49" charset="0"/>
              </a:rPr>
              <a:t>values</a:t>
            </a:r>
            <a:r>
              <a:rPr lang="en-US" altLang="en-US" dirty="0"/>
              <a:t> fields to </a:t>
            </a:r>
            <a:r>
              <a:rPr lang="en-US" altLang="en-US" sz="2000" dirty="0">
                <a:latin typeface="Lucida Console" panose="020B0609040504020204" pitchFamily="49" charset="0"/>
              </a:rPr>
              <a:t>null</a:t>
            </a:r>
          </a:p>
          <a:p>
            <a:pPr lvl="1">
              <a:lnSpc>
                <a:spcPct val="90000"/>
              </a:lnSpc>
              <a:spcBef>
                <a:spcPts val="1000"/>
              </a:spcBef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dirty="0"/>
              <a:t>example: after </a:t>
            </a:r>
            <a:r>
              <a:rPr lang="en-US" altLang="en-US" sz="2000" dirty="0">
                <a:latin typeface="Lucida Console" panose="020B0609040504020204" pitchFamily="49" charset="0"/>
              </a:rPr>
              <a:t>remove("ape")</a:t>
            </a:r>
            <a:r>
              <a:rPr lang="en-US" altLang="en-US" dirty="0"/>
              <a:t>:</a:t>
            </a:r>
          </a:p>
          <a:p>
            <a:pPr lvl="1">
              <a:lnSpc>
                <a:spcPct val="90000"/>
              </a:lnSpc>
              <a:spcBef>
                <a:spcPts val="1000"/>
              </a:spcBef>
              <a:tabLst>
                <a:tab pos="344488" algn="l"/>
                <a:tab pos="569913" algn="l"/>
                <a:tab pos="688975" algn="l"/>
              </a:tabLst>
            </a:pPr>
            <a:endParaRPr lang="en-US" altLang="en-US" sz="2200" dirty="0"/>
          </a:p>
          <a:p>
            <a:pPr lvl="1">
              <a:lnSpc>
                <a:spcPct val="90000"/>
              </a:lnSpc>
              <a:spcBef>
                <a:spcPts val="1000"/>
              </a:spcBef>
              <a:tabLst>
                <a:tab pos="344488" algn="l"/>
                <a:tab pos="569913" algn="l"/>
                <a:tab pos="688975" algn="l"/>
              </a:tabLst>
            </a:pPr>
            <a:endParaRPr lang="en-US" altLang="en-US" dirty="0"/>
          </a:p>
          <a:p>
            <a:pPr lvl="1">
              <a:lnSpc>
                <a:spcPct val="90000"/>
              </a:lnSpc>
              <a:spcBef>
                <a:spcPts val="1000"/>
              </a:spcBef>
              <a:tabLst>
                <a:tab pos="344488" algn="l"/>
                <a:tab pos="569913" algn="l"/>
                <a:tab pos="688975" algn="l"/>
              </a:tabLst>
            </a:pPr>
            <a:endParaRPr lang="en-US" altLang="en-US" sz="2200" dirty="0"/>
          </a:p>
          <a:p>
            <a:pPr lvl="1">
              <a:lnSpc>
                <a:spcPct val="90000"/>
              </a:lnSpc>
              <a:spcBef>
                <a:spcPts val="1000"/>
              </a:spcBef>
              <a:tabLst>
                <a:tab pos="344488" algn="l"/>
                <a:tab pos="569913" algn="l"/>
                <a:tab pos="688975" algn="l"/>
              </a:tabLst>
            </a:pPr>
            <a:endParaRPr lang="en-US" altLang="en-US" dirty="0"/>
          </a:p>
          <a:p>
            <a:pPr lvl="1">
              <a:lnSpc>
                <a:spcPct val="90000"/>
              </a:lnSpc>
              <a:spcBef>
                <a:spcPts val="1000"/>
              </a:spcBef>
              <a:tabLst>
                <a:tab pos="344488" algn="l"/>
                <a:tab pos="569913" algn="l"/>
                <a:tab pos="688975" algn="l"/>
              </a:tabLst>
            </a:pPr>
            <a:endParaRPr lang="en-US" altLang="en-US" sz="2200" dirty="0"/>
          </a:p>
          <a:p>
            <a:pPr lvl="1">
              <a:lnSpc>
                <a:spcPct val="90000"/>
              </a:lnSpc>
              <a:spcBef>
                <a:spcPts val="1000"/>
              </a:spcBef>
              <a:tabLst>
                <a:tab pos="344488" algn="l"/>
                <a:tab pos="569913" algn="l"/>
                <a:tab pos="688975" algn="l"/>
              </a:tabLst>
            </a:pPr>
            <a:endParaRPr lang="en-US" altLang="en-US" dirty="0"/>
          </a:p>
          <a:p>
            <a:pPr>
              <a:lnSpc>
                <a:spcPct val="90000"/>
              </a:lnSpc>
              <a:spcBef>
                <a:spcPts val="1000"/>
              </a:spcBef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dirty="0"/>
              <a:t>Note the difference:</a:t>
            </a:r>
          </a:p>
          <a:p>
            <a:pPr lvl="1">
              <a:lnSpc>
                <a:spcPct val="90000"/>
              </a:lnSpc>
              <a:spcBef>
                <a:spcPts val="1000"/>
              </a:spcBef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dirty="0"/>
              <a:t>a truly empty position has a value of </a:t>
            </a:r>
            <a:r>
              <a:rPr lang="en-US" altLang="en-US" sz="2000" dirty="0">
                <a:latin typeface="Lucida Console" panose="020B0609040504020204" pitchFamily="49" charset="0"/>
              </a:rPr>
              <a:t>null</a:t>
            </a:r>
            <a:r>
              <a:rPr lang="en-US" altLang="en-US" dirty="0"/>
              <a:t> in the table</a:t>
            </a:r>
            <a:br>
              <a:rPr lang="en-US" altLang="en-US" dirty="0"/>
            </a:br>
            <a:r>
              <a:rPr lang="en-US" altLang="en-US" dirty="0"/>
              <a:t>(example: positions 2, 3 and 4 above)</a:t>
            </a:r>
          </a:p>
          <a:p>
            <a:pPr lvl="1">
              <a:lnSpc>
                <a:spcPct val="90000"/>
              </a:lnSpc>
              <a:spcBef>
                <a:spcPts val="1000"/>
              </a:spcBef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dirty="0"/>
              <a:t>a removed position refers to an </a:t>
            </a:r>
            <a:r>
              <a:rPr lang="en-US" altLang="en-US" sz="2000" dirty="0">
                <a:latin typeface="Lucida Console" panose="020B0609040504020204" pitchFamily="49" charset="0"/>
              </a:rPr>
              <a:t>Entry</a:t>
            </a:r>
            <a:r>
              <a:rPr lang="en-US" altLang="en-US" dirty="0"/>
              <a:t> object whose</a:t>
            </a:r>
            <a:br>
              <a:rPr lang="en-US" altLang="en-US" dirty="0"/>
            </a:br>
            <a:r>
              <a:rPr lang="en-US" altLang="en-US" sz="2000" dirty="0">
                <a:latin typeface="Lucida Console" panose="020B0609040504020204" pitchFamily="49" charset="0"/>
              </a:rPr>
              <a:t>key</a:t>
            </a:r>
            <a:r>
              <a:rPr lang="en-US" altLang="en-US" dirty="0"/>
              <a:t> and </a:t>
            </a:r>
            <a:r>
              <a:rPr lang="en-US" altLang="en-US" sz="2000" dirty="0">
                <a:latin typeface="Lucida Console" panose="020B0609040504020204" pitchFamily="49" charset="0"/>
              </a:rPr>
              <a:t>values</a:t>
            </a:r>
            <a:r>
              <a:rPr lang="en-US" altLang="en-US" dirty="0"/>
              <a:t> fields are </a:t>
            </a:r>
            <a:r>
              <a:rPr lang="en-US" altLang="en-US" sz="2000" dirty="0">
                <a:latin typeface="Lucida Console" panose="020B0609040504020204" pitchFamily="49" charset="0"/>
              </a:rPr>
              <a:t>null</a:t>
            </a:r>
            <a:r>
              <a:rPr lang="en-US" altLang="en-US" dirty="0"/>
              <a:t> (example: position 1 above)</a:t>
            </a:r>
          </a:p>
        </p:txBody>
      </p:sp>
      <p:graphicFrame>
        <p:nvGraphicFramePr>
          <p:cNvPr id="2245637" name="Group 5"/>
          <p:cNvGraphicFramePr>
            <a:graphicFrameLocks noGrp="1"/>
          </p:cNvGraphicFramePr>
          <p:nvPr/>
        </p:nvGraphicFramePr>
        <p:xfrm>
          <a:off x="2686050" y="3109277"/>
          <a:ext cx="2097088" cy="1830388"/>
        </p:xfrm>
        <a:graphic>
          <a:graphicData uri="http://schemas.openxmlformats.org/drawingml/2006/table">
            <a:tbl>
              <a:tblPr/>
              <a:tblGrid>
                <a:gridCol w="105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61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0</a:t>
                      </a:r>
                    </a:p>
                  </a:txBody>
                  <a:tcPr marL="0" marR="64008" marT="0" marB="0"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1</a:t>
                      </a:r>
                    </a:p>
                  </a:txBody>
                  <a:tcPr marL="0" marR="64008" marT="0" marB="0"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2</a:t>
                      </a:r>
                    </a:p>
                  </a:txBody>
                  <a:tcPr marL="0" marR="64008" marT="0" marB="0"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null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3</a:t>
                      </a:r>
                    </a:p>
                  </a:txBody>
                  <a:tcPr marL="0" marR="64008" marT="0" marB="0"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null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4</a:t>
                      </a:r>
                    </a:p>
                  </a:txBody>
                  <a:tcPr marL="0" marR="64008" marT="0" marB="0"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null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…</a:t>
                      </a:r>
                    </a:p>
                  </a:txBody>
                  <a:tcPr marL="0" marR="64008" marT="0" marB="0"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…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8394" name="Line 33"/>
          <p:cNvSpPr>
            <a:spLocks noChangeShapeType="1"/>
          </p:cNvSpPr>
          <p:nvPr/>
        </p:nvSpPr>
        <p:spPr bwMode="auto">
          <a:xfrm>
            <a:off x="5740400" y="2944177"/>
            <a:ext cx="78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endParaRPr lang="en-US"/>
          </a:p>
        </p:txBody>
      </p:sp>
      <p:graphicFrame>
        <p:nvGraphicFramePr>
          <p:cNvPr id="2245666" name="Group 34"/>
          <p:cNvGraphicFramePr>
            <a:graphicFrameLocks noGrp="1"/>
          </p:cNvGraphicFramePr>
          <p:nvPr/>
        </p:nvGraphicFramePr>
        <p:xfrm>
          <a:off x="5316538" y="2566352"/>
          <a:ext cx="811212" cy="501650"/>
        </p:xfrm>
        <a:graphic>
          <a:graphicData uri="http://schemas.openxmlformats.org/drawingml/2006/table">
            <a:tbl>
              <a:tblPr/>
              <a:tblGrid>
                <a:gridCol w="8112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0825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  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  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245676" name="Group 44"/>
          <p:cNvGraphicFramePr>
            <a:graphicFrameLocks noGrp="1"/>
          </p:cNvGraphicFramePr>
          <p:nvPr/>
        </p:nvGraphicFramePr>
        <p:xfrm>
          <a:off x="6532563" y="2879089"/>
          <a:ext cx="811212" cy="457200"/>
        </p:xfrm>
        <a:graphic>
          <a:graphicData uri="http://schemas.openxmlformats.org/drawingml/2006/table">
            <a:tbl>
              <a:tblPr/>
              <a:tblGrid>
                <a:gridCol w="8112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LLQueue</a:t>
                      </a:r>
                      <a:b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</a:b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object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CC0099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rgbClr val="CC0099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rgbClr val="CC0099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rgbClr val="CC0099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8413" name="Line 52"/>
          <p:cNvSpPr>
            <a:spLocks noChangeShapeType="1"/>
          </p:cNvSpPr>
          <p:nvPr/>
        </p:nvSpPr>
        <p:spPr bwMode="auto">
          <a:xfrm flipV="1">
            <a:off x="4243388" y="2934652"/>
            <a:ext cx="1077912" cy="3460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endParaRPr lang="en-US"/>
          </a:p>
        </p:txBody>
      </p:sp>
      <p:sp>
        <p:nvSpPr>
          <p:cNvPr id="58414" name="Line 53"/>
          <p:cNvSpPr>
            <a:spLocks noChangeShapeType="1"/>
          </p:cNvSpPr>
          <p:nvPr/>
        </p:nvSpPr>
        <p:spPr bwMode="auto">
          <a:xfrm>
            <a:off x="2640013" y="3406139"/>
            <a:ext cx="10874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endParaRPr lang="en-US"/>
          </a:p>
        </p:txBody>
      </p:sp>
      <p:graphicFrame>
        <p:nvGraphicFramePr>
          <p:cNvPr id="2245686" name="Group 54"/>
          <p:cNvGraphicFramePr>
            <a:graphicFrameLocks noGrp="1"/>
          </p:cNvGraphicFramePr>
          <p:nvPr/>
        </p:nvGraphicFramePr>
        <p:xfrm>
          <a:off x="6529388" y="2552064"/>
          <a:ext cx="811212" cy="244475"/>
        </p:xfrm>
        <a:graphic>
          <a:graphicData uri="http://schemas.openxmlformats.org/drawingml/2006/table">
            <a:tbl>
              <a:tblPr/>
              <a:tblGrid>
                <a:gridCol w="8112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44475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"ant"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8421" name="Line 60"/>
          <p:cNvSpPr>
            <a:spLocks noChangeShapeType="1"/>
          </p:cNvSpPr>
          <p:nvPr/>
        </p:nvSpPr>
        <p:spPr bwMode="auto">
          <a:xfrm>
            <a:off x="5735638" y="2682239"/>
            <a:ext cx="78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endParaRPr lang="en-US"/>
          </a:p>
        </p:txBody>
      </p:sp>
      <p:graphicFrame>
        <p:nvGraphicFramePr>
          <p:cNvPr id="2245694" name="Group 62"/>
          <p:cNvGraphicFramePr>
            <a:graphicFrameLocks noGrp="1"/>
          </p:cNvGraphicFramePr>
          <p:nvPr/>
        </p:nvGraphicFramePr>
        <p:xfrm>
          <a:off x="6524625" y="3447414"/>
          <a:ext cx="811213" cy="244475"/>
        </p:xfrm>
        <a:graphic>
          <a:graphicData uri="http://schemas.openxmlformats.org/drawingml/2006/table">
            <a:tbl>
              <a:tblPr/>
              <a:tblGrid>
                <a:gridCol w="8112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44475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"ape"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8430" name="Line 69"/>
          <p:cNvSpPr>
            <a:spLocks noChangeShapeType="1"/>
          </p:cNvSpPr>
          <p:nvPr/>
        </p:nvSpPr>
        <p:spPr bwMode="auto">
          <a:xfrm>
            <a:off x="4246563" y="3568064"/>
            <a:ext cx="1063625" cy="25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endParaRPr lang="en-US"/>
          </a:p>
        </p:txBody>
      </p:sp>
      <p:graphicFrame>
        <p:nvGraphicFramePr>
          <p:cNvPr id="2245724" name="Group 92"/>
          <p:cNvGraphicFramePr>
            <a:graphicFrameLocks noGrp="1"/>
          </p:cNvGraphicFramePr>
          <p:nvPr/>
        </p:nvGraphicFramePr>
        <p:xfrm>
          <a:off x="5311775" y="3461702"/>
          <a:ext cx="811213" cy="501650"/>
        </p:xfrm>
        <a:graphic>
          <a:graphicData uri="http://schemas.openxmlformats.org/drawingml/2006/table">
            <a:tbl>
              <a:tblPr/>
              <a:tblGrid>
                <a:gridCol w="8112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0825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Lucida Console" pitchFamily="49" charset="0"/>
                        </a:rPr>
                        <a:t>null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  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Lucida Console" pitchFamily="49" charset="0"/>
                        </a:rPr>
                        <a:t>null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  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245734" name="Group 102"/>
          <p:cNvGraphicFramePr>
            <a:graphicFrameLocks noGrp="1"/>
          </p:cNvGraphicFramePr>
          <p:nvPr/>
        </p:nvGraphicFramePr>
        <p:xfrm>
          <a:off x="989013" y="3280727"/>
          <a:ext cx="1992312" cy="519112"/>
        </p:xfrm>
        <a:graphic>
          <a:graphicData uri="http://schemas.openxmlformats.org/drawingml/2006/table">
            <a:tbl>
              <a:tblPr/>
              <a:tblGrid>
                <a:gridCol w="1247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45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1300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table</a:t>
                      </a:r>
                    </a:p>
                  </a:txBody>
                  <a:tcPr marL="0" marR="64008" marT="0" marB="0" anchor="ctr" horzOverflow="overflow">
                    <a:lnL cap="flat">
                      <a:noFill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7812">
                <a:tc>
                  <a:txBody>
                    <a:bodyPr/>
                    <a:lstStyle/>
                    <a:p>
                      <a:pPr marL="0" marR="0" lvl="0" indent="0" algn="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probeType</a:t>
                      </a:r>
                    </a:p>
                  </a:txBody>
                  <a:tcPr marL="0" marR="64008" marT="0" marB="0" anchor="ctr" horzOverflow="overflow">
                    <a:lnL cap="flat">
                      <a:noFill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LINEAR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3" name="Group 44"/>
          <p:cNvGraphicFramePr>
            <a:graphicFrameLocks noGrp="1"/>
          </p:cNvGraphicFramePr>
          <p:nvPr/>
        </p:nvGraphicFramePr>
        <p:xfrm>
          <a:off x="6532563" y="3761739"/>
          <a:ext cx="811212" cy="457200"/>
        </p:xfrm>
        <a:graphic>
          <a:graphicData uri="http://schemas.openxmlformats.org/drawingml/2006/table">
            <a:tbl>
              <a:tblPr/>
              <a:tblGrid>
                <a:gridCol w="8112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ctr" defTabSz="447675" rtl="0" eaLnBrk="0" fontAlgn="base" latinLnBrk="0" hangingPunct="0">
                        <a:lnSpc>
                          <a:spcPct val="100000"/>
                        </a:lnSpc>
                        <a:spcBef>
                          <a:spcPts val="14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LLQueue</a:t>
                      </a:r>
                      <a:b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</a:b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</a:rPr>
                        <a:t>object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CC0099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rgbClr val="CC0099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rgbClr val="CC0099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rgbClr val="CC0099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8" name="Cloud Callout 17"/>
          <p:cNvSpPr/>
          <p:nvPr/>
        </p:nvSpPr>
        <p:spPr bwMode="auto">
          <a:xfrm>
            <a:off x="563418" y="3897767"/>
            <a:ext cx="4028342" cy="2117418"/>
          </a:xfrm>
          <a:prstGeom prst="cloudCallout">
            <a:avLst>
              <a:gd name="adj1" fmla="val 64476"/>
              <a:gd name="adj2" fmla="val -62718"/>
            </a:avLst>
          </a:prstGeom>
          <a:solidFill>
            <a:schemeClr val="bg1">
              <a:lumMod val="95000"/>
            </a:schemeClr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200" dirty="0"/>
              <a:t>What would happen if we call a method on t</a:t>
            </a:r>
            <a:r>
              <a:rPr kumimoji="0" lang="en-US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Narrow" pitchFamily="34" charset="0"/>
              </a:rPr>
              <a:t>able[</a:t>
            </a:r>
            <a:r>
              <a:rPr lang="en-US" sz="2200" dirty="0">
                <a:solidFill>
                  <a:srgbClr val="0000FF"/>
                </a:solidFill>
              </a:rPr>
              <a:t>1</a:t>
            </a:r>
            <a:r>
              <a:rPr kumimoji="0" lang="en-US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Narrow" pitchFamily="34" charset="0"/>
              </a:rPr>
              <a:t>].</a:t>
            </a:r>
            <a:r>
              <a:rPr kumimoji="0" lang="en-US" sz="2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Narrow" pitchFamily="34" charset="0"/>
              </a:rPr>
              <a:t>key.</a:t>
            </a:r>
            <a:r>
              <a:rPr kumimoji="0" lang="en-US" sz="22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Narrow" pitchFamily="34" charset="0"/>
              </a:rPr>
              <a:t>equals</a:t>
            </a:r>
            <a:r>
              <a:rPr kumimoji="0" lang="en-US" sz="2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Narrow" pitchFamily="34" charset="0"/>
              </a:rPr>
              <a:t>(..)</a:t>
            </a:r>
            <a:r>
              <a:rPr kumimoji="0" lang="en-US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Narrow" pitchFamily="34" charset="0"/>
              </a:rPr>
              <a:t> ?</a:t>
            </a:r>
          </a:p>
        </p:txBody>
      </p:sp>
    </p:spTree>
    <p:extLst>
      <p:ext uri="{BB962C8B-B14F-4D97-AF65-F5344CB8AC3E}">
        <p14:creationId xmlns:p14="http://schemas.microsoft.com/office/powerpoint/2010/main" val="3154119191"/>
      </p:ext>
    </p:extLst>
  </p:cSld>
  <p:clrMapOvr>
    <a:masterClrMapping/>
  </p:clrMapOvr>
</p:sld>
</file>

<file path=ppt/slides/slide25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>
          <a:xfrm>
            <a:off x="258763" y="128588"/>
            <a:ext cx="8683625" cy="847725"/>
          </a:xfrm>
        </p:spPr>
        <p:txBody>
          <a:bodyPr/>
          <a:lstStyle/>
          <a:p>
            <a:r>
              <a:rPr lang="en-US" altLang="en-US" dirty="0"/>
              <a:t>Probing Using Double Hashing:</a:t>
            </a:r>
            <a:br>
              <a:rPr lang="en-US" altLang="en-US" dirty="0"/>
            </a:br>
            <a:r>
              <a:rPr lang="en-US" altLang="en-US" sz="1800" i="1" dirty="0"/>
              <a:t>instance</a:t>
            </a:r>
            <a:r>
              <a:rPr lang="en-US" altLang="en-US" sz="1800" dirty="0"/>
              <a:t> </a:t>
            </a:r>
            <a:r>
              <a:rPr lang="en-US" altLang="en-US" sz="1800" i="1" dirty="0"/>
              <a:t>method of </a:t>
            </a:r>
            <a:r>
              <a:rPr lang="en-US" altLang="en-US" sz="1800" i="1" dirty="0" err="1"/>
              <a:t>OpenHashTable</a:t>
            </a:r>
            <a:endParaRPr lang="en-US" altLang="en-US" sz="1800" i="1" dirty="0"/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65188"/>
            <a:ext cx="8623300" cy="5614987"/>
          </a:xfrm>
        </p:spPr>
        <p:txBody>
          <a:bodyPr/>
          <a:lstStyle/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rgbClr val="0000FF"/>
                </a:solidFill>
                <a:latin typeface="Lucida Console" panose="020B0609040504020204" pitchFamily="49" charset="0"/>
              </a:rPr>
              <a:t>private </a:t>
            </a:r>
            <a:r>
              <a:rPr lang="en-US" altLang="en-US" sz="1800" dirty="0" err="1">
                <a:solidFill>
                  <a:srgbClr val="0000FF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sz="1800" dirty="0">
                <a:solidFill>
                  <a:srgbClr val="0000FF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probe</a:t>
            </a:r>
            <a:r>
              <a:rPr lang="en-US" altLang="en-US" sz="1800" dirty="0">
                <a:solidFill>
                  <a:srgbClr val="0000FF"/>
                </a:solidFill>
                <a:latin typeface="Lucida Console" panose="020B0609040504020204" pitchFamily="49" charset="0"/>
              </a:rPr>
              <a:t>(Object </a:t>
            </a:r>
            <a:r>
              <a:rPr lang="en-US" altLang="en-US" sz="1800" dirty="0">
                <a:solidFill>
                  <a:srgbClr val="FF0000"/>
                </a:solidFill>
                <a:latin typeface="Lucida Console" panose="020B0609040504020204" pitchFamily="49" charset="0"/>
              </a:rPr>
              <a:t>key</a:t>
            </a:r>
            <a:r>
              <a:rPr lang="en-US" altLang="en-US" sz="1800" dirty="0">
                <a:solidFill>
                  <a:srgbClr val="0000FF"/>
                </a:solidFill>
                <a:latin typeface="Lucida Console" panose="020B0609040504020204" pitchFamily="49" charset="0"/>
              </a:rPr>
              <a:t>)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{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= h1(key);    // first hash function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h2 = h2(key);   // second hash function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endParaRPr lang="en-US" altLang="en-US" sz="18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i="1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// keep probing until we get an empty position or match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// (write this together)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endParaRPr lang="en-US" altLang="en-US" sz="1800" b="1" i="1" dirty="0">
              <a:solidFill>
                <a:srgbClr val="0000FF"/>
              </a:solidFill>
              <a:latin typeface="Lucida Console" panose="020B0609040504020204" pitchFamily="49" charset="0"/>
            </a:endParaRP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rgbClr val="0000FF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1800" dirty="0">
                <a:solidFill>
                  <a:schemeClr val="bg1"/>
                </a:solidFill>
                <a:latin typeface="Lucida Console" panose="020B0609040504020204" pitchFamily="49" charset="0"/>
              </a:rPr>
              <a:t>while (table[</a:t>
            </a:r>
            <a:r>
              <a:rPr lang="en-US" altLang="en-US" sz="1800" dirty="0" err="1">
                <a:solidFill>
                  <a:schemeClr val="bg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bg1"/>
                </a:solidFill>
                <a:latin typeface="Lucida Console" panose="020B0609040504020204" pitchFamily="49" charset="0"/>
              </a:rPr>
              <a:t>] != null &amp;&amp; !</a:t>
            </a:r>
            <a:r>
              <a:rPr lang="en-US" altLang="en-US" sz="1800" dirty="0" err="1">
                <a:solidFill>
                  <a:schemeClr val="bg1"/>
                </a:solidFill>
                <a:latin typeface="Lucida Console" panose="020B0609040504020204" pitchFamily="49" charset="0"/>
              </a:rPr>
              <a:t>key.equals</a:t>
            </a:r>
            <a:r>
              <a:rPr lang="en-US" altLang="en-US" sz="1800" dirty="0">
                <a:solidFill>
                  <a:schemeClr val="bg1"/>
                </a:solidFill>
                <a:latin typeface="Lucida Console" panose="020B0609040504020204" pitchFamily="49" charset="0"/>
              </a:rPr>
              <a:t>(table[</a:t>
            </a:r>
            <a:r>
              <a:rPr lang="en-US" altLang="en-US" sz="1800" dirty="0" err="1">
                <a:solidFill>
                  <a:schemeClr val="bg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bg1"/>
                </a:solidFill>
                <a:latin typeface="Lucida Console" panose="020B0609040504020204" pitchFamily="49" charset="0"/>
              </a:rPr>
              <a:t>].key)) {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bg1"/>
                </a:solidFill>
                <a:latin typeface="Lucida Console" panose="020B0609040504020204" pitchFamily="49" charset="0"/>
              </a:rPr>
              <a:t>        </a:t>
            </a:r>
            <a:r>
              <a:rPr lang="en-US" altLang="en-US" sz="1800" dirty="0" err="1">
                <a:solidFill>
                  <a:schemeClr val="bg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bg1"/>
                </a:solidFill>
                <a:latin typeface="Lucida Console" panose="020B0609040504020204" pitchFamily="49" charset="0"/>
              </a:rPr>
              <a:t> = (</a:t>
            </a:r>
            <a:r>
              <a:rPr lang="en-US" altLang="en-US" sz="1800" dirty="0" err="1">
                <a:solidFill>
                  <a:schemeClr val="bg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bg1"/>
                </a:solidFill>
                <a:latin typeface="Lucida Console" panose="020B0609040504020204" pitchFamily="49" charset="0"/>
              </a:rPr>
              <a:t> + h2) % </a:t>
            </a:r>
            <a:r>
              <a:rPr lang="en-US" altLang="en-US" sz="1800" dirty="0" err="1">
                <a:solidFill>
                  <a:schemeClr val="bg1"/>
                </a:solidFill>
                <a:latin typeface="Lucida Console" panose="020B0609040504020204" pitchFamily="49" charset="0"/>
              </a:rPr>
              <a:t>table.length</a:t>
            </a:r>
            <a:r>
              <a:rPr lang="en-US" altLang="en-US" sz="1800" dirty="0">
                <a:solidFill>
                  <a:schemeClr val="bg1"/>
                </a:solidFill>
                <a:latin typeface="Lucida Console" panose="020B0609040504020204" pitchFamily="49" charset="0"/>
              </a:rPr>
              <a:t>;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bg1"/>
                </a:solidFill>
                <a:latin typeface="Lucida Console" panose="020B0609040504020204" pitchFamily="49" charset="0"/>
              </a:rPr>
              <a:t>    }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endParaRPr lang="en-US" altLang="en-US" sz="1800" dirty="0">
              <a:solidFill>
                <a:srgbClr val="0000FF"/>
              </a:solidFill>
              <a:latin typeface="Lucida Console" panose="020B0609040504020204" pitchFamily="49" charset="0"/>
            </a:endParaRP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return </a:t>
            </a:r>
            <a:r>
              <a:rPr lang="en-US" altLang="en-US" sz="1800" b="1" dirty="0" err="1">
                <a:solidFill>
                  <a:srgbClr val="0000FF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;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}</a:t>
            </a:r>
            <a:endParaRPr lang="en-US" altLang="en-US" sz="18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6025797"/>
      </p:ext>
    </p:extLst>
  </p:cSld>
  <p:clrMapOvr>
    <a:masterClrMapping/>
  </p:clrMapOvr>
</p:sld>
</file>

<file path=ppt/slides/slide25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>
          <a:xfrm>
            <a:off x="258763" y="128588"/>
            <a:ext cx="8683625" cy="847725"/>
          </a:xfrm>
        </p:spPr>
        <p:txBody>
          <a:bodyPr/>
          <a:lstStyle/>
          <a:p>
            <a:r>
              <a:rPr lang="en-US" altLang="en-US" dirty="0"/>
              <a:t>Probing Using Double Hashing:</a:t>
            </a:r>
            <a:br>
              <a:rPr lang="en-US" altLang="en-US" dirty="0"/>
            </a:br>
            <a:r>
              <a:rPr lang="en-US" altLang="en-US" sz="1800" i="1" dirty="0"/>
              <a:t>instance</a:t>
            </a:r>
            <a:r>
              <a:rPr lang="en-US" altLang="en-US" sz="1800" dirty="0"/>
              <a:t> </a:t>
            </a:r>
            <a:r>
              <a:rPr lang="en-US" altLang="en-US" sz="1800" i="1" dirty="0"/>
              <a:t>method of </a:t>
            </a:r>
            <a:r>
              <a:rPr lang="en-US" altLang="en-US" sz="1800" i="1" dirty="0" err="1"/>
              <a:t>OpenHashTable</a:t>
            </a:r>
            <a:endParaRPr lang="en-US" altLang="en-US" sz="1800" i="1" dirty="0"/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65188"/>
            <a:ext cx="8623300" cy="5614987"/>
          </a:xfrm>
        </p:spPr>
        <p:txBody>
          <a:bodyPr/>
          <a:lstStyle/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rgbClr val="0000FF"/>
                </a:solidFill>
                <a:latin typeface="Lucida Console" panose="020B0609040504020204" pitchFamily="49" charset="0"/>
              </a:rPr>
              <a:t>private </a:t>
            </a:r>
            <a:r>
              <a:rPr lang="en-US" altLang="en-US" sz="1800" dirty="0" err="1">
                <a:solidFill>
                  <a:srgbClr val="0000FF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sz="1800" dirty="0">
                <a:solidFill>
                  <a:srgbClr val="0000FF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probe</a:t>
            </a:r>
            <a:r>
              <a:rPr lang="en-US" altLang="en-US" sz="1800" dirty="0">
                <a:solidFill>
                  <a:srgbClr val="0000FF"/>
                </a:solidFill>
                <a:latin typeface="Lucida Console" panose="020B0609040504020204" pitchFamily="49" charset="0"/>
              </a:rPr>
              <a:t>(Object </a:t>
            </a:r>
            <a:r>
              <a:rPr lang="en-US" altLang="en-US" sz="1800" dirty="0">
                <a:solidFill>
                  <a:srgbClr val="FF0000"/>
                </a:solidFill>
                <a:latin typeface="Lucida Console" panose="020B0609040504020204" pitchFamily="49" charset="0"/>
              </a:rPr>
              <a:t>key</a:t>
            </a:r>
            <a:r>
              <a:rPr lang="en-US" altLang="en-US" sz="1800" dirty="0">
                <a:solidFill>
                  <a:srgbClr val="0000FF"/>
                </a:solidFill>
                <a:latin typeface="Lucida Console" panose="020B0609040504020204" pitchFamily="49" charset="0"/>
              </a:rPr>
              <a:t>)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{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1800" b="1" dirty="0" err="1">
                <a:solidFill>
                  <a:srgbClr val="0000FF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1800" b="1" dirty="0" err="1">
                <a:solidFill>
                  <a:srgbClr val="0000FF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 = h1(key);    </a:t>
            </a:r>
            <a:r>
              <a:rPr lang="en-US" altLang="en-US" sz="1800" dirty="0">
                <a:solidFill>
                  <a:srgbClr val="FF0000"/>
                </a:solidFill>
                <a:latin typeface="Lucida Console" panose="020B0609040504020204" pitchFamily="49" charset="0"/>
              </a:rPr>
              <a:t>// first hash function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1800" b="1" dirty="0" err="1">
                <a:solidFill>
                  <a:srgbClr val="0000FF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 h2 = h2(key);   </a:t>
            </a:r>
            <a:r>
              <a:rPr lang="en-US" altLang="en-US" sz="1800" dirty="0">
                <a:solidFill>
                  <a:srgbClr val="FF0000"/>
                </a:solidFill>
                <a:latin typeface="Lucida Console" panose="020B0609040504020204" pitchFamily="49" charset="0"/>
              </a:rPr>
              <a:t>// second hash function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endParaRPr lang="en-US" altLang="en-US" sz="18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i="1" dirty="0">
                <a:solidFill>
                  <a:srgbClr val="0000FF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// keep probing until we get an empty position or match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// (write this together)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endParaRPr lang="en-US" altLang="en-US" sz="1800" b="1" i="1" dirty="0">
              <a:solidFill>
                <a:srgbClr val="0000FF"/>
              </a:solidFill>
              <a:latin typeface="Lucida Console" panose="020B0609040504020204" pitchFamily="49" charset="0"/>
            </a:endParaRP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rgbClr val="0000FF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1800" dirty="0">
                <a:solidFill>
                  <a:schemeClr val="bg1"/>
                </a:solidFill>
                <a:latin typeface="Lucida Console" panose="020B0609040504020204" pitchFamily="49" charset="0"/>
              </a:rPr>
              <a:t>while (table[</a:t>
            </a:r>
            <a:r>
              <a:rPr lang="en-US" altLang="en-US" sz="1800" dirty="0" err="1">
                <a:solidFill>
                  <a:schemeClr val="bg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bg1"/>
                </a:solidFill>
                <a:latin typeface="Lucida Console" panose="020B0609040504020204" pitchFamily="49" charset="0"/>
              </a:rPr>
              <a:t>] != null &amp;&amp; !</a:t>
            </a:r>
            <a:r>
              <a:rPr lang="en-US" altLang="en-US" sz="1800" dirty="0" err="1">
                <a:solidFill>
                  <a:schemeClr val="bg1"/>
                </a:solidFill>
                <a:latin typeface="Lucida Console" panose="020B0609040504020204" pitchFamily="49" charset="0"/>
              </a:rPr>
              <a:t>key.equals</a:t>
            </a:r>
            <a:r>
              <a:rPr lang="en-US" altLang="en-US" sz="1800" dirty="0">
                <a:solidFill>
                  <a:schemeClr val="bg1"/>
                </a:solidFill>
                <a:latin typeface="Lucida Console" panose="020B0609040504020204" pitchFamily="49" charset="0"/>
              </a:rPr>
              <a:t>(table[</a:t>
            </a:r>
            <a:r>
              <a:rPr lang="en-US" altLang="en-US" sz="1800" dirty="0" err="1">
                <a:solidFill>
                  <a:schemeClr val="bg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bg1"/>
                </a:solidFill>
                <a:latin typeface="Lucida Console" panose="020B0609040504020204" pitchFamily="49" charset="0"/>
              </a:rPr>
              <a:t>].key)) {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bg1"/>
                </a:solidFill>
                <a:latin typeface="Lucida Console" panose="020B0609040504020204" pitchFamily="49" charset="0"/>
              </a:rPr>
              <a:t>        </a:t>
            </a:r>
            <a:r>
              <a:rPr lang="en-US" altLang="en-US" sz="1800" dirty="0" err="1">
                <a:solidFill>
                  <a:schemeClr val="bg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bg1"/>
                </a:solidFill>
                <a:latin typeface="Lucida Console" panose="020B0609040504020204" pitchFamily="49" charset="0"/>
              </a:rPr>
              <a:t> = (</a:t>
            </a:r>
            <a:r>
              <a:rPr lang="en-US" altLang="en-US" sz="1800" dirty="0" err="1">
                <a:solidFill>
                  <a:schemeClr val="bg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bg1"/>
                </a:solidFill>
                <a:latin typeface="Lucida Console" panose="020B0609040504020204" pitchFamily="49" charset="0"/>
              </a:rPr>
              <a:t> + h2) % </a:t>
            </a:r>
            <a:r>
              <a:rPr lang="en-US" altLang="en-US" sz="1800" dirty="0" err="1">
                <a:solidFill>
                  <a:schemeClr val="bg1"/>
                </a:solidFill>
                <a:latin typeface="Lucida Console" panose="020B0609040504020204" pitchFamily="49" charset="0"/>
              </a:rPr>
              <a:t>table.length</a:t>
            </a:r>
            <a:r>
              <a:rPr lang="en-US" altLang="en-US" sz="1800" dirty="0">
                <a:solidFill>
                  <a:schemeClr val="bg1"/>
                </a:solidFill>
                <a:latin typeface="Lucida Console" panose="020B0609040504020204" pitchFamily="49" charset="0"/>
              </a:rPr>
              <a:t>;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bg1"/>
                </a:solidFill>
                <a:latin typeface="Lucida Console" panose="020B0609040504020204" pitchFamily="49" charset="0"/>
              </a:rPr>
              <a:t>    }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endParaRPr lang="en-US" altLang="en-US" sz="1800" dirty="0">
              <a:solidFill>
                <a:srgbClr val="0000FF"/>
              </a:solidFill>
              <a:latin typeface="Lucida Console" panose="020B0609040504020204" pitchFamily="49" charset="0"/>
            </a:endParaRP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return </a:t>
            </a:r>
            <a:r>
              <a:rPr lang="en-US" altLang="en-US" sz="1800" b="1" dirty="0" err="1">
                <a:solidFill>
                  <a:srgbClr val="0000FF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;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}</a:t>
            </a:r>
            <a:endParaRPr lang="en-US" altLang="en-US" sz="1800" dirty="0">
              <a:latin typeface="Lucida Console" panose="020B0609040504020204" pitchFamily="49" charset="0"/>
            </a:endParaRPr>
          </a:p>
        </p:txBody>
      </p:sp>
      <p:sp>
        <p:nvSpPr>
          <p:cNvPr id="2" name="Cloud Callout 1"/>
          <p:cNvSpPr/>
          <p:nvPr/>
        </p:nvSpPr>
        <p:spPr bwMode="auto">
          <a:xfrm>
            <a:off x="3732911" y="2720713"/>
            <a:ext cx="4847670" cy="1416574"/>
          </a:xfrm>
          <a:prstGeom prst="cloudCallout">
            <a:avLst>
              <a:gd name="adj1" fmla="val -53256"/>
              <a:gd name="adj2" fmla="val -109904"/>
            </a:avLst>
          </a:prstGeom>
          <a:solidFill>
            <a:schemeClr val="bg1">
              <a:lumMod val="85000"/>
            </a:schemeClr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2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</a:rPr>
              <a:t>Method begins b</a:t>
            </a:r>
            <a:r>
              <a:rPr lang="en-US" sz="2200" dirty="0">
                <a:solidFill>
                  <a:srgbClr val="0000FF"/>
                </a:solidFill>
              </a:rPr>
              <a:t>y computing the first </a:t>
            </a:r>
            <a:r>
              <a:rPr lang="en-US" sz="2200" i="1" dirty="0" err="1">
                <a:solidFill>
                  <a:srgbClr val="0000FF"/>
                </a:solidFill>
              </a:rPr>
              <a:t>hashcode</a:t>
            </a:r>
            <a:r>
              <a:rPr lang="en-US" sz="2200" dirty="0">
                <a:solidFill>
                  <a:srgbClr val="0000FF"/>
                </a:solidFill>
              </a:rPr>
              <a:t>.</a:t>
            </a:r>
            <a:endParaRPr kumimoji="0" lang="en-US" sz="2200" b="0" i="0" u="none" strike="noStrike" cap="none" normalizeH="0" baseline="0" dirty="0">
              <a:ln>
                <a:noFill/>
              </a:ln>
              <a:solidFill>
                <a:srgbClr val="0000FF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089771636"/>
      </p:ext>
    </p:extLst>
  </p:cSld>
  <p:clrMapOvr>
    <a:masterClrMapping/>
  </p:clrMapOvr>
</p:sld>
</file>

<file path=ppt/slides/slide25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>
          <a:xfrm>
            <a:off x="258763" y="128588"/>
            <a:ext cx="8683625" cy="847725"/>
          </a:xfrm>
        </p:spPr>
        <p:txBody>
          <a:bodyPr/>
          <a:lstStyle/>
          <a:p>
            <a:r>
              <a:rPr lang="en-US" altLang="en-US" dirty="0"/>
              <a:t>Probing Using Double Hashing:</a:t>
            </a:r>
            <a:br>
              <a:rPr lang="en-US" altLang="en-US" dirty="0"/>
            </a:br>
            <a:r>
              <a:rPr lang="en-US" altLang="en-US" sz="1800" i="1" dirty="0"/>
              <a:t>instance</a:t>
            </a:r>
            <a:r>
              <a:rPr lang="en-US" altLang="en-US" sz="1800" dirty="0"/>
              <a:t> </a:t>
            </a:r>
            <a:r>
              <a:rPr lang="en-US" altLang="en-US" sz="1800" i="1" dirty="0"/>
              <a:t>method of </a:t>
            </a:r>
            <a:r>
              <a:rPr lang="en-US" altLang="en-US" sz="1800" i="1" dirty="0" err="1"/>
              <a:t>OpenHashTable</a:t>
            </a:r>
            <a:endParaRPr lang="en-US" altLang="en-US" sz="1800" i="1" dirty="0"/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65188"/>
            <a:ext cx="8623300" cy="5614987"/>
          </a:xfrm>
        </p:spPr>
        <p:txBody>
          <a:bodyPr/>
          <a:lstStyle/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rgbClr val="0000FF"/>
                </a:solidFill>
                <a:latin typeface="Lucida Console" panose="020B0609040504020204" pitchFamily="49" charset="0"/>
              </a:rPr>
              <a:t>private </a:t>
            </a:r>
            <a:r>
              <a:rPr lang="en-US" altLang="en-US" sz="1800" dirty="0" err="1">
                <a:solidFill>
                  <a:srgbClr val="0000FF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sz="1800" dirty="0">
                <a:solidFill>
                  <a:srgbClr val="0000FF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probe</a:t>
            </a:r>
            <a:r>
              <a:rPr lang="en-US" altLang="en-US" sz="1800" dirty="0">
                <a:solidFill>
                  <a:srgbClr val="0000FF"/>
                </a:solidFill>
                <a:latin typeface="Lucida Console" panose="020B0609040504020204" pitchFamily="49" charset="0"/>
              </a:rPr>
              <a:t>(Object </a:t>
            </a:r>
            <a:r>
              <a:rPr lang="en-US" altLang="en-US" sz="1800" dirty="0">
                <a:solidFill>
                  <a:srgbClr val="FF0000"/>
                </a:solidFill>
                <a:latin typeface="Lucida Console" panose="020B0609040504020204" pitchFamily="49" charset="0"/>
              </a:rPr>
              <a:t>key</a:t>
            </a:r>
            <a:r>
              <a:rPr lang="en-US" altLang="en-US" sz="1800" dirty="0">
                <a:solidFill>
                  <a:srgbClr val="0000FF"/>
                </a:solidFill>
                <a:latin typeface="Lucida Console" panose="020B0609040504020204" pitchFamily="49" charset="0"/>
              </a:rPr>
              <a:t>)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{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= h1(key);    // first hash function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h2 = h2(key);   // second hash function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endParaRPr lang="en-US" altLang="en-US" sz="18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i="1" dirty="0">
                <a:solidFill>
                  <a:srgbClr val="0000FF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1800" b="1" i="1" dirty="0">
                <a:solidFill>
                  <a:srgbClr val="0000FF"/>
                </a:solidFill>
                <a:latin typeface="Lucida Console" panose="020B0609040504020204" pitchFamily="49" charset="0"/>
              </a:rPr>
              <a:t>// keep probing until we get an empty position or match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b="1" i="1" dirty="0">
                <a:solidFill>
                  <a:srgbClr val="0000FF"/>
                </a:solidFill>
                <a:latin typeface="Lucida Console" panose="020B0609040504020204" pitchFamily="49" charset="0"/>
              </a:rPr>
              <a:t>    // (write this together)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endParaRPr lang="en-US" altLang="en-US" sz="1800" b="1" i="1" dirty="0">
              <a:solidFill>
                <a:srgbClr val="0000FF"/>
              </a:solidFill>
              <a:latin typeface="Lucida Console" panose="020B0609040504020204" pitchFamily="49" charset="0"/>
            </a:endParaRP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rgbClr val="0000FF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1800" dirty="0">
                <a:solidFill>
                  <a:schemeClr val="bg1"/>
                </a:solidFill>
                <a:latin typeface="Lucida Console" panose="020B0609040504020204" pitchFamily="49" charset="0"/>
              </a:rPr>
              <a:t>while (table[</a:t>
            </a:r>
            <a:r>
              <a:rPr lang="en-US" altLang="en-US" sz="1800" dirty="0" err="1">
                <a:solidFill>
                  <a:schemeClr val="bg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bg1"/>
                </a:solidFill>
                <a:latin typeface="Lucida Console" panose="020B0609040504020204" pitchFamily="49" charset="0"/>
              </a:rPr>
              <a:t>] != null &amp;&amp; !</a:t>
            </a:r>
            <a:r>
              <a:rPr lang="en-US" altLang="en-US" sz="1800" dirty="0" err="1">
                <a:solidFill>
                  <a:schemeClr val="bg1"/>
                </a:solidFill>
                <a:latin typeface="Lucida Console" panose="020B0609040504020204" pitchFamily="49" charset="0"/>
              </a:rPr>
              <a:t>key.equals</a:t>
            </a:r>
            <a:r>
              <a:rPr lang="en-US" altLang="en-US" sz="1800" dirty="0">
                <a:solidFill>
                  <a:schemeClr val="bg1"/>
                </a:solidFill>
                <a:latin typeface="Lucida Console" panose="020B0609040504020204" pitchFamily="49" charset="0"/>
              </a:rPr>
              <a:t>(table[</a:t>
            </a:r>
            <a:r>
              <a:rPr lang="en-US" altLang="en-US" sz="1800" dirty="0" err="1">
                <a:solidFill>
                  <a:schemeClr val="bg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bg1"/>
                </a:solidFill>
                <a:latin typeface="Lucida Console" panose="020B0609040504020204" pitchFamily="49" charset="0"/>
              </a:rPr>
              <a:t>].key)) {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bg1"/>
                </a:solidFill>
                <a:latin typeface="Lucida Console" panose="020B0609040504020204" pitchFamily="49" charset="0"/>
              </a:rPr>
              <a:t>        </a:t>
            </a:r>
            <a:r>
              <a:rPr lang="en-US" altLang="en-US" sz="1800" dirty="0" err="1">
                <a:solidFill>
                  <a:schemeClr val="bg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bg1"/>
                </a:solidFill>
                <a:latin typeface="Lucida Console" panose="020B0609040504020204" pitchFamily="49" charset="0"/>
              </a:rPr>
              <a:t> = (</a:t>
            </a:r>
            <a:r>
              <a:rPr lang="en-US" altLang="en-US" sz="1800" dirty="0" err="1">
                <a:solidFill>
                  <a:schemeClr val="bg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bg1"/>
                </a:solidFill>
                <a:latin typeface="Lucida Console" panose="020B0609040504020204" pitchFamily="49" charset="0"/>
              </a:rPr>
              <a:t> + h2) % </a:t>
            </a:r>
            <a:r>
              <a:rPr lang="en-US" altLang="en-US" sz="1800" dirty="0" err="1">
                <a:solidFill>
                  <a:schemeClr val="bg1"/>
                </a:solidFill>
                <a:latin typeface="Lucida Console" panose="020B0609040504020204" pitchFamily="49" charset="0"/>
              </a:rPr>
              <a:t>table.length</a:t>
            </a:r>
            <a:r>
              <a:rPr lang="en-US" altLang="en-US" sz="1800" dirty="0">
                <a:solidFill>
                  <a:schemeClr val="bg1"/>
                </a:solidFill>
                <a:latin typeface="Lucida Console" panose="020B0609040504020204" pitchFamily="49" charset="0"/>
              </a:rPr>
              <a:t>;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bg1"/>
                </a:solidFill>
                <a:latin typeface="Lucida Console" panose="020B0609040504020204" pitchFamily="49" charset="0"/>
              </a:rPr>
              <a:t>    }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endParaRPr lang="en-US" altLang="en-US" sz="1800" dirty="0">
              <a:solidFill>
                <a:srgbClr val="0000FF"/>
              </a:solidFill>
              <a:latin typeface="Lucida Console" panose="020B0609040504020204" pitchFamily="49" charset="0"/>
            </a:endParaRP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return </a:t>
            </a:r>
            <a:r>
              <a:rPr lang="en-US" altLang="en-US" sz="1800" b="1" dirty="0" err="1">
                <a:solidFill>
                  <a:srgbClr val="0000FF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;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}</a:t>
            </a:r>
            <a:endParaRPr lang="en-US" altLang="en-US" sz="18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8196087"/>
      </p:ext>
    </p:extLst>
  </p:cSld>
  <p:clrMapOvr>
    <a:masterClrMapping/>
  </p:clrMapOvr>
</p:sld>
</file>

<file path=ppt/slides/slide25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>
          <a:xfrm>
            <a:off x="258763" y="128588"/>
            <a:ext cx="8683625" cy="847725"/>
          </a:xfrm>
        </p:spPr>
        <p:txBody>
          <a:bodyPr/>
          <a:lstStyle/>
          <a:p>
            <a:r>
              <a:rPr lang="en-US" altLang="en-US" dirty="0"/>
              <a:t>Probing Using Double Hashing:</a:t>
            </a:r>
            <a:br>
              <a:rPr lang="en-US" altLang="en-US" dirty="0"/>
            </a:br>
            <a:r>
              <a:rPr lang="en-US" altLang="en-US" sz="1800" i="1" dirty="0"/>
              <a:t>instance</a:t>
            </a:r>
            <a:r>
              <a:rPr lang="en-US" altLang="en-US" sz="1800" dirty="0"/>
              <a:t> </a:t>
            </a:r>
            <a:r>
              <a:rPr lang="en-US" altLang="en-US" sz="1800" i="1" dirty="0"/>
              <a:t>method of </a:t>
            </a:r>
            <a:r>
              <a:rPr lang="en-US" altLang="en-US" sz="1800" i="1" dirty="0" err="1"/>
              <a:t>OpenHashTable</a:t>
            </a:r>
            <a:endParaRPr lang="en-US" altLang="en-US" sz="1800" i="1" dirty="0"/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65188"/>
            <a:ext cx="8623300" cy="5614987"/>
          </a:xfrm>
        </p:spPr>
        <p:txBody>
          <a:bodyPr/>
          <a:lstStyle/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rgbClr val="0000FF"/>
                </a:solidFill>
                <a:latin typeface="Lucida Console" panose="020B0609040504020204" pitchFamily="49" charset="0"/>
              </a:rPr>
              <a:t>private </a:t>
            </a:r>
            <a:r>
              <a:rPr lang="en-US" altLang="en-US" sz="1800" dirty="0" err="1">
                <a:solidFill>
                  <a:srgbClr val="0000FF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sz="1800" dirty="0">
                <a:solidFill>
                  <a:srgbClr val="0000FF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probe</a:t>
            </a:r>
            <a:r>
              <a:rPr lang="en-US" altLang="en-US" sz="1800" dirty="0">
                <a:solidFill>
                  <a:srgbClr val="0000FF"/>
                </a:solidFill>
                <a:latin typeface="Lucida Console" panose="020B0609040504020204" pitchFamily="49" charset="0"/>
              </a:rPr>
              <a:t>(Object </a:t>
            </a:r>
            <a:r>
              <a:rPr lang="en-US" altLang="en-US" sz="1800" dirty="0">
                <a:solidFill>
                  <a:srgbClr val="FF0000"/>
                </a:solidFill>
                <a:latin typeface="Lucida Console" panose="020B0609040504020204" pitchFamily="49" charset="0"/>
              </a:rPr>
              <a:t>key</a:t>
            </a:r>
            <a:r>
              <a:rPr lang="en-US" altLang="en-US" sz="1800" dirty="0">
                <a:solidFill>
                  <a:srgbClr val="0000FF"/>
                </a:solidFill>
                <a:latin typeface="Lucida Console" panose="020B0609040504020204" pitchFamily="49" charset="0"/>
              </a:rPr>
              <a:t>)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{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= h1(key);    // first hash function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h2 = h2(key);   // second hash function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endParaRPr lang="en-US" altLang="en-US" sz="18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i="1" dirty="0">
                <a:solidFill>
                  <a:srgbClr val="0000FF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1800" b="1" i="1" dirty="0">
                <a:solidFill>
                  <a:srgbClr val="0000FF"/>
                </a:solidFill>
                <a:latin typeface="Lucida Console" panose="020B0609040504020204" pitchFamily="49" charset="0"/>
              </a:rPr>
              <a:t>// keep probing until we get an empty position or match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b="1" i="1" dirty="0">
                <a:solidFill>
                  <a:srgbClr val="0000FF"/>
                </a:solidFill>
                <a:latin typeface="Lucida Console" panose="020B0609040504020204" pitchFamily="49" charset="0"/>
              </a:rPr>
              <a:t>    // (write this together)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endParaRPr lang="en-US" altLang="en-US" sz="1800" b="1" i="1" dirty="0">
              <a:solidFill>
                <a:srgbClr val="0000FF"/>
              </a:solidFill>
              <a:latin typeface="Lucida Console" panose="020B0609040504020204" pitchFamily="49" charset="0"/>
            </a:endParaRP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rgbClr val="0000FF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1800" dirty="0">
                <a:solidFill>
                  <a:schemeClr val="bg1"/>
                </a:solidFill>
                <a:latin typeface="Lucida Console" panose="020B0609040504020204" pitchFamily="49" charset="0"/>
              </a:rPr>
              <a:t>while (table[</a:t>
            </a:r>
            <a:r>
              <a:rPr lang="en-US" altLang="en-US" sz="1800" dirty="0" err="1">
                <a:solidFill>
                  <a:schemeClr val="bg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bg1"/>
                </a:solidFill>
                <a:latin typeface="Lucida Console" panose="020B0609040504020204" pitchFamily="49" charset="0"/>
              </a:rPr>
              <a:t>] != null &amp;&amp; !</a:t>
            </a:r>
            <a:r>
              <a:rPr lang="en-US" altLang="en-US" sz="1800" dirty="0" err="1">
                <a:solidFill>
                  <a:schemeClr val="bg1"/>
                </a:solidFill>
                <a:latin typeface="Lucida Console" panose="020B0609040504020204" pitchFamily="49" charset="0"/>
              </a:rPr>
              <a:t>key.equals</a:t>
            </a:r>
            <a:r>
              <a:rPr lang="en-US" altLang="en-US" sz="1800" dirty="0">
                <a:solidFill>
                  <a:schemeClr val="bg1"/>
                </a:solidFill>
                <a:latin typeface="Lucida Console" panose="020B0609040504020204" pitchFamily="49" charset="0"/>
              </a:rPr>
              <a:t>(table[</a:t>
            </a:r>
            <a:r>
              <a:rPr lang="en-US" altLang="en-US" sz="1800" dirty="0" err="1">
                <a:solidFill>
                  <a:schemeClr val="bg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bg1"/>
                </a:solidFill>
                <a:latin typeface="Lucida Console" panose="020B0609040504020204" pitchFamily="49" charset="0"/>
              </a:rPr>
              <a:t>].key)) {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bg1"/>
                </a:solidFill>
                <a:latin typeface="Lucida Console" panose="020B0609040504020204" pitchFamily="49" charset="0"/>
              </a:rPr>
              <a:t>        </a:t>
            </a:r>
            <a:r>
              <a:rPr lang="en-US" altLang="en-US" sz="1800" dirty="0" err="1">
                <a:solidFill>
                  <a:schemeClr val="bg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bg1"/>
                </a:solidFill>
                <a:latin typeface="Lucida Console" panose="020B0609040504020204" pitchFamily="49" charset="0"/>
              </a:rPr>
              <a:t> = (</a:t>
            </a:r>
            <a:r>
              <a:rPr lang="en-US" altLang="en-US" sz="1800" dirty="0" err="1">
                <a:solidFill>
                  <a:schemeClr val="bg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bg1"/>
                </a:solidFill>
                <a:latin typeface="Lucida Console" panose="020B0609040504020204" pitchFamily="49" charset="0"/>
              </a:rPr>
              <a:t> + h2) % </a:t>
            </a:r>
            <a:r>
              <a:rPr lang="en-US" altLang="en-US" sz="1800" dirty="0" err="1">
                <a:solidFill>
                  <a:schemeClr val="bg1"/>
                </a:solidFill>
                <a:latin typeface="Lucida Console" panose="020B0609040504020204" pitchFamily="49" charset="0"/>
              </a:rPr>
              <a:t>table.length</a:t>
            </a:r>
            <a:r>
              <a:rPr lang="en-US" altLang="en-US" sz="1800" dirty="0">
                <a:solidFill>
                  <a:schemeClr val="bg1"/>
                </a:solidFill>
                <a:latin typeface="Lucida Console" panose="020B0609040504020204" pitchFamily="49" charset="0"/>
              </a:rPr>
              <a:t>;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bg1"/>
                </a:solidFill>
                <a:latin typeface="Lucida Console" panose="020B0609040504020204" pitchFamily="49" charset="0"/>
              </a:rPr>
              <a:t>    }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endParaRPr lang="en-US" altLang="en-US" sz="1800" dirty="0">
              <a:solidFill>
                <a:srgbClr val="0000FF"/>
              </a:solidFill>
              <a:latin typeface="Lucida Console" panose="020B0609040504020204" pitchFamily="49" charset="0"/>
            </a:endParaRP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return </a:t>
            </a:r>
            <a:r>
              <a:rPr lang="en-US" altLang="en-US" sz="1800" b="1" dirty="0" err="1">
                <a:solidFill>
                  <a:srgbClr val="0000FF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;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}</a:t>
            </a:r>
            <a:endParaRPr lang="en-US" altLang="en-US" sz="1800" dirty="0">
              <a:latin typeface="Lucida Console" panose="020B0609040504020204" pitchFamily="49" charset="0"/>
            </a:endParaRPr>
          </a:p>
        </p:txBody>
      </p:sp>
      <p:sp>
        <p:nvSpPr>
          <p:cNvPr id="2" name="Cloud Callout 1"/>
          <p:cNvSpPr/>
          <p:nvPr/>
        </p:nvSpPr>
        <p:spPr bwMode="auto">
          <a:xfrm>
            <a:off x="2532184" y="4346917"/>
            <a:ext cx="3842489" cy="1322363"/>
          </a:xfrm>
          <a:prstGeom prst="cloudCallout">
            <a:avLst>
              <a:gd name="adj1" fmla="val -59568"/>
              <a:gd name="adj2" fmla="val -50477"/>
            </a:avLst>
          </a:prstGeom>
          <a:solidFill>
            <a:schemeClr val="bg1">
              <a:lumMod val="85000"/>
            </a:schemeClr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200" dirty="0">
                <a:solidFill>
                  <a:srgbClr val="0000FF"/>
                </a:solidFill>
              </a:rPr>
              <a:t>w</a:t>
            </a:r>
            <a:r>
              <a:rPr kumimoji="0" lang="en-US" sz="22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</a:rPr>
              <a:t>here</a:t>
            </a:r>
            <a:r>
              <a:rPr kumimoji="0" lang="en-US" sz="22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Lucida Console" panose="020B0609040504020204" pitchFamily="49" charset="0"/>
              </a:rPr>
              <a:t> </a:t>
            </a:r>
            <a:r>
              <a:rPr lang="en-US" sz="2200" dirty="0" err="1">
                <a:solidFill>
                  <a:srgbClr val="0000FF"/>
                </a:solidFill>
                <a:latin typeface="Lucida Console" panose="020B0609040504020204" pitchFamily="49" charset="0"/>
              </a:rPr>
              <a:t>i</a:t>
            </a:r>
            <a:r>
              <a:rPr lang="en-US" sz="2200" dirty="0">
                <a:solidFill>
                  <a:srgbClr val="0000FF"/>
                </a:solidFill>
                <a:latin typeface="Lucida Console" panose="020B0609040504020204" pitchFamily="49" charset="0"/>
              </a:rPr>
              <a:t> </a:t>
            </a:r>
            <a:r>
              <a:rPr kumimoji="0" lang="en-US" sz="22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</a:rPr>
              <a:t>is the </a:t>
            </a:r>
            <a:r>
              <a:rPr kumimoji="0" lang="en-US" sz="2200" b="0" i="1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</a:rPr>
              <a:t>index</a:t>
            </a:r>
            <a:r>
              <a:rPr kumimoji="0" lang="en-US" sz="22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</a:rPr>
              <a:t> into</a:t>
            </a:r>
            <a:r>
              <a:rPr kumimoji="0" lang="en-US" sz="2200" b="0" i="0" u="none" strike="noStrike" cap="none" normalizeH="0" dirty="0">
                <a:ln>
                  <a:noFill/>
                </a:ln>
                <a:solidFill>
                  <a:srgbClr val="0000FF"/>
                </a:solidFill>
                <a:effectLst/>
              </a:rPr>
              <a:t> the hash table!</a:t>
            </a:r>
            <a:endParaRPr kumimoji="0" lang="en-US" sz="2200" b="0" i="0" u="none" strike="noStrike" cap="none" normalizeH="0" baseline="0" dirty="0">
              <a:ln>
                <a:noFill/>
              </a:ln>
              <a:solidFill>
                <a:srgbClr val="0000FF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063115508"/>
      </p:ext>
    </p:extLst>
  </p:cSld>
  <p:clrMapOvr>
    <a:masterClrMapping/>
  </p:clrMapOvr>
</p:sld>
</file>

<file path=ppt/slides/slide25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258763" y="128588"/>
            <a:ext cx="8683625" cy="847725"/>
          </a:xfrm>
        </p:spPr>
        <p:txBody>
          <a:bodyPr/>
          <a:lstStyle/>
          <a:p>
            <a:r>
              <a:rPr lang="en-US" altLang="en-US" dirty="0"/>
              <a:t>Probing Using Double Hashing:</a:t>
            </a:r>
            <a:br>
              <a:rPr lang="en-US" altLang="en-US" dirty="0"/>
            </a:br>
            <a:r>
              <a:rPr lang="en-US" altLang="en-US" sz="1800" i="1" dirty="0"/>
              <a:t>instance method of </a:t>
            </a:r>
            <a:r>
              <a:rPr lang="en-US" altLang="en-US" sz="1800" i="1" dirty="0" err="1"/>
              <a:t>OpenHashTable</a:t>
            </a:r>
            <a:endParaRPr lang="en-US" altLang="en-US" sz="1800" i="1" dirty="0"/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65188"/>
            <a:ext cx="8623300" cy="5614987"/>
          </a:xfrm>
        </p:spPr>
        <p:txBody>
          <a:bodyPr/>
          <a:lstStyle/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private </a:t>
            </a:r>
            <a:r>
              <a:rPr lang="en-US" altLang="en-US" sz="1800" b="1" dirty="0" err="1">
                <a:solidFill>
                  <a:srgbClr val="0000FF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 probe(Object key)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{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= h1(key);    // first hash function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h2 = h2(key);   // second hash function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endParaRPr lang="en-US" altLang="en-US" sz="18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i="1" dirty="0">
                <a:solidFill>
                  <a:srgbClr val="0000FF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1800" i="1" dirty="0">
                <a:solidFill>
                  <a:schemeClr val="tx1"/>
                </a:solidFill>
                <a:latin typeface="Lucida Console" panose="020B0609040504020204" pitchFamily="49" charset="0"/>
              </a:rPr>
              <a:t>// keep probing until we get an </a:t>
            </a:r>
            <a:r>
              <a:rPr lang="en-US" altLang="en-US" sz="1800" i="1" dirty="0">
                <a:solidFill>
                  <a:srgbClr val="0000FF"/>
                </a:solidFill>
                <a:latin typeface="Lucida Console" panose="020B0609040504020204" pitchFamily="49" charset="0"/>
              </a:rPr>
              <a:t>empty</a:t>
            </a:r>
            <a:r>
              <a:rPr lang="en-US" altLang="en-US" sz="1800" i="1" dirty="0">
                <a:solidFill>
                  <a:schemeClr val="tx1"/>
                </a:solidFill>
                <a:latin typeface="Lucida Console" panose="020B0609040504020204" pitchFamily="49" charset="0"/>
              </a:rPr>
              <a:t> position or </a:t>
            </a:r>
            <a:r>
              <a:rPr lang="en-US" altLang="en-US" sz="1800" i="1" dirty="0">
                <a:solidFill>
                  <a:srgbClr val="0000FF"/>
                </a:solidFill>
                <a:latin typeface="Lucida Console" panose="020B0609040504020204" pitchFamily="49" charset="0"/>
              </a:rPr>
              <a:t>match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while (</a:t>
            </a:r>
            <a:r>
              <a:rPr lang="en-US" altLang="en-US" sz="1800" b="1" dirty="0">
                <a:solidFill>
                  <a:schemeClr val="tx1"/>
                </a:solidFill>
                <a:latin typeface="Lucida Console" panose="020B0609040504020204" pitchFamily="49" charset="0"/>
              </a:rPr>
              <a:t>entry is not empty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1800" i="1" dirty="0">
                <a:solidFill>
                  <a:schemeClr val="tx1"/>
                </a:solidFill>
                <a:latin typeface="Lucida Console" panose="020B0609040504020204" pitchFamily="49" charset="0"/>
              </a:rPr>
              <a:t>and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    </a:t>
            </a:r>
            <a:r>
              <a:rPr lang="en-US" altLang="en-US" sz="1800" b="1" dirty="0">
                <a:solidFill>
                  <a:schemeClr val="tx1"/>
                </a:solidFill>
                <a:latin typeface="Lucida Console" panose="020B0609040504020204" pitchFamily="49" charset="0"/>
              </a:rPr>
              <a:t>search key does not equal entry key 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)) {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 </a:t>
            </a:r>
            <a:r>
              <a:rPr lang="en-US" altLang="en-US" sz="1800" i="1" dirty="0">
                <a:solidFill>
                  <a:schemeClr val="tx1"/>
                </a:solidFill>
                <a:latin typeface="Lucida Console" panose="020B0609040504020204" pitchFamily="49" charset="0"/>
              </a:rPr>
              <a:t>probe to find the next open position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}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endParaRPr lang="en-US" altLang="en-US" sz="1800" dirty="0">
              <a:solidFill>
                <a:srgbClr val="0000FF"/>
              </a:solidFill>
              <a:latin typeface="Lucida Console" panose="020B0609040504020204" pitchFamily="49" charset="0"/>
            </a:endParaRP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endParaRPr lang="en-US" altLang="en-US" sz="1800" dirty="0">
              <a:solidFill>
                <a:srgbClr val="0000FF"/>
              </a:solidFill>
              <a:latin typeface="Lucida Console" panose="020B0609040504020204" pitchFamily="49" charset="0"/>
            </a:endParaRP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return </a:t>
            </a:r>
            <a:r>
              <a:rPr lang="en-US" altLang="en-US" sz="1800" b="1" dirty="0" err="1">
                <a:solidFill>
                  <a:srgbClr val="0000FF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;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}</a:t>
            </a:r>
            <a:endParaRPr lang="en-US" altLang="en-US" sz="1800" dirty="0">
              <a:latin typeface="Lucida Console" panose="020B0609040504020204" pitchFamily="49" charset="0"/>
            </a:endParaRPr>
          </a:p>
          <a:p>
            <a:pPr marL="457200" lvl="1" indent="0">
              <a:spcBef>
                <a:spcPts val="2400"/>
              </a:spcBef>
              <a:buNone/>
              <a:tabLst>
                <a:tab pos="344488" algn="l"/>
                <a:tab pos="569913" algn="l"/>
                <a:tab pos="688975" algn="l"/>
              </a:tabLst>
            </a:pPr>
            <a:endParaRPr lang="en-US" altLang="en-US" sz="1800" dirty="0">
              <a:solidFill>
                <a:schemeClr val="tx1"/>
              </a:solidFill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1632047"/>
      </p:ext>
    </p:extLst>
  </p:cSld>
  <p:clrMapOvr>
    <a:masterClrMapping/>
  </p:clrMapOvr>
</p:sld>
</file>

<file path=ppt/slides/slide25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258763" y="128588"/>
            <a:ext cx="8683625" cy="847725"/>
          </a:xfrm>
        </p:spPr>
        <p:txBody>
          <a:bodyPr/>
          <a:lstStyle/>
          <a:p>
            <a:r>
              <a:rPr lang="en-US" altLang="en-US"/>
              <a:t>Probing Using Double Hashing</a:t>
            </a:r>
            <a:endParaRPr lang="en-US" altLang="en-US" sz="1600"/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65188"/>
            <a:ext cx="8623300" cy="5614987"/>
          </a:xfrm>
        </p:spPr>
        <p:txBody>
          <a:bodyPr/>
          <a:lstStyle/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private </a:t>
            </a:r>
            <a:r>
              <a:rPr lang="en-US" altLang="en-US" sz="1800" b="1" dirty="0" err="1">
                <a:solidFill>
                  <a:srgbClr val="0000FF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 probe(Object key)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{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= h1(key);    // first hash function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h2 = h2(key);   // second hash function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endParaRPr lang="en-US" altLang="en-US" sz="18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i="1" dirty="0">
                <a:solidFill>
                  <a:srgbClr val="0000FF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1800" i="1" dirty="0">
                <a:solidFill>
                  <a:schemeClr val="tx1"/>
                </a:solidFill>
                <a:latin typeface="Lucida Console" panose="020B0609040504020204" pitchFamily="49" charset="0"/>
              </a:rPr>
              <a:t>// keep probing until we get an empty position or match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while (</a:t>
            </a:r>
            <a:r>
              <a:rPr lang="en-US" altLang="en-US" sz="1800" b="1" dirty="0">
                <a:solidFill>
                  <a:schemeClr val="tx1"/>
                </a:solidFill>
                <a:latin typeface="Lucida Console" panose="020B0609040504020204" pitchFamily="49" charset="0"/>
              </a:rPr>
              <a:t>entry is not empty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1800" i="1" dirty="0">
                <a:solidFill>
                  <a:schemeClr val="tx1"/>
                </a:solidFill>
                <a:latin typeface="Lucida Console" panose="020B0609040504020204" pitchFamily="49" charset="0"/>
              </a:rPr>
              <a:t>and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    </a:t>
            </a:r>
            <a:r>
              <a:rPr lang="en-US" altLang="en-US" sz="1800" b="1" dirty="0">
                <a:solidFill>
                  <a:schemeClr val="tx1"/>
                </a:solidFill>
                <a:latin typeface="Lucida Console" panose="020B0609040504020204" pitchFamily="49" charset="0"/>
              </a:rPr>
              <a:t>search key does not equal entry key 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)) {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 </a:t>
            </a:r>
            <a:r>
              <a:rPr lang="en-US" altLang="en-US" sz="1800" i="1" dirty="0">
                <a:solidFill>
                  <a:schemeClr val="tx1"/>
                </a:solidFill>
                <a:latin typeface="Lucida Console" panose="020B0609040504020204" pitchFamily="49" charset="0"/>
              </a:rPr>
              <a:t>probe to find the next open position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}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endParaRPr lang="en-US" altLang="en-US" sz="1800" dirty="0">
              <a:solidFill>
                <a:srgbClr val="0000FF"/>
              </a:solidFill>
              <a:latin typeface="Lucida Console" panose="020B0609040504020204" pitchFamily="49" charset="0"/>
            </a:endParaRP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endParaRPr lang="en-US" altLang="en-US" sz="1800" dirty="0">
              <a:solidFill>
                <a:srgbClr val="0000FF"/>
              </a:solidFill>
              <a:latin typeface="Lucida Console" panose="020B0609040504020204" pitchFamily="49" charset="0"/>
            </a:endParaRP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return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;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}</a:t>
            </a:r>
            <a:endParaRPr lang="en-US" altLang="en-US" sz="1800" dirty="0">
              <a:latin typeface="Lucida Console" panose="020B0609040504020204" pitchFamily="49" charset="0"/>
            </a:endParaRPr>
          </a:p>
          <a:p>
            <a:pPr marL="457200" lvl="1" indent="0">
              <a:spcBef>
                <a:spcPts val="2400"/>
              </a:spcBef>
              <a:buNone/>
              <a:tabLst>
                <a:tab pos="344488" algn="l"/>
                <a:tab pos="569913" algn="l"/>
                <a:tab pos="688975" algn="l"/>
              </a:tabLst>
            </a:pPr>
            <a:endParaRPr lang="en-US" altLang="en-US" sz="1800" dirty="0">
              <a:solidFill>
                <a:schemeClr val="tx1"/>
              </a:solidFill>
              <a:latin typeface="Lucida Console" panose="020B0609040504020204" pitchFamily="49" charset="0"/>
            </a:endParaRPr>
          </a:p>
        </p:txBody>
      </p:sp>
      <p:sp>
        <p:nvSpPr>
          <p:cNvPr id="2" name="Cloud Callout 1"/>
          <p:cNvSpPr/>
          <p:nvPr/>
        </p:nvSpPr>
        <p:spPr bwMode="auto">
          <a:xfrm>
            <a:off x="2504049" y="379828"/>
            <a:ext cx="4023360" cy="1519310"/>
          </a:xfrm>
          <a:prstGeom prst="cloudCallout">
            <a:avLst>
              <a:gd name="adj1" fmla="val -44959"/>
              <a:gd name="adj2" fmla="val 68981"/>
            </a:avLst>
          </a:prstGeom>
          <a:solidFill>
            <a:schemeClr val="bg1">
              <a:lumMod val="85000"/>
            </a:schemeClr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200" dirty="0"/>
              <a:t>… w</a:t>
            </a:r>
            <a:r>
              <a:rPr kumimoji="0" lang="en-US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Narrow" pitchFamily="34" charset="0"/>
              </a:rPr>
              <a:t>here entry refers</a:t>
            </a:r>
            <a:r>
              <a:rPr kumimoji="0" lang="en-US" sz="2200" b="0" i="0" u="none" strike="noStrike" cap="none" normalizeH="0" dirty="0">
                <a:ln>
                  <a:noFill/>
                </a:ln>
                <a:solidFill>
                  <a:srgbClr val="000000"/>
                </a:solidFill>
                <a:effectLst/>
                <a:latin typeface="Arial Narrow" pitchFamily="34" charset="0"/>
              </a:rPr>
              <a:t> to an </a:t>
            </a:r>
            <a:r>
              <a:rPr kumimoji="0" lang="en-US" sz="2200" b="0" i="0" u="none" strike="noStrike" cap="none" normalizeH="0" dirty="0">
                <a:ln>
                  <a:noFill/>
                </a:ln>
                <a:solidFill>
                  <a:srgbClr val="0000FF"/>
                </a:solidFill>
                <a:effectLst/>
                <a:latin typeface="Arial Narrow" pitchFamily="34" charset="0"/>
              </a:rPr>
              <a:t>entry</a:t>
            </a:r>
            <a:r>
              <a:rPr kumimoji="0" lang="en-US" sz="2200" b="0" i="0" u="none" strike="noStrike" cap="none" normalizeH="0" dirty="0">
                <a:ln>
                  <a:noFill/>
                </a:ln>
                <a:solidFill>
                  <a:srgbClr val="000000"/>
                </a:solidFill>
                <a:effectLst/>
                <a:latin typeface="Arial Narrow" pitchFamily="34" charset="0"/>
              </a:rPr>
              <a:t> object in the 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200" b="0" i="0" u="none" strike="noStrike" cap="none" normalizeH="0" dirty="0">
                <a:ln>
                  <a:noFill/>
                </a:ln>
                <a:solidFill>
                  <a:srgbClr val="000000"/>
                </a:solidFill>
                <a:effectLst/>
                <a:latin typeface="Arial Narrow" pitchFamily="34" charset="0"/>
              </a:rPr>
              <a:t>hash table!</a:t>
            </a:r>
            <a:endParaRPr kumimoji="0" lang="en-US" sz="22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323740"/>
      </p:ext>
    </p:extLst>
  </p:cSld>
  <p:clrMapOvr>
    <a:masterClrMapping/>
  </p:clrMapOvr>
</p:sld>
</file>

<file path=ppt/slides/slide26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258763" y="128588"/>
            <a:ext cx="8683625" cy="847725"/>
          </a:xfrm>
        </p:spPr>
        <p:txBody>
          <a:bodyPr/>
          <a:lstStyle/>
          <a:p>
            <a:r>
              <a:rPr lang="en-US" altLang="en-US"/>
              <a:t>Probing Using Double Hashing</a:t>
            </a:r>
            <a:endParaRPr lang="en-US" altLang="en-US" sz="1600"/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65188"/>
            <a:ext cx="8623300" cy="5614987"/>
          </a:xfrm>
        </p:spPr>
        <p:txBody>
          <a:bodyPr/>
          <a:lstStyle/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private </a:t>
            </a:r>
            <a:r>
              <a:rPr lang="en-US" altLang="en-US" sz="1800" b="1" dirty="0" err="1">
                <a:solidFill>
                  <a:srgbClr val="0000FF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 probe(Object key)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{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= h1(key);    // first hash function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h2 = h2(key);   // second hash function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endParaRPr lang="en-US" altLang="en-US" sz="18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i="1" dirty="0">
                <a:solidFill>
                  <a:srgbClr val="0000FF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1800" i="1" dirty="0">
                <a:solidFill>
                  <a:schemeClr val="tx1"/>
                </a:solidFill>
                <a:latin typeface="Lucida Console" panose="020B0609040504020204" pitchFamily="49" charset="0"/>
              </a:rPr>
              <a:t>// keep probing until we get an empty position or match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while (</a:t>
            </a:r>
            <a:r>
              <a:rPr lang="en-US" altLang="en-US" sz="1800" b="1" dirty="0">
                <a:solidFill>
                  <a:schemeClr val="tx1"/>
                </a:solidFill>
                <a:latin typeface="Lucida Console" panose="020B0609040504020204" pitchFamily="49" charset="0"/>
              </a:rPr>
              <a:t>entry is not empty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1800" i="1" dirty="0">
                <a:solidFill>
                  <a:schemeClr val="tx1"/>
                </a:solidFill>
                <a:latin typeface="Lucida Console" panose="020B0609040504020204" pitchFamily="49" charset="0"/>
              </a:rPr>
              <a:t>and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    </a:t>
            </a:r>
            <a:r>
              <a:rPr lang="en-US" altLang="en-US" sz="1800" b="1" dirty="0">
                <a:solidFill>
                  <a:schemeClr val="tx1"/>
                </a:solidFill>
                <a:latin typeface="Lucida Console" panose="020B0609040504020204" pitchFamily="49" charset="0"/>
              </a:rPr>
              <a:t>search key does not equal entry key 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)) {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rgbClr val="0000FF"/>
                </a:solidFill>
                <a:latin typeface="Lucida Console" panose="020B0609040504020204" pitchFamily="49" charset="0"/>
              </a:rPr>
              <a:t>        </a:t>
            </a:r>
            <a:r>
              <a:rPr lang="en-US" altLang="en-US" sz="1800" i="1" dirty="0">
                <a:solidFill>
                  <a:srgbClr val="0000FF"/>
                </a:solidFill>
                <a:latin typeface="Lucida Console" panose="020B0609040504020204" pitchFamily="49" charset="0"/>
              </a:rPr>
              <a:t>probe to find the next open position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}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endParaRPr lang="en-US" altLang="en-US" sz="1800" dirty="0">
              <a:solidFill>
                <a:srgbClr val="0000FF"/>
              </a:solidFill>
              <a:latin typeface="Lucida Console" panose="020B0609040504020204" pitchFamily="49" charset="0"/>
            </a:endParaRP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endParaRPr lang="en-US" altLang="en-US" sz="1800" dirty="0">
              <a:solidFill>
                <a:srgbClr val="0000FF"/>
              </a:solidFill>
              <a:latin typeface="Lucida Console" panose="020B0609040504020204" pitchFamily="49" charset="0"/>
            </a:endParaRP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return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;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}</a:t>
            </a:r>
            <a:endParaRPr lang="en-US" altLang="en-US" sz="1800" dirty="0">
              <a:latin typeface="Lucida Console" panose="020B0609040504020204" pitchFamily="49" charset="0"/>
            </a:endParaRPr>
          </a:p>
          <a:p>
            <a:pPr marL="457200" lvl="1" indent="0">
              <a:spcBef>
                <a:spcPts val="2400"/>
              </a:spcBef>
              <a:buNone/>
              <a:tabLst>
                <a:tab pos="344488" algn="l"/>
                <a:tab pos="569913" algn="l"/>
                <a:tab pos="688975" algn="l"/>
              </a:tabLst>
            </a:pPr>
            <a:endParaRPr lang="en-US" altLang="en-US" sz="1800" dirty="0">
              <a:solidFill>
                <a:schemeClr val="tx1"/>
              </a:solidFill>
              <a:latin typeface="Lucida Console" panose="020B0609040504020204" pitchFamily="49" charset="0"/>
            </a:endParaRPr>
          </a:p>
        </p:txBody>
      </p:sp>
      <p:sp>
        <p:nvSpPr>
          <p:cNvPr id="2" name="Cloud Callout 1"/>
          <p:cNvSpPr/>
          <p:nvPr/>
        </p:nvSpPr>
        <p:spPr bwMode="auto">
          <a:xfrm>
            <a:off x="2504049" y="379828"/>
            <a:ext cx="4023360" cy="1519310"/>
          </a:xfrm>
          <a:prstGeom prst="cloudCallout">
            <a:avLst>
              <a:gd name="adj1" fmla="val -44959"/>
              <a:gd name="adj2" fmla="val 68981"/>
            </a:avLst>
          </a:prstGeom>
          <a:solidFill>
            <a:schemeClr val="bg1">
              <a:lumMod val="85000"/>
            </a:schemeClr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200" dirty="0"/>
              <a:t>… w</a:t>
            </a:r>
            <a:r>
              <a:rPr kumimoji="0" lang="en-US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Narrow" pitchFamily="34" charset="0"/>
              </a:rPr>
              <a:t>here entry refers</a:t>
            </a:r>
            <a:r>
              <a:rPr kumimoji="0" lang="en-US" sz="2200" b="0" i="0" u="none" strike="noStrike" cap="none" normalizeH="0" dirty="0">
                <a:ln>
                  <a:noFill/>
                </a:ln>
                <a:solidFill>
                  <a:srgbClr val="000000"/>
                </a:solidFill>
                <a:effectLst/>
                <a:latin typeface="Arial Narrow" pitchFamily="34" charset="0"/>
              </a:rPr>
              <a:t> to an </a:t>
            </a:r>
            <a:r>
              <a:rPr kumimoji="0" lang="en-US" sz="2200" b="0" i="0" u="none" strike="noStrike" cap="none" normalizeH="0" dirty="0">
                <a:ln>
                  <a:noFill/>
                </a:ln>
                <a:solidFill>
                  <a:srgbClr val="0000FF"/>
                </a:solidFill>
                <a:effectLst/>
                <a:latin typeface="Arial Narrow" pitchFamily="34" charset="0"/>
              </a:rPr>
              <a:t>entry</a:t>
            </a:r>
            <a:r>
              <a:rPr kumimoji="0" lang="en-US" sz="2200" b="0" i="0" u="none" strike="noStrike" cap="none" normalizeH="0" dirty="0">
                <a:ln>
                  <a:noFill/>
                </a:ln>
                <a:solidFill>
                  <a:srgbClr val="000000"/>
                </a:solidFill>
                <a:effectLst/>
                <a:latin typeface="Arial Narrow" pitchFamily="34" charset="0"/>
              </a:rPr>
              <a:t> object in the 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200" b="0" i="0" u="none" strike="noStrike" cap="none" normalizeH="0" dirty="0">
                <a:ln>
                  <a:noFill/>
                </a:ln>
                <a:solidFill>
                  <a:srgbClr val="000000"/>
                </a:solidFill>
                <a:effectLst/>
                <a:latin typeface="Arial Narrow" pitchFamily="34" charset="0"/>
              </a:rPr>
              <a:t>hash table!</a:t>
            </a:r>
            <a:endParaRPr kumimoji="0" lang="en-US" sz="22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4903574"/>
      </p:ext>
    </p:extLst>
  </p:cSld>
  <p:clrMapOvr>
    <a:masterClrMapping/>
  </p:clrMapOvr>
</p:sld>
</file>

<file path=ppt/slides/slide26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258763" y="128588"/>
            <a:ext cx="8683625" cy="847725"/>
          </a:xfrm>
        </p:spPr>
        <p:txBody>
          <a:bodyPr/>
          <a:lstStyle/>
          <a:p>
            <a:r>
              <a:rPr lang="en-US" altLang="en-US"/>
              <a:t>Probing Using Double Hashing</a:t>
            </a:r>
            <a:endParaRPr lang="en-US" altLang="en-US" sz="1600"/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65188"/>
            <a:ext cx="8623300" cy="5614987"/>
          </a:xfrm>
        </p:spPr>
        <p:txBody>
          <a:bodyPr/>
          <a:lstStyle/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private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probe(Object key) {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= h1(key);    // first hash function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h2 = h2(key);   // second hash function for offset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endParaRPr lang="en-US" altLang="en-US" sz="18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i="1" dirty="0">
                <a:solidFill>
                  <a:srgbClr val="0000FF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1800" b="1" i="1" dirty="0">
                <a:solidFill>
                  <a:srgbClr val="FF0000"/>
                </a:solidFill>
                <a:latin typeface="Lucida Console" panose="020B0609040504020204" pitchFamily="49" charset="0"/>
              </a:rPr>
              <a:t>// keep probing until we get an empty position or match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    while (table[</a:t>
            </a:r>
            <a:r>
              <a:rPr lang="en-US" altLang="en-US" sz="1800" b="1" dirty="0" err="1">
                <a:solidFill>
                  <a:srgbClr val="0000FF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] != null &amp;&amp; !</a:t>
            </a:r>
            <a:r>
              <a:rPr lang="en-US" altLang="en-US" sz="1800" b="1" dirty="0" err="1">
                <a:solidFill>
                  <a:srgbClr val="0000FF"/>
                </a:solidFill>
                <a:latin typeface="Lucida Console" panose="020B0609040504020204" pitchFamily="49" charset="0"/>
              </a:rPr>
              <a:t>key.equals</a:t>
            </a: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(table[</a:t>
            </a:r>
            <a:r>
              <a:rPr lang="en-US" altLang="en-US" sz="1800" b="1" dirty="0" err="1">
                <a:solidFill>
                  <a:srgbClr val="0000FF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].key)) {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= (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+ h2) %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table.length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;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    }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endParaRPr lang="en-US" altLang="en-US" sz="1800" dirty="0">
              <a:solidFill>
                <a:srgbClr val="0000FF"/>
              </a:solidFill>
              <a:latin typeface="Lucida Console" panose="020B0609040504020204" pitchFamily="49" charset="0"/>
            </a:endParaRP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endParaRPr lang="en-US" altLang="en-US" sz="1800" dirty="0">
              <a:solidFill>
                <a:srgbClr val="0000FF"/>
              </a:solidFill>
              <a:latin typeface="Lucida Console" panose="020B0609040504020204" pitchFamily="49" charset="0"/>
            </a:endParaRP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endParaRPr lang="en-US" altLang="en-US" sz="1800" dirty="0">
              <a:solidFill>
                <a:srgbClr val="0000FF"/>
              </a:solidFill>
              <a:latin typeface="Lucida Console" panose="020B0609040504020204" pitchFamily="49" charset="0"/>
            </a:endParaRP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return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;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}</a:t>
            </a:r>
            <a:endParaRPr lang="en-US" altLang="en-US" sz="1800" dirty="0">
              <a:latin typeface="Lucida Console" panose="020B0609040504020204" pitchFamily="49" charset="0"/>
            </a:endParaRPr>
          </a:p>
          <a:p>
            <a:pPr marL="457200" lvl="1" indent="0">
              <a:spcBef>
                <a:spcPts val="2400"/>
              </a:spcBef>
              <a:buNone/>
              <a:tabLst>
                <a:tab pos="344488" algn="l"/>
                <a:tab pos="569913" algn="l"/>
                <a:tab pos="688975" algn="l"/>
              </a:tabLst>
            </a:pPr>
            <a:endParaRPr lang="en-US" altLang="en-US" sz="1800" dirty="0">
              <a:solidFill>
                <a:schemeClr val="tx1"/>
              </a:solidFill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7825435"/>
      </p:ext>
    </p:extLst>
  </p:cSld>
  <p:clrMapOvr>
    <a:masterClrMapping/>
  </p:clrMapOvr>
</p:sld>
</file>

<file path=ppt/slides/slide26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258763" y="128588"/>
            <a:ext cx="8683625" cy="847725"/>
          </a:xfrm>
        </p:spPr>
        <p:txBody>
          <a:bodyPr/>
          <a:lstStyle/>
          <a:p>
            <a:r>
              <a:rPr lang="en-US" altLang="en-US"/>
              <a:t>Probing Using Double Hashing</a:t>
            </a:r>
            <a:endParaRPr lang="en-US" altLang="en-US" sz="1600"/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65188"/>
            <a:ext cx="8623300" cy="5614987"/>
          </a:xfrm>
        </p:spPr>
        <p:txBody>
          <a:bodyPr/>
          <a:lstStyle/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private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probe(Object key) {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= h1(key);    // first hash function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h2 = h2(key);   // second hash function for offset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endParaRPr lang="en-US" altLang="en-US" sz="18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i="1" dirty="0">
                <a:solidFill>
                  <a:srgbClr val="0000FF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1800" i="1" dirty="0">
                <a:solidFill>
                  <a:srgbClr val="FF0000"/>
                </a:solidFill>
                <a:latin typeface="Lucida Console" panose="020B0609040504020204" pitchFamily="49" charset="0"/>
              </a:rPr>
              <a:t>// keep probing until we get an empty position or match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rgbClr val="0000FF"/>
                </a:solidFill>
                <a:latin typeface="Lucida Console" panose="020B0609040504020204" pitchFamily="49" charset="0"/>
              </a:rPr>
              <a:t>    while (</a:t>
            </a:r>
            <a:r>
              <a:rPr lang="en-US" altLang="en-US" sz="1800" b="1" dirty="0">
                <a:solidFill>
                  <a:srgbClr val="CC0099"/>
                </a:solidFill>
                <a:latin typeface="Lucida Console" panose="020B0609040504020204" pitchFamily="49" charset="0"/>
              </a:rPr>
              <a:t>table[</a:t>
            </a:r>
            <a:r>
              <a:rPr lang="en-US" altLang="en-US" sz="1800" b="1" dirty="0" err="1">
                <a:solidFill>
                  <a:srgbClr val="CC0099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b="1" dirty="0">
                <a:solidFill>
                  <a:srgbClr val="CC0099"/>
                </a:solidFill>
                <a:latin typeface="Lucida Console" panose="020B0609040504020204" pitchFamily="49" charset="0"/>
              </a:rPr>
              <a:t>] != null</a:t>
            </a:r>
            <a:r>
              <a:rPr lang="en-US" altLang="en-US" sz="1800" dirty="0">
                <a:solidFill>
                  <a:srgbClr val="0000FF"/>
                </a:solidFill>
                <a:latin typeface="Lucida Console" panose="020B0609040504020204" pitchFamily="49" charset="0"/>
              </a:rPr>
              <a:t> &amp;&amp; !</a:t>
            </a:r>
            <a:r>
              <a:rPr lang="en-US" altLang="en-US" sz="1800" dirty="0" err="1">
                <a:solidFill>
                  <a:srgbClr val="0000FF"/>
                </a:solidFill>
                <a:latin typeface="Lucida Console" panose="020B0609040504020204" pitchFamily="49" charset="0"/>
              </a:rPr>
              <a:t>key.equals</a:t>
            </a:r>
            <a:r>
              <a:rPr lang="en-US" altLang="en-US" sz="1800" dirty="0">
                <a:solidFill>
                  <a:srgbClr val="0000FF"/>
                </a:solidFill>
                <a:latin typeface="Lucida Console" panose="020B0609040504020204" pitchFamily="49" charset="0"/>
              </a:rPr>
              <a:t>(table[</a:t>
            </a:r>
            <a:r>
              <a:rPr lang="en-US" altLang="en-US" sz="1800" dirty="0" err="1">
                <a:solidFill>
                  <a:srgbClr val="0000FF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rgbClr val="0000FF"/>
                </a:solidFill>
                <a:latin typeface="Lucida Console" panose="020B0609040504020204" pitchFamily="49" charset="0"/>
              </a:rPr>
              <a:t>].key)) {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rgbClr val="0000FF"/>
                </a:solidFill>
                <a:latin typeface="Lucida Console" panose="020B0609040504020204" pitchFamily="49" charset="0"/>
              </a:rPr>
              <a:t>       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= (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+ h2) %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table.length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;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rgbClr val="0000FF"/>
                </a:solidFill>
                <a:latin typeface="Lucida Console" panose="020B0609040504020204" pitchFamily="49" charset="0"/>
              </a:rPr>
              <a:t>    }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endParaRPr lang="en-US" altLang="en-US" sz="1800" dirty="0">
              <a:solidFill>
                <a:srgbClr val="0000FF"/>
              </a:solidFill>
              <a:latin typeface="Lucida Console" panose="020B0609040504020204" pitchFamily="49" charset="0"/>
            </a:endParaRP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endParaRPr lang="en-US" altLang="en-US" sz="1800" dirty="0">
              <a:solidFill>
                <a:srgbClr val="0000FF"/>
              </a:solidFill>
              <a:latin typeface="Lucida Console" panose="020B0609040504020204" pitchFamily="49" charset="0"/>
            </a:endParaRP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endParaRPr lang="en-US" altLang="en-US" sz="1800" dirty="0">
              <a:solidFill>
                <a:srgbClr val="0000FF"/>
              </a:solidFill>
              <a:latin typeface="Lucida Console" panose="020B0609040504020204" pitchFamily="49" charset="0"/>
            </a:endParaRP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return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;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}</a:t>
            </a:r>
            <a:endParaRPr lang="en-US" altLang="en-US" sz="1800" dirty="0">
              <a:latin typeface="Lucida Console" panose="020B0609040504020204" pitchFamily="49" charset="0"/>
            </a:endParaRPr>
          </a:p>
          <a:p>
            <a:pPr>
              <a:spcBef>
                <a:spcPts val="1000"/>
              </a:spcBef>
              <a:buFontTx/>
              <a:buChar char="•"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dirty="0"/>
              <a:t>It is essential that we:</a:t>
            </a:r>
          </a:p>
          <a:p>
            <a:pPr lvl="1">
              <a:spcBef>
                <a:spcPts val="500"/>
              </a:spcBef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dirty="0"/>
              <a:t>check for </a:t>
            </a:r>
            <a:r>
              <a:rPr lang="en-US" altLang="en-US" sz="2000" dirty="0">
                <a:latin typeface="Lucida Console" panose="020B0609040504020204" pitchFamily="49" charset="0"/>
              </a:rPr>
              <a:t>table[</a:t>
            </a:r>
            <a:r>
              <a:rPr lang="en-US" altLang="en-US" sz="2000" dirty="0" err="1">
                <a:latin typeface="Lucida Console" panose="020B0609040504020204" pitchFamily="49" charset="0"/>
              </a:rPr>
              <a:t>i</a:t>
            </a:r>
            <a:r>
              <a:rPr lang="en-US" altLang="en-US" sz="2000" dirty="0">
                <a:latin typeface="Lucida Console" panose="020B0609040504020204" pitchFamily="49" charset="0"/>
              </a:rPr>
              <a:t>] != null</a:t>
            </a:r>
            <a:r>
              <a:rPr lang="en-US" altLang="en-US" dirty="0"/>
              <a:t> first. </a:t>
            </a:r>
            <a:r>
              <a:rPr lang="en-US" altLang="en-US" b="1" dirty="0"/>
              <a:t>why?</a:t>
            </a:r>
            <a:br>
              <a:rPr lang="en-US" altLang="en-US" dirty="0"/>
            </a:br>
            <a:br>
              <a:rPr lang="en-US" altLang="en-US" dirty="0">
                <a:solidFill>
                  <a:srgbClr val="0000FF"/>
                </a:solidFill>
              </a:rPr>
            </a:br>
            <a:r>
              <a:rPr lang="en-US" altLang="en-US" dirty="0">
                <a:solidFill>
                  <a:srgbClr val="0000FF"/>
                </a:solidFill>
              </a:rPr>
              <a:t> </a:t>
            </a:r>
            <a:r>
              <a:rPr lang="en-US" altLang="en-US" dirty="0">
                <a:solidFill>
                  <a:schemeClr val="bg1"/>
                </a:solidFill>
              </a:rPr>
              <a:t>from</a:t>
            </a:r>
            <a:r>
              <a:rPr lang="en-US" altLang="en-US" dirty="0">
                <a:solidFill>
                  <a:srgbClr val="0000FF"/>
                </a:solidFill>
              </a:rPr>
              <a:t> </a:t>
            </a:r>
            <a:endParaRPr lang="en-US" altLang="en-US" sz="2000" dirty="0">
              <a:solidFill>
                <a:srgbClr val="0000FF"/>
              </a:solidFill>
              <a:latin typeface="Lucida Console" panose="020B0609040504020204" pitchFamily="49" charset="0"/>
            </a:endParaRPr>
          </a:p>
          <a:p>
            <a:pPr marL="457200" lvl="1" indent="0">
              <a:spcBef>
                <a:spcPts val="500"/>
              </a:spcBef>
              <a:buNone/>
              <a:tabLst>
                <a:tab pos="344488" algn="l"/>
                <a:tab pos="569913" algn="l"/>
                <a:tab pos="688975" algn="l"/>
              </a:tabLst>
            </a:pPr>
            <a:br>
              <a:rPr lang="en-US" altLang="en-US" dirty="0"/>
            </a:br>
            <a:endParaRPr lang="en-US" altLang="en-US" dirty="0">
              <a:solidFill>
                <a:srgbClr val="0000FF"/>
              </a:solidFill>
            </a:endParaRPr>
          </a:p>
          <a:p>
            <a:pPr marL="457200" lvl="1" indent="0">
              <a:spcBef>
                <a:spcPts val="2400"/>
              </a:spcBef>
              <a:buNone/>
              <a:tabLst>
                <a:tab pos="344488" algn="l"/>
                <a:tab pos="569913" algn="l"/>
                <a:tab pos="688975" algn="l"/>
              </a:tabLst>
            </a:pPr>
            <a:endParaRPr lang="en-US" altLang="en-US" sz="1800" dirty="0">
              <a:solidFill>
                <a:schemeClr val="tx1"/>
              </a:solidFill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5355717"/>
      </p:ext>
    </p:extLst>
  </p:cSld>
  <p:clrMapOvr>
    <a:masterClrMapping/>
  </p:clrMapOvr>
</p:sld>
</file>

<file path=ppt/slides/slide26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258763" y="128588"/>
            <a:ext cx="8683625" cy="847725"/>
          </a:xfrm>
        </p:spPr>
        <p:txBody>
          <a:bodyPr/>
          <a:lstStyle/>
          <a:p>
            <a:r>
              <a:rPr lang="en-US" altLang="en-US"/>
              <a:t>Probing Using Double Hashing</a:t>
            </a:r>
            <a:endParaRPr lang="en-US" altLang="en-US" sz="1600"/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65188"/>
            <a:ext cx="8623300" cy="5614987"/>
          </a:xfrm>
        </p:spPr>
        <p:txBody>
          <a:bodyPr/>
          <a:lstStyle/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private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probe(Object key) {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= h1(key);    // first hash function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h2 = h2(key);   // second hash function for offset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endParaRPr lang="en-US" altLang="en-US" sz="18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i="1" dirty="0">
                <a:solidFill>
                  <a:srgbClr val="0000FF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1800" i="1" dirty="0">
                <a:solidFill>
                  <a:srgbClr val="FF0000"/>
                </a:solidFill>
                <a:latin typeface="Lucida Console" panose="020B0609040504020204" pitchFamily="49" charset="0"/>
              </a:rPr>
              <a:t>// keep probing until we get an empty position or match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rgbClr val="0000FF"/>
                </a:solidFill>
                <a:latin typeface="Lucida Console" panose="020B0609040504020204" pitchFamily="49" charset="0"/>
              </a:rPr>
              <a:t>    while (</a:t>
            </a:r>
            <a:r>
              <a:rPr lang="en-US" altLang="en-US" sz="1800" b="1" dirty="0">
                <a:solidFill>
                  <a:srgbClr val="CC0099"/>
                </a:solidFill>
                <a:latin typeface="Lucida Console" panose="020B0609040504020204" pitchFamily="49" charset="0"/>
              </a:rPr>
              <a:t>table[</a:t>
            </a:r>
            <a:r>
              <a:rPr lang="en-US" altLang="en-US" sz="1800" b="1" dirty="0" err="1">
                <a:solidFill>
                  <a:srgbClr val="CC0099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b="1" dirty="0">
                <a:solidFill>
                  <a:srgbClr val="CC0099"/>
                </a:solidFill>
                <a:latin typeface="Lucida Console" panose="020B0609040504020204" pitchFamily="49" charset="0"/>
              </a:rPr>
              <a:t>] != null</a:t>
            </a:r>
            <a:r>
              <a:rPr lang="en-US" altLang="en-US" sz="1800" dirty="0">
                <a:solidFill>
                  <a:srgbClr val="0000FF"/>
                </a:solidFill>
                <a:latin typeface="Lucida Console" panose="020B0609040504020204" pitchFamily="49" charset="0"/>
              </a:rPr>
              <a:t> &amp;&amp; !</a:t>
            </a:r>
            <a:r>
              <a:rPr lang="en-US" altLang="en-US" sz="1800" dirty="0" err="1">
                <a:solidFill>
                  <a:srgbClr val="0000FF"/>
                </a:solidFill>
                <a:latin typeface="Lucida Console" panose="020B0609040504020204" pitchFamily="49" charset="0"/>
              </a:rPr>
              <a:t>key.equals</a:t>
            </a:r>
            <a:r>
              <a:rPr lang="en-US" altLang="en-US" sz="1800" dirty="0">
                <a:solidFill>
                  <a:srgbClr val="0000FF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1800" b="1" dirty="0">
                <a:solidFill>
                  <a:srgbClr val="FF0000"/>
                </a:solidFill>
                <a:latin typeface="Lucida Console" panose="020B0609040504020204" pitchFamily="49" charset="0"/>
              </a:rPr>
              <a:t>table[</a:t>
            </a:r>
            <a:r>
              <a:rPr lang="en-US" altLang="en-US" sz="1800" b="1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b="1" dirty="0">
                <a:solidFill>
                  <a:srgbClr val="FF0000"/>
                </a:solidFill>
                <a:latin typeface="Lucida Console" panose="020B0609040504020204" pitchFamily="49" charset="0"/>
              </a:rPr>
              <a:t>].key</a:t>
            </a:r>
            <a:r>
              <a:rPr lang="en-US" altLang="en-US" sz="1800" dirty="0">
                <a:solidFill>
                  <a:srgbClr val="0000FF"/>
                </a:solidFill>
                <a:latin typeface="Lucida Console" panose="020B0609040504020204" pitchFamily="49" charset="0"/>
              </a:rPr>
              <a:t>)) {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rgbClr val="0000FF"/>
                </a:solidFill>
                <a:latin typeface="Lucida Console" panose="020B0609040504020204" pitchFamily="49" charset="0"/>
              </a:rPr>
              <a:t>        </a:t>
            </a:r>
            <a:r>
              <a:rPr lang="en-US" altLang="en-US" sz="1800" dirty="0" err="1">
                <a:solidFill>
                  <a:srgbClr val="0000FF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rgbClr val="0000FF"/>
                </a:solidFill>
                <a:latin typeface="Lucida Console" panose="020B0609040504020204" pitchFamily="49" charset="0"/>
              </a:rPr>
              <a:t> = (</a:t>
            </a:r>
            <a:r>
              <a:rPr lang="en-US" altLang="en-US" sz="1800" dirty="0" err="1">
                <a:solidFill>
                  <a:srgbClr val="0000FF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rgbClr val="0000FF"/>
                </a:solidFill>
                <a:latin typeface="Lucida Console" panose="020B0609040504020204" pitchFamily="49" charset="0"/>
              </a:rPr>
              <a:t> + h2) % </a:t>
            </a:r>
            <a:r>
              <a:rPr lang="en-US" altLang="en-US" sz="1800" dirty="0" err="1">
                <a:solidFill>
                  <a:srgbClr val="0000FF"/>
                </a:solidFill>
                <a:latin typeface="Lucida Console" panose="020B0609040504020204" pitchFamily="49" charset="0"/>
              </a:rPr>
              <a:t>table.length</a:t>
            </a:r>
            <a:r>
              <a:rPr lang="en-US" altLang="en-US" sz="1800" dirty="0">
                <a:solidFill>
                  <a:srgbClr val="0000FF"/>
                </a:solidFill>
                <a:latin typeface="Lucida Console" panose="020B0609040504020204" pitchFamily="49" charset="0"/>
              </a:rPr>
              <a:t>;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rgbClr val="0000FF"/>
                </a:solidFill>
                <a:latin typeface="Lucida Console" panose="020B0609040504020204" pitchFamily="49" charset="0"/>
              </a:rPr>
              <a:t>    }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endParaRPr lang="en-US" altLang="en-US" sz="1800" dirty="0">
              <a:solidFill>
                <a:srgbClr val="0000FF"/>
              </a:solidFill>
              <a:latin typeface="Lucida Console" panose="020B0609040504020204" pitchFamily="49" charset="0"/>
            </a:endParaRP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endParaRPr lang="en-US" altLang="en-US" sz="1800" dirty="0">
              <a:solidFill>
                <a:srgbClr val="0000FF"/>
              </a:solidFill>
              <a:latin typeface="Lucida Console" panose="020B0609040504020204" pitchFamily="49" charset="0"/>
            </a:endParaRP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endParaRPr lang="en-US" altLang="en-US" sz="1800" dirty="0">
              <a:solidFill>
                <a:srgbClr val="0000FF"/>
              </a:solidFill>
              <a:latin typeface="Lucida Console" panose="020B0609040504020204" pitchFamily="49" charset="0"/>
            </a:endParaRP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return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;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}</a:t>
            </a:r>
            <a:endParaRPr lang="en-US" altLang="en-US" sz="1800" dirty="0">
              <a:latin typeface="Lucida Console" panose="020B0609040504020204" pitchFamily="49" charset="0"/>
            </a:endParaRPr>
          </a:p>
          <a:p>
            <a:pPr>
              <a:spcBef>
                <a:spcPts val="1000"/>
              </a:spcBef>
              <a:buFontTx/>
              <a:buChar char="•"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dirty="0"/>
              <a:t>It is essential that we:</a:t>
            </a:r>
          </a:p>
          <a:p>
            <a:pPr lvl="1">
              <a:spcBef>
                <a:spcPts val="500"/>
              </a:spcBef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dirty="0"/>
              <a:t>check for </a:t>
            </a:r>
            <a:r>
              <a:rPr lang="en-US" altLang="en-US" sz="2000" dirty="0">
                <a:latin typeface="Lucida Console" panose="020B0609040504020204" pitchFamily="49" charset="0"/>
              </a:rPr>
              <a:t>table[</a:t>
            </a:r>
            <a:r>
              <a:rPr lang="en-US" altLang="en-US" sz="2000" dirty="0" err="1">
                <a:latin typeface="Lucida Console" panose="020B0609040504020204" pitchFamily="49" charset="0"/>
              </a:rPr>
              <a:t>i</a:t>
            </a:r>
            <a:r>
              <a:rPr lang="en-US" altLang="en-US" sz="2000" dirty="0">
                <a:latin typeface="Lucida Console" panose="020B0609040504020204" pitchFamily="49" charset="0"/>
              </a:rPr>
              <a:t>] != null</a:t>
            </a:r>
            <a:r>
              <a:rPr lang="en-US" altLang="en-US" dirty="0"/>
              <a:t> first. why?</a:t>
            </a:r>
            <a:br>
              <a:rPr lang="en-US" altLang="en-US" dirty="0"/>
            </a:br>
            <a:r>
              <a:rPr lang="en-US" altLang="en-US" dirty="0">
                <a:solidFill>
                  <a:srgbClr val="0000FF"/>
                </a:solidFill>
              </a:rPr>
              <a:t>if </a:t>
            </a:r>
            <a:r>
              <a:rPr lang="en-US" altLang="en-US" sz="2000" dirty="0">
                <a:solidFill>
                  <a:srgbClr val="0000FF"/>
                </a:solidFill>
                <a:latin typeface="Lucida Console" panose="020B0609040504020204" pitchFamily="49" charset="0"/>
              </a:rPr>
              <a:t>table[</a:t>
            </a:r>
            <a:r>
              <a:rPr lang="en-US" altLang="en-US" sz="2000" dirty="0" err="1">
                <a:solidFill>
                  <a:srgbClr val="0000FF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2000" dirty="0">
                <a:solidFill>
                  <a:srgbClr val="0000FF"/>
                </a:solidFill>
                <a:latin typeface="Lucida Console" panose="020B0609040504020204" pitchFamily="49" charset="0"/>
              </a:rPr>
              <a:t>]</a:t>
            </a:r>
            <a:r>
              <a:rPr lang="en-US" altLang="en-US" dirty="0">
                <a:solidFill>
                  <a:srgbClr val="0000FF"/>
                </a:solidFill>
              </a:rPr>
              <a:t> is </a:t>
            </a:r>
            <a:r>
              <a:rPr lang="en-US" altLang="en-US" sz="2000" dirty="0">
                <a:solidFill>
                  <a:srgbClr val="0000FF"/>
                </a:solidFill>
                <a:latin typeface="Lucida Console" panose="020B0609040504020204" pitchFamily="49" charset="0"/>
              </a:rPr>
              <a:t>null</a:t>
            </a:r>
            <a:r>
              <a:rPr lang="en-US" altLang="en-US" dirty="0">
                <a:solidFill>
                  <a:srgbClr val="0000FF"/>
                </a:solidFill>
              </a:rPr>
              <a:t>, the </a:t>
            </a:r>
            <a:r>
              <a:rPr lang="en-US" altLang="en-US" sz="2000" dirty="0">
                <a:solidFill>
                  <a:srgbClr val="0000FF"/>
                </a:solidFill>
                <a:latin typeface="Lucida Console" panose="020B0609040504020204" pitchFamily="49" charset="0"/>
              </a:rPr>
              <a:t>&amp;&amp;</a:t>
            </a:r>
            <a:r>
              <a:rPr lang="en-US" altLang="en-US" dirty="0">
                <a:solidFill>
                  <a:srgbClr val="0000FF"/>
                </a:solidFill>
              </a:rPr>
              <a:t> operator short-circuits, </a:t>
            </a:r>
            <a:br>
              <a:rPr lang="en-US" altLang="en-US" dirty="0">
                <a:solidFill>
                  <a:srgbClr val="0000FF"/>
                </a:solidFill>
              </a:rPr>
            </a:br>
            <a:r>
              <a:rPr lang="en-US" altLang="en-US" dirty="0">
                <a:solidFill>
                  <a:srgbClr val="0000FF"/>
                </a:solidFill>
              </a:rPr>
              <a:t>which prevents a null pointer exception on </a:t>
            </a:r>
            <a:r>
              <a:rPr lang="en-US" altLang="en-US" sz="2000" dirty="0">
                <a:solidFill>
                  <a:srgbClr val="0000FF"/>
                </a:solidFill>
                <a:latin typeface="Lucida Console" panose="020B0609040504020204" pitchFamily="49" charset="0"/>
              </a:rPr>
              <a:t>table[</a:t>
            </a:r>
            <a:r>
              <a:rPr lang="en-US" altLang="en-US" sz="2000" dirty="0" err="1">
                <a:solidFill>
                  <a:srgbClr val="0000FF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2000" dirty="0">
                <a:solidFill>
                  <a:srgbClr val="0000FF"/>
                </a:solidFill>
                <a:latin typeface="Lucida Console" panose="020B0609040504020204" pitchFamily="49" charset="0"/>
              </a:rPr>
              <a:t>].key</a:t>
            </a:r>
          </a:p>
          <a:p>
            <a:pPr marL="457200" lvl="1" indent="0">
              <a:spcBef>
                <a:spcPts val="500"/>
              </a:spcBef>
              <a:buNone/>
              <a:tabLst>
                <a:tab pos="344488" algn="l"/>
                <a:tab pos="569913" algn="l"/>
                <a:tab pos="688975" algn="l"/>
              </a:tabLst>
            </a:pPr>
            <a:br>
              <a:rPr lang="en-US" altLang="en-US" dirty="0"/>
            </a:br>
            <a:endParaRPr lang="en-US" altLang="en-US" dirty="0">
              <a:solidFill>
                <a:srgbClr val="0000FF"/>
              </a:solidFill>
            </a:endParaRPr>
          </a:p>
          <a:p>
            <a:pPr marL="457200" lvl="1" indent="0">
              <a:spcBef>
                <a:spcPts val="2400"/>
              </a:spcBef>
              <a:buNone/>
              <a:tabLst>
                <a:tab pos="344488" algn="l"/>
                <a:tab pos="569913" algn="l"/>
                <a:tab pos="688975" algn="l"/>
              </a:tabLst>
            </a:pPr>
            <a:endParaRPr lang="en-US" altLang="en-US" sz="1800" dirty="0">
              <a:solidFill>
                <a:schemeClr val="tx1"/>
              </a:solidFill>
              <a:latin typeface="Lucida Console" panose="020B0609040504020204" pitchFamily="49" charset="0"/>
            </a:endParaRPr>
          </a:p>
        </p:txBody>
      </p:sp>
      <p:cxnSp>
        <p:nvCxnSpPr>
          <p:cNvPr id="3" name="Straight Arrow Connector 2"/>
          <p:cNvCxnSpPr/>
          <p:nvPr/>
        </p:nvCxnSpPr>
        <p:spPr bwMode="auto">
          <a:xfrm flipH="1" flipV="1">
            <a:off x="7244862" y="2715065"/>
            <a:ext cx="689316" cy="2897944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2349824"/>
      </p:ext>
    </p:extLst>
  </p:cSld>
  <p:clrMapOvr>
    <a:masterClrMapping/>
  </p:clrMapOvr>
</p:sld>
</file>

<file path=ppt/slides/slide26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258763" y="128588"/>
            <a:ext cx="8683625" cy="847725"/>
          </a:xfrm>
        </p:spPr>
        <p:txBody>
          <a:bodyPr/>
          <a:lstStyle/>
          <a:p>
            <a:r>
              <a:rPr lang="en-US" altLang="en-US"/>
              <a:t>Probing Using Double Hashing</a:t>
            </a:r>
            <a:endParaRPr lang="en-US" altLang="en-US" sz="1600"/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65188"/>
            <a:ext cx="8623300" cy="5614987"/>
          </a:xfrm>
        </p:spPr>
        <p:txBody>
          <a:bodyPr/>
          <a:lstStyle/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private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probe(Object key) {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= h1(key);    // first hash function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h2 = h2(key);   // second hash function for offset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endParaRPr lang="en-US" altLang="en-US" sz="18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i="1" dirty="0">
                <a:solidFill>
                  <a:srgbClr val="0000FF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1800" i="1" dirty="0">
                <a:solidFill>
                  <a:srgbClr val="FF0000"/>
                </a:solidFill>
                <a:latin typeface="Lucida Console" panose="020B0609040504020204" pitchFamily="49" charset="0"/>
              </a:rPr>
              <a:t>// keep probing until we get an empty position or match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rgbClr val="0000FF"/>
                </a:solidFill>
                <a:latin typeface="Lucida Console" panose="020B0609040504020204" pitchFamily="49" charset="0"/>
              </a:rPr>
              <a:t>    while (table[</a:t>
            </a:r>
            <a:r>
              <a:rPr lang="en-US" altLang="en-US" sz="1800" dirty="0" err="1">
                <a:solidFill>
                  <a:srgbClr val="0000FF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rgbClr val="0000FF"/>
                </a:solidFill>
                <a:latin typeface="Lucida Console" panose="020B0609040504020204" pitchFamily="49" charset="0"/>
              </a:rPr>
              <a:t>] != null &amp;&amp; </a:t>
            </a:r>
            <a:r>
              <a:rPr lang="en-US" altLang="en-US" sz="1800" b="1" dirty="0">
                <a:solidFill>
                  <a:srgbClr val="CC0099"/>
                </a:solidFill>
                <a:latin typeface="Lucida Console" panose="020B0609040504020204" pitchFamily="49" charset="0"/>
              </a:rPr>
              <a:t>!</a:t>
            </a:r>
            <a:r>
              <a:rPr lang="en-US" altLang="en-US" sz="1800" b="1" dirty="0" err="1">
                <a:solidFill>
                  <a:srgbClr val="CC0099"/>
                </a:solidFill>
                <a:latin typeface="Lucida Console" panose="020B0609040504020204" pitchFamily="49" charset="0"/>
              </a:rPr>
              <a:t>key.equals</a:t>
            </a:r>
            <a:r>
              <a:rPr lang="en-US" altLang="en-US" sz="1800" b="1" dirty="0">
                <a:solidFill>
                  <a:srgbClr val="CC0099"/>
                </a:solidFill>
                <a:latin typeface="Lucida Console" panose="020B0609040504020204" pitchFamily="49" charset="0"/>
              </a:rPr>
              <a:t>(table[</a:t>
            </a:r>
            <a:r>
              <a:rPr lang="en-US" altLang="en-US" sz="1800" b="1" dirty="0" err="1">
                <a:solidFill>
                  <a:srgbClr val="CC0099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b="1" dirty="0">
                <a:solidFill>
                  <a:srgbClr val="CC0099"/>
                </a:solidFill>
                <a:latin typeface="Lucida Console" panose="020B0609040504020204" pitchFamily="49" charset="0"/>
              </a:rPr>
              <a:t>].key)</a:t>
            </a:r>
            <a:r>
              <a:rPr lang="en-US" altLang="en-US" sz="1800" dirty="0">
                <a:solidFill>
                  <a:srgbClr val="0000FF"/>
                </a:solidFill>
                <a:latin typeface="Lucida Console" panose="020B0609040504020204" pitchFamily="49" charset="0"/>
              </a:rPr>
              <a:t>) {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rgbClr val="0000FF"/>
                </a:solidFill>
                <a:latin typeface="Lucida Console" panose="020B0609040504020204" pitchFamily="49" charset="0"/>
              </a:rPr>
              <a:t>        </a:t>
            </a:r>
            <a:r>
              <a:rPr lang="en-US" altLang="en-US" sz="1800" dirty="0" err="1">
                <a:solidFill>
                  <a:srgbClr val="0000FF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rgbClr val="0000FF"/>
                </a:solidFill>
                <a:latin typeface="Lucida Console" panose="020B0609040504020204" pitchFamily="49" charset="0"/>
              </a:rPr>
              <a:t> = (</a:t>
            </a:r>
            <a:r>
              <a:rPr lang="en-US" altLang="en-US" sz="1800" dirty="0" err="1">
                <a:solidFill>
                  <a:srgbClr val="0000FF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rgbClr val="0000FF"/>
                </a:solidFill>
                <a:latin typeface="Lucida Console" panose="020B0609040504020204" pitchFamily="49" charset="0"/>
              </a:rPr>
              <a:t> + h2) % </a:t>
            </a:r>
            <a:r>
              <a:rPr lang="en-US" altLang="en-US" sz="1800" dirty="0" err="1">
                <a:solidFill>
                  <a:srgbClr val="0000FF"/>
                </a:solidFill>
                <a:latin typeface="Lucida Console" panose="020B0609040504020204" pitchFamily="49" charset="0"/>
              </a:rPr>
              <a:t>table.length</a:t>
            </a:r>
            <a:r>
              <a:rPr lang="en-US" altLang="en-US" sz="1800" dirty="0">
                <a:solidFill>
                  <a:srgbClr val="0000FF"/>
                </a:solidFill>
                <a:latin typeface="Lucida Console" panose="020B0609040504020204" pitchFamily="49" charset="0"/>
              </a:rPr>
              <a:t>;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rgbClr val="0000FF"/>
                </a:solidFill>
                <a:latin typeface="Lucida Console" panose="020B0609040504020204" pitchFamily="49" charset="0"/>
              </a:rPr>
              <a:t>    }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endParaRPr lang="en-US" altLang="en-US" sz="1800" dirty="0">
              <a:solidFill>
                <a:srgbClr val="0000FF"/>
              </a:solidFill>
              <a:latin typeface="Lucida Console" panose="020B0609040504020204" pitchFamily="49" charset="0"/>
            </a:endParaRP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endParaRPr lang="en-US" altLang="en-US" sz="1800" dirty="0">
              <a:solidFill>
                <a:srgbClr val="0000FF"/>
              </a:solidFill>
              <a:latin typeface="Lucida Console" panose="020B0609040504020204" pitchFamily="49" charset="0"/>
            </a:endParaRP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endParaRPr lang="en-US" altLang="en-US" sz="1800" dirty="0">
              <a:solidFill>
                <a:srgbClr val="0000FF"/>
              </a:solidFill>
              <a:latin typeface="Lucida Console" panose="020B0609040504020204" pitchFamily="49" charset="0"/>
            </a:endParaRP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return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;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}</a:t>
            </a:r>
            <a:endParaRPr lang="en-US" altLang="en-US" sz="1800" dirty="0">
              <a:latin typeface="Lucida Console" panose="020B0609040504020204" pitchFamily="49" charset="0"/>
            </a:endParaRPr>
          </a:p>
          <a:p>
            <a:pPr>
              <a:spcBef>
                <a:spcPts val="1000"/>
              </a:spcBef>
              <a:buFontTx/>
              <a:buChar char="•"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dirty="0"/>
              <a:t>It is essential that we:</a:t>
            </a:r>
          </a:p>
          <a:p>
            <a:pPr lvl="1">
              <a:spcBef>
                <a:spcPts val="500"/>
              </a:spcBef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dirty="0"/>
              <a:t>check for </a:t>
            </a:r>
            <a:r>
              <a:rPr lang="en-US" altLang="en-US" sz="2000" dirty="0">
                <a:latin typeface="Lucida Console" panose="020B0609040504020204" pitchFamily="49" charset="0"/>
              </a:rPr>
              <a:t>table[</a:t>
            </a:r>
            <a:r>
              <a:rPr lang="en-US" altLang="en-US" sz="2000" dirty="0" err="1">
                <a:latin typeface="Lucida Console" panose="020B0609040504020204" pitchFamily="49" charset="0"/>
              </a:rPr>
              <a:t>i</a:t>
            </a:r>
            <a:r>
              <a:rPr lang="en-US" altLang="en-US" sz="2000" dirty="0">
                <a:latin typeface="Lucida Console" panose="020B0609040504020204" pitchFamily="49" charset="0"/>
              </a:rPr>
              <a:t>] != null</a:t>
            </a:r>
            <a:r>
              <a:rPr lang="en-US" altLang="en-US" dirty="0"/>
              <a:t> first. why?</a:t>
            </a:r>
            <a:br>
              <a:rPr lang="en-US" altLang="en-US" dirty="0"/>
            </a:br>
            <a:r>
              <a:rPr lang="en-US" altLang="en-US" dirty="0">
                <a:solidFill>
                  <a:srgbClr val="0000FF"/>
                </a:solidFill>
              </a:rPr>
              <a:t>if </a:t>
            </a:r>
            <a:r>
              <a:rPr lang="en-US" altLang="en-US" sz="2000" dirty="0">
                <a:solidFill>
                  <a:srgbClr val="0000FF"/>
                </a:solidFill>
                <a:latin typeface="Lucida Console" panose="020B0609040504020204" pitchFamily="49" charset="0"/>
              </a:rPr>
              <a:t>table[</a:t>
            </a:r>
            <a:r>
              <a:rPr lang="en-US" altLang="en-US" sz="2000" dirty="0" err="1">
                <a:solidFill>
                  <a:srgbClr val="0000FF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2000" dirty="0">
                <a:solidFill>
                  <a:srgbClr val="0000FF"/>
                </a:solidFill>
                <a:latin typeface="Lucida Console" panose="020B0609040504020204" pitchFamily="49" charset="0"/>
              </a:rPr>
              <a:t>]</a:t>
            </a:r>
            <a:r>
              <a:rPr lang="en-US" altLang="en-US" dirty="0">
                <a:solidFill>
                  <a:srgbClr val="0000FF"/>
                </a:solidFill>
              </a:rPr>
              <a:t> is </a:t>
            </a:r>
            <a:r>
              <a:rPr lang="en-US" altLang="en-US" sz="2000" dirty="0">
                <a:solidFill>
                  <a:srgbClr val="0000FF"/>
                </a:solidFill>
                <a:latin typeface="Lucida Console" panose="020B0609040504020204" pitchFamily="49" charset="0"/>
              </a:rPr>
              <a:t>null</a:t>
            </a:r>
            <a:r>
              <a:rPr lang="en-US" altLang="en-US" dirty="0">
                <a:solidFill>
                  <a:srgbClr val="0000FF"/>
                </a:solidFill>
              </a:rPr>
              <a:t>, the </a:t>
            </a:r>
            <a:r>
              <a:rPr lang="en-US" altLang="en-US" sz="2000" dirty="0">
                <a:solidFill>
                  <a:srgbClr val="0000FF"/>
                </a:solidFill>
                <a:latin typeface="Lucida Console" panose="020B0609040504020204" pitchFamily="49" charset="0"/>
              </a:rPr>
              <a:t>&amp;&amp;</a:t>
            </a:r>
            <a:r>
              <a:rPr lang="en-US" altLang="en-US" dirty="0">
                <a:solidFill>
                  <a:srgbClr val="0000FF"/>
                </a:solidFill>
              </a:rPr>
              <a:t> operator short-circuits, </a:t>
            </a:r>
            <a:br>
              <a:rPr lang="en-US" altLang="en-US" dirty="0">
                <a:solidFill>
                  <a:srgbClr val="0000FF"/>
                </a:solidFill>
              </a:rPr>
            </a:br>
            <a:r>
              <a:rPr lang="en-US" altLang="en-US" dirty="0">
                <a:solidFill>
                  <a:srgbClr val="0000FF"/>
                </a:solidFill>
              </a:rPr>
              <a:t>which prevents a null pointer exception on </a:t>
            </a:r>
            <a:r>
              <a:rPr lang="en-US" altLang="en-US" sz="2000" dirty="0">
                <a:solidFill>
                  <a:srgbClr val="0000FF"/>
                </a:solidFill>
                <a:latin typeface="Lucida Console" panose="020B0609040504020204" pitchFamily="49" charset="0"/>
              </a:rPr>
              <a:t>table[</a:t>
            </a:r>
            <a:r>
              <a:rPr lang="en-US" altLang="en-US" sz="2000" dirty="0" err="1">
                <a:solidFill>
                  <a:srgbClr val="0000FF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2000" dirty="0">
                <a:solidFill>
                  <a:srgbClr val="0000FF"/>
                </a:solidFill>
                <a:latin typeface="Lucida Console" panose="020B0609040504020204" pitchFamily="49" charset="0"/>
              </a:rPr>
              <a:t>].key</a:t>
            </a:r>
          </a:p>
          <a:p>
            <a:pPr lvl="1">
              <a:spcBef>
                <a:spcPts val="1000"/>
              </a:spcBef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dirty="0"/>
              <a:t>call the </a:t>
            </a:r>
            <a:r>
              <a:rPr lang="en-US" altLang="en-US" sz="2000" dirty="0">
                <a:latin typeface="Lucida Console" panose="020B0609040504020204" pitchFamily="49" charset="0"/>
              </a:rPr>
              <a:t>equals</a:t>
            </a:r>
            <a:r>
              <a:rPr lang="en-US" altLang="en-US" dirty="0"/>
              <a:t> method on </a:t>
            </a:r>
            <a:r>
              <a:rPr lang="en-US" altLang="en-US" sz="2000" b="1" dirty="0">
                <a:latin typeface="Lucida Console" panose="020B0609040504020204" pitchFamily="49" charset="0"/>
              </a:rPr>
              <a:t>key</a:t>
            </a:r>
            <a:r>
              <a:rPr lang="en-US" altLang="en-US" dirty="0"/>
              <a:t>, not on </a:t>
            </a:r>
            <a:r>
              <a:rPr lang="en-US" altLang="en-US" sz="2000" dirty="0">
                <a:latin typeface="Lucida Console" panose="020B0609040504020204" pitchFamily="49" charset="0"/>
              </a:rPr>
              <a:t>table[</a:t>
            </a:r>
            <a:r>
              <a:rPr lang="en-US" altLang="en-US" sz="2000" dirty="0" err="1">
                <a:latin typeface="Lucida Console" panose="020B0609040504020204" pitchFamily="49" charset="0"/>
              </a:rPr>
              <a:t>i</a:t>
            </a:r>
            <a:r>
              <a:rPr lang="en-US" altLang="en-US" sz="2000" dirty="0">
                <a:latin typeface="Lucida Console" panose="020B0609040504020204" pitchFamily="49" charset="0"/>
              </a:rPr>
              <a:t>].key</a:t>
            </a:r>
            <a:r>
              <a:rPr lang="en-US" altLang="en-US" dirty="0"/>
              <a:t>. </a:t>
            </a:r>
            <a:r>
              <a:rPr lang="en-US" altLang="en-US" b="1" dirty="0"/>
              <a:t>why?</a:t>
            </a:r>
            <a:br>
              <a:rPr lang="en-US" altLang="en-US" b="1" dirty="0"/>
            </a:br>
            <a:endParaRPr lang="en-US" altLang="en-US" b="1" dirty="0">
              <a:solidFill>
                <a:srgbClr val="0000FF"/>
              </a:solidFill>
            </a:endParaRPr>
          </a:p>
          <a:p>
            <a:pPr marL="457200" lvl="1" indent="0">
              <a:spcBef>
                <a:spcPts val="2400"/>
              </a:spcBef>
              <a:buNone/>
              <a:tabLst>
                <a:tab pos="344488" algn="l"/>
                <a:tab pos="569913" algn="l"/>
                <a:tab pos="688975" algn="l"/>
              </a:tabLst>
            </a:pPr>
            <a:endParaRPr lang="en-US" altLang="en-US" sz="1800" dirty="0">
              <a:solidFill>
                <a:schemeClr val="tx1"/>
              </a:solidFill>
              <a:latin typeface="Lucida Console" panose="020B0609040504020204" pitchFamily="49" charset="0"/>
            </a:endParaRPr>
          </a:p>
        </p:txBody>
      </p:sp>
      <p:cxnSp>
        <p:nvCxnSpPr>
          <p:cNvPr id="4" name="Straight Arrow Connector 3"/>
          <p:cNvCxnSpPr/>
          <p:nvPr/>
        </p:nvCxnSpPr>
        <p:spPr bwMode="auto">
          <a:xfrm flipH="1" flipV="1">
            <a:off x="5525589" y="2677886"/>
            <a:ext cx="2408589" cy="2935123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3665337"/>
      </p:ext>
    </p:extLst>
  </p:cSld>
  <p:clrMapOvr>
    <a:masterClrMapping/>
  </p:clrMapOvr>
</p:sld>
</file>

<file path=ppt/slides/slide2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258763" y="128588"/>
            <a:ext cx="8683625" cy="847725"/>
          </a:xfrm>
        </p:spPr>
        <p:txBody>
          <a:bodyPr/>
          <a:lstStyle/>
          <a:p>
            <a:r>
              <a:rPr lang="en-US" altLang="en-US"/>
              <a:t>Probing Using Double Hashing</a:t>
            </a:r>
            <a:endParaRPr lang="en-US" altLang="en-US" sz="1600"/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65188"/>
            <a:ext cx="8623300" cy="5614987"/>
          </a:xfrm>
        </p:spPr>
        <p:txBody>
          <a:bodyPr/>
          <a:lstStyle/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private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probe(Object key) {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= h1(key);    // first hash function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h2 = h2(key);   // second hash function for offset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endParaRPr lang="en-US" altLang="en-US" sz="18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i="1" dirty="0">
                <a:solidFill>
                  <a:srgbClr val="0000FF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1800" i="1" dirty="0">
                <a:solidFill>
                  <a:srgbClr val="FF0000"/>
                </a:solidFill>
                <a:latin typeface="Lucida Console" panose="020B0609040504020204" pitchFamily="49" charset="0"/>
              </a:rPr>
              <a:t>// keep probing until we get an empty position or match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rgbClr val="0000FF"/>
                </a:solidFill>
                <a:latin typeface="Lucida Console" panose="020B0609040504020204" pitchFamily="49" charset="0"/>
              </a:rPr>
              <a:t>    while (table[</a:t>
            </a:r>
            <a:r>
              <a:rPr lang="en-US" altLang="en-US" sz="1800" dirty="0" err="1">
                <a:solidFill>
                  <a:srgbClr val="0000FF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rgbClr val="0000FF"/>
                </a:solidFill>
                <a:latin typeface="Lucida Console" panose="020B0609040504020204" pitchFamily="49" charset="0"/>
              </a:rPr>
              <a:t>] != null &amp;&amp; </a:t>
            </a:r>
            <a:r>
              <a:rPr lang="en-US" altLang="en-US" sz="1800" b="1" dirty="0">
                <a:solidFill>
                  <a:srgbClr val="CC0099"/>
                </a:solidFill>
                <a:latin typeface="Lucida Console" panose="020B0609040504020204" pitchFamily="49" charset="0"/>
              </a:rPr>
              <a:t>!</a:t>
            </a:r>
            <a:r>
              <a:rPr lang="en-US" altLang="en-US" sz="1800" b="1" dirty="0" err="1">
                <a:solidFill>
                  <a:srgbClr val="CC0099"/>
                </a:solidFill>
                <a:latin typeface="Lucida Console" panose="020B0609040504020204" pitchFamily="49" charset="0"/>
              </a:rPr>
              <a:t>key.equals</a:t>
            </a:r>
            <a:r>
              <a:rPr lang="en-US" altLang="en-US" sz="1800" b="1" dirty="0">
                <a:solidFill>
                  <a:srgbClr val="CC0099"/>
                </a:solidFill>
                <a:latin typeface="Lucida Console" panose="020B0609040504020204" pitchFamily="49" charset="0"/>
              </a:rPr>
              <a:t>(table[</a:t>
            </a:r>
            <a:r>
              <a:rPr lang="en-US" altLang="en-US" sz="1800" b="1" dirty="0" err="1">
                <a:solidFill>
                  <a:srgbClr val="CC0099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b="1" dirty="0">
                <a:solidFill>
                  <a:srgbClr val="CC0099"/>
                </a:solidFill>
                <a:latin typeface="Lucida Console" panose="020B0609040504020204" pitchFamily="49" charset="0"/>
              </a:rPr>
              <a:t>].key)</a:t>
            </a:r>
            <a:r>
              <a:rPr lang="en-US" altLang="en-US" sz="1800" dirty="0">
                <a:solidFill>
                  <a:srgbClr val="0000FF"/>
                </a:solidFill>
                <a:latin typeface="Lucida Console" panose="020B0609040504020204" pitchFamily="49" charset="0"/>
              </a:rPr>
              <a:t>) {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rgbClr val="0000FF"/>
                </a:solidFill>
                <a:latin typeface="Lucida Console" panose="020B0609040504020204" pitchFamily="49" charset="0"/>
              </a:rPr>
              <a:t>        </a:t>
            </a:r>
            <a:r>
              <a:rPr lang="en-US" altLang="en-US" sz="1800" dirty="0" err="1">
                <a:solidFill>
                  <a:srgbClr val="0000FF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rgbClr val="0000FF"/>
                </a:solidFill>
                <a:latin typeface="Lucida Console" panose="020B0609040504020204" pitchFamily="49" charset="0"/>
              </a:rPr>
              <a:t> = (</a:t>
            </a:r>
            <a:r>
              <a:rPr lang="en-US" altLang="en-US" sz="1800" dirty="0" err="1">
                <a:solidFill>
                  <a:srgbClr val="0000FF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rgbClr val="0000FF"/>
                </a:solidFill>
                <a:latin typeface="Lucida Console" panose="020B0609040504020204" pitchFamily="49" charset="0"/>
              </a:rPr>
              <a:t> + h2) % </a:t>
            </a:r>
            <a:r>
              <a:rPr lang="en-US" altLang="en-US" sz="1800" dirty="0" err="1">
                <a:solidFill>
                  <a:srgbClr val="0000FF"/>
                </a:solidFill>
                <a:latin typeface="Lucida Console" panose="020B0609040504020204" pitchFamily="49" charset="0"/>
              </a:rPr>
              <a:t>table.length</a:t>
            </a:r>
            <a:r>
              <a:rPr lang="en-US" altLang="en-US" sz="1800" dirty="0">
                <a:solidFill>
                  <a:srgbClr val="0000FF"/>
                </a:solidFill>
                <a:latin typeface="Lucida Console" panose="020B0609040504020204" pitchFamily="49" charset="0"/>
              </a:rPr>
              <a:t>;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rgbClr val="0000FF"/>
                </a:solidFill>
                <a:latin typeface="Lucida Console" panose="020B0609040504020204" pitchFamily="49" charset="0"/>
              </a:rPr>
              <a:t>    }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endParaRPr lang="en-US" altLang="en-US" sz="1800" dirty="0">
              <a:solidFill>
                <a:srgbClr val="0000FF"/>
              </a:solidFill>
              <a:latin typeface="Lucida Console" panose="020B0609040504020204" pitchFamily="49" charset="0"/>
            </a:endParaRP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endParaRPr lang="en-US" altLang="en-US" sz="1800" dirty="0">
              <a:solidFill>
                <a:srgbClr val="0000FF"/>
              </a:solidFill>
              <a:latin typeface="Lucida Console" panose="020B0609040504020204" pitchFamily="49" charset="0"/>
            </a:endParaRP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endParaRPr lang="en-US" altLang="en-US" sz="1800" dirty="0">
              <a:solidFill>
                <a:srgbClr val="0000FF"/>
              </a:solidFill>
              <a:latin typeface="Lucida Console" panose="020B0609040504020204" pitchFamily="49" charset="0"/>
            </a:endParaRP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return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;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}</a:t>
            </a:r>
            <a:endParaRPr lang="en-US" altLang="en-US" sz="1800" dirty="0">
              <a:latin typeface="Lucida Console" panose="020B0609040504020204" pitchFamily="49" charset="0"/>
            </a:endParaRPr>
          </a:p>
          <a:p>
            <a:pPr>
              <a:spcBef>
                <a:spcPts val="1000"/>
              </a:spcBef>
              <a:buFontTx/>
              <a:buChar char="•"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dirty="0"/>
              <a:t>It is essential that we:</a:t>
            </a:r>
          </a:p>
          <a:p>
            <a:pPr lvl="1">
              <a:spcBef>
                <a:spcPts val="500"/>
              </a:spcBef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dirty="0"/>
              <a:t>check for </a:t>
            </a:r>
            <a:r>
              <a:rPr lang="en-US" altLang="en-US" sz="2000" dirty="0">
                <a:latin typeface="Lucida Console" panose="020B0609040504020204" pitchFamily="49" charset="0"/>
              </a:rPr>
              <a:t>table[</a:t>
            </a:r>
            <a:r>
              <a:rPr lang="en-US" altLang="en-US" sz="2000" dirty="0" err="1">
                <a:latin typeface="Lucida Console" panose="020B0609040504020204" pitchFamily="49" charset="0"/>
              </a:rPr>
              <a:t>i</a:t>
            </a:r>
            <a:r>
              <a:rPr lang="en-US" altLang="en-US" sz="2000" dirty="0">
                <a:latin typeface="Lucida Console" panose="020B0609040504020204" pitchFamily="49" charset="0"/>
              </a:rPr>
              <a:t>] != null</a:t>
            </a:r>
            <a:r>
              <a:rPr lang="en-US" altLang="en-US" dirty="0"/>
              <a:t> first. why?</a:t>
            </a:r>
            <a:br>
              <a:rPr lang="en-US" altLang="en-US" dirty="0"/>
            </a:br>
            <a:r>
              <a:rPr lang="en-US" altLang="en-US" dirty="0">
                <a:solidFill>
                  <a:srgbClr val="0000FF"/>
                </a:solidFill>
              </a:rPr>
              <a:t>if </a:t>
            </a:r>
            <a:r>
              <a:rPr lang="en-US" altLang="en-US" sz="2000" dirty="0">
                <a:solidFill>
                  <a:srgbClr val="0000FF"/>
                </a:solidFill>
                <a:latin typeface="Lucida Console" panose="020B0609040504020204" pitchFamily="49" charset="0"/>
              </a:rPr>
              <a:t>table[</a:t>
            </a:r>
            <a:r>
              <a:rPr lang="en-US" altLang="en-US" sz="2000" dirty="0" err="1">
                <a:solidFill>
                  <a:srgbClr val="0000FF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2000" dirty="0">
                <a:solidFill>
                  <a:srgbClr val="0000FF"/>
                </a:solidFill>
                <a:latin typeface="Lucida Console" panose="020B0609040504020204" pitchFamily="49" charset="0"/>
              </a:rPr>
              <a:t>]</a:t>
            </a:r>
            <a:r>
              <a:rPr lang="en-US" altLang="en-US" dirty="0">
                <a:solidFill>
                  <a:srgbClr val="0000FF"/>
                </a:solidFill>
              </a:rPr>
              <a:t> is </a:t>
            </a:r>
            <a:r>
              <a:rPr lang="en-US" altLang="en-US" sz="2000" dirty="0">
                <a:solidFill>
                  <a:srgbClr val="0000FF"/>
                </a:solidFill>
                <a:latin typeface="Lucida Console" panose="020B0609040504020204" pitchFamily="49" charset="0"/>
              </a:rPr>
              <a:t>null</a:t>
            </a:r>
            <a:r>
              <a:rPr lang="en-US" altLang="en-US" dirty="0">
                <a:solidFill>
                  <a:srgbClr val="0000FF"/>
                </a:solidFill>
              </a:rPr>
              <a:t>, the </a:t>
            </a:r>
            <a:r>
              <a:rPr lang="en-US" altLang="en-US" sz="2000" dirty="0">
                <a:solidFill>
                  <a:srgbClr val="0000FF"/>
                </a:solidFill>
                <a:latin typeface="Lucida Console" panose="020B0609040504020204" pitchFamily="49" charset="0"/>
              </a:rPr>
              <a:t>&amp;&amp;</a:t>
            </a:r>
            <a:r>
              <a:rPr lang="en-US" altLang="en-US" dirty="0">
                <a:solidFill>
                  <a:srgbClr val="0000FF"/>
                </a:solidFill>
              </a:rPr>
              <a:t> operator short-circuits, </a:t>
            </a:r>
            <a:br>
              <a:rPr lang="en-US" altLang="en-US" dirty="0">
                <a:solidFill>
                  <a:srgbClr val="0000FF"/>
                </a:solidFill>
              </a:rPr>
            </a:br>
            <a:r>
              <a:rPr lang="en-US" altLang="en-US" dirty="0">
                <a:solidFill>
                  <a:srgbClr val="0000FF"/>
                </a:solidFill>
              </a:rPr>
              <a:t>which prevents a null pointer exception on </a:t>
            </a:r>
            <a:r>
              <a:rPr lang="en-US" altLang="en-US" sz="2000" dirty="0">
                <a:solidFill>
                  <a:srgbClr val="0000FF"/>
                </a:solidFill>
                <a:latin typeface="Lucida Console" panose="020B0609040504020204" pitchFamily="49" charset="0"/>
              </a:rPr>
              <a:t>table[</a:t>
            </a:r>
            <a:r>
              <a:rPr lang="en-US" altLang="en-US" sz="2000" dirty="0" err="1">
                <a:solidFill>
                  <a:srgbClr val="0000FF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2000" dirty="0">
                <a:solidFill>
                  <a:srgbClr val="0000FF"/>
                </a:solidFill>
                <a:latin typeface="Lucida Console" panose="020B0609040504020204" pitchFamily="49" charset="0"/>
              </a:rPr>
              <a:t>].key</a:t>
            </a:r>
          </a:p>
          <a:p>
            <a:pPr lvl="1">
              <a:spcBef>
                <a:spcPts val="1000"/>
              </a:spcBef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dirty="0"/>
              <a:t>call the </a:t>
            </a:r>
            <a:r>
              <a:rPr lang="en-US" altLang="en-US" sz="2000" dirty="0">
                <a:latin typeface="Lucida Console" panose="020B0609040504020204" pitchFamily="49" charset="0"/>
              </a:rPr>
              <a:t>equals</a:t>
            </a:r>
            <a:r>
              <a:rPr lang="en-US" altLang="en-US" dirty="0"/>
              <a:t> method on </a:t>
            </a:r>
            <a:r>
              <a:rPr lang="en-US" altLang="en-US" sz="2000" dirty="0">
                <a:latin typeface="Lucida Console" panose="020B0609040504020204" pitchFamily="49" charset="0"/>
              </a:rPr>
              <a:t>key</a:t>
            </a:r>
            <a:r>
              <a:rPr lang="en-US" altLang="en-US" dirty="0"/>
              <a:t>, not </a:t>
            </a:r>
            <a:r>
              <a:rPr lang="en-US" altLang="en-US" sz="2000" dirty="0">
                <a:latin typeface="Lucida Console" panose="020B0609040504020204" pitchFamily="49" charset="0"/>
              </a:rPr>
              <a:t>table[</a:t>
            </a:r>
            <a:r>
              <a:rPr lang="en-US" altLang="en-US" sz="2000" dirty="0" err="1">
                <a:latin typeface="Lucida Console" panose="020B0609040504020204" pitchFamily="49" charset="0"/>
              </a:rPr>
              <a:t>i</a:t>
            </a:r>
            <a:r>
              <a:rPr lang="en-US" altLang="en-US" sz="2000" dirty="0">
                <a:latin typeface="Lucida Console" panose="020B0609040504020204" pitchFamily="49" charset="0"/>
              </a:rPr>
              <a:t>].key</a:t>
            </a:r>
            <a:r>
              <a:rPr lang="en-US" altLang="en-US" dirty="0"/>
              <a:t>. why?</a:t>
            </a:r>
            <a:br>
              <a:rPr lang="en-US" altLang="en-US" dirty="0"/>
            </a:br>
            <a:r>
              <a:rPr lang="en-US" altLang="en-US" dirty="0">
                <a:solidFill>
                  <a:srgbClr val="0000FF"/>
                </a:solidFill>
              </a:rPr>
              <a:t>because </a:t>
            </a:r>
            <a:r>
              <a:rPr lang="en-US" altLang="en-US" sz="2000" dirty="0">
                <a:solidFill>
                  <a:srgbClr val="0000FF"/>
                </a:solidFill>
                <a:latin typeface="Lucida Console" panose="020B0609040504020204" pitchFamily="49" charset="0"/>
              </a:rPr>
              <a:t>table[</a:t>
            </a:r>
            <a:r>
              <a:rPr lang="en-US" altLang="en-US" sz="2000" dirty="0" err="1">
                <a:solidFill>
                  <a:srgbClr val="0000FF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2000" dirty="0">
                <a:solidFill>
                  <a:srgbClr val="0000FF"/>
                </a:solidFill>
                <a:latin typeface="Lucida Console" panose="020B0609040504020204" pitchFamily="49" charset="0"/>
              </a:rPr>
              <a:t>].key</a:t>
            </a:r>
            <a:r>
              <a:rPr lang="en-US" altLang="en-US" dirty="0">
                <a:solidFill>
                  <a:srgbClr val="0000FF"/>
                </a:solidFill>
              </a:rPr>
              <a:t> may be </a:t>
            </a:r>
            <a:r>
              <a:rPr lang="en-US" altLang="en-US" sz="2000" dirty="0">
                <a:solidFill>
                  <a:srgbClr val="0000FF"/>
                </a:solidFill>
                <a:latin typeface="Lucida Console" panose="020B0609040504020204" pitchFamily="49" charset="0"/>
              </a:rPr>
              <a:t>null</a:t>
            </a:r>
            <a:r>
              <a:rPr lang="en-US" altLang="en-US" dirty="0">
                <a:solidFill>
                  <a:srgbClr val="0000FF"/>
                </a:solidFill>
              </a:rPr>
              <a:t> (for removed cells)</a:t>
            </a:r>
          </a:p>
          <a:p>
            <a:pPr marL="457200" lvl="1" indent="0">
              <a:spcBef>
                <a:spcPts val="2400"/>
              </a:spcBef>
              <a:buNone/>
              <a:tabLst>
                <a:tab pos="344488" algn="l"/>
                <a:tab pos="569913" algn="l"/>
                <a:tab pos="688975" algn="l"/>
              </a:tabLst>
            </a:pPr>
            <a:endParaRPr lang="en-US" altLang="en-US" sz="1800" dirty="0">
              <a:solidFill>
                <a:schemeClr val="tx1"/>
              </a:solidFill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5549324"/>
      </p:ext>
    </p:extLst>
  </p:cSld>
  <p:clrMapOvr>
    <a:masterClrMapping/>
  </p:clrMapOvr>
</p:sld>
</file>

<file path=ppt/slides/slide26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258763" y="128588"/>
            <a:ext cx="8683625" cy="847725"/>
          </a:xfrm>
        </p:spPr>
        <p:txBody>
          <a:bodyPr/>
          <a:lstStyle/>
          <a:p>
            <a:r>
              <a:rPr lang="en-US" altLang="en-US"/>
              <a:t>Probing Using Double Hashing</a:t>
            </a:r>
            <a:endParaRPr lang="en-US" altLang="en-US" sz="1600"/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65188"/>
            <a:ext cx="8623300" cy="5614987"/>
          </a:xfrm>
        </p:spPr>
        <p:txBody>
          <a:bodyPr/>
          <a:lstStyle/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private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probe(Object key) {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= h1(key);    // first hash function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h2 = h2(key);   // second hash function for offset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endParaRPr lang="en-US" altLang="en-US" sz="18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i="1" dirty="0">
                <a:solidFill>
                  <a:srgbClr val="0000FF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1800" i="1" dirty="0">
                <a:solidFill>
                  <a:srgbClr val="FF0000"/>
                </a:solidFill>
                <a:latin typeface="Lucida Console" panose="020B0609040504020204" pitchFamily="49" charset="0"/>
              </a:rPr>
              <a:t>// keep probing until we get an empty position or match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rgbClr val="0000FF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while (table[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] != null &amp;&amp; !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key.equals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(table[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].key)) {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        </a:t>
            </a:r>
            <a:r>
              <a:rPr lang="en-US" altLang="en-US" sz="1800" b="1" dirty="0" err="1">
                <a:solidFill>
                  <a:srgbClr val="0000FF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 = (</a:t>
            </a:r>
            <a:r>
              <a:rPr lang="en-US" altLang="en-US" sz="1800" b="1" dirty="0" err="1">
                <a:solidFill>
                  <a:srgbClr val="0000FF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 + h2) % </a:t>
            </a:r>
            <a:r>
              <a:rPr lang="en-US" altLang="en-US" sz="1800" b="1" dirty="0" err="1">
                <a:solidFill>
                  <a:srgbClr val="0000FF"/>
                </a:solidFill>
                <a:latin typeface="Lucida Console" panose="020B0609040504020204" pitchFamily="49" charset="0"/>
              </a:rPr>
              <a:t>table.length</a:t>
            </a: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;	</a:t>
            </a:r>
            <a:r>
              <a:rPr lang="en-US" altLang="en-US" sz="1800" b="1" dirty="0">
                <a:solidFill>
                  <a:srgbClr val="FF0000"/>
                </a:solidFill>
                <a:latin typeface="Lucida Console" panose="020B0609040504020204" pitchFamily="49" charset="0"/>
              </a:rPr>
              <a:t>// probe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}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endParaRPr lang="en-US" altLang="en-US" sz="1800" dirty="0">
              <a:solidFill>
                <a:srgbClr val="0000FF"/>
              </a:solidFill>
              <a:latin typeface="Lucida Console" panose="020B0609040504020204" pitchFamily="49" charset="0"/>
            </a:endParaRP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endParaRPr lang="en-US" altLang="en-US" sz="1800" dirty="0">
              <a:solidFill>
                <a:srgbClr val="0000FF"/>
              </a:solidFill>
              <a:latin typeface="Lucida Console" panose="020B0609040504020204" pitchFamily="49" charset="0"/>
            </a:endParaRP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endParaRPr lang="en-US" altLang="en-US" sz="1800" dirty="0">
              <a:solidFill>
                <a:srgbClr val="0000FF"/>
              </a:solidFill>
              <a:latin typeface="Lucida Console" panose="020B0609040504020204" pitchFamily="49" charset="0"/>
            </a:endParaRP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return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;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}</a:t>
            </a:r>
            <a:endParaRPr lang="en-US" altLang="en-US" sz="1800" dirty="0">
              <a:latin typeface="Lucida Console" panose="020B0609040504020204" pitchFamily="49" charset="0"/>
            </a:endParaRPr>
          </a:p>
          <a:p>
            <a:pPr marL="457200" lvl="1" indent="0">
              <a:spcBef>
                <a:spcPts val="2400"/>
              </a:spcBef>
              <a:buNone/>
              <a:tabLst>
                <a:tab pos="344488" algn="l"/>
                <a:tab pos="569913" algn="l"/>
                <a:tab pos="688975" algn="l"/>
              </a:tabLst>
            </a:pPr>
            <a:endParaRPr lang="en-US" altLang="en-US" sz="1800" dirty="0">
              <a:solidFill>
                <a:schemeClr val="tx1"/>
              </a:solidFill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5085724"/>
      </p:ext>
    </p:extLst>
  </p:cSld>
  <p:clrMapOvr>
    <a:masterClrMapping/>
  </p:clrMapOvr>
</p:sld>
</file>

<file path=ppt/slides/slide2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258763" y="128588"/>
            <a:ext cx="8683625" cy="847725"/>
          </a:xfrm>
        </p:spPr>
        <p:txBody>
          <a:bodyPr/>
          <a:lstStyle/>
          <a:p>
            <a:r>
              <a:rPr lang="en-US" altLang="en-US"/>
              <a:t>Probing Using Double Hashing</a:t>
            </a:r>
            <a:endParaRPr lang="en-US" altLang="en-US" sz="1600"/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65188"/>
            <a:ext cx="8623300" cy="5614987"/>
          </a:xfrm>
        </p:spPr>
        <p:txBody>
          <a:bodyPr/>
          <a:lstStyle/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private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probe(Object key) {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= h1(key);    // first hash function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h2 = h2(key);   // second hash function for offset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endParaRPr lang="en-US" altLang="en-US" sz="18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i="1" dirty="0">
                <a:solidFill>
                  <a:srgbClr val="0000FF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1800" i="1" dirty="0">
                <a:solidFill>
                  <a:srgbClr val="FF0000"/>
                </a:solidFill>
                <a:latin typeface="Lucida Console" panose="020B0609040504020204" pitchFamily="49" charset="0"/>
              </a:rPr>
              <a:t>// keep probing until we get an empty position or match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while (table[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] != null &amp;&amp; !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key.equals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(table[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].key)) {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        </a:t>
            </a:r>
            <a:r>
              <a:rPr lang="en-US" altLang="en-US" sz="1800" b="1" dirty="0" err="1">
                <a:solidFill>
                  <a:srgbClr val="0000FF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 = (</a:t>
            </a:r>
            <a:r>
              <a:rPr lang="en-US" altLang="en-US" sz="1800" b="1" dirty="0" err="1">
                <a:solidFill>
                  <a:srgbClr val="0000FF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 + h2) % </a:t>
            </a:r>
            <a:r>
              <a:rPr lang="en-US" altLang="en-US" sz="1800" b="1" dirty="0" err="1">
                <a:solidFill>
                  <a:srgbClr val="0000FF"/>
                </a:solidFill>
                <a:latin typeface="Lucida Console" panose="020B0609040504020204" pitchFamily="49" charset="0"/>
              </a:rPr>
              <a:t>table.length</a:t>
            </a: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;	</a:t>
            </a:r>
            <a:r>
              <a:rPr lang="en-US" altLang="en-US" sz="1800" b="1" dirty="0">
                <a:solidFill>
                  <a:srgbClr val="FF0000"/>
                </a:solidFill>
                <a:latin typeface="Lucida Console" panose="020B0609040504020204" pitchFamily="49" charset="0"/>
              </a:rPr>
              <a:t>// probe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}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endParaRPr lang="en-US" altLang="en-US" sz="1800" dirty="0">
              <a:solidFill>
                <a:srgbClr val="0000FF"/>
              </a:solidFill>
              <a:latin typeface="Lucida Console" panose="020B0609040504020204" pitchFamily="49" charset="0"/>
            </a:endParaRP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endParaRPr lang="en-US" altLang="en-US" sz="1800" dirty="0">
              <a:solidFill>
                <a:srgbClr val="0000FF"/>
              </a:solidFill>
              <a:latin typeface="Lucida Console" panose="020B0609040504020204" pitchFamily="49" charset="0"/>
            </a:endParaRP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endParaRPr lang="en-US" altLang="en-US" sz="1800" dirty="0">
              <a:solidFill>
                <a:srgbClr val="0000FF"/>
              </a:solidFill>
              <a:latin typeface="Lucida Console" panose="020B0609040504020204" pitchFamily="49" charset="0"/>
            </a:endParaRP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return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;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}</a:t>
            </a:r>
            <a:endParaRPr lang="en-US" altLang="en-US" sz="1800" dirty="0">
              <a:latin typeface="Lucida Console" panose="020B0609040504020204" pitchFamily="49" charset="0"/>
            </a:endParaRPr>
          </a:p>
          <a:p>
            <a:pPr marL="457200" lvl="1" indent="0">
              <a:spcBef>
                <a:spcPts val="2400"/>
              </a:spcBef>
              <a:buNone/>
              <a:tabLst>
                <a:tab pos="344488" algn="l"/>
                <a:tab pos="569913" algn="l"/>
                <a:tab pos="688975" algn="l"/>
              </a:tabLst>
            </a:pPr>
            <a:endParaRPr lang="en-US" altLang="en-US" sz="1800" dirty="0">
              <a:solidFill>
                <a:schemeClr val="tx1"/>
              </a:solidFill>
              <a:latin typeface="Lucida Console" panose="020B0609040504020204" pitchFamily="49" charset="0"/>
            </a:endParaRPr>
          </a:p>
        </p:txBody>
      </p:sp>
      <p:sp>
        <p:nvSpPr>
          <p:cNvPr id="2" name="Cloud Callout 1"/>
          <p:cNvSpPr/>
          <p:nvPr/>
        </p:nvSpPr>
        <p:spPr bwMode="auto">
          <a:xfrm>
            <a:off x="3018444" y="3255546"/>
            <a:ext cx="4453774" cy="3372265"/>
          </a:xfrm>
          <a:prstGeom prst="cloudCallout">
            <a:avLst>
              <a:gd name="adj1" fmla="val -71506"/>
              <a:gd name="adj2" fmla="val -54417"/>
            </a:avLst>
          </a:prstGeom>
          <a:solidFill>
            <a:schemeClr val="bg1">
              <a:lumMod val="85000"/>
            </a:schemeClr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Narrow" pitchFamily="34" charset="0"/>
              </a:rPr>
              <a:t>Note the mathematical</a:t>
            </a:r>
            <a:r>
              <a:rPr kumimoji="0" lang="en-US" sz="2200" b="0" i="0" u="none" strike="noStrike" cap="none" normalizeH="0" dirty="0">
                <a:ln>
                  <a:noFill/>
                </a:ln>
                <a:solidFill>
                  <a:srgbClr val="000000"/>
                </a:solidFill>
                <a:effectLst/>
                <a:latin typeface="Arial Narrow" pitchFamily="34" charset="0"/>
              </a:rPr>
              <a:t> simplification of:</a:t>
            </a:r>
          </a:p>
          <a:p>
            <a:pPr marL="285750" marR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2200" b="0" i="0" u="none" strike="noStrike" cap="none" normalizeH="0" dirty="0">
                <a:ln>
                  <a:noFill/>
                </a:ln>
                <a:solidFill>
                  <a:srgbClr val="000000"/>
                </a:solidFill>
                <a:effectLst/>
                <a:latin typeface="Arial Narrow" pitchFamily="34" charset="0"/>
              </a:rPr>
              <a:t>h1 + h2</a:t>
            </a:r>
          </a:p>
          <a:p>
            <a:pPr marL="285750" marR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2200" b="0" i="0" u="none" strike="noStrike" cap="none" normalizeH="0" dirty="0">
                <a:ln>
                  <a:noFill/>
                </a:ln>
                <a:solidFill>
                  <a:srgbClr val="000000"/>
                </a:solidFill>
                <a:effectLst/>
                <a:latin typeface="Arial Narrow" pitchFamily="34" charset="0"/>
              </a:rPr>
              <a:t>h1 + 2*h2 ….</a:t>
            </a:r>
          </a:p>
          <a:p>
            <a:pPr marR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2200" dirty="0"/>
              <a:t>b</a:t>
            </a:r>
            <a:r>
              <a:rPr lang="en-US" sz="2200" baseline="0" dirty="0"/>
              <a:t>y the use</a:t>
            </a:r>
            <a:r>
              <a:rPr lang="en-US" sz="2200" dirty="0"/>
              <a:t> of </a:t>
            </a:r>
            <a:r>
              <a:rPr lang="en-US" sz="2200" dirty="0" err="1"/>
              <a:t>i</a:t>
            </a:r>
            <a:r>
              <a:rPr lang="en-US" sz="2200" dirty="0"/>
              <a:t> as an accumulator variable.</a:t>
            </a:r>
            <a:endParaRPr kumimoji="0" lang="en-US" sz="22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610859"/>
      </p:ext>
    </p:extLst>
  </p:cSld>
  <p:clrMapOvr>
    <a:masterClrMapping/>
  </p:clrMapOvr>
</p:sld>
</file>

<file path=ppt/slides/slide26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258763" y="128588"/>
            <a:ext cx="8683625" cy="847725"/>
          </a:xfrm>
        </p:spPr>
        <p:txBody>
          <a:bodyPr/>
          <a:lstStyle/>
          <a:p>
            <a:r>
              <a:rPr lang="en-US" altLang="en-US"/>
              <a:t>Probing Using Double Hashing</a:t>
            </a:r>
            <a:endParaRPr lang="en-US" altLang="en-US" sz="1600"/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65188"/>
            <a:ext cx="8623300" cy="5614987"/>
          </a:xfrm>
        </p:spPr>
        <p:txBody>
          <a:bodyPr/>
          <a:lstStyle/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private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probe(Object key) {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= h1(key);    // first hash function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h2 = h2(key);   // second hash function for offset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endParaRPr lang="en-US" altLang="en-US" sz="18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i="1" dirty="0">
                <a:solidFill>
                  <a:srgbClr val="0000FF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1800" b="1" i="1" dirty="0">
                <a:solidFill>
                  <a:srgbClr val="FF0000"/>
                </a:solidFill>
                <a:latin typeface="Lucida Console" panose="020B0609040504020204" pitchFamily="49" charset="0"/>
              </a:rPr>
              <a:t>// keep probing until we get an empty position or match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while (table[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] != null &amp;&amp; !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key.equals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(table[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].key)) {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= (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+ h2) %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table.length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;	// probe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}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endParaRPr lang="en-US" altLang="en-US" sz="1800" dirty="0">
              <a:solidFill>
                <a:srgbClr val="0000FF"/>
              </a:solidFill>
              <a:latin typeface="Lucida Console" panose="020B0609040504020204" pitchFamily="49" charset="0"/>
            </a:endParaRP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endParaRPr lang="en-US" altLang="en-US" sz="1800" dirty="0">
              <a:solidFill>
                <a:srgbClr val="0000FF"/>
              </a:solidFill>
              <a:latin typeface="Lucida Console" panose="020B0609040504020204" pitchFamily="49" charset="0"/>
            </a:endParaRP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endParaRPr lang="en-US" altLang="en-US" sz="1800" dirty="0">
              <a:solidFill>
                <a:srgbClr val="0000FF"/>
              </a:solidFill>
              <a:latin typeface="Lucida Console" panose="020B0609040504020204" pitchFamily="49" charset="0"/>
            </a:endParaRP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return </a:t>
            </a:r>
            <a:r>
              <a:rPr lang="en-US" altLang="en-US" sz="1800" b="1" dirty="0" err="1">
                <a:solidFill>
                  <a:srgbClr val="0000FF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;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}</a:t>
            </a:r>
            <a:endParaRPr lang="en-US" altLang="en-US" sz="1800" dirty="0">
              <a:latin typeface="Lucida Console" panose="020B0609040504020204" pitchFamily="49" charset="0"/>
            </a:endParaRPr>
          </a:p>
          <a:p>
            <a:pPr marL="457200" lvl="1" indent="0">
              <a:spcBef>
                <a:spcPts val="2400"/>
              </a:spcBef>
              <a:buNone/>
              <a:tabLst>
                <a:tab pos="344488" algn="l"/>
                <a:tab pos="569913" algn="l"/>
                <a:tab pos="688975" algn="l"/>
              </a:tabLst>
            </a:pPr>
            <a:endParaRPr lang="en-US" altLang="en-US" sz="1800" dirty="0">
              <a:solidFill>
                <a:schemeClr val="tx1"/>
              </a:solidFill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5042349"/>
      </p:ext>
    </p:extLst>
  </p:cSld>
  <p:clrMapOvr>
    <a:masterClrMapping/>
  </p:clrMapOvr>
</p:sld>
</file>

<file path=ppt/slides/slide26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258763" y="128588"/>
            <a:ext cx="8683625" cy="847725"/>
          </a:xfrm>
        </p:spPr>
        <p:txBody>
          <a:bodyPr/>
          <a:lstStyle/>
          <a:p>
            <a:r>
              <a:rPr lang="en-US" altLang="en-US"/>
              <a:t>Probing Using Double Hashing</a:t>
            </a:r>
            <a:endParaRPr lang="en-US" altLang="en-US" sz="1600"/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65188"/>
            <a:ext cx="8623300" cy="5614987"/>
          </a:xfrm>
        </p:spPr>
        <p:txBody>
          <a:bodyPr/>
          <a:lstStyle/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private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probe(Object key) {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= h1(key);    // first hash function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h2 = h2(key);   // second hash function for offset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endParaRPr lang="en-US" altLang="en-US" sz="18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i="1" dirty="0">
                <a:solidFill>
                  <a:srgbClr val="0000FF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1800" i="1" dirty="0">
                <a:solidFill>
                  <a:srgbClr val="FF0000"/>
                </a:solidFill>
                <a:latin typeface="Lucida Console" panose="020B0609040504020204" pitchFamily="49" charset="0"/>
              </a:rPr>
              <a:t>// keep probing until we get an empty position or match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while (table[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] != null &amp;&amp; !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key.equals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(table[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].key)) {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= (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+ h2) %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table.length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;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}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endParaRPr lang="en-US" altLang="en-US" sz="1800" dirty="0">
              <a:solidFill>
                <a:srgbClr val="0000FF"/>
              </a:solidFill>
              <a:latin typeface="Lucida Console" panose="020B0609040504020204" pitchFamily="49" charset="0"/>
            </a:endParaRP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endParaRPr lang="en-US" altLang="en-US" sz="1800" dirty="0">
              <a:solidFill>
                <a:srgbClr val="0000FF"/>
              </a:solidFill>
              <a:latin typeface="Lucida Console" panose="020B0609040504020204" pitchFamily="49" charset="0"/>
            </a:endParaRP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endParaRPr lang="en-US" altLang="en-US" sz="1800" dirty="0">
              <a:solidFill>
                <a:srgbClr val="0000FF"/>
              </a:solidFill>
              <a:latin typeface="Lucida Console" panose="020B0609040504020204" pitchFamily="49" charset="0"/>
            </a:endParaRP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return </a:t>
            </a:r>
            <a:r>
              <a:rPr lang="en-US" altLang="en-US" sz="1800" b="1" dirty="0" err="1">
                <a:solidFill>
                  <a:srgbClr val="0000FF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;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}</a:t>
            </a:r>
            <a:endParaRPr lang="en-US" altLang="en-US" sz="1800" dirty="0">
              <a:latin typeface="Lucida Console" panose="020B0609040504020204" pitchFamily="49" charset="0"/>
            </a:endParaRPr>
          </a:p>
          <a:p>
            <a:pPr marL="457200" lvl="1" indent="0">
              <a:spcBef>
                <a:spcPts val="2400"/>
              </a:spcBef>
              <a:buNone/>
              <a:tabLst>
                <a:tab pos="344488" algn="l"/>
                <a:tab pos="569913" algn="l"/>
                <a:tab pos="688975" algn="l"/>
              </a:tabLst>
            </a:pPr>
            <a:endParaRPr lang="en-US" altLang="en-US" sz="1800" dirty="0">
              <a:solidFill>
                <a:schemeClr val="tx1"/>
              </a:solidFill>
              <a:latin typeface="Lucida Console" panose="020B0609040504020204" pitchFamily="49" charset="0"/>
            </a:endParaRPr>
          </a:p>
        </p:txBody>
      </p:sp>
      <p:sp>
        <p:nvSpPr>
          <p:cNvPr id="2" name="Cloud Callout 1"/>
          <p:cNvSpPr/>
          <p:nvPr/>
        </p:nvSpPr>
        <p:spPr bwMode="auto">
          <a:xfrm>
            <a:off x="2658793" y="4243411"/>
            <a:ext cx="4853354" cy="2236764"/>
          </a:xfrm>
          <a:prstGeom prst="cloudCallout">
            <a:avLst>
              <a:gd name="adj1" fmla="val -39094"/>
              <a:gd name="adj2" fmla="val -90959"/>
            </a:avLst>
          </a:prstGeom>
          <a:solidFill>
            <a:schemeClr val="bg1">
              <a:lumMod val="85000"/>
            </a:schemeClr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2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 Narrow" pitchFamily="34" charset="0"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Narrow" pitchFamily="34" charset="0"/>
              </a:rPr>
              <a:t>Any other</a:t>
            </a:r>
            <a:r>
              <a:rPr kumimoji="0" lang="en-US" sz="2200" b="0" i="0" u="none" strike="noStrike" cap="none" normalizeH="0" dirty="0">
                <a:ln>
                  <a:noFill/>
                </a:ln>
                <a:solidFill>
                  <a:srgbClr val="000000"/>
                </a:solidFill>
                <a:effectLst/>
                <a:latin typeface="Arial Narrow" pitchFamily="34" charset="0"/>
              </a:rPr>
              <a:t> potential problem with our code?</a:t>
            </a:r>
            <a:endParaRPr kumimoji="0" lang="en-US" sz="22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4878235"/>
      </p:ext>
    </p:extLst>
  </p:cSld>
  <p:clrMapOvr>
    <a:masterClrMapping/>
  </p:clrMapOvr>
</p:sld>
</file>

<file path=ppt/slides/slide27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Avoiding an Infinite Loop</a:t>
            </a:r>
          </a:p>
        </p:txBody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802687" cy="5614988"/>
          </a:xfrm>
        </p:spPr>
        <p:txBody>
          <a:bodyPr/>
          <a:lstStyle/>
          <a:p>
            <a:r>
              <a:rPr lang="en-US" altLang="en-US" dirty="0"/>
              <a:t>The while loop in our probe method could lead to an infinite loop.</a:t>
            </a:r>
          </a:p>
          <a:p>
            <a:pPr>
              <a:spcBef>
                <a:spcPct val="30000"/>
              </a:spcBef>
              <a:buFontTx/>
              <a:buNone/>
            </a:pPr>
            <a:r>
              <a:rPr lang="en-US" altLang="en-US" sz="2000" dirty="0">
                <a:solidFill>
                  <a:schemeClr val="tx1"/>
                </a:solidFill>
                <a:latin typeface="Lucida Console" panose="020B0609040504020204" pitchFamily="49" charset="0"/>
              </a:rPr>
              <a:t>  	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while (table[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] != null &amp;&amp; !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key.equals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(table[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].key)) 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	   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= (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+ h2) %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table.length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	}</a:t>
            </a:r>
            <a:endParaRPr lang="en-US" altLang="en-US" sz="1800" dirty="0"/>
          </a:p>
          <a:p>
            <a:r>
              <a:rPr lang="en-US" altLang="en-US" dirty="0"/>
              <a:t>When would this happen?</a:t>
            </a:r>
            <a:r>
              <a:rPr lang="en-US" altLang="en-US" dirty="0">
                <a:solidFill>
                  <a:schemeClr val="accent2"/>
                </a:solidFill>
              </a:rPr>
              <a:t> </a:t>
            </a:r>
            <a:br>
              <a:rPr lang="en-US" altLang="en-US" dirty="0">
                <a:solidFill>
                  <a:schemeClr val="accent2"/>
                </a:solidFill>
              </a:rPr>
            </a:br>
            <a:endParaRPr lang="en-US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682906095"/>
      </p:ext>
    </p:extLst>
  </p:cSld>
  <p:clrMapOvr>
    <a:masterClrMapping/>
  </p:clrMapOvr>
</p:sld>
</file>

<file path=ppt/slides/slide27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Avoiding an Infinite Loop</a:t>
            </a:r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802687" cy="5614988"/>
          </a:xfrm>
        </p:spPr>
        <p:txBody>
          <a:bodyPr/>
          <a:lstStyle/>
          <a:p>
            <a:r>
              <a:rPr lang="en-US" altLang="en-US" dirty="0"/>
              <a:t>The while loop in our probe method could lead to an infinite loop.</a:t>
            </a:r>
          </a:p>
          <a:p>
            <a:pPr>
              <a:spcBef>
                <a:spcPct val="30000"/>
              </a:spcBef>
              <a:buFontTx/>
              <a:buNone/>
            </a:pPr>
            <a:r>
              <a:rPr lang="en-US" altLang="en-US" sz="2000" dirty="0">
                <a:solidFill>
                  <a:schemeClr val="tx1"/>
                </a:solidFill>
                <a:latin typeface="Lucida Console" panose="020B0609040504020204" pitchFamily="49" charset="0"/>
              </a:rPr>
              <a:t>  	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while (table[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] != null &amp;&amp; !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key.equals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(table[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].key)) 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	   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= (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+ h2) %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table.length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	}</a:t>
            </a:r>
            <a:endParaRPr lang="en-US" altLang="en-US" sz="1800" dirty="0"/>
          </a:p>
          <a:p>
            <a:r>
              <a:rPr lang="en-US" altLang="en-US" dirty="0"/>
              <a:t>When would this happen?</a:t>
            </a:r>
            <a:r>
              <a:rPr lang="en-US" altLang="en-US" dirty="0">
                <a:solidFill>
                  <a:schemeClr val="accent2"/>
                </a:solidFill>
              </a:rPr>
              <a:t> </a:t>
            </a:r>
            <a:br>
              <a:rPr lang="en-US" altLang="en-US" dirty="0">
                <a:solidFill>
                  <a:schemeClr val="accent2"/>
                </a:solidFill>
              </a:rPr>
            </a:br>
            <a:r>
              <a:rPr lang="en-US" altLang="en-US" dirty="0">
                <a:solidFill>
                  <a:srgbClr val="0000FF"/>
                </a:solidFill>
              </a:rPr>
              <a:t>if the key isn't in the table, and there are no empty positions</a:t>
            </a:r>
          </a:p>
        </p:txBody>
      </p:sp>
    </p:spTree>
    <p:extLst>
      <p:ext uri="{BB962C8B-B14F-4D97-AF65-F5344CB8AC3E}">
        <p14:creationId xmlns:p14="http://schemas.microsoft.com/office/powerpoint/2010/main" val="1811072260"/>
      </p:ext>
    </p:extLst>
  </p:cSld>
  <p:clrMapOvr>
    <a:masterClrMapping/>
  </p:clrMapOvr>
</p:sld>
</file>

<file path=ppt/slides/slide27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87375" y="3187337"/>
            <a:ext cx="8190865" cy="100584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Avoiding an Infinite Loop</a:t>
            </a:r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802687" cy="5614988"/>
          </a:xfrm>
        </p:spPr>
        <p:txBody>
          <a:bodyPr/>
          <a:lstStyle/>
          <a:p>
            <a:r>
              <a:rPr lang="en-US" altLang="en-US" dirty="0"/>
              <a:t>The while loop in our probe method could lead to an infinite loop.</a:t>
            </a:r>
          </a:p>
          <a:p>
            <a:pPr>
              <a:spcBef>
                <a:spcPct val="30000"/>
              </a:spcBef>
              <a:buFontTx/>
              <a:buNone/>
            </a:pPr>
            <a:r>
              <a:rPr lang="en-US" altLang="en-US" sz="2000" dirty="0">
                <a:solidFill>
                  <a:schemeClr val="tx1"/>
                </a:solidFill>
                <a:latin typeface="Lucida Console" panose="020B0609040504020204" pitchFamily="49" charset="0"/>
              </a:rPr>
              <a:t>  	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while (table[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] != null &amp;&amp; !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key.equals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(table[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].key)) 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	   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= (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+ h2) %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table.length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	}</a:t>
            </a:r>
            <a:endParaRPr lang="en-US" altLang="en-US" sz="1800" dirty="0"/>
          </a:p>
          <a:p>
            <a:r>
              <a:rPr lang="en-US" altLang="en-US" dirty="0"/>
              <a:t>When would this happen?</a:t>
            </a:r>
            <a:r>
              <a:rPr lang="en-US" altLang="en-US" dirty="0">
                <a:solidFill>
                  <a:schemeClr val="accent2"/>
                </a:solidFill>
              </a:rPr>
              <a:t> </a:t>
            </a:r>
            <a:br>
              <a:rPr lang="en-US" altLang="en-US" dirty="0">
                <a:solidFill>
                  <a:schemeClr val="accent2"/>
                </a:solidFill>
              </a:rPr>
            </a:br>
            <a:r>
              <a:rPr lang="en-US" altLang="en-US" dirty="0">
                <a:solidFill>
                  <a:srgbClr val="0000FF"/>
                </a:solidFill>
              </a:rPr>
              <a:t>if the key isn't in the table, and there are no empty positions</a:t>
            </a:r>
          </a:p>
          <a:p>
            <a:pPr>
              <a:spcBef>
                <a:spcPts val="2400"/>
              </a:spcBef>
            </a:pPr>
            <a:r>
              <a:rPr lang="en-US" altLang="en-US" dirty="0"/>
              <a:t>We can stop probing after checking n positions (n = table size), because the probe sequence will just repeat after that point.</a:t>
            </a:r>
          </a:p>
        </p:txBody>
      </p:sp>
    </p:spTree>
    <p:extLst>
      <p:ext uri="{BB962C8B-B14F-4D97-AF65-F5344CB8AC3E}">
        <p14:creationId xmlns:p14="http://schemas.microsoft.com/office/powerpoint/2010/main" val="3756157439"/>
      </p:ext>
    </p:extLst>
  </p:cSld>
  <p:clrMapOvr>
    <a:masterClrMapping/>
  </p:clrMapOvr>
</p:sld>
</file>

<file path=ppt/slides/slide27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Avoiding an Infinite Loop</a:t>
            </a:r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802687" cy="5614988"/>
          </a:xfrm>
        </p:spPr>
        <p:txBody>
          <a:bodyPr/>
          <a:lstStyle/>
          <a:p>
            <a:r>
              <a:rPr lang="en-US" altLang="en-US" dirty="0"/>
              <a:t>The while loop in our probe method could lead to an infinite loop.</a:t>
            </a:r>
          </a:p>
          <a:p>
            <a:pPr>
              <a:spcBef>
                <a:spcPct val="30000"/>
              </a:spcBef>
              <a:buFontTx/>
              <a:buNone/>
            </a:pPr>
            <a:r>
              <a:rPr lang="en-US" altLang="en-US" sz="2000" dirty="0">
                <a:solidFill>
                  <a:schemeClr val="tx1"/>
                </a:solidFill>
                <a:latin typeface="Lucida Console" panose="020B0609040504020204" pitchFamily="49" charset="0"/>
              </a:rPr>
              <a:t>  	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while (table[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] != null &amp;&amp; !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key.equals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(table[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].key)) 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	   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= (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+ h2) %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table.length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	}</a:t>
            </a:r>
            <a:endParaRPr lang="en-US" altLang="en-US" sz="1800" dirty="0"/>
          </a:p>
          <a:p>
            <a:r>
              <a:rPr lang="en-US" altLang="en-US" dirty="0"/>
              <a:t>When would this happen?</a:t>
            </a:r>
            <a:r>
              <a:rPr lang="en-US" altLang="en-US" dirty="0">
                <a:solidFill>
                  <a:schemeClr val="accent2"/>
                </a:solidFill>
              </a:rPr>
              <a:t> </a:t>
            </a:r>
            <a:br>
              <a:rPr lang="en-US" altLang="en-US" dirty="0">
                <a:solidFill>
                  <a:schemeClr val="accent2"/>
                </a:solidFill>
              </a:rPr>
            </a:br>
            <a:r>
              <a:rPr lang="en-US" altLang="en-US" dirty="0">
                <a:solidFill>
                  <a:srgbClr val="0000FF"/>
                </a:solidFill>
              </a:rPr>
              <a:t>if the key isn't in the table, and there are no empty positions</a:t>
            </a:r>
          </a:p>
          <a:p>
            <a:pPr>
              <a:spcBef>
                <a:spcPts val="2400"/>
              </a:spcBef>
            </a:pPr>
            <a:r>
              <a:rPr lang="en-US" altLang="en-US" dirty="0"/>
              <a:t>We can stop probing after checking n positions (n = table size), because the probe sequence will just repeat after that point.</a:t>
            </a:r>
          </a:p>
          <a:p>
            <a:pPr lvl="1"/>
            <a:r>
              <a:rPr lang="en-US" altLang="en-US" dirty="0"/>
              <a:t>for quadratic probing: </a:t>
            </a:r>
            <a:br>
              <a:rPr lang="en-US" altLang="en-US" dirty="0"/>
            </a:br>
            <a:r>
              <a:rPr lang="en-US" altLang="en-US" dirty="0"/>
              <a:t>	</a:t>
            </a:r>
            <a:r>
              <a:rPr lang="en-US" altLang="en-US" sz="2000" dirty="0"/>
              <a:t>(h1 + </a:t>
            </a:r>
            <a:r>
              <a:rPr lang="en-US" altLang="en-US" sz="2000" dirty="0">
                <a:solidFill>
                  <a:srgbClr val="FF0000"/>
                </a:solidFill>
              </a:rPr>
              <a:t>n</a:t>
            </a:r>
            <a:r>
              <a:rPr lang="en-US" altLang="en-US" sz="2000" baseline="30000" dirty="0">
                <a:solidFill>
                  <a:srgbClr val="FF0000"/>
                </a:solidFill>
              </a:rPr>
              <a:t>2</a:t>
            </a:r>
            <a:r>
              <a:rPr lang="en-US" altLang="en-US" sz="2000" dirty="0"/>
              <a:t>) % n  </a:t>
            </a:r>
            <a:br>
              <a:rPr lang="en-US" altLang="en-US" sz="2000" dirty="0"/>
            </a:br>
            <a:r>
              <a:rPr lang="en-US" altLang="en-US" sz="2000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2345872"/>
      </p:ext>
    </p:extLst>
  </p:cSld>
  <p:clrMapOvr>
    <a:masterClrMapping/>
  </p:clrMapOvr>
</p:sld>
</file>

<file path=ppt/slides/slide27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Avoiding an Infinite Loop</a:t>
            </a:r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802687" cy="5614988"/>
          </a:xfrm>
        </p:spPr>
        <p:txBody>
          <a:bodyPr/>
          <a:lstStyle/>
          <a:p>
            <a:r>
              <a:rPr lang="en-US" altLang="en-US" dirty="0"/>
              <a:t>The while loop in our probe method could lead to an infinite loop.</a:t>
            </a:r>
          </a:p>
          <a:p>
            <a:pPr>
              <a:spcBef>
                <a:spcPct val="30000"/>
              </a:spcBef>
              <a:buFontTx/>
              <a:buNone/>
            </a:pPr>
            <a:r>
              <a:rPr lang="en-US" altLang="en-US" sz="2000" dirty="0">
                <a:solidFill>
                  <a:schemeClr val="tx1"/>
                </a:solidFill>
                <a:latin typeface="Lucida Console" panose="020B0609040504020204" pitchFamily="49" charset="0"/>
              </a:rPr>
              <a:t>  	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while (table[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] != null &amp;&amp; !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key.equals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(table[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].key)) 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	   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= (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+ h2) %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table.length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	}</a:t>
            </a:r>
            <a:endParaRPr lang="en-US" altLang="en-US" sz="1800" dirty="0"/>
          </a:p>
          <a:p>
            <a:r>
              <a:rPr lang="en-US" altLang="en-US" dirty="0"/>
              <a:t>When would this happen?</a:t>
            </a:r>
            <a:r>
              <a:rPr lang="en-US" altLang="en-US" dirty="0">
                <a:solidFill>
                  <a:schemeClr val="accent2"/>
                </a:solidFill>
              </a:rPr>
              <a:t> </a:t>
            </a:r>
            <a:br>
              <a:rPr lang="en-US" altLang="en-US" dirty="0">
                <a:solidFill>
                  <a:schemeClr val="accent2"/>
                </a:solidFill>
              </a:rPr>
            </a:br>
            <a:r>
              <a:rPr lang="en-US" altLang="en-US" dirty="0">
                <a:solidFill>
                  <a:srgbClr val="0000FF"/>
                </a:solidFill>
              </a:rPr>
              <a:t>if the key isn't in the table, and there are no empty positions</a:t>
            </a:r>
          </a:p>
          <a:p>
            <a:pPr>
              <a:spcBef>
                <a:spcPts val="2400"/>
              </a:spcBef>
            </a:pPr>
            <a:r>
              <a:rPr lang="en-US" altLang="en-US" dirty="0"/>
              <a:t>We can stop probing after checking n positions (n = table size), because the probe sequence will just repeat after that point.</a:t>
            </a:r>
          </a:p>
          <a:p>
            <a:pPr lvl="1"/>
            <a:r>
              <a:rPr lang="en-US" altLang="en-US" dirty="0"/>
              <a:t>for quadratic probing: </a:t>
            </a:r>
            <a:br>
              <a:rPr lang="en-US" altLang="en-US" dirty="0"/>
            </a:br>
            <a:r>
              <a:rPr lang="en-US" altLang="en-US" dirty="0"/>
              <a:t>	</a:t>
            </a:r>
            <a:r>
              <a:rPr lang="en-US" altLang="en-US" sz="2000" dirty="0"/>
              <a:t>(h1 + </a:t>
            </a:r>
            <a:r>
              <a:rPr lang="en-US" altLang="en-US" sz="2000" dirty="0">
                <a:solidFill>
                  <a:srgbClr val="FF0000"/>
                </a:solidFill>
              </a:rPr>
              <a:t>n</a:t>
            </a:r>
            <a:r>
              <a:rPr lang="en-US" altLang="en-US" sz="2000" baseline="30000" dirty="0">
                <a:solidFill>
                  <a:srgbClr val="FF0000"/>
                </a:solidFill>
              </a:rPr>
              <a:t>2</a:t>
            </a:r>
            <a:r>
              <a:rPr lang="en-US" altLang="en-US" sz="2000" dirty="0"/>
              <a:t>) % n  =  h1 % n</a:t>
            </a:r>
            <a:br>
              <a:rPr lang="en-US" altLang="en-US" sz="2000" dirty="0"/>
            </a:br>
            <a:r>
              <a:rPr lang="en-US" altLang="en-US" sz="2000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2258605715"/>
      </p:ext>
    </p:extLst>
  </p:cSld>
  <p:clrMapOvr>
    <a:masterClrMapping/>
  </p:clrMapOvr>
</p:sld>
</file>

<file path=ppt/slides/slide27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Avoiding an Infinite Loop</a:t>
            </a:r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802687" cy="5614988"/>
          </a:xfrm>
        </p:spPr>
        <p:txBody>
          <a:bodyPr/>
          <a:lstStyle/>
          <a:p>
            <a:r>
              <a:rPr lang="en-US" altLang="en-US" dirty="0"/>
              <a:t>The while loop in our probe method could lead to an infinite loop.</a:t>
            </a:r>
          </a:p>
          <a:p>
            <a:pPr>
              <a:spcBef>
                <a:spcPct val="30000"/>
              </a:spcBef>
              <a:buFontTx/>
              <a:buNone/>
            </a:pPr>
            <a:r>
              <a:rPr lang="en-US" altLang="en-US" sz="2000" dirty="0">
                <a:solidFill>
                  <a:schemeClr val="tx1"/>
                </a:solidFill>
                <a:latin typeface="Lucida Console" panose="020B0609040504020204" pitchFamily="49" charset="0"/>
              </a:rPr>
              <a:t>  	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while (table[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] != null &amp;&amp; !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key.equals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(table[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].key)) 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	   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= (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+ h2) %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table.length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	}</a:t>
            </a:r>
            <a:endParaRPr lang="en-US" altLang="en-US" sz="1800" dirty="0"/>
          </a:p>
          <a:p>
            <a:r>
              <a:rPr lang="en-US" altLang="en-US" dirty="0"/>
              <a:t>When would this happen?</a:t>
            </a:r>
            <a:r>
              <a:rPr lang="en-US" altLang="en-US" dirty="0">
                <a:solidFill>
                  <a:schemeClr val="accent2"/>
                </a:solidFill>
              </a:rPr>
              <a:t> </a:t>
            </a:r>
            <a:br>
              <a:rPr lang="en-US" altLang="en-US" dirty="0">
                <a:solidFill>
                  <a:schemeClr val="accent2"/>
                </a:solidFill>
              </a:rPr>
            </a:br>
            <a:r>
              <a:rPr lang="en-US" altLang="en-US" dirty="0">
                <a:solidFill>
                  <a:srgbClr val="0000FF"/>
                </a:solidFill>
              </a:rPr>
              <a:t>if the key isn't in the table, and there are no empty positions</a:t>
            </a:r>
          </a:p>
          <a:p>
            <a:pPr>
              <a:spcBef>
                <a:spcPts val="2400"/>
              </a:spcBef>
            </a:pPr>
            <a:r>
              <a:rPr lang="en-US" altLang="en-US" dirty="0"/>
              <a:t>We can stop probing after checking n positions (n = table size), because the probe sequence will just repeat after that point.</a:t>
            </a:r>
          </a:p>
          <a:p>
            <a:pPr lvl="1"/>
            <a:r>
              <a:rPr lang="en-US" altLang="en-US" dirty="0"/>
              <a:t>for quadratic probing: </a:t>
            </a:r>
            <a:br>
              <a:rPr lang="en-US" altLang="en-US" dirty="0"/>
            </a:br>
            <a:r>
              <a:rPr lang="en-US" altLang="en-US" dirty="0"/>
              <a:t>	</a:t>
            </a:r>
            <a:r>
              <a:rPr lang="en-US" altLang="en-US" sz="2000" dirty="0"/>
              <a:t>(h1 + n</a:t>
            </a:r>
            <a:r>
              <a:rPr lang="en-US" altLang="en-US" sz="2000" baseline="30000" dirty="0"/>
              <a:t>2</a:t>
            </a:r>
            <a:r>
              <a:rPr lang="en-US" altLang="en-US" sz="2000" dirty="0"/>
              <a:t>) % n  =  h1 % n</a:t>
            </a:r>
            <a:br>
              <a:rPr lang="en-US" altLang="en-US" sz="2000" dirty="0"/>
            </a:br>
            <a:r>
              <a:rPr lang="en-US" altLang="en-US" sz="2000" dirty="0"/>
              <a:t>	(h1 + (n+1)</a:t>
            </a:r>
            <a:r>
              <a:rPr lang="en-US" altLang="en-US" sz="2000" baseline="30000" dirty="0"/>
              <a:t>2</a:t>
            </a:r>
            <a:r>
              <a:rPr lang="en-US" altLang="en-US" sz="2000" dirty="0"/>
              <a:t>) % n</a:t>
            </a:r>
          </a:p>
        </p:txBody>
      </p:sp>
    </p:spTree>
    <p:extLst>
      <p:ext uri="{BB962C8B-B14F-4D97-AF65-F5344CB8AC3E}">
        <p14:creationId xmlns:p14="http://schemas.microsoft.com/office/powerpoint/2010/main" val="2009366163"/>
      </p:ext>
    </p:extLst>
  </p:cSld>
  <p:clrMapOvr>
    <a:masterClrMapping/>
  </p:clrMapOvr>
</p:sld>
</file>

<file path=ppt/slides/slide27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Avoiding an Infinite Loop</a:t>
            </a:r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802687" cy="5614988"/>
          </a:xfrm>
        </p:spPr>
        <p:txBody>
          <a:bodyPr/>
          <a:lstStyle/>
          <a:p>
            <a:r>
              <a:rPr lang="en-US" altLang="en-US" dirty="0"/>
              <a:t>The while loop in our probe method could lead to an infinite loop.</a:t>
            </a:r>
          </a:p>
          <a:p>
            <a:pPr>
              <a:spcBef>
                <a:spcPct val="30000"/>
              </a:spcBef>
              <a:buFontTx/>
              <a:buNone/>
            </a:pPr>
            <a:r>
              <a:rPr lang="en-US" altLang="en-US" sz="2000" dirty="0">
                <a:solidFill>
                  <a:schemeClr val="tx1"/>
                </a:solidFill>
                <a:latin typeface="Lucida Console" panose="020B0609040504020204" pitchFamily="49" charset="0"/>
              </a:rPr>
              <a:t>  	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while (table[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] != null &amp;&amp; !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key.equals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(table[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].key)) 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	   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= (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+ h2) %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table.length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	}</a:t>
            </a:r>
            <a:endParaRPr lang="en-US" altLang="en-US" sz="1800" dirty="0"/>
          </a:p>
          <a:p>
            <a:r>
              <a:rPr lang="en-US" altLang="en-US" dirty="0"/>
              <a:t>When would this happen?</a:t>
            </a:r>
            <a:r>
              <a:rPr lang="en-US" altLang="en-US" dirty="0">
                <a:solidFill>
                  <a:schemeClr val="accent2"/>
                </a:solidFill>
              </a:rPr>
              <a:t> </a:t>
            </a:r>
            <a:br>
              <a:rPr lang="en-US" altLang="en-US" dirty="0">
                <a:solidFill>
                  <a:schemeClr val="accent2"/>
                </a:solidFill>
              </a:rPr>
            </a:br>
            <a:r>
              <a:rPr lang="en-US" altLang="en-US" dirty="0">
                <a:solidFill>
                  <a:srgbClr val="0000FF"/>
                </a:solidFill>
              </a:rPr>
              <a:t>if the key isn't in the table, and there are no empty positions</a:t>
            </a:r>
          </a:p>
          <a:p>
            <a:pPr>
              <a:spcBef>
                <a:spcPts val="2400"/>
              </a:spcBef>
            </a:pPr>
            <a:r>
              <a:rPr lang="en-US" altLang="en-US" dirty="0"/>
              <a:t>We can stop probing after checking n positions (n = table size), because the probe sequence will just repeat after that point.</a:t>
            </a:r>
          </a:p>
          <a:p>
            <a:pPr lvl="1"/>
            <a:r>
              <a:rPr lang="en-US" altLang="en-US" dirty="0"/>
              <a:t>for quadratic probing: </a:t>
            </a:r>
            <a:br>
              <a:rPr lang="en-US" altLang="en-US" dirty="0"/>
            </a:br>
            <a:r>
              <a:rPr lang="en-US" altLang="en-US" dirty="0"/>
              <a:t>	</a:t>
            </a:r>
            <a:r>
              <a:rPr lang="en-US" altLang="en-US" sz="2000" dirty="0"/>
              <a:t>(h1 + n</a:t>
            </a:r>
            <a:r>
              <a:rPr lang="en-US" altLang="en-US" sz="2000" baseline="30000" dirty="0"/>
              <a:t>2</a:t>
            </a:r>
            <a:r>
              <a:rPr lang="en-US" altLang="en-US" sz="2000" dirty="0"/>
              <a:t>) % n  =  h1 % n</a:t>
            </a:r>
            <a:br>
              <a:rPr lang="en-US" altLang="en-US" sz="2000" dirty="0"/>
            </a:br>
            <a:r>
              <a:rPr lang="en-US" altLang="en-US" sz="2000" dirty="0"/>
              <a:t>	(h1 + </a:t>
            </a:r>
            <a:r>
              <a:rPr lang="en-US" altLang="en-US" sz="2000" dirty="0">
                <a:solidFill>
                  <a:srgbClr val="0000FF"/>
                </a:solidFill>
              </a:rPr>
              <a:t>(n+1)</a:t>
            </a:r>
            <a:r>
              <a:rPr lang="en-US" altLang="en-US" sz="2000" baseline="30000" dirty="0">
                <a:solidFill>
                  <a:srgbClr val="0000FF"/>
                </a:solidFill>
              </a:rPr>
              <a:t>2</a:t>
            </a:r>
            <a:r>
              <a:rPr lang="en-US" altLang="en-US" sz="2000" dirty="0"/>
              <a:t>) % n  =  (h1 + </a:t>
            </a:r>
            <a:r>
              <a:rPr lang="en-US" altLang="en-US" sz="2000" dirty="0">
                <a:solidFill>
                  <a:srgbClr val="0000FF"/>
                </a:solidFill>
              </a:rPr>
              <a:t>n</a:t>
            </a:r>
            <a:r>
              <a:rPr lang="en-US" altLang="en-US" sz="2000" baseline="30000" dirty="0">
                <a:solidFill>
                  <a:srgbClr val="0000FF"/>
                </a:solidFill>
              </a:rPr>
              <a:t>2</a:t>
            </a:r>
            <a:r>
              <a:rPr lang="en-US" altLang="en-US" sz="2000" dirty="0">
                <a:solidFill>
                  <a:srgbClr val="0000FF"/>
                </a:solidFill>
              </a:rPr>
              <a:t> + 2n + 1</a:t>
            </a:r>
            <a:r>
              <a:rPr lang="en-US" altLang="en-US" sz="2000" dirty="0"/>
              <a:t>) % n</a:t>
            </a:r>
          </a:p>
        </p:txBody>
      </p:sp>
    </p:spTree>
    <p:extLst>
      <p:ext uri="{BB962C8B-B14F-4D97-AF65-F5344CB8AC3E}">
        <p14:creationId xmlns:p14="http://schemas.microsoft.com/office/powerpoint/2010/main" val="2030920964"/>
      </p:ext>
    </p:extLst>
  </p:cSld>
  <p:clrMapOvr>
    <a:masterClrMapping/>
  </p:clrMapOvr>
</p:sld>
</file>

<file path=ppt/slides/slide27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Avoiding an Infinite Loop</a:t>
            </a:r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802687" cy="5614988"/>
          </a:xfrm>
        </p:spPr>
        <p:txBody>
          <a:bodyPr/>
          <a:lstStyle/>
          <a:p>
            <a:r>
              <a:rPr lang="en-US" altLang="en-US" dirty="0"/>
              <a:t>The while loop in our probe method could lead to an infinite loop.</a:t>
            </a:r>
          </a:p>
          <a:p>
            <a:pPr>
              <a:spcBef>
                <a:spcPct val="30000"/>
              </a:spcBef>
              <a:buFontTx/>
              <a:buNone/>
            </a:pPr>
            <a:r>
              <a:rPr lang="en-US" altLang="en-US" sz="2000" dirty="0">
                <a:solidFill>
                  <a:schemeClr val="tx1"/>
                </a:solidFill>
                <a:latin typeface="Lucida Console" panose="020B0609040504020204" pitchFamily="49" charset="0"/>
              </a:rPr>
              <a:t>  	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while (table[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] != null &amp;&amp; !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key.equals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(table[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].key)) 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	   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= (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+ h2) %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table.length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	}</a:t>
            </a:r>
            <a:endParaRPr lang="en-US" altLang="en-US" sz="1800" dirty="0"/>
          </a:p>
          <a:p>
            <a:r>
              <a:rPr lang="en-US" altLang="en-US" dirty="0"/>
              <a:t>When would this happen?</a:t>
            </a:r>
            <a:r>
              <a:rPr lang="en-US" altLang="en-US" dirty="0">
                <a:solidFill>
                  <a:schemeClr val="accent2"/>
                </a:solidFill>
              </a:rPr>
              <a:t> </a:t>
            </a:r>
            <a:br>
              <a:rPr lang="en-US" altLang="en-US" dirty="0">
                <a:solidFill>
                  <a:schemeClr val="accent2"/>
                </a:solidFill>
              </a:rPr>
            </a:br>
            <a:r>
              <a:rPr lang="en-US" altLang="en-US" dirty="0">
                <a:solidFill>
                  <a:srgbClr val="0000FF"/>
                </a:solidFill>
              </a:rPr>
              <a:t>if the key isn't in the table, and there are no empty positions</a:t>
            </a:r>
          </a:p>
          <a:p>
            <a:pPr>
              <a:spcBef>
                <a:spcPts val="2400"/>
              </a:spcBef>
            </a:pPr>
            <a:r>
              <a:rPr lang="en-US" altLang="en-US" dirty="0"/>
              <a:t>We can stop probing after checking n positions (n = table size), because the probe sequence will just repeat after that point.</a:t>
            </a:r>
          </a:p>
          <a:p>
            <a:pPr lvl="1"/>
            <a:r>
              <a:rPr lang="en-US" altLang="en-US" dirty="0"/>
              <a:t>for quadratic probing: </a:t>
            </a:r>
            <a:br>
              <a:rPr lang="en-US" altLang="en-US" dirty="0"/>
            </a:br>
            <a:r>
              <a:rPr lang="en-US" altLang="en-US" dirty="0"/>
              <a:t>	</a:t>
            </a:r>
            <a:r>
              <a:rPr lang="en-US" altLang="en-US" sz="2000" dirty="0"/>
              <a:t>(h1 + n</a:t>
            </a:r>
            <a:r>
              <a:rPr lang="en-US" altLang="en-US" sz="2000" baseline="30000" dirty="0"/>
              <a:t>2</a:t>
            </a:r>
            <a:r>
              <a:rPr lang="en-US" altLang="en-US" sz="2000" dirty="0"/>
              <a:t>) % n  =  h1 % n</a:t>
            </a:r>
            <a:br>
              <a:rPr lang="en-US" altLang="en-US" sz="2000" dirty="0"/>
            </a:br>
            <a:r>
              <a:rPr lang="en-US" altLang="en-US" sz="2000" dirty="0"/>
              <a:t>	(h1 + </a:t>
            </a:r>
            <a:r>
              <a:rPr lang="en-US" altLang="en-US" sz="2000" dirty="0">
                <a:solidFill>
                  <a:srgbClr val="0000FF"/>
                </a:solidFill>
              </a:rPr>
              <a:t>(n+1)</a:t>
            </a:r>
            <a:r>
              <a:rPr lang="en-US" altLang="en-US" sz="2000" baseline="30000" dirty="0">
                <a:solidFill>
                  <a:srgbClr val="0000FF"/>
                </a:solidFill>
              </a:rPr>
              <a:t>2</a:t>
            </a:r>
            <a:r>
              <a:rPr lang="en-US" altLang="en-US" sz="2000" dirty="0"/>
              <a:t>) % n  =  (h1 + </a:t>
            </a:r>
            <a:r>
              <a:rPr lang="en-US" altLang="en-US" sz="2000" dirty="0">
                <a:solidFill>
                  <a:srgbClr val="FF0000"/>
                </a:solidFill>
              </a:rPr>
              <a:t>n</a:t>
            </a:r>
            <a:r>
              <a:rPr lang="en-US" altLang="en-US" sz="2000" baseline="30000" dirty="0">
                <a:solidFill>
                  <a:srgbClr val="FF0000"/>
                </a:solidFill>
              </a:rPr>
              <a:t>2</a:t>
            </a:r>
            <a:r>
              <a:rPr lang="en-US" altLang="en-US" sz="2000" dirty="0">
                <a:solidFill>
                  <a:srgbClr val="FF0000"/>
                </a:solidFill>
              </a:rPr>
              <a:t> + 2n</a:t>
            </a:r>
            <a:r>
              <a:rPr lang="en-US" altLang="en-US" sz="2000" dirty="0">
                <a:solidFill>
                  <a:srgbClr val="0000FF"/>
                </a:solidFill>
              </a:rPr>
              <a:t> + 1</a:t>
            </a:r>
            <a:r>
              <a:rPr lang="en-US" altLang="en-US" sz="2000" dirty="0"/>
              <a:t>) % n</a:t>
            </a:r>
          </a:p>
        </p:txBody>
      </p:sp>
    </p:spTree>
    <p:extLst>
      <p:ext uri="{BB962C8B-B14F-4D97-AF65-F5344CB8AC3E}">
        <p14:creationId xmlns:p14="http://schemas.microsoft.com/office/powerpoint/2010/main" val="1518847683"/>
      </p:ext>
    </p:extLst>
  </p:cSld>
  <p:clrMapOvr>
    <a:masterClrMapping/>
  </p:clrMapOvr>
</p:sld>
</file>

<file path=ppt/slides/slide27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Avoiding an Infinite Loop</a:t>
            </a:r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802687" cy="5614988"/>
          </a:xfrm>
        </p:spPr>
        <p:txBody>
          <a:bodyPr/>
          <a:lstStyle/>
          <a:p>
            <a:r>
              <a:rPr lang="en-US" altLang="en-US" dirty="0"/>
              <a:t>The while loop in our probe method could lead to an infinite loop.</a:t>
            </a:r>
          </a:p>
          <a:p>
            <a:pPr>
              <a:spcBef>
                <a:spcPct val="30000"/>
              </a:spcBef>
              <a:buFontTx/>
              <a:buNone/>
            </a:pPr>
            <a:r>
              <a:rPr lang="en-US" altLang="en-US" sz="2000" dirty="0">
                <a:solidFill>
                  <a:schemeClr val="tx1"/>
                </a:solidFill>
                <a:latin typeface="Lucida Console" panose="020B0609040504020204" pitchFamily="49" charset="0"/>
              </a:rPr>
              <a:t>  	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while (table[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] != null &amp;&amp; !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key.equals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(table[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].key)) 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	   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= (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+ h2) %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table.length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	}</a:t>
            </a:r>
            <a:endParaRPr lang="en-US" altLang="en-US" sz="1800" dirty="0"/>
          </a:p>
          <a:p>
            <a:r>
              <a:rPr lang="en-US" altLang="en-US" dirty="0"/>
              <a:t>When would this happen?</a:t>
            </a:r>
            <a:r>
              <a:rPr lang="en-US" altLang="en-US" dirty="0">
                <a:solidFill>
                  <a:schemeClr val="accent2"/>
                </a:solidFill>
              </a:rPr>
              <a:t> </a:t>
            </a:r>
            <a:br>
              <a:rPr lang="en-US" altLang="en-US" dirty="0">
                <a:solidFill>
                  <a:schemeClr val="accent2"/>
                </a:solidFill>
              </a:rPr>
            </a:br>
            <a:r>
              <a:rPr lang="en-US" altLang="en-US" dirty="0">
                <a:solidFill>
                  <a:srgbClr val="0000FF"/>
                </a:solidFill>
              </a:rPr>
              <a:t>if the key isn't in the table, and there are no empty positions</a:t>
            </a:r>
          </a:p>
          <a:p>
            <a:pPr>
              <a:spcBef>
                <a:spcPts val="2400"/>
              </a:spcBef>
            </a:pPr>
            <a:r>
              <a:rPr lang="en-US" altLang="en-US" dirty="0"/>
              <a:t>We can stop probing after checking n positions (n = table size), because the probe sequence will just repeat after that point.</a:t>
            </a:r>
          </a:p>
          <a:p>
            <a:pPr lvl="1"/>
            <a:r>
              <a:rPr lang="en-US" altLang="en-US" dirty="0"/>
              <a:t>for quadratic probing: </a:t>
            </a:r>
            <a:br>
              <a:rPr lang="en-US" altLang="en-US" dirty="0"/>
            </a:br>
            <a:r>
              <a:rPr lang="en-US" altLang="en-US" dirty="0"/>
              <a:t>	</a:t>
            </a:r>
            <a:r>
              <a:rPr lang="en-US" altLang="en-US" sz="2000" dirty="0"/>
              <a:t>(h1 + n</a:t>
            </a:r>
            <a:r>
              <a:rPr lang="en-US" altLang="en-US" sz="2000" baseline="30000" dirty="0"/>
              <a:t>2</a:t>
            </a:r>
            <a:r>
              <a:rPr lang="en-US" altLang="en-US" sz="2000" dirty="0"/>
              <a:t>) % n  =  h1 % n</a:t>
            </a:r>
            <a:br>
              <a:rPr lang="en-US" altLang="en-US" sz="2000" dirty="0"/>
            </a:br>
            <a:r>
              <a:rPr lang="en-US" altLang="en-US" sz="2000" dirty="0"/>
              <a:t>	(h1 + </a:t>
            </a:r>
            <a:r>
              <a:rPr lang="en-US" altLang="en-US" sz="2000" dirty="0">
                <a:solidFill>
                  <a:srgbClr val="0000FF"/>
                </a:solidFill>
              </a:rPr>
              <a:t>(n+1)</a:t>
            </a:r>
            <a:r>
              <a:rPr lang="en-US" altLang="en-US" sz="2000" baseline="30000" dirty="0">
                <a:solidFill>
                  <a:srgbClr val="0000FF"/>
                </a:solidFill>
              </a:rPr>
              <a:t>2</a:t>
            </a:r>
            <a:r>
              <a:rPr lang="en-US" altLang="en-US" sz="2000" dirty="0"/>
              <a:t>) % n  =  (h1 + </a:t>
            </a:r>
            <a:r>
              <a:rPr lang="en-US" altLang="en-US" sz="2000" dirty="0">
                <a:solidFill>
                  <a:srgbClr val="FF0000"/>
                </a:solidFill>
              </a:rPr>
              <a:t>n</a:t>
            </a:r>
            <a:r>
              <a:rPr lang="en-US" altLang="en-US" sz="2000" baseline="30000" dirty="0">
                <a:solidFill>
                  <a:srgbClr val="FF0000"/>
                </a:solidFill>
              </a:rPr>
              <a:t>2</a:t>
            </a:r>
            <a:r>
              <a:rPr lang="en-US" altLang="en-US" sz="2000" dirty="0">
                <a:solidFill>
                  <a:srgbClr val="FF0000"/>
                </a:solidFill>
              </a:rPr>
              <a:t> + 2n</a:t>
            </a:r>
            <a:r>
              <a:rPr lang="en-US" altLang="en-US" sz="2000" dirty="0">
                <a:solidFill>
                  <a:srgbClr val="0000FF"/>
                </a:solidFill>
              </a:rPr>
              <a:t> + 1</a:t>
            </a:r>
            <a:r>
              <a:rPr lang="en-US" altLang="en-US" sz="2000" dirty="0"/>
              <a:t>) % n = (h1 + 1)</a:t>
            </a:r>
            <a:r>
              <a:rPr lang="en-US" altLang="en-US" sz="1000" dirty="0"/>
              <a:t> </a:t>
            </a:r>
            <a:r>
              <a:rPr lang="en-US" altLang="en-US" sz="2000" dirty="0"/>
              <a:t>%</a:t>
            </a:r>
            <a:r>
              <a:rPr lang="en-US" altLang="en-US" sz="1000" dirty="0"/>
              <a:t> </a:t>
            </a:r>
            <a:r>
              <a:rPr lang="en-US" altLang="en-US" sz="2000" dirty="0"/>
              <a:t>n</a:t>
            </a:r>
          </a:p>
        </p:txBody>
      </p:sp>
    </p:spTree>
    <p:extLst>
      <p:ext uri="{BB962C8B-B14F-4D97-AF65-F5344CB8AC3E}">
        <p14:creationId xmlns:p14="http://schemas.microsoft.com/office/powerpoint/2010/main" val="4179959764"/>
      </p:ext>
    </p:extLst>
  </p:cSld>
  <p:clrMapOvr>
    <a:masterClrMapping/>
  </p:clrMapOvr>
</p:sld>
</file>

<file path=ppt/slides/slide27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55077" y="4036292"/>
            <a:ext cx="7747610" cy="242324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802687" cy="5614988"/>
          </a:xfrm>
        </p:spPr>
        <p:txBody>
          <a:bodyPr/>
          <a:lstStyle/>
          <a:p>
            <a:r>
              <a:rPr lang="en-US" altLang="en-US" dirty="0"/>
              <a:t>The while loop in our probe method could lead to an infinite loop.</a:t>
            </a:r>
          </a:p>
          <a:p>
            <a:pPr>
              <a:spcBef>
                <a:spcPct val="30000"/>
              </a:spcBef>
              <a:buFontTx/>
              <a:buNone/>
            </a:pPr>
            <a:r>
              <a:rPr lang="en-US" altLang="en-US" sz="2000" dirty="0">
                <a:solidFill>
                  <a:schemeClr val="tx1"/>
                </a:solidFill>
                <a:latin typeface="Lucida Console" panose="020B0609040504020204" pitchFamily="49" charset="0"/>
              </a:rPr>
              <a:t>  	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while (table[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] != null &amp;&amp; !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key.equals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(table[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].key)) 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	   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= (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+ h2) %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table.length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	}</a:t>
            </a:r>
            <a:endParaRPr lang="en-US" altLang="en-US" sz="1800" dirty="0"/>
          </a:p>
          <a:p>
            <a:r>
              <a:rPr lang="en-US" altLang="en-US" dirty="0"/>
              <a:t>When would this happen?</a:t>
            </a:r>
            <a:r>
              <a:rPr lang="en-US" altLang="en-US" dirty="0">
                <a:solidFill>
                  <a:schemeClr val="accent2"/>
                </a:solidFill>
              </a:rPr>
              <a:t> </a:t>
            </a:r>
            <a:br>
              <a:rPr lang="en-US" altLang="en-US" dirty="0">
                <a:solidFill>
                  <a:schemeClr val="accent2"/>
                </a:solidFill>
              </a:rPr>
            </a:br>
            <a:r>
              <a:rPr lang="en-US" altLang="en-US" dirty="0">
                <a:solidFill>
                  <a:schemeClr val="tx1"/>
                </a:solidFill>
              </a:rPr>
              <a:t>if the key isn't in the table, and there are no empty positions</a:t>
            </a:r>
          </a:p>
          <a:p>
            <a:pPr>
              <a:spcBef>
                <a:spcPts val="2400"/>
              </a:spcBef>
            </a:pPr>
            <a:r>
              <a:rPr lang="en-US" altLang="en-US" dirty="0"/>
              <a:t>We can stop probing after checking n positions (n = table size), because the probe sequence will just repeat after that point.</a:t>
            </a:r>
          </a:p>
          <a:p>
            <a:pPr lvl="1"/>
            <a:r>
              <a:rPr lang="en-US" altLang="en-US" dirty="0"/>
              <a:t>for quadratic probing: </a:t>
            </a:r>
            <a:br>
              <a:rPr lang="en-US" altLang="en-US" dirty="0"/>
            </a:br>
            <a:r>
              <a:rPr lang="en-US" altLang="en-US" dirty="0"/>
              <a:t>	</a:t>
            </a:r>
            <a:r>
              <a:rPr lang="en-US" altLang="en-US" sz="2000" dirty="0"/>
              <a:t>(h1 + n</a:t>
            </a:r>
            <a:r>
              <a:rPr lang="en-US" altLang="en-US" sz="2000" baseline="30000" dirty="0"/>
              <a:t>2</a:t>
            </a:r>
            <a:r>
              <a:rPr lang="en-US" altLang="en-US" sz="2000" dirty="0"/>
              <a:t>) % n  =  h1 % n</a:t>
            </a:r>
            <a:br>
              <a:rPr lang="en-US" altLang="en-US" sz="2000" dirty="0"/>
            </a:br>
            <a:r>
              <a:rPr lang="en-US" altLang="en-US" sz="2000" dirty="0"/>
              <a:t>	(h1 + (n+1)</a:t>
            </a:r>
            <a:r>
              <a:rPr lang="en-US" altLang="en-US" sz="2000" baseline="30000" dirty="0"/>
              <a:t>2</a:t>
            </a:r>
            <a:r>
              <a:rPr lang="en-US" altLang="en-US" sz="2000" dirty="0"/>
              <a:t>) % n  =  (h1 + n</a:t>
            </a:r>
            <a:r>
              <a:rPr lang="en-US" altLang="en-US" sz="2000" baseline="30000" dirty="0"/>
              <a:t>2</a:t>
            </a:r>
            <a:r>
              <a:rPr lang="en-US" altLang="en-US" sz="2000" dirty="0"/>
              <a:t> + 2n + 1) % n = </a:t>
            </a:r>
            <a:r>
              <a:rPr lang="en-US" altLang="en-US" sz="2000" dirty="0">
                <a:solidFill>
                  <a:srgbClr val="0000FF"/>
                </a:solidFill>
              </a:rPr>
              <a:t>(h1 + 1)</a:t>
            </a:r>
            <a:r>
              <a:rPr lang="en-US" altLang="en-US" sz="1000" dirty="0">
                <a:solidFill>
                  <a:srgbClr val="0000FF"/>
                </a:solidFill>
              </a:rPr>
              <a:t> </a:t>
            </a:r>
            <a:r>
              <a:rPr lang="en-US" altLang="en-US" sz="2000" dirty="0">
                <a:solidFill>
                  <a:srgbClr val="0000FF"/>
                </a:solidFill>
              </a:rPr>
              <a:t>%</a:t>
            </a:r>
            <a:r>
              <a:rPr lang="en-US" altLang="en-US" sz="1000" dirty="0">
                <a:solidFill>
                  <a:srgbClr val="0000FF"/>
                </a:solidFill>
              </a:rPr>
              <a:t> </a:t>
            </a:r>
            <a:r>
              <a:rPr lang="en-US" altLang="en-US" sz="2000" dirty="0">
                <a:solidFill>
                  <a:srgbClr val="0000FF"/>
                </a:solidFill>
              </a:rPr>
              <a:t>n</a:t>
            </a:r>
          </a:p>
          <a:p>
            <a:pPr lvl="1"/>
            <a:r>
              <a:rPr lang="en-US" altLang="en-US" dirty="0"/>
              <a:t>for double hashing: </a:t>
            </a:r>
            <a:br>
              <a:rPr lang="en-US" altLang="en-US" dirty="0"/>
            </a:br>
            <a:r>
              <a:rPr lang="en-US" altLang="en-US" dirty="0"/>
              <a:t>	</a:t>
            </a:r>
            <a:r>
              <a:rPr lang="en-US" altLang="en-US" sz="2000" dirty="0"/>
              <a:t>(h1 + n*h2) % n  =  h1 % n</a:t>
            </a:r>
            <a:br>
              <a:rPr lang="en-US" altLang="en-US" sz="2000" dirty="0"/>
            </a:br>
            <a:r>
              <a:rPr lang="en-US" altLang="en-US" sz="2000" dirty="0"/>
              <a:t>	(h1 + (n+1)</a:t>
            </a:r>
            <a:r>
              <a:rPr lang="en-US" altLang="en-US" sz="2000" baseline="30000" dirty="0"/>
              <a:t>*</a:t>
            </a:r>
            <a:r>
              <a:rPr lang="en-US" altLang="en-US" sz="2000" dirty="0"/>
              <a:t>h2) % n  =  (h1 + n*h2 + h2) % n = </a:t>
            </a:r>
            <a:r>
              <a:rPr lang="en-US" altLang="en-US" sz="2000" dirty="0">
                <a:solidFill>
                  <a:srgbClr val="0000FF"/>
                </a:solidFill>
              </a:rPr>
              <a:t>(h1 + h2)</a:t>
            </a:r>
            <a:r>
              <a:rPr lang="en-US" altLang="en-US" sz="1000" dirty="0">
                <a:solidFill>
                  <a:srgbClr val="0000FF"/>
                </a:solidFill>
              </a:rPr>
              <a:t> </a:t>
            </a:r>
            <a:r>
              <a:rPr lang="en-US" altLang="en-US" sz="2000" dirty="0">
                <a:solidFill>
                  <a:srgbClr val="0000FF"/>
                </a:solidFill>
              </a:rPr>
              <a:t>%</a:t>
            </a:r>
            <a:r>
              <a:rPr lang="en-US" altLang="en-US" sz="1000" dirty="0">
                <a:solidFill>
                  <a:srgbClr val="0000FF"/>
                </a:solidFill>
              </a:rPr>
              <a:t> </a:t>
            </a:r>
            <a:r>
              <a:rPr lang="en-US" altLang="en-US" sz="2000" dirty="0">
                <a:solidFill>
                  <a:srgbClr val="0000FF"/>
                </a:solidFill>
              </a:rPr>
              <a:t>n</a:t>
            </a:r>
          </a:p>
        </p:txBody>
      </p:sp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Avoiding an Infinite Loop</a:t>
            </a:r>
          </a:p>
        </p:txBody>
      </p:sp>
    </p:spTree>
    <p:extLst>
      <p:ext uri="{BB962C8B-B14F-4D97-AF65-F5344CB8AC3E}">
        <p14:creationId xmlns:p14="http://schemas.microsoft.com/office/powerpoint/2010/main" val="4119330488"/>
      </p:ext>
    </p:extLst>
  </p:cSld>
  <p:clrMapOvr>
    <a:masterClrMapping/>
  </p:clrMapOvr>
</p:sld>
</file>

<file path=ppt/slides/slide28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>
          <a:xfrm>
            <a:off x="258763" y="128588"/>
            <a:ext cx="8683625" cy="847725"/>
          </a:xfrm>
        </p:spPr>
        <p:txBody>
          <a:bodyPr/>
          <a:lstStyle/>
          <a:p>
            <a:r>
              <a:rPr lang="en-US" altLang="en-US"/>
              <a:t>Avoiding an Infinite Loop </a:t>
            </a:r>
            <a:r>
              <a:rPr lang="en-US" altLang="en-US" sz="2000"/>
              <a:t>(cont.)</a:t>
            </a:r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65188"/>
            <a:ext cx="8623300" cy="5614987"/>
          </a:xfrm>
        </p:spPr>
        <p:txBody>
          <a:bodyPr/>
          <a:lstStyle/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private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probe(Object key) {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= h1(key);    // first hash function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h2 = h2(key);   // second hash function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1800" b="1" dirty="0" err="1">
                <a:solidFill>
                  <a:srgbClr val="0000FF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1800" b="1" dirty="0" err="1">
                <a:solidFill>
                  <a:srgbClr val="0000FF"/>
                </a:solidFill>
                <a:latin typeface="Lucida Console" panose="020B0609040504020204" pitchFamily="49" charset="0"/>
              </a:rPr>
              <a:t>numChecked</a:t>
            </a: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 = 1;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endParaRPr lang="en-US" altLang="en-US" sz="18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// keep probing until we get an empty position or a match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while (table[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] != null &amp;&amp; !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key.equals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(table[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].key)) {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endParaRPr lang="en-US" altLang="en-US" sz="1800" b="1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endParaRPr lang="en-US" altLang="en-US" sz="1800" b="1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endParaRPr lang="en-US" altLang="en-US" sz="1800" b="1" dirty="0">
              <a:solidFill>
                <a:srgbClr val="0000FF"/>
              </a:solidFill>
              <a:latin typeface="Lucida Console" panose="020B0609040504020204" pitchFamily="49" charset="0"/>
            </a:endParaRP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= (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+ h2) %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table.length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;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endParaRPr lang="en-US" altLang="en-US" sz="1800" b="1" dirty="0">
              <a:solidFill>
                <a:srgbClr val="0000FF"/>
              </a:solidFill>
              <a:latin typeface="Lucida Console" panose="020B0609040504020204" pitchFamily="49" charset="0"/>
            </a:endParaRP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}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endParaRPr lang="en-US" altLang="en-US" sz="18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return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;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103152230"/>
      </p:ext>
    </p:extLst>
  </p:cSld>
  <p:clrMapOvr>
    <a:masterClrMapping/>
  </p:clrMapOvr>
</p:sld>
</file>

<file path=ppt/slides/slide28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>
          <a:xfrm>
            <a:off x="258763" y="128588"/>
            <a:ext cx="8683625" cy="847725"/>
          </a:xfrm>
        </p:spPr>
        <p:txBody>
          <a:bodyPr/>
          <a:lstStyle/>
          <a:p>
            <a:r>
              <a:rPr lang="en-US" altLang="en-US"/>
              <a:t>Avoiding an Infinite Loop </a:t>
            </a:r>
            <a:r>
              <a:rPr lang="en-US" altLang="en-US" sz="2000"/>
              <a:t>(cont.)</a:t>
            </a:r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65188"/>
            <a:ext cx="8623300" cy="5614987"/>
          </a:xfrm>
        </p:spPr>
        <p:txBody>
          <a:bodyPr/>
          <a:lstStyle/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private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probe(Object key) {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= h1(key);    // first hash function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h2 = h2(key);   // second hash function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1800" b="1" dirty="0" err="1">
                <a:solidFill>
                  <a:srgbClr val="0000FF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1800" b="1" dirty="0" err="1">
                <a:solidFill>
                  <a:srgbClr val="0000FF"/>
                </a:solidFill>
                <a:latin typeface="Lucida Console" panose="020B0609040504020204" pitchFamily="49" charset="0"/>
              </a:rPr>
              <a:t>numChecked</a:t>
            </a: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 = 1;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endParaRPr lang="en-US" altLang="en-US" sz="18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// keep probing until we get an empty position or a match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while (table[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] != null &amp;&amp; !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key.equals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(table[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].key)) {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endParaRPr lang="en-US" altLang="en-US" sz="1800" b="1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endParaRPr lang="en-US" altLang="en-US" sz="1800" b="1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endParaRPr lang="en-US" altLang="en-US" sz="1800" b="1" dirty="0">
              <a:solidFill>
                <a:srgbClr val="0000FF"/>
              </a:solidFill>
              <a:latin typeface="Lucida Console" panose="020B0609040504020204" pitchFamily="49" charset="0"/>
            </a:endParaRP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= (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+ h2) %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table.length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;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 </a:t>
            </a:r>
            <a:r>
              <a:rPr lang="en-US" altLang="en-US" sz="1800" b="1" dirty="0" err="1">
                <a:solidFill>
                  <a:srgbClr val="0000FF"/>
                </a:solidFill>
                <a:latin typeface="Lucida Console" panose="020B0609040504020204" pitchFamily="49" charset="0"/>
              </a:rPr>
              <a:t>numChecked</a:t>
            </a: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++;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}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endParaRPr lang="en-US" altLang="en-US" sz="18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return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;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068137797"/>
      </p:ext>
    </p:extLst>
  </p:cSld>
  <p:clrMapOvr>
    <a:masterClrMapping/>
  </p:clrMapOvr>
</p:sld>
</file>

<file path=ppt/slides/slide28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>
          <a:xfrm>
            <a:off x="258763" y="128588"/>
            <a:ext cx="8683625" cy="847725"/>
          </a:xfrm>
        </p:spPr>
        <p:txBody>
          <a:bodyPr/>
          <a:lstStyle/>
          <a:p>
            <a:r>
              <a:rPr lang="en-US" altLang="en-US"/>
              <a:t>Avoiding an Infinite Loop </a:t>
            </a:r>
            <a:r>
              <a:rPr lang="en-US" altLang="en-US" sz="2000"/>
              <a:t>(cont.)</a:t>
            </a:r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65188"/>
            <a:ext cx="8623300" cy="5614987"/>
          </a:xfrm>
        </p:spPr>
        <p:txBody>
          <a:bodyPr/>
          <a:lstStyle/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private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probe(Object key) {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= h1(key);    // first hash function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h2 = h2(key);   // second hash function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1800" b="1" dirty="0" err="1">
                <a:solidFill>
                  <a:srgbClr val="0000FF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1800" b="1" dirty="0" err="1">
                <a:solidFill>
                  <a:srgbClr val="0000FF"/>
                </a:solidFill>
                <a:latin typeface="Lucida Console" panose="020B0609040504020204" pitchFamily="49" charset="0"/>
              </a:rPr>
              <a:t>numChecked</a:t>
            </a: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 = 1;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endParaRPr lang="en-US" altLang="en-US" sz="18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// keep probing until we get an empty position or a match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while (table[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] != null &amp;&amp; !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key.equals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(table[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].key)) {</a:t>
            </a:r>
            <a:endParaRPr lang="en-US" altLang="en-US" sz="1800" b="1" dirty="0">
              <a:solidFill>
                <a:srgbClr val="0000FF"/>
              </a:solidFill>
              <a:latin typeface="Lucida Console" panose="020B0609040504020204" pitchFamily="49" charset="0"/>
            </a:endParaRP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        if (</a:t>
            </a:r>
            <a:r>
              <a:rPr lang="en-US" altLang="en-US" sz="1800" b="1" dirty="0" err="1">
                <a:solidFill>
                  <a:srgbClr val="0000FF"/>
                </a:solidFill>
                <a:latin typeface="Lucida Console" panose="020B0609040504020204" pitchFamily="49" charset="0"/>
              </a:rPr>
              <a:t>numChecked</a:t>
            </a: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 == </a:t>
            </a:r>
            <a:r>
              <a:rPr lang="en-US" altLang="en-US" sz="1800" b="1" dirty="0" err="1">
                <a:solidFill>
                  <a:srgbClr val="0000FF"/>
                </a:solidFill>
                <a:latin typeface="Lucida Console" panose="020B0609040504020204" pitchFamily="49" charset="0"/>
              </a:rPr>
              <a:t>table.length</a:t>
            </a: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) {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            return -1; 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        }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= (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+ h2) %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table.length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;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 </a:t>
            </a:r>
            <a:r>
              <a:rPr lang="en-US" altLang="en-US" sz="1800" b="1" dirty="0" err="1">
                <a:solidFill>
                  <a:srgbClr val="0000FF"/>
                </a:solidFill>
                <a:latin typeface="Lucida Console" panose="020B0609040504020204" pitchFamily="49" charset="0"/>
              </a:rPr>
              <a:t>numChecked</a:t>
            </a: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++;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}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endParaRPr lang="en-US" altLang="en-US" sz="18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return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;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807337211"/>
      </p:ext>
    </p:extLst>
  </p:cSld>
  <p:clrMapOvr>
    <a:masterClrMapping/>
  </p:clrMapOvr>
</p:sld>
</file>

<file path=ppt/slides/slide28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>
          <a:xfrm>
            <a:off x="258763" y="128588"/>
            <a:ext cx="8683625" cy="847725"/>
          </a:xfrm>
        </p:spPr>
        <p:txBody>
          <a:bodyPr/>
          <a:lstStyle/>
          <a:p>
            <a:r>
              <a:rPr lang="en-US" altLang="en-US"/>
              <a:t>Avoiding an Infinite Loop </a:t>
            </a:r>
            <a:r>
              <a:rPr lang="en-US" altLang="en-US" sz="2000"/>
              <a:t>(cont.)</a:t>
            </a:r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65188"/>
            <a:ext cx="8623300" cy="5614987"/>
          </a:xfrm>
        </p:spPr>
        <p:txBody>
          <a:bodyPr/>
          <a:lstStyle/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private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probe(Object key) {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= h1(key);    // first hash function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h2 = h2(key);   // second hash function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1800" b="1" dirty="0" err="1">
                <a:solidFill>
                  <a:srgbClr val="0000FF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1800" b="1" dirty="0" err="1">
                <a:solidFill>
                  <a:srgbClr val="0000FF"/>
                </a:solidFill>
                <a:latin typeface="Lucida Console" panose="020B0609040504020204" pitchFamily="49" charset="0"/>
              </a:rPr>
              <a:t>numChecked</a:t>
            </a: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 = 1;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endParaRPr lang="en-US" altLang="en-US" sz="18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// keep probing until we get an empty position or a match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while (table[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] != null &amp;&amp; !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key.equals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(table[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].key)) {</a:t>
            </a:r>
            <a:endParaRPr lang="en-US" altLang="en-US" sz="1800" b="1" dirty="0">
              <a:solidFill>
                <a:srgbClr val="0000FF"/>
              </a:solidFill>
              <a:latin typeface="Lucida Console" panose="020B0609040504020204" pitchFamily="49" charset="0"/>
            </a:endParaRP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        if (</a:t>
            </a:r>
            <a:r>
              <a:rPr lang="en-US" altLang="en-US" sz="1800" b="1" dirty="0" err="1">
                <a:solidFill>
                  <a:srgbClr val="0000FF"/>
                </a:solidFill>
                <a:latin typeface="Lucida Console" panose="020B0609040504020204" pitchFamily="49" charset="0"/>
              </a:rPr>
              <a:t>numChecked</a:t>
            </a: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 == </a:t>
            </a:r>
            <a:r>
              <a:rPr lang="en-US" altLang="en-US" sz="1800" b="1" dirty="0" err="1">
                <a:solidFill>
                  <a:srgbClr val="0000FF"/>
                </a:solidFill>
                <a:latin typeface="Lucida Console" panose="020B0609040504020204" pitchFamily="49" charset="0"/>
              </a:rPr>
              <a:t>table.length</a:t>
            </a: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) {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            return -1; 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        }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= (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+ h2) %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table.length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;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 </a:t>
            </a:r>
            <a:r>
              <a:rPr lang="en-US" altLang="en-US" sz="1800" b="1" dirty="0" err="1">
                <a:solidFill>
                  <a:srgbClr val="0000FF"/>
                </a:solidFill>
                <a:latin typeface="Lucida Console" panose="020B0609040504020204" pitchFamily="49" charset="0"/>
              </a:rPr>
              <a:t>numChecked</a:t>
            </a: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++;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}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endParaRPr lang="en-US" altLang="en-US" sz="18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1800" dirty="0">
                <a:solidFill>
                  <a:srgbClr val="0000FF"/>
                </a:solidFill>
                <a:latin typeface="Lucida Console" panose="020B0609040504020204" pitchFamily="49" charset="0"/>
              </a:rPr>
              <a:t>return </a:t>
            </a:r>
            <a:r>
              <a:rPr lang="en-US" altLang="en-US" sz="1800" dirty="0" err="1">
                <a:solidFill>
                  <a:srgbClr val="0000FF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rgbClr val="0000FF"/>
                </a:solidFill>
                <a:latin typeface="Lucida Console" panose="020B0609040504020204" pitchFamily="49" charset="0"/>
              </a:rPr>
              <a:t>;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}</a:t>
            </a:r>
          </a:p>
        </p:txBody>
      </p:sp>
      <p:sp>
        <p:nvSpPr>
          <p:cNvPr id="2" name="Cloud Callout 1"/>
          <p:cNvSpPr/>
          <p:nvPr/>
        </p:nvSpPr>
        <p:spPr bwMode="auto">
          <a:xfrm>
            <a:off x="3967089" y="3348111"/>
            <a:ext cx="4487594" cy="1913206"/>
          </a:xfrm>
          <a:prstGeom prst="cloudCallout">
            <a:avLst>
              <a:gd name="adj1" fmla="val -54715"/>
              <a:gd name="adj2" fmla="val -48994"/>
            </a:avLst>
          </a:prstGeom>
          <a:solidFill>
            <a:schemeClr val="bg1">
              <a:lumMod val="85000"/>
            </a:schemeClr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400" dirty="0"/>
              <a:t>…o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Narrow" pitchFamily="34" charset="0"/>
              </a:rPr>
              <a:t>r assign</a:t>
            </a:r>
            <a:r>
              <a:rPr kumimoji="0" lang="en-US" sz="2400" b="0" i="0" u="none" strike="noStrike" cap="none" normalizeH="0" dirty="0">
                <a:ln>
                  <a:noFill/>
                </a:ln>
                <a:solidFill>
                  <a:srgbClr val="000000"/>
                </a:solidFill>
                <a:effectLst/>
                <a:latin typeface="Arial Narrow" pitchFamily="34" charset="0"/>
              </a:rPr>
              <a:t> -1 to variable </a:t>
            </a:r>
            <a:r>
              <a:rPr kumimoji="0" lang="en-US" sz="2400" b="0" i="0" u="none" strike="noStrike" cap="none" normalizeH="0" dirty="0" err="1">
                <a:ln>
                  <a:noFill/>
                </a:ln>
                <a:solidFill>
                  <a:srgbClr val="000000"/>
                </a:solidFill>
                <a:effectLst/>
                <a:latin typeface="Arial Narrow" pitchFamily="34" charset="0"/>
              </a:rPr>
              <a:t>i</a:t>
            </a:r>
            <a:r>
              <a:rPr kumimoji="0" lang="en-US" sz="2400" b="0" i="0" u="none" strike="noStrike" cap="none" normalizeH="0" dirty="0">
                <a:ln>
                  <a:noFill/>
                </a:ln>
                <a:solidFill>
                  <a:srgbClr val="000000"/>
                </a:solidFill>
                <a:effectLst/>
                <a:latin typeface="Arial Narrow" pitchFamily="34" charset="0"/>
              </a:rPr>
              <a:t> and 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dirty="0">
                <a:ln>
                  <a:noFill/>
                </a:ln>
                <a:solidFill>
                  <a:srgbClr val="000000"/>
                </a:solidFill>
                <a:effectLst/>
                <a:latin typeface="Arial Narrow" pitchFamily="34" charset="0"/>
              </a:rPr>
              <a:t>break out of the loop!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8337715"/>
      </p:ext>
    </p:extLst>
  </p:cSld>
  <p:clrMapOvr>
    <a:masterClrMapping/>
  </p:clrMapOvr>
</p:sld>
</file>

<file path=ppt/slides/slide28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>
          <a:xfrm>
            <a:off x="258763" y="128588"/>
            <a:ext cx="8683625" cy="847725"/>
          </a:xfrm>
        </p:spPr>
        <p:txBody>
          <a:bodyPr/>
          <a:lstStyle/>
          <a:p>
            <a:r>
              <a:rPr lang="en-US" altLang="en-US"/>
              <a:t>Avoiding an Infinite Loop </a:t>
            </a:r>
            <a:r>
              <a:rPr lang="en-US" altLang="en-US" sz="2000"/>
              <a:t>(cont.)</a:t>
            </a:r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65188"/>
            <a:ext cx="8623300" cy="5614987"/>
          </a:xfrm>
        </p:spPr>
        <p:txBody>
          <a:bodyPr/>
          <a:lstStyle/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private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probe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(Object </a:t>
            </a:r>
            <a:r>
              <a:rPr lang="en-US" altLang="en-US" sz="1800" b="1" dirty="0">
                <a:solidFill>
                  <a:srgbClr val="FF0000"/>
                </a:solidFill>
                <a:latin typeface="Lucida Console" panose="020B0609040504020204" pitchFamily="49" charset="0"/>
              </a:rPr>
              <a:t>key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) {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1800" b="1" dirty="0" err="1">
                <a:solidFill>
                  <a:srgbClr val="0000FF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1800" b="1" dirty="0" err="1">
                <a:solidFill>
                  <a:srgbClr val="0000FF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 = h1(key);    // first hash function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1800" b="1" dirty="0" err="1">
                <a:solidFill>
                  <a:srgbClr val="0000FF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 h2 = h2(key);   // second hash function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numChecked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= 1;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endParaRPr lang="en-US" altLang="en-US" sz="18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// keep probing until we get an empty position or a match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while (table[</a:t>
            </a:r>
            <a:r>
              <a:rPr lang="en-US" altLang="en-US" sz="1800" b="1" dirty="0" err="1">
                <a:solidFill>
                  <a:srgbClr val="0000FF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] != null &amp;&amp; !</a:t>
            </a:r>
            <a:r>
              <a:rPr lang="en-US" altLang="en-US" sz="1800" b="1" dirty="0" err="1">
                <a:solidFill>
                  <a:srgbClr val="0000FF"/>
                </a:solidFill>
                <a:latin typeface="Lucida Console" panose="020B0609040504020204" pitchFamily="49" charset="0"/>
              </a:rPr>
              <a:t>key.equals</a:t>
            </a: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(table[</a:t>
            </a:r>
            <a:r>
              <a:rPr lang="en-US" altLang="en-US" sz="1800" b="1" dirty="0" err="1">
                <a:solidFill>
                  <a:srgbClr val="0000FF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].key)) {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 if (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numChecked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==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table.length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) {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     return -1; 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 }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 </a:t>
            </a:r>
            <a:r>
              <a:rPr lang="en-US" altLang="en-US" sz="1800" b="1" dirty="0" err="1">
                <a:solidFill>
                  <a:srgbClr val="0000FF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 = (</a:t>
            </a:r>
            <a:r>
              <a:rPr lang="en-US" altLang="en-US" sz="1800" b="1" dirty="0" err="1">
                <a:solidFill>
                  <a:srgbClr val="0000FF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 + h2) % </a:t>
            </a:r>
            <a:r>
              <a:rPr lang="en-US" altLang="en-US" sz="1800" b="1" dirty="0" err="1">
                <a:solidFill>
                  <a:srgbClr val="0000FF"/>
                </a:solidFill>
                <a:latin typeface="Lucida Console" panose="020B0609040504020204" pitchFamily="49" charset="0"/>
              </a:rPr>
              <a:t>table.length</a:t>
            </a: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;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numChecked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++;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}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endParaRPr lang="en-US" altLang="en-US" sz="18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return </a:t>
            </a:r>
            <a:r>
              <a:rPr lang="en-US" altLang="en-US" sz="1800" b="1" dirty="0" err="1">
                <a:solidFill>
                  <a:srgbClr val="0000FF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;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232840358"/>
      </p:ext>
    </p:extLst>
  </p:cSld>
  <p:clrMapOvr>
    <a:masterClrMapping/>
  </p:clrMapOvr>
</p:sld>
</file>

<file path=ppt/slides/slide28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>
          <a:xfrm>
            <a:off x="258763" y="128588"/>
            <a:ext cx="8683625" cy="847725"/>
          </a:xfrm>
        </p:spPr>
        <p:txBody>
          <a:bodyPr/>
          <a:lstStyle/>
          <a:p>
            <a:r>
              <a:rPr lang="en-US" altLang="en-US"/>
              <a:t>Handling the Other Types of Probing</a:t>
            </a:r>
            <a:endParaRPr lang="en-US" altLang="en-US" sz="2000"/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65188"/>
            <a:ext cx="8623300" cy="5614987"/>
          </a:xfrm>
        </p:spPr>
        <p:txBody>
          <a:bodyPr/>
          <a:lstStyle/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private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probe(Object key) {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= h1(key);    // first hash function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h2 = h2(key);   // second hash function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numChecked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= 1;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endParaRPr lang="en-US" altLang="en-US" sz="18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// keep probing until we get an empty position or a match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while (table[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] != null &amp;&amp; !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key.equals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(table[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].key)) {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 if (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numChecked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==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table.length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) {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     return -1;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 }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= (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+ </a:t>
            </a: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h2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) %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table.length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;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numChecked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++;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}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endParaRPr lang="en-US" altLang="en-US" sz="18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return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;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816889931"/>
      </p:ext>
    </p:extLst>
  </p:cSld>
  <p:clrMapOvr>
    <a:masterClrMapping/>
  </p:clrMapOvr>
</p:sld>
</file>

<file path=ppt/slides/slide28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>
          <a:xfrm>
            <a:off x="258763" y="128588"/>
            <a:ext cx="8683625" cy="847725"/>
          </a:xfrm>
        </p:spPr>
        <p:txBody>
          <a:bodyPr/>
          <a:lstStyle/>
          <a:p>
            <a:r>
              <a:rPr lang="en-US" altLang="en-US"/>
              <a:t>Handling the Other Types of Probing</a:t>
            </a:r>
            <a:endParaRPr lang="en-US" altLang="en-US" sz="2000"/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65188"/>
            <a:ext cx="8623300" cy="5614987"/>
          </a:xfrm>
        </p:spPr>
        <p:txBody>
          <a:bodyPr/>
          <a:lstStyle/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private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probe(Object key) {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= h1(key);    // first hash function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h2 = h2(key);   // second hash function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numChecked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= 1;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endParaRPr lang="en-US" altLang="en-US" sz="18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// keep probing until we get an empty position or a match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while (table[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] != null &amp;&amp; !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key.equals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(table[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].key)) {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 if (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numChecked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==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table.length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) {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     return -1;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 }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= (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+ </a:t>
            </a: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h2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) %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table.length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;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numChecked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++;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}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endParaRPr lang="en-US" altLang="en-US" sz="18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return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;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}</a:t>
            </a:r>
          </a:p>
        </p:txBody>
      </p:sp>
      <p:sp>
        <p:nvSpPr>
          <p:cNvPr id="2" name="Cloud Callout 1"/>
          <p:cNvSpPr/>
          <p:nvPr/>
        </p:nvSpPr>
        <p:spPr bwMode="auto">
          <a:xfrm>
            <a:off x="4170947" y="4331369"/>
            <a:ext cx="3449053" cy="1973179"/>
          </a:xfrm>
          <a:prstGeom prst="cloudCallout">
            <a:avLst>
              <a:gd name="adj1" fmla="val -68740"/>
              <a:gd name="adj2" fmla="val -61077"/>
            </a:avLst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i="1" dirty="0"/>
              <a:t>Note that this limits the probe to double hashing. We can generalize by…</a:t>
            </a:r>
            <a:endParaRPr kumimoji="0" lang="en-US" sz="2000" b="0" i="1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879767146"/>
      </p:ext>
    </p:extLst>
  </p:cSld>
  <p:clrMapOvr>
    <a:masterClrMapping/>
  </p:clrMapOvr>
</p:sld>
</file>

<file path=ppt/slides/slide28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>
          <a:xfrm>
            <a:off x="258763" y="128588"/>
            <a:ext cx="8683625" cy="847725"/>
          </a:xfrm>
        </p:spPr>
        <p:txBody>
          <a:bodyPr/>
          <a:lstStyle/>
          <a:p>
            <a:r>
              <a:rPr lang="en-US" altLang="en-US"/>
              <a:t>Handling the Other Types of Probing</a:t>
            </a:r>
            <a:endParaRPr lang="en-US" altLang="en-US" sz="2000"/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65188"/>
            <a:ext cx="8623300" cy="5614987"/>
          </a:xfrm>
        </p:spPr>
        <p:txBody>
          <a:bodyPr/>
          <a:lstStyle/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private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probe(Object key) {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= h1(key);    // first hash function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h2 = h2(key);   // second hash function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numChecked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= 1;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endParaRPr lang="en-US" altLang="en-US" sz="18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// keep probing until we get an empty position or a match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while (table[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] != null &amp;&amp; !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key.equals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(table[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].key)) {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 if (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numChecked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==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table.length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) {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     return -1;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 }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= (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+ </a:t>
            </a:r>
            <a:r>
              <a:rPr lang="en-US" altLang="en-US" sz="1800" b="1" dirty="0" err="1">
                <a:solidFill>
                  <a:srgbClr val="0000FF"/>
                </a:solidFill>
                <a:latin typeface="Lucida Console" panose="020B0609040504020204" pitchFamily="49" charset="0"/>
              </a:rPr>
              <a:t>probeIncr</a:t>
            </a: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1800" b="1" dirty="0" err="1">
                <a:solidFill>
                  <a:srgbClr val="0000FF"/>
                </a:solidFill>
                <a:latin typeface="Lucida Console" panose="020B0609040504020204" pitchFamily="49" charset="0"/>
              </a:rPr>
              <a:t>numChecked</a:t>
            </a: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, h2)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) %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table.length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;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numChecked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++;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}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endParaRPr lang="en-US" altLang="en-US" sz="18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return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;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}</a:t>
            </a:r>
          </a:p>
        </p:txBody>
      </p:sp>
      <p:sp>
        <p:nvSpPr>
          <p:cNvPr id="4" name="Cloud Callout 3"/>
          <p:cNvSpPr/>
          <p:nvPr/>
        </p:nvSpPr>
        <p:spPr bwMode="auto">
          <a:xfrm>
            <a:off x="4170947" y="4331369"/>
            <a:ext cx="3449053" cy="1973179"/>
          </a:xfrm>
          <a:prstGeom prst="cloudCallout">
            <a:avLst>
              <a:gd name="adj1" fmla="val -68740"/>
              <a:gd name="adj2" fmla="val -61077"/>
            </a:avLst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i="1" dirty="0"/>
              <a:t>calling a private method that calculates the probe increment.</a:t>
            </a:r>
            <a:endParaRPr kumimoji="0" lang="en-US" sz="2000" b="0" i="1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950315696"/>
      </p:ext>
    </p:extLst>
  </p:cSld>
  <p:clrMapOvr>
    <a:masterClrMapping/>
  </p:clrMapOvr>
</p:sld>
</file>

<file path=ppt/slides/slide28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>
          <a:xfrm>
            <a:off x="258763" y="79375"/>
            <a:ext cx="8683625" cy="847725"/>
          </a:xfrm>
        </p:spPr>
        <p:txBody>
          <a:bodyPr/>
          <a:lstStyle/>
          <a:p>
            <a:r>
              <a:rPr lang="en-US" altLang="en-US"/>
              <a:t>Handling the Other Types of Probing </a:t>
            </a:r>
            <a:r>
              <a:rPr lang="en-US" altLang="en-US" sz="2000"/>
              <a:t>(cont.)</a:t>
            </a:r>
          </a:p>
        </p:txBody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7725"/>
            <a:ext cx="8623300" cy="5614988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ts val="1000"/>
              </a:spcBef>
              <a:buFontTx/>
              <a:buChar char="•"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dirty="0"/>
              <a:t>The </a:t>
            </a:r>
            <a:r>
              <a:rPr lang="en-US" altLang="en-US" sz="2000" dirty="0" err="1">
                <a:latin typeface="Lucida Console" panose="020B0609040504020204" pitchFamily="49" charset="0"/>
              </a:rPr>
              <a:t>probeIncr</a:t>
            </a:r>
            <a:r>
              <a:rPr lang="en-US" altLang="en-US" sz="2000" dirty="0">
                <a:latin typeface="Lucida Console" panose="020B0609040504020204" pitchFamily="49" charset="0"/>
              </a:rPr>
              <a:t>()</a:t>
            </a:r>
            <a:r>
              <a:rPr lang="en-US" altLang="en-US" dirty="0"/>
              <a:t> method bases the increment on the </a:t>
            </a:r>
            <a:br>
              <a:rPr lang="en-US" altLang="en-US" dirty="0"/>
            </a:br>
            <a:r>
              <a:rPr lang="en-US" altLang="en-US" dirty="0"/>
              <a:t>type of probing:</a:t>
            </a:r>
            <a:endParaRPr lang="en-US" altLang="en-US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>
              <a:lnSpc>
                <a:spcPct val="90000"/>
              </a:lnSpc>
              <a:spcBef>
                <a:spcPts val="100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</a:t>
            </a: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private </a:t>
            </a:r>
            <a:r>
              <a:rPr lang="en-US" altLang="en-US" sz="1800" b="1" dirty="0" err="1">
                <a:solidFill>
                  <a:srgbClr val="0000FF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1800" b="1" dirty="0" err="1">
                <a:solidFill>
                  <a:srgbClr val="0000FF"/>
                </a:solidFill>
                <a:latin typeface="Lucida Console" panose="020B0609040504020204" pitchFamily="49" charset="0"/>
              </a:rPr>
              <a:t>probeIncr</a:t>
            </a: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1800" b="1" dirty="0" err="1">
                <a:solidFill>
                  <a:srgbClr val="0000FF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1800" b="1" dirty="0" err="1">
                <a:solidFill>
                  <a:srgbClr val="0000FF"/>
                </a:solidFill>
                <a:latin typeface="Lucida Console" panose="020B0609040504020204" pitchFamily="49" charset="0"/>
              </a:rPr>
              <a:t>numChecked</a:t>
            </a: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, </a:t>
            </a:r>
            <a:r>
              <a:rPr lang="en-US" altLang="en-US" sz="1800" b="1" dirty="0" err="1">
                <a:solidFill>
                  <a:srgbClr val="0000FF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 h2) 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{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increment;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if (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probeType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== LINEAR) {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    increment = 1;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} else if (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probeType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== QUADRATIC) {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    increment = (2*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numChecked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- 1);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} else {   //  DOUBLE_HASHING: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    increment = h2;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}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endParaRPr lang="en-US" altLang="en-US" sz="18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					 return( increment );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}</a:t>
            </a:r>
          </a:p>
        </p:txBody>
      </p:sp>
    </p:spTree>
    <p:extLst>
      <p:ext uri="{BB962C8B-B14F-4D97-AF65-F5344CB8AC3E}">
        <p14:creationId xmlns:p14="http://schemas.microsoft.com/office/powerpoint/2010/main" val="2495251103"/>
      </p:ext>
    </p:extLst>
  </p:cSld>
  <p:clrMapOvr>
    <a:masterClrMapping/>
  </p:clrMapOvr>
</p:sld>
</file>

<file path=ppt/slides/slide28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>
          <a:xfrm>
            <a:off x="258763" y="79375"/>
            <a:ext cx="8683625" cy="847725"/>
          </a:xfrm>
        </p:spPr>
        <p:txBody>
          <a:bodyPr/>
          <a:lstStyle/>
          <a:p>
            <a:r>
              <a:rPr lang="en-US" altLang="en-US"/>
              <a:t>Handling the Other Types of Probing </a:t>
            </a:r>
            <a:r>
              <a:rPr lang="en-US" altLang="en-US" sz="2000"/>
              <a:t>(cont.)</a:t>
            </a:r>
          </a:p>
        </p:txBody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7725"/>
            <a:ext cx="8623300" cy="5614988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ts val="1000"/>
              </a:spcBef>
              <a:buFontTx/>
              <a:buChar char="•"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dirty="0"/>
              <a:t>The </a:t>
            </a:r>
            <a:r>
              <a:rPr lang="en-US" altLang="en-US" sz="2000" dirty="0" err="1">
                <a:latin typeface="Lucida Console" panose="020B0609040504020204" pitchFamily="49" charset="0"/>
              </a:rPr>
              <a:t>probeIncr</a:t>
            </a:r>
            <a:r>
              <a:rPr lang="en-US" altLang="en-US" sz="2000" dirty="0">
                <a:latin typeface="Lucida Console" panose="020B0609040504020204" pitchFamily="49" charset="0"/>
              </a:rPr>
              <a:t>()</a:t>
            </a:r>
            <a:r>
              <a:rPr lang="en-US" altLang="en-US" dirty="0"/>
              <a:t> method bases the increment on the </a:t>
            </a:r>
            <a:br>
              <a:rPr lang="en-US" altLang="en-US" dirty="0"/>
            </a:br>
            <a:r>
              <a:rPr lang="en-US" altLang="en-US" dirty="0"/>
              <a:t>type of probing:</a:t>
            </a:r>
            <a:endParaRPr lang="en-US" altLang="en-US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>
              <a:lnSpc>
                <a:spcPct val="90000"/>
              </a:lnSpc>
              <a:spcBef>
                <a:spcPts val="100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private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probeIncr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numChecked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,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h2) {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increment;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</a:t>
            </a:r>
            <a:r>
              <a:rPr lang="en-US" altLang="en-US" sz="1800" b="1" dirty="0">
                <a:solidFill>
                  <a:schemeClr val="accent2"/>
                </a:solidFill>
                <a:latin typeface="Lucida Console" panose="020B0609040504020204" pitchFamily="49" charset="0"/>
              </a:rPr>
              <a:t>if (</a:t>
            </a:r>
            <a:r>
              <a:rPr lang="en-US" altLang="en-US" sz="1800" b="1" dirty="0" err="1">
                <a:solidFill>
                  <a:schemeClr val="accent2"/>
                </a:solidFill>
                <a:latin typeface="Lucida Console" panose="020B0609040504020204" pitchFamily="49" charset="0"/>
              </a:rPr>
              <a:t>p</a:t>
            </a:r>
            <a:r>
              <a:rPr lang="en-US" altLang="en-US" sz="1800" b="1" dirty="0" err="1">
                <a:solidFill>
                  <a:srgbClr val="0000FF"/>
                </a:solidFill>
                <a:latin typeface="Lucida Console" panose="020B0609040504020204" pitchFamily="49" charset="0"/>
              </a:rPr>
              <a:t>robeType</a:t>
            </a: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 == LINEAR) {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           increment = 1;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} else if (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probeType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== QUADRATIC) {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    increment = (2*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numChecked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- 1);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} else {   //  DOUBLE_HASHING: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    increment = h2;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}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endParaRPr lang="en-US" altLang="en-US" sz="18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					 return( increment );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}</a:t>
            </a:r>
          </a:p>
        </p:txBody>
      </p:sp>
    </p:spTree>
    <p:extLst>
      <p:ext uri="{BB962C8B-B14F-4D97-AF65-F5344CB8AC3E}">
        <p14:creationId xmlns:p14="http://schemas.microsoft.com/office/powerpoint/2010/main" val="1963485001"/>
      </p:ext>
    </p:extLst>
  </p:cSld>
  <p:clrMapOvr>
    <a:masterClrMapping/>
  </p:clrMapOvr>
</p:sld>
</file>

<file path=ppt/slides/slide29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>
          <a:xfrm>
            <a:off x="258763" y="79375"/>
            <a:ext cx="8683625" cy="847725"/>
          </a:xfrm>
        </p:spPr>
        <p:txBody>
          <a:bodyPr/>
          <a:lstStyle/>
          <a:p>
            <a:r>
              <a:rPr lang="en-US" altLang="en-US"/>
              <a:t>Handling the Other Types of Probing </a:t>
            </a:r>
            <a:r>
              <a:rPr lang="en-US" altLang="en-US" sz="2000"/>
              <a:t>(cont.)</a:t>
            </a:r>
          </a:p>
        </p:txBody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7725"/>
            <a:ext cx="8623300" cy="5614988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ts val="1000"/>
              </a:spcBef>
              <a:buFontTx/>
              <a:buChar char="•"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dirty="0"/>
              <a:t>The </a:t>
            </a:r>
            <a:r>
              <a:rPr lang="en-US" altLang="en-US" sz="2000" dirty="0" err="1">
                <a:latin typeface="Lucida Console" panose="020B0609040504020204" pitchFamily="49" charset="0"/>
              </a:rPr>
              <a:t>probeIncr</a:t>
            </a:r>
            <a:r>
              <a:rPr lang="en-US" altLang="en-US" sz="2000" dirty="0">
                <a:latin typeface="Lucida Console" panose="020B0609040504020204" pitchFamily="49" charset="0"/>
              </a:rPr>
              <a:t>()</a:t>
            </a:r>
            <a:r>
              <a:rPr lang="en-US" altLang="en-US" dirty="0"/>
              <a:t> method bases the increment on the </a:t>
            </a:r>
            <a:br>
              <a:rPr lang="en-US" altLang="en-US" dirty="0"/>
            </a:br>
            <a:r>
              <a:rPr lang="en-US" altLang="en-US" dirty="0"/>
              <a:t>type of probing:</a:t>
            </a:r>
            <a:endParaRPr lang="en-US" altLang="en-US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>
              <a:lnSpc>
                <a:spcPct val="90000"/>
              </a:lnSpc>
              <a:spcBef>
                <a:spcPts val="100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private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probeIncr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numChecked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,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h2) {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increment;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if (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probeType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== LINEAR) {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    increment = 1;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} </a:t>
            </a: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else if (</a:t>
            </a:r>
            <a:r>
              <a:rPr lang="en-US" altLang="en-US" sz="1800" b="1" dirty="0" err="1">
                <a:solidFill>
                  <a:srgbClr val="0000FF"/>
                </a:solidFill>
                <a:latin typeface="Lucida Console" panose="020B0609040504020204" pitchFamily="49" charset="0"/>
              </a:rPr>
              <a:t>probeType</a:t>
            </a: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 == QUADRATIC) {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           increment = (2*</a:t>
            </a:r>
            <a:r>
              <a:rPr lang="en-US" altLang="en-US" sz="1800" b="1" dirty="0" err="1">
                <a:solidFill>
                  <a:srgbClr val="0000FF"/>
                </a:solidFill>
                <a:latin typeface="Lucida Console" panose="020B0609040504020204" pitchFamily="49" charset="0"/>
              </a:rPr>
              <a:t>numChecked</a:t>
            </a: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 - 1)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} else {   //  DOUBLE_HASHING: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    increment = h2;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}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endParaRPr lang="en-US" altLang="en-US" sz="18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					 return( increment );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}</a:t>
            </a:r>
          </a:p>
        </p:txBody>
      </p:sp>
    </p:spTree>
    <p:extLst>
      <p:ext uri="{BB962C8B-B14F-4D97-AF65-F5344CB8AC3E}">
        <p14:creationId xmlns:p14="http://schemas.microsoft.com/office/powerpoint/2010/main" val="247467123"/>
      </p:ext>
    </p:extLst>
  </p:cSld>
  <p:clrMapOvr>
    <a:masterClrMapping/>
  </p:clrMapOvr>
</p:sld>
</file>

<file path=ppt/slides/slide29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731520"/>
            <a:ext cx="6322423" cy="100584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7725"/>
            <a:ext cx="8623300" cy="5614988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ts val="1000"/>
              </a:spcBef>
              <a:buFontTx/>
              <a:buChar char="•"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dirty="0"/>
              <a:t>Why is</a:t>
            </a:r>
            <a:r>
              <a:rPr lang="en-US" altLang="en-US" sz="1600" dirty="0">
                <a:solidFill>
                  <a:schemeClr val="tx1"/>
                </a:solidFill>
                <a:latin typeface="Lucida Console" panose="020B0609040504020204" pitchFamily="49" charset="0"/>
              </a:rPr>
              <a:t>	</a:t>
            </a:r>
            <a:r>
              <a:rPr lang="en-US" altLang="en-US" sz="2000" dirty="0">
                <a:solidFill>
                  <a:schemeClr val="tx1"/>
                </a:solidFill>
                <a:latin typeface="Lucida Console" panose="020B0609040504020204" pitchFamily="49" charset="0"/>
              </a:rPr>
              <a:t>2*</a:t>
            </a:r>
            <a:r>
              <a:rPr lang="en-US" altLang="en-US" sz="20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numChecked</a:t>
            </a:r>
            <a:r>
              <a:rPr lang="en-US" altLang="en-US" sz="2000" dirty="0">
                <a:solidFill>
                  <a:schemeClr val="tx1"/>
                </a:solidFill>
                <a:latin typeface="Lucida Console" panose="020B0609040504020204" pitchFamily="49" charset="0"/>
              </a:rPr>
              <a:t> - 1 </a:t>
            </a:r>
            <a:br>
              <a:rPr lang="en-US" altLang="en-US" sz="2000" dirty="0">
                <a:solidFill>
                  <a:schemeClr val="tx1"/>
                </a:solidFill>
                <a:latin typeface="Lucida Console" panose="020B0609040504020204" pitchFamily="49" charset="0"/>
              </a:rPr>
            </a:br>
            <a:r>
              <a:rPr lang="en-US" altLang="en-US" dirty="0">
                <a:solidFill>
                  <a:schemeClr val="tx1"/>
                </a:solidFill>
              </a:rPr>
              <a:t>the correct increment for quadratic probing</a:t>
            </a:r>
            <a:r>
              <a:rPr lang="en-US" altLang="en-US" dirty="0"/>
              <a:t>?</a:t>
            </a:r>
          </a:p>
          <a:p>
            <a:pPr marL="0" indent="0">
              <a:spcBef>
                <a:spcPts val="2400"/>
              </a:spcBef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dirty="0">
                <a:solidFill>
                  <a:schemeClr val="tx1"/>
                </a:solidFill>
              </a:rPr>
              <a:t>					</a:t>
            </a:r>
          </a:p>
        </p:txBody>
      </p:sp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>
          <a:xfrm>
            <a:off x="258763" y="79375"/>
            <a:ext cx="8683625" cy="847725"/>
          </a:xfrm>
        </p:spPr>
        <p:txBody>
          <a:bodyPr/>
          <a:lstStyle/>
          <a:p>
            <a:r>
              <a:rPr lang="en-US" altLang="en-US" dirty="0"/>
              <a:t>Handling the Other Types of Probing </a:t>
            </a:r>
            <a:r>
              <a:rPr lang="en-US" altLang="en-US" sz="2000" dirty="0"/>
              <a:t>(cont.)</a:t>
            </a:r>
          </a:p>
        </p:txBody>
      </p:sp>
    </p:spTree>
    <p:extLst>
      <p:ext uri="{BB962C8B-B14F-4D97-AF65-F5344CB8AC3E}">
        <p14:creationId xmlns:p14="http://schemas.microsoft.com/office/powerpoint/2010/main" val="1471661245"/>
      </p:ext>
    </p:extLst>
  </p:cSld>
  <p:clrMapOvr>
    <a:masterClrMapping/>
  </p:clrMapOvr>
</p:sld>
</file>

<file path=ppt/slides/slide29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40080" y="731520"/>
            <a:ext cx="6322423" cy="100584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>
          <a:xfrm>
            <a:off x="258763" y="79375"/>
            <a:ext cx="8683625" cy="847725"/>
          </a:xfrm>
        </p:spPr>
        <p:txBody>
          <a:bodyPr/>
          <a:lstStyle/>
          <a:p>
            <a:r>
              <a:rPr lang="en-US" altLang="en-US"/>
              <a:t>Handling the Other Types of Probing </a:t>
            </a:r>
            <a:r>
              <a:rPr lang="en-US" altLang="en-US" sz="2000"/>
              <a:t>(cont.)</a:t>
            </a:r>
          </a:p>
        </p:txBody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7725"/>
            <a:ext cx="8623300" cy="5614988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ts val="1000"/>
              </a:spcBef>
              <a:buFontTx/>
              <a:buChar char="•"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dirty="0"/>
              <a:t>Why is</a:t>
            </a:r>
            <a:r>
              <a:rPr lang="en-US" altLang="en-US" sz="1600" dirty="0">
                <a:solidFill>
                  <a:schemeClr val="tx1"/>
                </a:solidFill>
                <a:latin typeface="Lucida Console" panose="020B0609040504020204" pitchFamily="49" charset="0"/>
              </a:rPr>
              <a:t>	</a:t>
            </a:r>
            <a:r>
              <a:rPr lang="en-US" altLang="en-US" sz="2000" dirty="0">
                <a:solidFill>
                  <a:schemeClr val="tx1"/>
                </a:solidFill>
                <a:latin typeface="Lucida Console" panose="020B0609040504020204" pitchFamily="49" charset="0"/>
              </a:rPr>
              <a:t>2*</a:t>
            </a:r>
            <a:r>
              <a:rPr lang="en-US" altLang="en-US" sz="20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numChecked</a:t>
            </a:r>
            <a:r>
              <a:rPr lang="en-US" altLang="en-US" sz="2000" dirty="0">
                <a:solidFill>
                  <a:schemeClr val="tx1"/>
                </a:solidFill>
                <a:latin typeface="Lucida Console" panose="020B0609040504020204" pitchFamily="49" charset="0"/>
              </a:rPr>
              <a:t> - 1 </a:t>
            </a:r>
            <a:br>
              <a:rPr lang="en-US" altLang="en-US" sz="2000" dirty="0">
                <a:solidFill>
                  <a:schemeClr val="tx1"/>
                </a:solidFill>
                <a:latin typeface="Lucida Console" panose="020B0609040504020204" pitchFamily="49" charset="0"/>
              </a:rPr>
            </a:br>
            <a:r>
              <a:rPr lang="en-US" altLang="en-US" dirty="0">
                <a:solidFill>
                  <a:schemeClr val="tx1"/>
                </a:solidFill>
              </a:rPr>
              <a:t>the correct increment for quadratic probing</a:t>
            </a:r>
            <a:r>
              <a:rPr lang="en-US" altLang="en-US" dirty="0"/>
              <a:t>?</a:t>
            </a:r>
          </a:p>
          <a:p>
            <a:pPr>
              <a:spcBef>
                <a:spcPts val="2400"/>
              </a:spcBef>
              <a:buFontTx/>
              <a:buChar char="•"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dirty="0"/>
              <a:t>Recall that for quadratic probing:</a:t>
            </a:r>
          </a:p>
          <a:p>
            <a:pPr lvl="1">
              <a:spcBef>
                <a:spcPts val="500"/>
              </a:spcBef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dirty="0"/>
              <a:t>probe sequence = h1, h1 + 1</a:t>
            </a:r>
            <a:r>
              <a:rPr lang="en-US" altLang="en-US" baseline="30000" dirty="0"/>
              <a:t>2</a:t>
            </a:r>
            <a:r>
              <a:rPr lang="en-US" altLang="en-US" dirty="0"/>
              <a:t>, h1 + 2</a:t>
            </a:r>
            <a:r>
              <a:rPr lang="en-US" altLang="en-US" baseline="30000" dirty="0"/>
              <a:t>2</a:t>
            </a:r>
            <a:r>
              <a:rPr lang="en-US" altLang="en-US" dirty="0"/>
              <a:t>, …</a:t>
            </a:r>
          </a:p>
          <a:p>
            <a:pPr marL="457200" lvl="1" indent="0">
              <a:lnSpc>
                <a:spcPct val="90000"/>
              </a:lnSpc>
              <a:spcBef>
                <a:spcPts val="500"/>
              </a:spcBef>
              <a:buNone/>
              <a:tabLst>
                <a:tab pos="344488" algn="l"/>
                <a:tab pos="569913" algn="l"/>
                <a:tab pos="688975" algn="l"/>
              </a:tabLst>
            </a:pPr>
            <a:endParaRPr lang="en-US" altLang="en-US" baseline="30000" dirty="0"/>
          </a:p>
          <a:p>
            <a:pPr marL="0" indent="0">
              <a:spcBef>
                <a:spcPts val="1400"/>
              </a:spcBef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dirty="0">
                <a:solidFill>
                  <a:schemeClr val="tx1"/>
                </a:solidFill>
              </a:rPr>
              <a:t>						</a:t>
            </a:r>
          </a:p>
        </p:txBody>
      </p:sp>
    </p:spTree>
    <p:extLst>
      <p:ext uri="{BB962C8B-B14F-4D97-AF65-F5344CB8AC3E}">
        <p14:creationId xmlns:p14="http://schemas.microsoft.com/office/powerpoint/2010/main" val="1411298995"/>
      </p:ext>
    </p:extLst>
  </p:cSld>
  <p:clrMapOvr>
    <a:masterClrMapping/>
  </p:clrMapOvr>
</p:sld>
</file>

<file path=ppt/slides/slide29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40080" y="731520"/>
            <a:ext cx="6322423" cy="100584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>
          <a:xfrm>
            <a:off x="258763" y="79375"/>
            <a:ext cx="8683625" cy="847725"/>
          </a:xfrm>
        </p:spPr>
        <p:txBody>
          <a:bodyPr/>
          <a:lstStyle/>
          <a:p>
            <a:r>
              <a:rPr lang="en-US" altLang="en-US"/>
              <a:t>Handling the Other Types of Probing </a:t>
            </a:r>
            <a:r>
              <a:rPr lang="en-US" altLang="en-US" sz="2000"/>
              <a:t>(cont.)</a:t>
            </a:r>
          </a:p>
        </p:txBody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7725"/>
            <a:ext cx="8623300" cy="5614988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ts val="1000"/>
              </a:spcBef>
              <a:buFontTx/>
              <a:buChar char="•"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dirty="0"/>
              <a:t>Why is</a:t>
            </a:r>
            <a:r>
              <a:rPr lang="en-US" altLang="en-US" sz="1600" dirty="0">
                <a:solidFill>
                  <a:schemeClr val="tx1"/>
                </a:solidFill>
                <a:latin typeface="Lucida Console" panose="020B0609040504020204" pitchFamily="49" charset="0"/>
              </a:rPr>
              <a:t>	</a:t>
            </a:r>
            <a:r>
              <a:rPr lang="en-US" altLang="en-US" sz="2000" dirty="0">
                <a:solidFill>
                  <a:schemeClr val="tx1"/>
                </a:solidFill>
                <a:latin typeface="Lucida Console" panose="020B0609040504020204" pitchFamily="49" charset="0"/>
              </a:rPr>
              <a:t>2*</a:t>
            </a:r>
            <a:r>
              <a:rPr lang="en-US" altLang="en-US" sz="20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numChecked</a:t>
            </a:r>
            <a:r>
              <a:rPr lang="en-US" altLang="en-US" sz="2000" dirty="0">
                <a:solidFill>
                  <a:schemeClr val="tx1"/>
                </a:solidFill>
                <a:latin typeface="Lucida Console" panose="020B0609040504020204" pitchFamily="49" charset="0"/>
              </a:rPr>
              <a:t> - 1 </a:t>
            </a:r>
            <a:br>
              <a:rPr lang="en-US" altLang="en-US" sz="2000" dirty="0">
                <a:solidFill>
                  <a:schemeClr val="tx1"/>
                </a:solidFill>
                <a:latin typeface="Lucida Console" panose="020B0609040504020204" pitchFamily="49" charset="0"/>
              </a:rPr>
            </a:br>
            <a:r>
              <a:rPr lang="en-US" altLang="en-US" dirty="0">
                <a:solidFill>
                  <a:schemeClr val="tx1"/>
                </a:solidFill>
              </a:rPr>
              <a:t>the correct increment for quadratic probing</a:t>
            </a:r>
            <a:r>
              <a:rPr lang="en-US" altLang="en-US" dirty="0"/>
              <a:t>?</a:t>
            </a:r>
          </a:p>
          <a:p>
            <a:pPr>
              <a:spcBef>
                <a:spcPts val="2400"/>
              </a:spcBef>
              <a:buFontTx/>
              <a:buChar char="•"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dirty="0"/>
              <a:t>Recall that for quadratic probing:</a:t>
            </a:r>
          </a:p>
          <a:p>
            <a:pPr lvl="1">
              <a:spcBef>
                <a:spcPts val="500"/>
              </a:spcBef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dirty="0"/>
              <a:t>probe sequence = h1, h1 + 1</a:t>
            </a:r>
            <a:r>
              <a:rPr lang="en-US" altLang="en-US" baseline="30000" dirty="0"/>
              <a:t>2</a:t>
            </a:r>
            <a:r>
              <a:rPr lang="en-US" altLang="en-US" dirty="0"/>
              <a:t>, h1 + 2</a:t>
            </a:r>
            <a:r>
              <a:rPr lang="en-US" altLang="en-US" baseline="30000" dirty="0"/>
              <a:t>2</a:t>
            </a:r>
            <a:r>
              <a:rPr lang="en-US" altLang="en-US" dirty="0"/>
              <a:t>, …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dirty="0" err="1"/>
              <a:t>jth</a:t>
            </a:r>
            <a:r>
              <a:rPr lang="en-US" altLang="en-US" dirty="0"/>
              <a:t> index in the sequence = h1 + j</a:t>
            </a:r>
            <a:r>
              <a:rPr lang="en-US" altLang="en-US" baseline="30000" dirty="0"/>
              <a:t>2</a:t>
            </a:r>
          </a:p>
          <a:p>
            <a:pPr marL="0" indent="0">
              <a:spcBef>
                <a:spcPts val="1400"/>
              </a:spcBef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dirty="0">
                <a:solidFill>
                  <a:schemeClr val="tx1"/>
                </a:solidFill>
              </a:rPr>
              <a:t>						</a:t>
            </a:r>
          </a:p>
        </p:txBody>
      </p:sp>
    </p:spTree>
    <p:extLst>
      <p:ext uri="{BB962C8B-B14F-4D97-AF65-F5344CB8AC3E}">
        <p14:creationId xmlns:p14="http://schemas.microsoft.com/office/powerpoint/2010/main" val="3716564324"/>
      </p:ext>
    </p:extLst>
  </p:cSld>
  <p:clrMapOvr>
    <a:masterClrMapping/>
  </p:clrMapOvr>
</p:sld>
</file>

<file path=ppt/slides/slide29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40080" y="731520"/>
            <a:ext cx="6322423" cy="100584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>
          <a:xfrm>
            <a:off x="258763" y="79375"/>
            <a:ext cx="8683625" cy="847725"/>
          </a:xfrm>
        </p:spPr>
        <p:txBody>
          <a:bodyPr/>
          <a:lstStyle/>
          <a:p>
            <a:r>
              <a:rPr lang="en-US" altLang="en-US"/>
              <a:t>Handling the Other Types of Probing </a:t>
            </a:r>
            <a:r>
              <a:rPr lang="en-US" altLang="en-US" sz="2000"/>
              <a:t>(cont.)</a:t>
            </a:r>
          </a:p>
        </p:txBody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7725"/>
            <a:ext cx="8623300" cy="5614988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ts val="1000"/>
              </a:spcBef>
              <a:buFontTx/>
              <a:buChar char="•"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dirty="0"/>
              <a:t>Why is</a:t>
            </a:r>
            <a:r>
              <a:rPr lang="en-US" altLang="en-US" sz="1600" dirty="0">
                <a:solidFill>
                  <a:schemeClr val="tx1"/>
                </a:solidFill>
                <a:latin typeface="Lucida Console" panose="020B0609040504020204" pitchFamily="49" charset="0"/>
              </a:rPr>
              <a:t>	</a:t>
            </a:r>
            <a:r>
              <a:rPr lang="en-US" altLang="en-US" sz="2000" dirty="0">
                <a:solidFill>
                  <a:schemeClr val="tx1"/>
                </a:solidFill>
                <a:latin typeface="Lucida Console" panose="020B0609040504020204" pitchFamily="49" charset="0"/>
              </a:rPr>
              <a:t>2*</a:t>
            </a:r>
            <a:r>
              <a:rPr lang="en-US" altLang="en-US" sz="20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numChecked</a:t>
            </a:r>
            <a:r>
              <a:rPr lang="en-US" altLang="en-US" sz="2000" dirty="0">
                <a:solidFill>
                  <a:schemeClr val="tx1"/>
                </a:solidFill>
                <a:latin typeface="Lucida Console" panose="020B0609040504020204" pitchFamily="49" charset="0"/>
              </a:rPr>
              <a:t> - 1 </a:t>
            </a:r>
            <a:br>
              <a:rPr lang="en-US" altLang="en-US" sz="2000" dirty="0">
                <a:solidFill>
                  <a:schemeClr val="tx1"/>
                </a:solidFill>
                <a:latin typeface="Lucida Console" panose="020B0609040504020204" pitchFamily="49" charset="0"/>
              </a:rPr>
            </a:br>
            <a:r>
              <a:rPr lang="en-US" altLang="en-US" dirty="0">
                <a:solidFill>
                  <a:schemeClr val="tx1"/>
                </a:solidFill>
              </a:rPr>
              <a:t>the correct increment for quadratic probing</a:t>
            </a:r>
            <a:r>
              <a:rPr lang="en-US" altLang="en-US" dirty="0"/>
              <a:t>?</a:t>
            </a:r>
          </a:p>
          <a:p>
            <a:pPr>
              <a:spcBef>
                <a:spcPts val="2400"/>
              </a:spcBef>
              <a:buFontTx/>
              <a:buChar char="•"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dirty="0"/>
              <a:t>Recall that for quadratic probing:</a:t>
            </a:r>
          </a:p>
          <a:p>
            <a:pPr lvl="1">
              <a:spcBef>
                <a:spcPts val="500"/>
              </a:spcBef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dirty="0"/>
              <a:t>probe sequence = h1, h1 + 1</a:t>
            </a:r>
            <a:r>
              <a:rPr lang="en-US" altLang="en-US" baseline="30000" dirty="0"/>
              <a:t>2</a:t>
            </a:r>
            <a:r>
              <a:rPr lang="en-US" altLang="en-US" dirty="0"/>
              <a:t>, h1 + 2</a:t>
            </a:r>
            <a:r>
              <a:rPr lang="en-US" altLang="en-US" baseline="30000" dirty="0"/>
              <a:t>2</a:t>
            </a:r>
            <a:r>
              <a:rPr lang="en-US" altLang="en-US" dirty="0"/>
              <a:t>, …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dirty="0" err="1"/>
              <a:t>jth</a:t>
            </a:r>
            <a:r>
              <a:rPr lang="en-US" altLang="en-US" dirty="0"/>
              <a:t> index in the sequence = h1 + j</a:t>
            </a:r>
            <a:r>
              <a:rPr lang="en-US" altLang="en-US" baseline="30000" dirty="0"/>
              <a:t>2</a:t>
            </a:r>
            <a:r>
              <a:rPr lang="en-US" altLang="en-US" dirty="0">
                <a:solidFill>
                  <a:schemeClr val="tx1"/>
                </a:solidFill>
              </a:rPr>
              <a:t> 	(note: j = </a:t>
            </a:r>
            <a:r>
              <a:rPr lang="en-US" altLang="en-US" dirty="0" err="1">
                <a:solidFill>
                  <a:schemeClr val="tx1"/>
                </a:solidFill>
              </a:rPr>
              <a:t>numChecked</a:t>
            </a:r>
            <a:r>
              <a:rPr lang="en-US" altLang="en-US" dirty="0">
                <a:solidFill>
                  <a:schemeClr val="tx1"/>
                </a:solidFill>
              </a:rPr>
              <a:t>)</a:t>
            </a:r>
            <a:endParaRPr lang="en-US" altLang="en-US" baseline="30000" dirty="0"/>
          </a:p>
          <a:p>
            <a:pPr marL="0" indent="0">
              <a:spcBef>
                <a:spcPts val="1400"/>
              </a:spcBef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dirty="0">
                <a:solidFill>
                  <a:schemeClr val="tx1"/>
                </a:solidFill>
              </a:rPr>
              <a:t>						</a:t>
            </a:r>
          </a:p>
        </p:txBody>
      </p:sp>
    </p:spTree>
    <p:extLst>
      <p:ext uri="{BB962C8B-B14F-4D97-AF65-F5344CB8AC3E}">
        <p14:creationId xmlns:p14="http://schemas.microsoft.com/office/powerpoint/2010/main" val="1630718010"/>
      </p:ext>
    </p:extLst>
  </p:cSld>
  <p:clrMapOvr>
    <a:masterClrMapping/>
  </p:clrMapOvr>
</p:sld>
</file>

<file path=ppt/slides/slide29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40080" y="731520"/>
            <a:ext cx="6322423" cy="100584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>
          <a:xfrm>
            <a:off x="258763" y="79375"/>
            <a:ext cx="8683625" cy="847725"/>
          </a:xfrm>
        </p:spPr>
        <p:txBody>
          <a:bodyPr/>
          <a:lstStyle/>
          <a:p>
            <a:r>
              <a:rPr lang="en-US" altLang="en-US"/>
              <a:t>Handling the Other Types of Probing </a:t>
            </a:r>
            <a:r>
              <a:rPr lang="en-US" altLang="en-US" sz="2000"/>
              <a:t>(cont.)</a:t>
            </a:r>
          </a:p>
        </p:txBody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7725"/>
            <a:ext cx="8623300" cy="5614988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ts val="1000"/>
              </a:spcBef>
              <a:buFontTx/>
              <a:buChar char="•"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dirty="0"/>
              <a:t>Why is</a:t>
            </a:r>
            <a:r>
              <a:rPr lang="en-US" altLang="en-US" sz="1600" dirty="0">
                <a:solidFill>
                  <a:schemeClr val="tx1"/>
                </a:solidFill>
                <a:latin typeface="Lucida Console" panose="020B0609040504020204" pitchFamily="49" charset="0"/>
              </a:rPr>
              <a:t>	</a:t>
            </a:r>
            <a:r>
              <a:rPr lang="en-US" altLang="en-US" sz="2000" dirty="0">
                <a:solidFill>
                  <a:schemeClr val="tx1"/>
                </a:solidFill>
                <a:latin typeface="Lucida Console" panose="020B0609040504020204" pitchFamily="49" charset="0"/>
              </a:rPr>
              <a:t>2*</a:t>
            </a:r>
            <a:r>
              <a:rPr lang="en-US" altLang="en-US" sz="20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numChecked</a:t>
            </a:r>
            <a:r>
              <a:rPr lang="en-US" altLang="en-US" sz="2000" dirty="0">
                <a:solidFill>
                  <a:schemeClr val="tx1"/>
                </a:solidFill>
                <a:latin typeface="Lucida Console" panose="020B0609040504020204" pitchFamily="49" charset="0"/>
              </a:rPr>
              <a:t> - 1 </a:t>
            </a:r>
            <a:br>
              <a:rPr lang="en-US" altLang="en-US" sz="2000" dirty="0">
                <a:solidFill>
                  <a:schemeClr val="tx1"/>
                </a:solidFill>
                <a:latin typeface="Lucida Console" panose="020B0609040504020204" pitchFamily="49" charset="0"/>
              </a:rPr>
            </a:br>
            <a:r>
              <a:rPr lang="en-US" altLang="en-US" dirty="0">
                <a:solidFill>
                  <a:schemeClr val="tx1"/>
                </a:solidFill>
              </a:rPr>
              <a:t>the correct increment for quadratic probing</a:t>
            </a:r>
            <a:r>
              <a:rPr lang="en-US" altLang="en-US" dirty="0"/>
              <a:t>?</a:t>
            </a:r>
          </a:p>
          <a:p>
            <a:pPr>
              <a:spcBef>
                <a:spcPts val="2400"/>
              </a:spcBef>
              <a:buFontTx/>
              <a:buChar char="•"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dirty="0"/>
              <a:t>Recall that for quadratic probing:</a:t>
            </a:r>
          </a:p>
          <a:p>
            <a:pPr lvl="1">
              <a:spcBef>
                <a:spcPts val="500"/>
              </a:spcBef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dirty="0"/>
              <a:t>probe sequence = h1, h1 + 1</a:t>
            </a:r>
            <a:r>
              <a:rPr lang="en-US" altLang="en-US" baseline="30000" dirty="0"/>
              <a:t>2</a:t>
            </a:r>
            <a:r>
              <a:rPr lang="en-US" altLang="en-US" dirty="0"/>
              <a:t>, h1 + 2</a:t>
            </a:r>
            <a:r>
              <a:rPr lang="en-US" altLang="en-US" baseline="30000" dirty="0"/>
              <a:t>2</a:t>
            </a:r>
            <a:r>
              <a:rPr lang="en-US" altLang="en-US" dirty="0"/>
              <a:t>, …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dirty="0" err="1"/>
              <a:t>jth</a:t>
            </a:r>
            <a:r>
              <a:rPr lang="en-US" altLang="en-US" dirty="0"/>
              <a:t> index in the sequence = h1 + j</a:t>
            </a:r>
            <a:r>
              <a:rPr lang="en-US" altLang="en-US" baseline="30000" dirty="0"/>
              <a:t>2</a:t>
            </a:r>
            <a:r>
              <a:rPr lang="en-US" altLang="en-US" dirty="0">
                <a:solidFill>
                  <a:schemeClr val="tx1"/>
                </a:solidFill>
              </a:rPr>
              <a:t> 	(note: j = </a:t>
            </a:r>
            <a:r>
              <a:rPr lang="en-US" altLang="en-US" dirty="0" err="1">
                <a:solidFill>
                  <a:schemeClr val="tx1"/>
                </a:solidFill>
              </a:rPr>
              <a:t>numChecked</a:t>
            </a:r>
            <a:r>
              <a:rPr lang="en-US" altLang="en-US" dirty="0">
                <a:solidFill>
                  <a:schemeClr val="tx1"/>
                </a:solidFill>
              </a:rPr>
              <a:t>)</a:t>
            </a:r>
            <a:endParaRPr lang="en-US" altLang="en-US" baseline="30000" dirty="0"/>
          </a:p>
          <a:p>
            <a:pPr>
              <a:spcBef>
                <a:spcPts val="2400"/>
              </a:spcBef>
              <a:buFontTx/>
              <a:buChar char="•"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dirty="0">
                <a:solidFill>
                  <a:schemeClr val="tx1"/>
                </a:solidFill>
              </a:rPr>
              <a:t>The increment used to compute the </a:t>
            </a:r>
            <a:r>
              <a:rPr lang="en-US" altLang="en-US" dirty="0" err="1">
                <a:solidFill>
                  <a:schemeClr val="tx1"/>
                </a:solidFill>
              </a:rPr>
              <a:t>jth</a:t>
            </a:r>
            <a:r>
              <a:rPr lang="en-US" altLang="en-US" dirty="0">
                <a:solidFill>
                  <a:schemeClr val="tx1"/>
                </a:solidFill>
              </a:rPr>
              <a:t> index</a:t>
            </a:r>
            <a:br>
              <a:rPr lang="en-US" altLang="en-US" dirty="0">
                <a:solidFill>
                  <a:schemeClr val="tx1"/>
                </a:solidFill>
              </a:rPr>
            </a:br>
            <a:r>
              <a:rPr lang="en-US" altLang="en-US" dirty="0">
                <a:solidFill>
                  <a:schemeClr val="tx1"/>
                </a:solidFill>
              </a:rPr>
              <a:t>		=  </a:t>
            </a:r>
            <a:r>
              <a:rPr lang="en-US" altLang="en-US" dirty="0" err="1">
                <a:solidFill>
                  <a:schemeClr val="tx1"/>
                </a:solidFill>
              </a:rPr>
              <a:t>jth</a:t>
            </a:r>
            <a:r>
              <a:rPr lang="en-US" altLang="en-US" dirty="0">
                <a:solidFill>
                  <a:schemeClr val="tx1"/>
                </a:solidFill>
              </a:rPr>
              <a:t> index  –  (j – 1)</a:t>
            </a:r>
            <a:r>
              <a:rPr lang="en-US" altLang="en-US" dirty="0" err="1">
                <a:solidFill>
                  <a:schemeClr val="tx1"/>
                </a:solidFill>
              </a:rPr>
              <a:t>st</a:t>
            </a:r>
            <a:r>
              <a:rPr lang="en-US" altLang="en-US" dirty="0">
                <a:solidFill>
                  <a:schemeClr val="tx1"/>
                </a:solidFill>
              </a:rPr>
              <a:t> index</a:t>
            </a:r>
            <a:br>
              <a:rPr lang="en-US" altLang="en-US" dirty="0">
                <a:solidFill>
                  <a:schemeClr val="tx1"/>
                </a:solidFill>
              </a:rPr>
            </a:br>
            <a:r>
              <a:rPr lang="en-US" altLang="en-US" dirty="0">
                <a:solidFill>
                  <a:schemeClr val="tx1"/>
                </a:solidFill>
              </a:rPr>
              <a:t>		</a:t>
            </a:r>
            <a:br>
              <a:rPr lang="en-US" altLang="en-US" dirty="0">
                <a:solidFill>
                  <a:schemeClr val="tx1"/>
                </a:solidFill>
              </a:rPr>
            </a:br>
            <a:r>
              <a:rPr lang="en-US" altLang="en-US" dirty="0">
                <a:solidFill>
                  <a:schemeClr val="tx1"/>
                </a:solidFill>
              </a:rPr>
              <a:t>						</a:t>
            </a:r>
          </a:p>
        </p:txBody>
      </p:sp>
    </p:spTree>
    <p:extLst>
      <p:ext uri="{BB962C8B-B14F-4D97-AF65-F5344CB8AC3E}">
        <p14:creationId xmlns:p14="http://schemas.microsoft.com/office/powerpoint/2010/main" val="2604532220"/>
      </p:ext>
    </p:extLst>
  </p:cSld>
  <p:clrMapOvr>
    <a:masterClrMapping/>
  </p:clrMapOvr>
</p:sld>
</file>

<file path=ppt/slides/slide29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40080" y="731520"/>
            <a:ext cx="6322423" cy="100584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>
          <a:xfrm>
            <a:off x="258763" y="79375"/>
            <a:ext cx="8683625" cy="847725"/>
          </a:xfrm>
        </p:spPr>
        <p:txBody>
          <a:bodyPr/>
          <a:lstStyle/>
          <a:p>
            <a:r>
              <a:rPr lang="en-US" altLang="en-US"/>
              <a:t>Handling the Other Types of Probing </a:t>
            </a:r>
            <a:r>
              <a:rPr lang="en-US" altLang="en-US" sz="2000"/>
              <a:t>(cont.)</a:t>
            </a:r>
          </a:p>
        </p:txBody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7725"/>
            <a:ext cx="8623300" cy="5614988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ts val="1000"/>
              </a:spcBef>
              <a:buFontTx/>
              <a:buChar char="•"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dirty="0"/>
              <a:t>Why is</a:t>
            </a:r>
            <a:r>
              <a:rPr lang="en-US" altLang="en-US" sz="1600" dirty="0">
                <a:solidFill>
                  <a:schemeClr val="tx1"/>
                </a:solidFill>
                <a:latin typeface="Lucida Console" panose="020B0609040504020204" pitchFamily="49" charset="0"/>
              </a:rPr>
              <a:t>	</a:t>
            </a:r>
            <a:r>
              <a:rPr lang="en-US" altLang="en-US" sz="2000" dirty="0">
                <a:solidFill>
                  <a:schemeClr val="tx1"/>
                </a:solidFill>
                <a:latin typeface="Lucida Console" panose="020B0609040504020204" pitchFamily="49" charset="0"/>
              </a:rPr>
              <a:t>2*</a:t>
            </a:r>
            <a:r>
              <a:rPr lang="en-US" altLang="en-US" sz="20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numChecked</a:t>
            </a:r>
            <a:r>
              <a:rPr lang="en-US" altLang="en-US" sz="2000" dirty="0">
                <a:solidFill>
                  <a:schemeClr val="tx1"/>
                </a:solidFill>
                <a:latin typeface="Lucida Console" panose="020B0609040504020204" pitchFamily="49" charset="0"/>
              </a:rPr>
              <a:t> - 1 </a:t>
            </a:r>
            <a:br>
              <a:rPr lang="en-US" altLang="en-US" sz="2000" dirty="0">
                <a:solidFill>
                  <a:schemeClr val="tx1"/>
                </a:solidFill>
                <a:latin typeface="Lucida Console" panose="020B0609040504020204" pitchFamily="49" charset="0"/>
              </a:rPr>
            </a:br>
            <a:r>
              <a:rPr lang="en-US" altLang="en-US" dirty="0">
                <a:solidFill>
                  <a:schemeClr val="tx1"/>
                </a:solidFill>
              </a:rPr>
              <a:t>the correct increment for quadratic probing</a:t>
            </a:r>
            <a:r>
              <a:rPr lang="en-US" altLang="en-US" dirty="0"/>
              <a:t>?</a:t>
            </a:r>
          </a:p>
          <a:p>
            <a:pPr>
              <a:spcBef>
                <a:spcPts val="2400"/>
              </a:spcBef>
              <a:buFontTx/>
              <a:buChar char="•"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dirty="0"/>
              <a:t>Recall that for quadratic probing:</a:t>
            </a:r>
          </a:p>
          <a:p>
            <a:pPr lvl="1">
              <a:spcBef>
                <a:spcPts val="500"/>
              </a:spcBef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dirty="0"/>
              <a:t>probe sequence = h1, h1 + 1</a:t>
            </a:r>
            <a:r>
              <a:rPr lang="en-US" altLang="en-US" baseline="30000" dirty="0"/>
              <a:t>2</a:t>
            </a:r>
            <a:r>
              <a:rPr lang="en-US" altLang="en-US" dirty="0"/>
              <a:t>, h1 + 2</a:t>
            </a:r>
            <a:r>
              <a:rPr lang="en-US" altLang="en-US" baseline="30000" dirty="0"/>
              <a:t>2</a:t>
            </a:r>
            <a:r>
              <a:rPr lang="en-US" altLang="en-US" dirty="0"/>
              <a:t>, …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dirty="0" err="1"/>
              <a:t>jth</a:t>
            </a:r>
            <a:r>
              <a:rPr lang="en-US" altLang="en-US" dirty="0"/>
              <a:t> index in the sequence = h1 + j</a:t>
            </a:r>
            <a:r>
              <a:rPr lang="en-US" altLang="en-US" baseline="30000" dirty="0"/>
              <a:t>2</a:t>
            </a:r>
            <a:r>
              <a:rPr lang="en-US" altLang="en-US" dirty="0">
                <a:solidFill>
                  <a:schemeClr val="tx1"/>
                </a:solidFill>
              </a:rPr>
              <a:t> 	(note: j = </a:t>
            </a:r>
            <a:r>
              <a:rPr lang="en-US" altLang="en-US" dirty="0" err="1">
                <a:solidFill>
                  <a:schemeClr val="tx1"/>
                </a:solidFill>
              </a:rPr>
              <a:t>numChecked</a:t>
            </a:r>
            <a:r>
              <a:rPr lang="en-US" altLang="en-US" dirty="0">
                <a:solidFill>
                  <a:schemeClr val="tx1"/>
                </a:solidFill>
              </a:rPr>
              <a:t>)</a:t>
            </a:r>
            <a:endParaRPr lang="en-US" altLang="en-US" baseline="30000" dirty="0"/>
          </a:p>
          <a:p>
            <a:pPr>
              <a:spcBef>
                <a:spcPts val="2400"/>
              </a:spcBef>
              <a:buFontTx/>
              <a:buChar char="•"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dirty="0">
                <a:solidFill>
                  <a:schemeClr val="tx1"/>
                </a:solidFill>
              </a:rPr>
              <a:t>The increment used to compute the </a:t>
            </a:r>
            <a:r>
              <a:rPr lang="en-US" altLang="en-US" dirty="0" err="1">
                <a:solidFill>
                  <a:schemeClr val="tx1"/>
                </a:solidFill>
              </a:rPr>
              <a:t>jth</a:t>
            </a:r>
            <a:r>
              <a:rPr lang="en-US" altLang="en-US" dirty="0">
                <a:solidFill>
                  <a:schemeClr val="tx1"/>
                </a:solidFill>
              </a:rPr>
              <a:t> index </a:t>
            </a:r>
            <a:br>
              <a:rPr lang="en-US" altLang="en-US" dirty="0">
                <a:solidFill>
                  <a:schemeClr val="tx1"/>
                </a:solidFill>
              </a:rPr>
            </a:br>
            <a:r>
              <a:rPr lang="en-US" altLang="en-US" dirty="0">
                <a:solidFill>
                  <a:schemeClr val="tx1"/>
                </a:solidFill>
              </a:rPr>
              <a:t>		=  </a:t>
            </a:r>
            <a:r>
              <a:rPr lang="en-US" altLang="en-US" dirty="0" err="1">
                <a:solidFill>
                  <a:schemeClr val="tx1"/>
                </a:solidFill>
              </a:rPr>
              <a:t>jth</a:t>
            </a:r>
            <a:r>
              <a:rPr lang="en-US" altLang="en-US" dirty="0">
                <a:solidFill>
                  <a:schemeClr val="tx1"/>
                </a:solidFill>
              </a:rPr>
              <a:t> index  –  (j – 1)</a:t>
            </a:r>
            <a:r>
              <a:rPr lang="en-US" altLang="en-US" dirty="0" err="1">
                <a:solidFill>
                  <a:schemeClr val="tx1"/>
                </a:solidFill>
              </a:rPr>
              <a:t>st</a:t>
            </a:r>
            <a:r>
              <a:rPr lang="en-US" altLang="en-US" dirty="0">
                <a:solidFill>
                  <a:schemeClr val="tx1"/>
                </a:solidFill>
              </a:rPr>
              <a:t> index</a:t>
            </a:r>
            <a:br>
              <a:rPr lang="en-US" altLang="en-US" dirty="0">
                <a:solidFill>
                  <a:schemeClr val="tx1"/>
                </a:solidFill>
              </a:rPr>
            </a:br>
            <a:r>
              <a:rPr lang="en-US" altLang="en-US" dirty="0">
                <a:solidFill>
                  <a:schemeClr val="tx1"/>
                </a:solidFill>
              </a:rPr>
              <a:t>		= (h1 + j</a:t>
            </a:r>
            <a:r>
              <a:rPr lang="en-US" altLang="en-US" baseline="30000" dirty="0">
                <a:solidFill>
                  <a:schemeClr val="tx1"/>
                </a:solidFill>
              </a:rPr>
              <a:t>2</a:t>
            </a:r>
            <a:r>
              <a:rPr lang="en-US" altLang="en-US" dirty="0">
                <a:solidFill>
                  <a:schemeClr val="tx1"/>
                </a:solidFill>
              </a:rPr>
              <a:t>) – (h1 + (j – 1)</a:t>
            </a:r>
            <a:r>
              <a:rPr lang="en-US" altLang="en-US" baseline="30000" dirty="0">
                <a:solidFill>
                  <a:schemeClr val="tx1"/>
                </a:solidFill>
              </a:rPr>
              <a:t>2</a:t>
            </a:r>
            <a:r>
              <a:rPr lang="en-US" altLang="en-US" dirty="0">
                <a:solidFill>
                  <a:schemeClr val="tx1"/>
                </a:solidFill>
              </a:rPr>
              <a:t>)</a:t>
            </a:r>
            <a:br>
              <a:rPr lang="en-US" altLang="en-US" dirty="0">
                <a:solidFill>
                  <a:schemeClr val="tx1"/>
                </a:solidFill>
              </a:rPr>
            </a:br>
            <a:r>
              <a:rPr lang="en-US" altLang="en-US" dirty="0">
                <a:solidFill>
                  <a:schemeClr val="tx1"/>
                </a:solidFill>
              </a:rPr>
              <a:t>						</a:t>
            </a:r>
          </a:p>
        </p:txBody>
      </p:sp>
    </p:spTree>
    <p:extLst>
      <p:ext uri="{BB962C8B-B14F-4D97-AF65-F5344CB8AC3E}">
        <p14:creationId xmlns:p14="http://schemas.microsoft.com/office/powerpoint/2010/main" val="4201353747"/>
      </p:ext>
    </p:extLst>
  </p:cSld>
  <p:clrMapOvr>
    <a:masterClrMapping/>
  </p:clrMapOvr>
</p:sld>
</file>

<file path=ppt/slides/slide29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40080" y="731520"/>
            <a:ext cx="6322423" cy="100584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>
          <a:xfrm>
            <a:off x="258763" y="79375"/>
            <a:ext cx="8683625" cy="847725"/>
          </a:xfrm>
        </p:spPr>
        <p:txBody>
          <a:bodyPr/>
          <a:lstStyle/>
          <a:p>
            <a:r>
              <a:rPr lang="en-US" altLang="en-US"/>
              <a:t>Handling the Other Types of Probing </a:t>
            </a:r>
            <a:r>
              <a:rPr lang="en-US" altLang="en-US" sz="2000"/>
              <a:t>(cont.)</a:t>
            </a:r>
          </a:p>
        </p:txBody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7725"/>
            <a:ext cx="8623300" cy="5614988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ts val="1000"/>
              </a:spcBef>
              <a:buFontTx/>
              <a:buChar char="•"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dirty="0"/>
              <a:t>Why is</a:t>
            </a:r>
            <a:r>
              <a:rPr lang="en-US" altLang="en-US" sz="1600" dirty="0">
                <a:solidFill>
                  <a:schemeClr val="tx1"/>
                </a:solidFill>
                <a:latin typeface="Lucida Console" panose="020B0609040504020204" pitchFamily="49" charset="0"/>
              </a:rPr>
              <a:t>	</a:t>
            </a:r>
            <a:r>
              <a:rPr lang="en-US" altLang="en-US" sz="2000" dirty="0">
                <a:solidFill>
                  <a:schemeClr val="tx1"/>
                </a:solidFill>
                <a:latin typeface="Lucida Console" panose="020B0609040504020204" pitchFamily="49" charset="0"/>
              </a:rPr>
              <a:t>2*</a:t>
            </a:r>
            <a:r>
              <a:rPr lang="en-US" altLang="en-US" sz="20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numChecked</a:t>
            </a:r>
            <a:r>
              <a:rPr lang="en-US" altLang="en-US" sz="2000" dirty="0">
                <a:solidFill>
                  <a:schemeClr val="tx1"/>
                </a:solidFill>
                <a:latin typeface="Lucida Console" panose="020B0609040504020204" pitchFamily="49" charset="0"/>
              </a:rPr>
              <a:t> - 1 </a:t>
            </a:r>
            <a:br>
              <a:rPr lang="en-US" altLang="en-US" sz="2000" dirty="0">
                <a:solidFill>
                  <a:schemeClr val="tx1"/>
                </a:solidFill>
                <a:latin typeface="Lucida Console" panose="020B0609040504020204" pitchFamily="49" charset="0"/>
              </a:rPr>
            </a:br>
            <a:r>
              <a:rPr lang="en-US" altLang="en-US" dirty="0">
                <a:solidFill>
                  <a:schemeClr val="tx1"/>
                </a:solidFill>
              </a:rPr>
              <a:t>the correct increment for quadratic probing</a:t>
            </a:r>
            <a:r>
              <a:rPr lang="en-US" altLang="en-US" dirty="0"/>
              <a:t>?</a:t>
            </a:r>
          </a:p>
          <a:p>
            <a:pPr>
              <a:spcBef>
                <a:spcPts val="2400"/>
              </a:spcBef>
              <a:buFontTx/>
              <a:buChar char="•"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dirty="0"/>
              <a:t>Recall that for quadratic probing:</a:t>
            </a:r>
          </a:p>
          <a:p>
            <a:pPr lvl="1">
              <a:spcBef>
                <a:spcPts val="500"/>
              </a:spcBef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dirty="0"/>
              <a:t>probe sequence = h1, h1 + 1</a:t>
            </a:r>
            <a:r>
              <a:rPr lang="en-US" altLang="en-US" baseline="30000" dirty="0"/>
              <a:t>2</a:t>
            </a:r>
            <a:r>
              <a:rPr lang="en-US" altLang="en-US" dirty="0"/>
              <a:t>, h1 + 2</a:t>
            </a:r>
            <a:r>
              <a:rPr lang="en-US" altLang="en-US" baseline="30000" dirty="0"/>
              <a:t>2</a:t>
            </a:r>
            <a:r>
              <a:rPr lang="en-US" altLang="en-US" dirty="0"/>
              <a:t>, …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dirty="0" err="1"/>
              <a:t>jth</a:t>
            </a:r>
            <a:r>
              <a:rPr lang="en-US" altLang="en-US" dirty="0"/>
              <a:t> index in the sequence = h1 + j</a:t>
            </a:r>
            <a:r>
              <a:rPr lang="en-US" altLang="en-US" baseline="30000" dirty="0"/>
              <a:t>2</a:t>
            </a:r>
            <a:r>
              <a:rPr lang="en-US" altLang="en-US" dirty="0">
                <a:solidFill>
                  <a:schemeClr val="tx1"/>
                </a:solidFill>
              </a:rPr>
              <a:t> 	(note: j = </a:t>
            </a:r>
            <a:r>
              <a:rPr lang="en-US" altLang="en-US" dirty="0" err="1">
                <a:solidFill>
                  <a:schemeClr val="tx1"/>
                </a:solidFill>
              </a:rPr>
              <a:t>numChecked</a:t>
            </a:r>
            <a:r>
              <a:rPr lang="en-US" altLang="en-US" dirty="0">
                <a:solidFill>
                  <a:schemeClr val="tx1"/>
                </a:solidFill>
              </a:rPr>
              <a:t>)</a:t>
            </a:r>
            <a:endParaRPr lang="en-US" altLang="en-US" baseline="30000" dirty="0"/>
          </a:p>
          <a:p>
            <a:pPr>
              <a:spcBef>
                <a:spcPts val="2400"/>
              </a:spcBef>
              <a:buFontTx/>
              <a:buChar char="•"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dirty="0">
                <a:solidFill>
                  <a:schemeClr val="tx1"/>
                </a:solidFill>
              </a:rPr>
              <a:t>The increment used to compute the </a:t>
            </a:r>
            <a:r>
              <a:rPr lang="en-US" altLang="en-US" dirty="0" err="1">
                <a:solidFill>
                  <a:schemeClr val="tx1"/>
                </a:solidFill>
              </a:rPr>
              <a:t>jth</a:t>
            </a:r>
            <a:r>
              <a:rPr lang="en-US" altLang="en-US" dirty="0">
                <a:solidFill>
                  <a:schemeClr val="tx1"/>
                </a:solidFill>
              </a:rPr>
              <a:t> index </a:t>
            </a:r>
            <a:br>
              <a:rPr lang="en-US" altLang="en-US" dirty="0">
                <a:solidFill>
                  <a:schemeClr val="tx1"/>
                </a:solidFill>
              </a:rPr>
            </a:br>
            <a:r>
              <a:rPr lang="en-US" altLang="en-US" dirty="0">
                <a:solidFill>
                  <a:schemeClr val="tx1"/>
                </a:solidFill>
              </a:rPr>
              <a:t>		=  </a:t>
            </a:r>
            <a:r>
              <a:rPr lang="en-US" altLang="en-US" dirty="0" err="1">
                <a:solidFill>
                  <a:schemeClr val="tx1"/>
                </a:solidFill>
              </a:rPr>
              <a:t>jth</a:t>
            </a:r>
            <a:r>
              <a:rPr lang="en-US" altLang="en-US" dirty="0">
                <a:solidFill>
                  <a:schemeClr val="tx1"/>
                </a:solidFill>
              </a:rPr>
              <a:t> index  –  (j – 1)</a:t>
            </a:r>
            <a:r>
              <a:rPr lang="en-US" altLang="en-US" dirty="0" err="1">
                <a:solidFill>
                  <a:schemeClr val="tx1"/>
                </a:solidFill>
              </a:rPr>
              <a:t>st</a:t>
            </a:r>
            <a:r>
              <a:rPr lang="en-US" altLang="en-US" dirty="0">
                <a:solidFill>
                  <a:schemeClr val="tx1"/>
                </a:solidFill>
              </a:rPr>
              <a:t> index</a:t>
            </a:r>
            <a:br>
              <a:rPr lang="en-US" altLang="en-US" dirty="0">
                <a:solidFill>
                  <a:schemeClr val="tx1"/>
                </a:solidFill>
              </a:rPr>
            </a:br>
            <a:r>
              <a:rPr lang="en-US" altLang="en-US" dirty="0">
                <a:solidFill>
                  <a:schemeClr val="tx1"/>
                </a:solidFill>
              </a:rPr>
              <a:t>		= (h1 + j</a:t>
            </a:r>
            <a:r>
              <a:rPr lang="en-US" altLang="en-US" baseline="30000" dirty="0">
                <a:solidFill>
                  <a:schemeClr val="tx1"/>
                </a:solidFill>
              </a:rPr>
              <a:t>2</a:t>
            </a:r>
            <a:r>
              <a:rPr lang="en-US" altLang="en-US" dirty="0">
                <a:solidFill>
                  <a:schemeClr val="tx1"/>
                </a:solidFill>
              </a:rPr>
              <a:t>) – (h1 + (j – 1)</a:t>
            </a:r>
            <a:r>
              <a:rPr lang="en-US" altLang="en-US" baseline="30000" dirty="0">
                <a:solidFill>
                  <a:schemeClr val="tx1"/>
                </a:solidFill>
              </a:rPr>
              <a:t>2</a:t>
            </a:r>
            <a:r>
              <a:rPr lang="en-US" altLang="en-US" dirty="0">
                <a:solidFill>
                  <a:schemeClr val="tx1"/>
                </a:solidFill>
              </a:rPr>
              <a:t>)</a:t>
            </a:r>
            <a:br>
              <a:rPr lang="en-US" altLang="en-US" dirty="0">
                <a:solidFill>
                  <a:schemeClr val="tx1"/>
                </a:solidFill>
              </a:rPr>
            </a:br>
            <a:r>
              <a:rPr lang="en-US" altLang="en-US" dirty="0">
                <a:solidFill>
                  <a:schemeClr val="tx1"/>
                </a:solidFill>
              </a:rPr>
              <a:t>		=  j</a:t>
            </a:r>
            <a:r>
              <a:rPr lang="en-US" altLang="en-US" baseline="30000" dirty="0">
                <a:solidFill>
                  <a:schemeClr val="tx1"/>
                </a:solidFill>
              </a:rPr>
              <a:t>2</a:t>
            </a:r>
            <a:r>
              <a:rPr lang="en-US" altLang="en-US" dirty="0">
                <a:solidFill>
                  <a:schemeClr val="tx1"/>
                </a:solidFill>
              </a:rPr>
              <a:t> – (j – 1)</a:t>
            </a:r>
            <a:r>
              <a:rPr lang="en-US" altLang="en-US" baseline="30000" dirty="0">
                <a:solidFill>
                  <a:schemeClr val="tx1"/>
                </a:solidFill>
              </a:rPr>
              <a:t>2</a:t>
            </a:r>
            <a:br>
              <a:rPr lang="en-US" altLang="en-US" dirty="0">
                <a:solidFill>
                  <a:schemeClr val="tx1"/>
                </a:solidFill>
              </a:rPr>
            </a:br>
            <a:r>
              <a:rPr lang="en-US" altLang="en-US" dirty="0">
                <a:solidFill>
                  <a:schemeClr val="tx1"/>
                </a:solidFill>
              </a:rPr>
              <a:t>				</a:t>
            </a:r>
          </a:p>
        </p:txBody>
      </p:sp>
    </p:spTree>
    <p:extLst>
      <p:ext uri="{BB962C8B-B14F-4D97-AF65-F5344CB8AC3E}">
        <p14:creationId xmlns:p14="http://schemas.microsoft.com/office/powerpoint/2010/main" val="2636351349"/>
      </p:ext>
    </p:extLst>
  </p:cSld>
  <p:clrMapOvr>
    <a:masterClrMapping/>
  </p:clrMapOvr>
</p:sld>
</file>

<file path=ppt/slides/slide29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40080" y="731520"/>
            <a:ext cx="6322423" cy="100584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>
          <a:xfrm>
            <a:off x="258763" y="79375"/>
            <a:ext cx="8683625" cy="847725"/>
          </a:xfrm>
        </p:spPr>
        <p:txBody>
          <a:bodyPr/>
          <a:lstStyle/>
          <a:p>
            <a:r>
              <a:rPr lang="en-US" altLang="en-US"/>
              <a:t>Handling the Other Types of Probing </a:t>
            </a:r>
            <a:r>
              <a:rPr lang="en-US" altLang="en-US" sz="2000"/>
              <a:t>(cont.)</a:t>
            </a:r>
          </a:p>
        </p:txBody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7725"/>
            <a:ext cx="8623300" cy="5614988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ts val="1000"/>
              </a:spcBef>
              <a:buFontTx/>
              <a:buChar char="•"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dirty="0"/>
              <a:t>Why is</a:t>
            </a:r>
            <a:r>
              <a:rPr lang="en-US" altLang="en-US" sz="1600" dirty="0">
                <a:solidFill>
                  <a:schemeClr val="tx1"/>
                </a:solidFill>
                <a:latin typeface="Lucida Console" panose="020B0609040504020204" pitchFamily="49" charset="0"/>
              </a:rPr>
              <a:t>	</a:t>
            </a:r>
            <a:r>
              <a:rPr lang="en-US" altLang="en-US" sz="2000" dirty="0">
                <a:solidFill>
                  <a:schemeClr val="tx1"/>
                </a:solidFill>
                <a:latin typeface="Lucida Console" panose="020B0609040504020204" pitchFamily="49" charset="0"/>
              </a:rPr>
              <a:t>2*</a:t>
            </a:r>
            <a:r>
              <a:rPr lang="en-US" altLang="en-US" sz="20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numChecked</a:t>
            </a:r>
            <a:r>
              <a:rPr lang="en-US" altLang="en-US" sz="2000" dirty="0">
                <a:solidFill>
                  <a:schemeClr val="tx1"/>
                </a:solidFill>
                <a:latin typeface="Lucida Console" panose="020B0609040504020204" pitchFamily="49" charset="0"/>
              </a:rPr>
              <a:t> - 1 </a:t>
            </a:r>
            <a:br>
              <a:rPr lang="en-US" altLang="en-US" sz="2000" dirty="0">
                <a:solidFill>
                  <a:schemeClr val="tx1"/>
                </a:solidFill>
                <a:latin typeface="Lucida Console" panose="020B0609040504020204" pitchFamily="49" charset="0"/>
              </a:rPr>
            </a:br>
            <a:r>
              <a:rPr lang="en-US" altLang="en-US" dirty="0">
                <a:solidFill>
                  <a:schemeClr val="tx1"/>
                </a:solidFill>
              </a:rPr>
              <a:t>the correct increment for quadratic probing</a:t>
            </a:r>
            <a:r>
              <a:rPr lang="en-US" altLang="en-US" dirty="0"/>
              <a:t>?</a:t>
            </a:r>
          </a:p>
          <a:p>
            <a:pPr>
              <a:spcBef>
                <a:spcPts val="2400"/>
              </a:spcBef>
              <a:buFontTx/>
              <a:buChar char="•"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dirty="0"/>
              <a:t>Recall that for quadratic probing:</a:t>
            </a:r>
          </a:p>
          <a:p>
            <a:pPr lvl="1">
              <a:spcBef>
                <a:spcPts val="500"/>
              </a:spcBef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dirty="0"/>
              <a:t>probe sequence = h1, h1 + 1</a:t>
            </a:r>
            <a:r>
              <a:rPr lang="en-US" altLang="en-US" baseline="30000" dirty="0"/>
              <a:t>2</a:t>
            </a:r>
            <a:r>
              <a:rPr lang="en-US" altLang="en-US" dirty="0"/>
              <a:t>, h1 + 2</a:t>
            </a:r>
            <a:r>
              <a:rPr lang="en-US" altLang="en-US" baseline="30000" dirty="0"/>
              <a:t>2</a:t>
            </a:r>
            <a:r>
              <a:rPr lang="en-US" altLang="en-US" dirty="0"/>
              <a:t>, …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dirty="0" err="1"/>
              <a:t>jth</a:t>
            </a:r>
            <a:r>
              <a:rPr lang="en-US" altLang="en-US" dirty="0"/>
              <a:t> index in the sequence = h1 + j</a:t>
            </a:r>
            <a:r>
              <a:rPr lang="en-US" altLang="en-US" baseline="30000" dirty="0"/>
              <a:t>2</a:t>
            </a:r>
            <a:r>
              <a:rPr lang="en-US" altLang="en-US" dirty="0">
                <a:solidFill>
                  <a:schemeClr val="tx1"/>
                </a:solidFill>
              </a:rPr>
              <a:t> 	(note: j = </a:t>
            </a:r>
            <a:r>
              <a:rPr lang="en-US" altLang="en-US" dirty="0" err="1">
                <a:solidFill>
                  <a:schemeClr val="tx1"/>
                </a:solidFill>
              </a:rPr>
              <a:t>numChecked</a:t>
            </a:r>
            <a:r>
              <a:rPr lang="en-US" altLang="en-US" dirty="0">
                <a:solidFill>
                  <a:schemeClr val="tx1"/>
                </a:solidFill>
              </a:rPr>
              <a:t>)</a:t>
            </a:r>
            <a:endParaRPr lang="en-US" altLang="en-US" baseline="30000" dirty="0"/>
          </a:p>
          <a:p>
            <a:pPr>
              <a:spcBef>
                <a:spcPts val="2400"/>
              </a:spcBef>
              <a:buFontTx/>
              <a:buChar char="•"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dirty="0">
                <a:solidFill>
                  <a:schemeClr val="tx1"/>
                </a:solidFill>
              </a:rPr>
              <a:t>The increment used to compute the </a:t>
            </a:r>
            <a:r>
              <a:rPr lang="en-US" altLang="en-US" dirty="0" err="1">
                <a:solidFill>
                  <a:schemeClr val="tx1"/>
                </a:solidFill>
              </a:rPr>
              <a:t>jth</a:t>
            </a:r>
            <a:r>
              <a:rPr lang="en-US" altLang="en-US" dirty="0">
                <a:solidFill>
                  <a:schemeClr val="tx1"/>
                </a:solidFill>
              </a:rPr>
              <a:t> index </a:t>
            </a:r>
            <a:br>
              <a:rPr lang="en-US" altLang="en-US" dirty="0">
                <a:solidFill>
                  <a:schemeClr val="tx1"/>
                </a:solidFill>
              </a:rPr>
            </a:br>
            <a:r>
              <a:rPr lang="en-US" altLang="en-US" dirty="0">
                <a:solidFill>
                  <a:schemeClr val="tx1"/>
                </a:solidFill>
              </a:rPr>
              <a:t>		=  </a:t>
            </a:r>
            <a:r>
              <a:rPr lang="en-US" altLang="en-US" dirty="0" err="1">
                <a:solidFill>
                  <a:schemeClr val="tx1"/>
                </a:solidFill>
              </a:rPr>
              <a:t>jth</a:t>
            </a:r>
            <a:r>
              <a:rPr lang="en-US" altLang="en-US" dirty="0">
                <a:solidFill>
                  <a:schemeClr val="tx1"/>
                </a:solidFill>
              </a:rPr>
              <a:t> index  –  (j – 1)</a:t>
            </a:r>
            <a:r>
              <a:rPr lang="en-US" altLang="en-US" dirty="0" err="1">
                <a:solidFill>
                  <a:schemeClr val="tx1"/>
                </a:solidFill>
              </a:rPr>
              <a:t>st</a:t>
            </a:r>
            <a:r>
              <a:rPr lang="en-US" altLang="en-US" dirty="0">
                <a:solidFill>
                  <a:schemeClr val="tx1"/>
                </a:solidFill>
              </a:rPr>
              <a:t> index</a:t>
            </a:r>
            <a:br>
              <a:rPr lang="en-US" altLang="en-US" dirty="0">
                <a:solidFill>
                  <a:schemeClr val="tx1"/>
                </a:solidFill>
              </a:rPr>
            </a:br>
            <a:r>
              <a:rPr lang="en-US" altLang="en-US" dirty="0">
                <a:solidFill>
                  <a:schemeClr val="tx1"/>
                </a:solidFill>
              </a:rPr>
              <a:t>		= (h1 + j</a:t>
            </a:r>
            <a:r>
              <a:rPr lang="en-US" altLang="en-US" baseline="30000" dirty="0">
                <a:solidFill>
                  <a:schemeClr val="tx1"/>
                </a:solidFill>
              </a:rPr>
              <a:t>2</a:t>
            </a:r>
            <a:r>
              <a:rPr lang="en-US" altLang="en-US" dirty="0">
                <a:solidFill>
                  <a:schemeClr val="tx1"/>
                </a:solidFill>
              </a:rPr>
              <a:t>) – (h1 + (j – 1)</a:t>
            </a:r>
            <a:r>
              <a:rPr lang="en-US" altLang="en-US" baseline="30000" dirty="0">
                <a:solidFill>
                  <a:schemeClr val="tx1"/>
                </a:solidFill>
              </a:rPr>
              <a:t>2</a:t>
            </a:r>
            <a:r>
              <a:rPr lang="en-US" altLang="en-US" dirty="0">
                <a:solidFill>
                  <a:schemeClr val="tx1"/>
                </a:solidFill>
              </a:rPr>
              <a:t>)</a:t>
            </a:r>
            <a:br>
              <a:rPr lang="en-US" altLang="en-US" dirty="0">
                <a:solidFill>
                  <a:schemeClr val="tx1"/>
                </a:solidFill>
              </a:rPr>
            </a:br>
            <a:r>
              <a:rPr lang="en-US" altLang="en-US" dirty="0">
                <a:solidFill>
                  <a:schemeClr val="tx1"/>
                </a:solidFill>
              </a:rPr>
              <a:t>		=  j</a:t>
            </a:r>
            <a:r>
              <a:rPr lang="en-US" altLang="en-US" baseline="30000" dirty="0">
                <a:solidFill>
                  <a:schemeClr val="tx1"/>
                </a:solidFill>
              </a:rPr>
              <a:t>2</a:t>
            </a:r>
            <a:r>
              <a:rPr lang="en-US" altLang="en-US" dirty="0">
                <a:solidFill>
                  <a:schemeClr val="tx1"/>
                </a:solidFill>
              </a:rPr>
              <a:t> – (j – 1)</a:t>
            </a:r>
            <a:r>
              <a:rPr lang="en-US" altLang="en-US" baseline="30000" dirty="0">
                <a:solidFill>
                  <a:schemeClr val="tx1"/>
                </a:solidFill>
              </a:rPr>
              <a:t>2</a:t>
            </a:r>
            <a:br>
              <a:rPr lang="en-US" altLang="en-US" dirty="0">
                <a:solidFill>
                  <a:schemeClr val="tx1"/>
                </a:solidFill>
              </a:rPr>
            </a:br>
            <a:r>
              <a:rPr lang="en-US" altLang="en-US" dirty="0">
                <a:solidFill>
                  <a:schemeClr val="tx1"/>
                </a:solidFill>
              </a:rPr>
              <a:t>		=  j</a:t>
            </a:r>
            <a:r>
              <a:rPr lang="en-US" altLang="en-US" baseline="30000" dirty="0">
                <a:solidFill>
                  <a:schemeClr val="tx1"/>
                </a:solidFill>
              </a:rPr>
              <a:t>2</a:t>
            </a:r>
            <a:r>
              <a:rPr lang="en-US" altLang="en-US" dirty="0">
                <a:solidFill>
                  <a:schemeClr val="tx1"/>
                </a:solidFill>
              </a:rPr>
              <a:t> – (j</a:t>
            </a:r>
            <a:r>
              <a:rPr lang="en-US" altLang="en-US" baseline="30000" dirty="0">
                <a:solidFill>
                  <a:schemeClr val="tx1"/>
                </a:solidFill>
              </a:rPr>
              <a:t>2</a:t>
            </a:r>
            <a:r>
              <a:rPr lang="en-US" altLang="en-US" dirty="0">
                <a:solidFill>
                  <a:schemeClr val="tx1"/>
                </a:solidFill>
              </a:rPr>
              <a:t> – 2j + 1)</a:t>
            </a:r>
            <a:br>
              <a:rPr lang="en-US" altLang="en-US" dirty="0">
                <a:solidFill>
                  <a:schemeClr val="tx1"/>
                </a:solidFill>
              </a:rPr>
            </a:br>
            <a:r>
              <a:rPr lang="en-US" altLang="en-US" dirty="0">
                <a:solidFill>
                  <a:schemeClr val="tx1"/>
                </a:solidFill>
              </a:rPr>
              <a:t>		</a:t>
            </a:r>
          </a:p>
        </p:txBody>
      </p:sp>
    </p:spTree>
    <p:extLst>
      <p:ext uri="{BB962C8B-B14F-4D97-AF65-F5344CB8AC3E}">
        <p14:creationId xmlns:p14="http://schemas.microsoft.com/office/powerpoint/2010/main" val="289037776"/>
      </p:ext>
    </p:extLst>
  </p:cSld>
  <p:clrMapOvr>
    <a:masterClrMapping/>
  </p:clrMapOvr>
</p:sld>
</file>

<file path=ppt/slides/slide29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40080" y="731520"/>
            <a:ext cx="6322423" cy="100584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7725"/>
            <a:ext cx="8623300" cy="5614988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ts val="1000"/>
              </a:spcBef>
              <a:buFontTx/>
              <a:buChar char="•"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dirty="0"/>
              <a:t>Why is</a:t>
            </a:r>
            <a:r>
              <a:rPr lang="en-US" altLang="en-US" sz="1600" dirty="0">
                <a:solidFill>
                  <a:schemeClr val="tx1"/>
                </a:solidFill>
                <a:latin typeface="Lucida Console" panose="020B0609040504020204" pitchFamily="49" charset="0"/>
              </a:rPr>
              <a:t>	</a:t>
            </a:r>
            <a:r>
              <a:rPr lang="en-US" altLang="en-US" sz="2000" dirty="0">
                <a:solidFill>
                  <a:schemeClr val="tx1"/>
                </a:solidFill>
                <a:latin typeface="Lucida Console" panose="020B0609040504020204" pitchFamily="49" charset="0"/>
              </a:rPr>
              <a:t>2*</a:t>
            </a:r>
            <a:r>
              <a:rPr lang="en-US" altLang="en-US" sz="20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numChecked</a:t>
            </a:r>
            <a:r>
              <a:rPr lang="en-US" altLang="en-US" sz="2000" dirty="0">
                <a:solidFill>
                  <a:schemeClr val="tx1"/>
                </a:solidFill>
                <a:latin typeface="Lucida Console" panose="020B0609040504020204" pitchFamily="49" charset="0"/>
              </a:rPr>
              <a:t> - 1 </a:t>
            </a:r>
            <a:br>
              <a:rPr lang="en-US" altLang="en-US" sz="2000" dirty="0">
                <a:solidFill>
                  <a:schemeClr val="tx1"/>
                </a:solidFill>
                <a:latin typeface="Lucida Console" panose="020B0609040504020204" pitchFamily="49" charset="0"/>
              </a:rPr>
            </a:br>
            <a:r>
              <a:rPr lang="en-US" altLang="en-US" dirty="0">
                <a:solidFill>
                  <a:schemeClr val="tx1"/>
                </a:solidFill>
              </a:rPr>
              <a:t>the correct increment for quadratic probing</a:t>
            </a:r>
            <a:r>
              <a:rPr lang="en-US" altLang="en-US" dirty="0"/>
              <a:t>?</a:t>
            </a:r>
          </a:p>
          <a:p>
            <a:pPr>
              <a:spcBef>
                <a:spcPts val="2400"/>
              </a:spcBef>
              <a:buFontTx/>
              <a:buChar char="•"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dirty="0"/>
              <a:t>Recall that for quadratic probing:</a:t>
            </a:r>
          </a:p>
          <a:p>
            <a:pPr lvl="1">
              <a:spcBef>
                <a:spcPts val="500"/>
              </a:spcBef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dirty="0"/>
              <a:t>probe sequence = h1, h1 + 1</a:t>
            </a:r>
            <a:r>
              <a:rPr lang="en-US" altLang="en-US" baseline="30000" dirty="0"/>
              <a:t>2</a:t>
            </a:r>
            <a:r>
              <a:rPr lang="en-US" altLang="en-US" dirty="0"/>
              <a:t>, h1 + 2</a:t>
            </a:r>
            <a:r>
              <a:rPr lang="en-US" altLang="en-US" baseline="30000" dirty="0"/>
              <a:t>2</a:t>
            </a:r>
            <a:r>
              <a:rPr lang="en-US" altLang="en-US" dirty="0"/>
              <a:t>, …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dirty="0" err="1"/>
              <a:t>jth</a:t>
            </a:r>
            <a:r>
              <a:rPr lang="en-US" altLang="en-US" dirty="0"/>
              <a:t> index in the sequence = h1 + j</a:t>
            </a:r>
            <a:r>
              <a:rPr lang="en-US" altLang="en-US" baseline="30000" dirty="0"/>
              <a:t>2</a:t>
            </a:r>
            <a:r>
              <a:rPr lang="en-US" altLang="en-US" dirty="0">
                <a:solidFill>
                  <a:schemeClr val="tx1"/>
                </a:solidFill>
              </a:rPr>
              <a:t> 	(note: j = </a:t>
            </a:r>
            <a:r>
              <a:rPr lang="en-US" altLang="en-US" dirty="0" err="1">
                <a:solidFill>
                  <a:schemeClr val="tx1"/>
                </a:solidFill>
              </a:rPr>
              <a:t>numChecked</a:t>
            </a:r>
            <a:r>
              <a:rPr lang="en-US" altLang="en-US" dirty="0">
                <a:solidFill>
                  <a:schemeClr val="tx1"/>
                </a:solidFill>
              </a:rPr>
              <a:t>)</a:t>
            </a:r>
            <a:endParaRPr lang="en-US" altLang="en-US" baseline="30000" dirty="0"/>
          </a:p>
          <a:p>
            <a:pPr>
              <a:spcBef>
                <a:spcPts val="2400"/>
              </a:spcBef>
              <a:buFontTx/>
              <a:buChar char="•"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dirty="0">
                <a:solidFill>
                  <a:schemeClr val="tx1"/>
                </a:solidFill>
              </a:rPr>
              <a:t>The increment used to compute the </a:t>
            </a:r>
            <a:r>
              <a:rPr lang="en-US" altLang="en-US" dirty="0" err="1">
                <a:solidFill>
                  <a:schemeClr val="tx1"/>
                </a:solidFill>
              </a:rPr>
              <a:t>jth</a:t>
            </a:r>
            <a:r>
              <a:rPr lang="en-US" altLang="en-US" dirty="0">
                <a:solidFill>
                  <a:schemeClr val="tx1"/>
                </a:solidFill>
              </a:rPr>
              <a:t> index</a:t>
            </a:r>
            <a:br>
              <a:rPr lang="en-US" altLang="en-US" dirty="0">
                <a:solidFill>
                  <a:schemeClr val="tx1"/>
                </a:solidFill>
              </a:rPr>
            </a:br>
            <a:r>
              <a:rPr lang="en-US" altLang="en-US" dirty="0">
                <a:solidFill>
                  <a:schemeClr val="tx1"/>
                </a:solidFill>
              </a:rPr>
              <a:t>		=  </a:t>
            </a:r>
            <a:r>
              <a:rPr lang="en-US" altLang="en-US" dirty="0" err="1">
                <a:solidFill>
                  <a:schemeClr val="tx1"/>
                </a:solidFill>
              </a:rPr>
              <a:t>jth</a:t>
            </a:r>
            <a:r>
              <a:rPr lang="en-US" altLang="en-US" dirty="0">
                <a:solidFill>
                  <a:schemeClr val="tx1"/>
                </a:solidFill>
              </a:rPr>
              <a:t> index  –  (j – 1)</a:t>
            </a:r>
            <a:r>
              <a:rPr lang="en-US" altLang="en-US" dirty="0" err="1">
                <a:solidFill>
                  <a:schemeClr val="tx1"/>
                </a:solidFill>
              </a:rPr>
              <a:t>st</a:t>
            </a:r>
            <a:r>
              <a:rPr lang="en-US" altLang="en-US" dirty="0">
                <a:solidFill>
                  <a:schemeClr val="tx1"/>
                </a:solidFill>
              </a:rPr>
              <a:t> index</a:t>
            </a:r>
            <a:br>
              <a:rPr lang="en-US" altLang="en-US" dirty="0">
                <a:solidFill>
                  <a:schemeClr val="tx1"/>
                </a:solidFill>
              </a:rPr>
            </a:br>
            <a:r>
              <a:rPr lang="en-US" altLang="en-US" dirty="0">
                <a:solidFill>
                  <a:schemeClr val="tx1"/>
                </a:solidFill>
              </a:rPr>
              <a:t>		= (h1 + j</a:t>
            </a:r>
            <a:r>
              <a:rPr lang="en-US" altLang="en-US" baseline="30000" dirty="0">
                <a:solidFill>
                  <a:schemeClr val="tx1"/>
                </a:solidFill>
              </a:rPr>
              <a:t>2</a:t>
            </a:r>
            <a:r>
              <a:rPr lang="en-US" altLang="en-US" dirty="0">
                <a:solidFill>
                  <a:schemeClr val="tx1"/>
                </a:solidFill>
              </a:rPr>
              <a:t>) – (h1 + (j – 1)</a:t>
            </a:r>
            <a:r>
              <a:rPr lang="en-US" altLang="en-US" baseline="30000" dirty="0">
                <a:solidFill>
                  <a:schemeClr val="tx1"/>
                </a:solidFill>
              </a:rPr>
              <a:t>2</a:t>
            </a:r>
            <a:r>
              <a:rPr lang="en-US" altLang="en-US" dirty="0">
                <a:solidFill>
                  <a:schemeClr val="tx1"/>
                </a:solidFill>
              </a:rPr>
              <a:t>)</a:t>
            </a:r>
            <a:br>
              <a:rPr lang="en-US" altLang="en-US" dirty="0">
                <a:solidFill>
                  <a:schemeClr val="tx1"/>
                </a:solidFill>
              </a:rPr>
            </a:br>
            <a:r>
              <a:rPr lang="en-US" altLang="en-US" dirty="0">
                <a:solidFill>
                  <a:schemeClr val="tx1"/>
                </a:solidFill>
              </a:rPr>
              <a:t>		=  j</a:t>
            </a:r>
            <a:r>
              <a:rPr lang="en-US" altLang="en-US" baseline="30000" dirty="0">
                <a:solidFill>
                  <a:schemeClr val="tx1"/>
                </a:solidFill>
              </a:rPr>
              <a:t>2</a:t>
            </a:r>
            <a:r>
              <a:rPr lang="en-US" altLang="en-US" dirty="0">
                <a:solidFill>
                  <a:schemeClr val="tx1"/>
                </a:solidFill>
              </a:rPr>
              <a:t> – (j – 1)</a:t>
            </a:r>
            <a:r>
              <a:rPr lang="en-US" altLang="en-US" baseline="30000" dirty="0">
                <a:solidFill>
                  <a:schemeClr val="tx1"/>
                </a:solidFill>
              </a:rPr>
              <a:t>2</a:t>
            </a:r>
            <a:br>
              <a:rPr lang="en-US" altLang="en-US" dirty="0">
                <a:solidFill>
                  <a:schemeClr val="tx1"/>
                </a:solidFill>
              </a:rPr>
            </a:br>
            <a:r>
              <a:rPr lang="en-US" altLang="en-US" dirty="0">
                <a:solidFill>
                  <a:schemeClr val="tx1"/>
                </a:solidFill>
              </a:rPr>
              <a:t>		=  j</a:t>
            </a:r>
            <a:r>
              <a:rPr lang="en-US" altLang="en-US" baseline="30000" dirty="0">
                <a:solidFill>
                  <a:schemeClr val="tx1"/>
                </a:solidFill>
              </a:rPr>
              <a:t>2</a:t>
            </a:r>
            <a:r>
              <a:rPr lang="en-US" altLang="en-US" dirty="0">
                <a:solidFill>
                  <a:schemeClr val="tx1"/>
                </a:solidFill>
              </a:rPr>
              <a:t> – (j</a:t>
            </a:r>
            <a:r>
              <a:rPr lang="en-US" altLang="en-US" baseline="30000" dirty="0">
                <a:solidFill>
                  <a:schemeClr val="tx1"/>
                </a:solidFill>
              </a:rPr>
              <a:t>2</a:t>
            </a:r>
            <a:r>
              <a:rPr lang="en-US" altLang="en-US" dirty="0">
                <a:solidFill>
                  <a:schemeClr val="tx1"/>
                </a:solidFill>
              </a:rPr>
              <a:t> – 2j + 1)</a:t>
            </a:r>
            <a:br>
              <a:rPr lang="en-US" altLang="en-US" dirty="0">
                <a:solidFill>
                  <a:schemeClr val="tx1"/>
                </a:solidFill>
              </a:rPr>
            </a:br>
            <a:r>
              <a:rPr lang="en-US" altLang="en-US" dirty="0">
                <a:solidFill>
                  <a:schemeClr val="tx1"/>
                </a:solidFill>
              </a:rPr>
              <a:t>		=  2j – 1</a:t>
            </a:r>
          </a:p>
        </p:txBody>
      </p:sp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>
          <a:xfrm>
            <a:off x="258763" y="79375"/>
            <a:ext cx="8683625" cy="847725"/>
          </a:xfrm>
        </p:spPr>
        <p:txBody>
          <a:bodyPr/>
          <a:lstStyle/>
          <a:p>
            <a:r>
              <a:rPr lang="en-US" altLang="en-US"/>
              <a:t>Handling the Other Types of Probing </a:t>
            </a:r>
            <a:r>
              <a:rPr lang="en-US" altLang="en-US" sz="2000"/>
              <a:t>(cont.)</a:t>
            </a:r>
          </a:p>
        </p:txBody>
      </p:sp>
    </p:spTree>
    <p:extLst>
      <p:ext uri="{BB962C8B-B14F-4D97-AF65-F5344CB8AC3E}">
        <p14:creationId xmlns:p14="http://schemas.microsoft.com/office/powerpoint/2010/main" val="2384188355"/>
      </p:ext>
    </p:extLst>
  </p:cSld>
  <p:clrMapOvr>
    <a:masterClrMapping/>
  </p:clrMapOvr>
</p:sld>
</file>

<file path=ppt/slides/slide30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483510" y="2505710"/>
            <a:ext cx="1135625" cy="41295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6322423" cy="100584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7725"/>
            <a:ext cx="8623300" cy="5614988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ts val="1000"/>
              </a:spcBef>
              <a:buFontTx/>
              <a:buChar char="•"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dirty="0"/>
              <a:t>Why is</a:t>
            </a:r>
            <a:r>
              <a:rPr lang="en-US" altLang="en-US" sz="1600" dirty="0">
                <a:solidFill>
                  <a:schemeClr val="tx1"/>
                </a:solidFill>
                <a:latin typeface="Lucida Console" panose="020B0609040504020204" pitchFamily="49" charset="0"/>
              </a:rPr>
              <a:t>	</a:t>
            </a:r>
            <a:r>
              <a:rPr lang="en-US" altLang="en-US" sz="2000" dirty="0">
                <a:solidFill>
                  <a:schemeClr val="tx1"/>
                </a:solidFill>
                <a:latin typeface="Lucida Console" panose="020B0609040504020204" pitchFamily="49" charset="0"/>
              </a:rPr>
              <a:t>2*</a:t>
            </a:r>
            <a:r>
              <a:rPr lang="en-US" altLang="en-US" sz="20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numChecked</a:t>
            </a:r>
            <a:r>
              <a:rPr lang="en-US" altLang="en-US" sz="2000" dirty="0">
                <a:solidFill>
                  <a:schemeClr val="tx1"/>
                </a:solidFill>
                <a:latin typeface="Lucida Console" panose="020B0609040504020204" pitchFamily="49" charset="0"/>
              </a:rPr>
              <a:t> - 1 </a:t>
            </a:r>
            <a:br>
              <a:rPr lang="en-US" altLang="en-US" sz="2000" dirty="0">
                <a:solidFill>
                  <a:schemeClr val="tx1"/>
                </a:solidFill>
                <a:latin typeface="Lucida Console" panose="020B0609040504020204" pitchFamily="49" charset="0"/>
              </a:rPr>
            </a:br>
            <a:r>
              <a:rPr lang="en-US" altLang="en-US" dirty="0">
                <a:solidFill>
                  <a:schemeClr val="tx1"/>
                </a:solidFill>
              </a:rPr>
              <a:t>the correct increment for quadratic probing</a:t>
            </a:r>
            <a:r>
              <a:rPr lang="en-US" altLang="en-US" dirty="0"/>
              <a:t>?</a:t>
            </a:r>
          </a:p>
          <a:p>
            <a:pPr>
              <a:spcBef>
                <a:spcPts val="2400"/>
              </a:spcBef>
              <a:buFontTx/>
              <a:buChar char="•"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dirty="0"/>
              <a:t>Recall that for quadratic probing:</a:t>
            </a:r>
          </a:p>
          <a:p>
            <a:pPr lvl="1">
              <a:spcBef>
                <a:spcPts val="500"/>
              </a:spcBef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dirty="0"/>
              <a:t>probe sequence = h1, h1 + 1</a:t>
            </a:r>
            <a:r>
              <a:rPr lang="en-US" altLang="en-US" baseline="30000" dirty="0"/>
              <a:t>2</a:t>
            </a:r>
            <a:r>
              <a:rPr lang="en-US" altLang="en-US" dirty="0"/>
              <a:t>, h1 + 2</a:t>
            </a:r>
            <a:r>
              <a:rPr lang="en-US" altLang="en-US" baseline="30000" dirty="0"/>
              <a:t>2</a:t>
            </a:r>
            <a:r>
              <a:rPr lang="en-US" altLang="en-US" dirty="0"/>
              <a:t>, …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dirty="0" err="1"/>
              <a:t>jth</a:t>
            </a:r>
            <a:r>
              <a:rPr lang="en-US" altLang="en-US" dirty="0"/>
              <a:t> index in the sequence = h1 + j</a:t>
            </a:r>
            <a:r>
              <a:rPr lang="en-US" altLang="en-US" baseline="30000" dirty="0"/>
              <a:t>2</a:t>
            </a:r>
            <a:r>
              <a:rPr lang="en-US" altLang="en-US" dirty="0">
                <a:solidFill>
                  <a:schemeClr val="tx1"/>
                </a:solidFill>
              </a:rPr>
              <a:t> 	(note: j = </a:t>
            </a:r>
            <a:r>
              <a:rPr lang="en-US" altLang="en-US" dirty="0" err="1">
                <a:solidFill>
                  <a:schemeClr val="tx1"/>
                </a:solidFill>
              </a:rPr>
              <a:t>numChecked</a:t>
            </a:r>
            <a:r>
              <a:rPr lang="en-US" altLang="en-US" dirty="0">
                <a:solidFill>
                  <a:schemeClr val="tx1"/>
                </a:solidFill>
              </a:rPr>
              <a:t>)</a:t>
            </a:r>
            <a:endParaRPr lang="en-US" altLang="en-US" baseline="30000" dirty="0"/>
          </a:p>
          <a:p>
            <a:pPr>
              <a:spcBef>
                <a:spcPts val="2400"/>
              </a:spcBef>
              <a:buFontTx/>
              <a:buChar char="•"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dirty="0">
                <a:solidFill>
                  <a:schemeClr val="tx1"/>
                </a:solidFill>
              </a:rPr>
              <a:t>The increment used to compute the </a:t>
            </a:r>
            <a:r>
              <a:rPr lang="en-US" altLang="en-US" dirty="0" err="1">
                <a:solidFill>
                  <a:schemeClr val="tx1"/>
                </a:solidFill>
              </a:rPr>
              <a:t>jth</a:t>
            </a:r>
            <a:r>
              <a:rPr lang="en-US" altLang="en-US" dirty="0">
                <a:solidFill>
                  <a:schemeClr val="tx1"/>
                </a:solidFill>
              </a:rPr>
              <a:t> index</a:t>
            </a:r>
            <a:br>
              <a:rPr lang="en-US" altLang="en-US" dirty="0">
                <a:solidFill>
                  <a:schemeClr val="tx1"/>
                </a:solidFill>
              </a:rPr>
            </a:br>
            <a:r>
              <a:rPr lang="en-US" altLang="en-US" dirty="0">
                <a:solidFill>
                  <a:schemeClr val="tx1"/>
                </a:solidFill>
              </a:rPr>
              <a:t>		=  </a:t>
            </a:r>
            <a:r>
              <a:rPr lang="en-US" altLang="en-US" dirty="0" err="1">
                <a:solidFill>
                  <a:schemeClr val="tx1"/>
                </a:solidFill>
              </a:rPr>
              <a:t>jth</a:t>
            </a:r>
            <a:r>
              <a:rPr lang="en-US" altLang="en-US" dirty="0">
                <a:solidFill>
                  <a:schemeClr val="tx1"/>
                </a:solidFill>
              </a:rPr>
              <a:t> index  –  (j – 1)</a:t>
            </a:r>
            <a:r>
              <a:rPr lang="en-US" altLang="en-US" dirty="0" err="1">
                <a:solidFill>
                  <a:schemeClr val="tx1"/>
                </a:solidFill>
              </a:rPr>
              <a:t>st</a:t>
            </a:r>
            <a:r>
              <a:rPr lang="en-US" altLang="en-US" dirty="0">
                <a:solidFill>
                  <a:schemeClr val="tx1"/>
                </a:solidFill>
              </a:rPr>
              <a:t> index</a:t>
            </a:r>
            <a:br>
              <a:rPr lang="en-US" altLang="en-US" dirty="0">
                <a:solidFill>
                  <a:schemeClr val="tx1"/>
                </a:solidFill>
              </a:rPr>
            </a:br>
            <a:r>
              <a:rPr lang="en-US" altLang="en-US" dirty="0">
                <a:solidFill>
                  <a:schemeClr val="tx1"/>
                </a:solidFill>
              </a:rPr>
              <a:t>		= (h1 + j</a:t>
            </a:r>
            <a:r>
              <a:rPr lang="en-US" altLang="en-US" baseline="30000" dirty="0">
                <a:solidFill>
                  <a:schemeClr val="tx1"/>
                </a:solidFill>
              </a:rPr>
              <a:t>2</a:t>
            </a:r>
            <a:r>
              <a:rPr lang="en-US" altLang="en-US" dirty="0">
                <a:solidFill>
                  <a:schemeClr val="tx1"/>
                </a:solidFill>
              </a:rPr>
              <a:t>) – (h1 + (j – 1)</a:t>
            </a:r>
            <a:r>
              <a:rPr lang="en-US" altLang="en-US" baseline="30000" dirty="0">
                <a:solidFill>
                  <a:schemeClr val="tx1"/>
                </a:solidFill>
              </a:rPr>
              <a:t>2</a:t>
            </a:r>
            <a:r>
              <a:rPr lang="en-US" altLang="en-US" dirty="0">
                <a:solidFill>
                  <a:schemeClr val="tx1"/>
                </a:solidFill>
              </a:rPr>
              <a:t>)</a:t>
            </a:r>
            <a:br>
              <a:rPr lang="en-US" altLang="en-US" dirty="0">
                <a:solidFill>
                  <a:schemeClr val="tx1"/>
                </a:solidFill>
              </a:rPr>
            </a:br>
            <a:r>
              <a:rPr lang="en-US" altLang="en-US" dirty="0">
                <a:solidFill>
                  <a:schemeClr val="tx1"/>
                </a:solidFill>
              </a:rPr>
              <a:t>		=  j</a:t>
            </a:r>
            <a:r>
              <a:rPr lang="en-US" altLang="en-US" baseline="30000" dirty="0">
                <a:solidFill>
                  <a:schemeClr val="tx1"/>
                </a:solidFill>
              </a:rPr>
              <a:t>2</a:t>
            </a:r>
            <a:r>
              <a:rPr lang="en-US" altLang="en-US" dirty="0">
                <a:solidFill>
                  <a:schemeClr val="tx1"/>
                </a:solidFill>
              </a:rPr>
              <a:t> – (j – 1)</a:t>
            </a:r>
            <a:r>
              <a:rPr lang="en-US" altLang="en-US" baseline="30000" dirty="0">
                <a:solidFill>
                  <a:schemeClr val="tx1"/>
                </a:solidFill>
              </a:rPr>
              <a:t>2</a:t>
            </a:r>
            <a:br>
              <a:rPr lang="en-US" altLang="en-US" dirty="0">
                <a:solidFill>
                  <a:schemeClr val="tx1"/>
                </a:solidFill>
              </a:rPr>
            </a:br>
            <a:r>
              <a:rPr lang="en-US" altLang="en-US" dirty="0">
                <a:solidFill>
                  <a:schemeClr val="tx1"/>
                </a:solidFill>
              </a:rPr>
              <a:t>		=  j</a:t>
            </a:r>
            <a:r>
              <a:rPr lang="en-US" altLang="en-US" baseline="30000" dirty="0">
                <a:solidFill>
                  <a:schemeClr val="tx1"/>
                </a:solidFill>
              </a:rPr>
              <a:t>2</a:t>
            </a:r>
            <a:r>
              <a:rPr lang="en-US" altLang="en-US" dirty="0">
                <a:solidFill>
                  <a:schemeClr val="tx1"/>
                </a:solidFill>
              </a:rPr>
              <a:t> – (j</a:t>
            </a:r>
            <a:r>
              <a:rPr lang="en-US" altLang="en-US" baseline="30000" dirty="0">
                <a:solidFill>
                  <a:schemeClr val="tx1"/>
                </a:solidFill>
              </a:rPr>
              <a:t>2</a:t>
            </a:r>
            <a:r>
              <a:rPr lang="en-US" altLang="en-US" dirty="0">
                <a:solidFill>
                  <a:schemeClr val="tx1"/>
                </a:solidFill>
              </a:rPr>
              <a:t> – 2j + 1)</a:t>
            </a:r>
            <a:br>
              <a:rPr lang="en-US" altLang="en-US" dirty="0">
                <a:solidFill>
                  <a:schemeClr val="tx1"/>
                </a:solidFill>
              </a:rPr>
            </a:br>
            <a:r>
              <a:rPr lang="en-US" altLang="en-US" dirty="0">
                <a:solidFill>
                  <a:schemeClr val="tx1"/>
                </a:solidFill>
              </a:rPr>
              <a:t>		=  2j – 1</a:t>
            </a:r>
          </a:p>
        </p:txBody>
      </p:sp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>
          <a:xfrm>
            <a:off x="258763" y="79375"/>
            <a:ext cx="8683625" cy="847725"/>
          </a:xfrm>
        </p:spPr>
        <p:txBody>
          <a:bodyPr/>
          <a:lstStyle/>
          <a:p>
            <a:r>
              <a:rPr lang="en-US" altLang="en-US"/>
              <a:t>Handling the Other Types of Probing </a:t>
            </a:r>
            <a:r>
              <a:rPr lang="en-US" altLang="en-US" sz="2000"/>
              <a:t>(cont.)</a:t>
            </a:r>
          </a:p>
        </p:txBody>
      </p:sp>
    </p:spTree>
    <p:extLst>
      <p:ext uri="{BB962C8B-B14F-4D97-AF65-F5344CB8AC3E}">
        <p14:creationId xmlns:p14="http://schemas.microsoft.com/office/powerpoint/2010/main" val="2400836769"/>
      </p:ext>
    </p:extLst>
  </p:cSld>
  <p:clrMapOvr>
    <a:masterClrMapping/>
  </p:clrMapOvr>
</p:sld>
</file>

<file path=ppt/slides/slide30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53613" y="3554361"/>
            <a:ext cx="1165122" cy="36871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6322423" cy="100584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>
          <a:xfrm>
            <a:off x="258763" y="79375"/>
            <a:ext cx="8683625" cy="847725"/>
          </a:xfrm>
        </p:spPr>
        <p:txBody>
          <a:bodyPr/>
          <a:lstStyle/>
          <a:p>
            <a:r>
              <a:rPr lang="en-US" altLang="en-US"/>
              <a:t>Handling the Other Types of Probing </a:t>
            </a:r>
            <a:r>
              <a:rPr lang="en-US" altLang="en-US" sz="2000"/>
              <a:t>(cont.)</a:t>
            </a:r>
          </a:p>
        </p:txBody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7725"/>
            <a:ext cx="8623300" cy="5614988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ts val="1000"/>
              </a:spcBef>
              <a:buFontTx/>
              <a:buChar char="•"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dirty="0"/>
              <a:t>Why is</a:t>
            </a:r>
            <a:r>
              <a:rPr lang="en-US" altLang="en-US" sz="1600" dirty="0">
                <a:solidFill>
                  <a:schemeClr val="tx1"/>
                </a:solidFill>
                <a:latin typeface="Lucida Console" panose="020B0609040504020204" pitchFamily="49" charset="0"/>
              </a:rPr>
              <a:t>	</a:t>
            </a:r>
            <a:r>
              <a:rPr lang="en-US" altLang="en-US" sz="2000" dirty="0">
                <a:solidFill>
                  <a:schemeClr val="tx1"/>
                </a:solidFill>
                <a:latin typeface="Lucida Console" panose="020B0609040504020204" pitchFamily="49" charset="0"/>
              </a:rPr>
              <a:t>2*</a:t>
            </a:r>
            <a:r>
              <a:rPr lang="en-US" altLang="en-US" sz="20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numChecked</a:t>
            </a:r>
            <a:r>
              <a:rPr lang="en-US" altLang="en-US" sz="2000" dirty="0">
                <a:solidFill>
                  <a:schemeClr val="tx1"/>
                </a:solidFill>
                <a:latin typeface="Lucida Console" panose="020B0609040504020204" pitchFamily="49" charset="0"/>
              </a:rPr>
              <a:t> - 1 </a:t>
            </a:r>
            <a:br>
              <a:rPr lang="en-US" altLang="en-US" sz="2000" dirty="0">
                <a:solidFill>
                  <a:schemeClr val="tx1"/>
                </a:solidFill>
                <a:latin typeface="Lucida Console" panose="020B0609040504020204" pitchFamily="49" charset="0"/>
              </a:rPr>
            </a:br>
            <a:r>
              <a:rPr lang="en-US" altLang="en-US" dirty="0">
                <a:solidFill>
                  <a:schemeClr val="tx1"/>
                </a:solidFill>
              </a:rPr>
              <a:t>the correct increment for quadratic probing</a:t>
            </a:r>
            <a:r>
              <a:rPr lang="en-US" altLang="en-US" dirty="0"/>
              <a:t>?</a:t>
            </a:r>
          </a:p>
          <a:p>
            <a:pPr>
              <a:spcBef>
                <a:spcPts val="2400"/>
              </a:spcBef>
              <a:buFontTx/>
              <a:buChar char="•"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dirty="0"/>
              <a:t>Recall that for quadratic probing:</a:t>
            </a:r>
          </a:p>
          <a:p>
            <a:pPr lvl="1">
              <a:spcBef>
                <a:spcPts val="500"/>
              </a:spcBef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dirty="0"/>
              <a:t>probe sequence = h1, h1 + 1</a:t>
            </a:r>
            <a:r>
              <a:rPr lang="en-US" altLang="en-US" baseline="30000" dirty="0"/>
              <a:t>2</a:t>
            </a:r>
            <a:r>
              <a:rPr lang="en-US" altLang="en-US" dirty="0"/>
              <a:t>, h1 + 2</a:t>
            </a:r>
            <a:r>
              <a:rPr lang="en-US" altLang="en-US" baseline="30000" dirty="0"/>
              <a:t>2</a:t>
            </a:r>
            <a:r>
              <a:rPr lang="en-US" altLang="en-US" dirty="0"/>
              <a:t>, …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dirty="0" err="1"/>
              <a:t>jth</a:t>
            </a:r>
            <a:r>
              <a:rPr lang="en-US" altLang="en-US" dirty="0"/>
              <a:t> index in the sequence = h1 + j</a:t>
            </a:r>
            <a:r>
              <a:rPr lang="en-US" altLang="en-US" baseline="30000" dirty="0"/>
              <a:t>2</a:t>
            </a:r>
            <a:r>
              <a:rPr lang="en-US" altLang="en-US" dirty="0">
                <a:solidFill>
                  <a:schemeClr val="tx1"/>
                </a:solidFill>
              </a:rPr>
              <a:t> 	(note: j = </a:t>
            </a:r>
            <a:r>
              <a:rPr lang="en-US" altLang="en-US" dirty="0" err="1">
                <a:solidFill>
                  <a:schemeClr val="tx1"/>
                </a:solidFill>
              </a:rPr>
              <a:t>numChecked</a:t>
            </a:r>
            <a:r>
              <a:rPr lang="en-US" altLang="en-US" dirty="0">
                <a:solidFill>
                  <a:schemeClr val="tx1"/>
                </a:solidFill>
              </a:rPr>
              <a:t>)</a:t>
            </a:r>
            <a:endParaRPr lang="en-US" altLang="en-US" baseline="30000" dirty="0"/>
          </a:p>
          <a:p>
            <a:pPr>
              <a:spcBef>
                <a:spcPts val="2400"/>
              </a:spcBef>
              <a:buFontTx/>
              <a:buChar char="•"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dirty="0">
                <a:solidFill>
                  <a:schemeClr val="tx1"/>
                </a:solidFill>
              </a:rPr>
              <a:t>The increment used to compute the </a:t>
            </a:r>
            <a:r>
              <a:rPr lang="en-US" altLang="en-US" dirty="0" err="1">
                <a:solidFill>
                  <a:schemeClr val="tx1"/>
                </a:solidFill>
              </a:rPr>
              <a:t>jth</a:t>
            </a:r>
            <a:r>
              <a:rPr lang="en-US" altLang="en-US" dirty="0">
                <a:solidFill>
                  <a:schemeClr val="tx1"/>
                </a:solidFill>
              </a:rPr>
              <a:t> index</a:t>
            </a:r>
            <a:br>
              <a:rPr lang="en-US" altLang="en-US" dirty="0">
                <a:solidFill>
                  <a:schemeClr val="tx1"/>
                </a:solidFill>
              </a:rPr>
            </a:br>
            <a:r>
              <a:rPr lang="en-US" altLang="en-US" dirty="0">
                <a:solidFill>
                  <a:schemeClr val="tx1"/>
                </a:solidFill>
              </a:rPr>
              <a:t>		=  </a:t>
            </a:r>
            <a:r>
              <a:rPr lang="en-US" altLang="en-US" dirty="0" err="1">
                <a:solidFill>
                  <a:schemeClr val="accent2"/>
                </a:solidFill>
              </a:rPr>
              <a:t>jth</a:t>
            </a:r>
            <a:r>
              <a:rPr lang="en-US" altLang="en-US" dirty="0">
                <a:solidFill>
                  <a:schemeClr val="accent2"/>
                </a:solidFill>
              </a:rPr>
              <a:t> index  </a:t>
            </a:r>
            <a:r>
              <a:rPr lang="en-US" altLang="en-US" dirty="0">
                <a:solidFill>
                  <a:schemeClr val="tx1"/>
                </a:solidFill>
              </a:rPr>
              <a:t>–  (j – 1)</a:t>
            </a:r>
            <a:r>
              <a:rPr lang="en-US" altLang="en-US" dirty="0" err="1">
                <a:solidFill>
                  <a:schemeClr val="tx1"/>
                </a:solidFill>
              </a:rPr>
              <a:t>st</a:t>
            </a:r>
            <a:r>
              <a:rPr lang="en-US" altLang="en-US" dirty="0">
                <a:solidFill>
                  <a:schemeClr val="tx1"/>
                </a:solidFill>
              </a:rPr>
              <a:t> index</a:t>
            </a:r>
            <a:br>
              <a:rPr lang="en-US" altLang="en-US" dirty="0">
                <a:solidFill>
                  <a:schemeClr val="tx1"/>
                </a:solidFill>
              </a:rPr>
            </a:br>
            <a:r>
              <a:rPr lang="en-US" altLang="en-US" dirty="0">
                <a:solidFill>
                  <a:schemeClr val="tx1"/>
                </a:solidFill>
              </a:rPr>
              <a:t>		= (h1 + j</a:t>
            </a:r>
            <a:r>
              <a:rPr lang="en-US" altLang="en-US" baseline="30000" dirty="0">
                <a:solidFill>
                  <a:schemeClr val="tx1"/>
                </a:solidFill>
              </a:rPr>
              <a:t>2</a:t>
            </a:r>
            <a:r>
              <a:rPr lang="en-US" altLang="en-US" dirty="0">
                <a:solidFill>
                  <a:schemeClr val="tx1"/>
                </a:solidFill>
              </a:rPr>
              <a:t>) – (h1 + (j – 1)</a:t>
            </a:r>
            <a:r>
              <a:rPr lang="en-US" altLang="en-US" baseline="30000" dirty="0">
                <a:solidFill>
                  <a:schemeClr val="tx1"/>
                </a:solidFill>
              </a:rPr>
              <a:t>2</a:t>
            </a:r>
            <a:r>
              <a:rPr lang="en-US" altLang="en-US" dirty="0">
                <a:solidFill>
                  <a:schemeClr val="tx1"/>
                </a:solidFill>
              </a:rPr>
              <a:t>)</a:t>
            </a:r>
            <a:br>
              <a:rPr lang="en-US" altLang="en-US" dirty="0">
                <a:solidFill>
                  <a:schemeClr val="tx1"/>
                </a:solidFill>
              </a:rPr>
            </a:br>
            <a:r>
              <a:rPr lang="en-US" altLang="en-US" dirty="0">
                <a:solidFill>
                  <a:schemeClr val="tx1"/>
                </a:solidFill>
              </a:rPr>
              <a:t>		=  j</a:t>
            </a:r>
            <a:r>
              <a:rPr lang="en-US" altLang="en-US" baseline="30000" dirty="0">
                <a:solidFill>
                  <a:schemeClr val="tx1"/>
                </a:solidFill>
              </a:rPr>
              <a:t>2</a:t>
            </a:r>
            <a:r>
              <a:rPr lang="en-US" altLang="en-US" dirty="0">
                <a:solidFill>
                  <a:schemeClr val="tx1"/>
                </a:solidFill>
              </a:rPr>
              <a:t> – (j – 1)</a:t>
            </a:r>
            <a:r>
              <a:rPr lang="en-US" altLang="en-US" baseline="30000" dirty="0">
                <a:solidFill>
                  <a:schemeClr val="tx1"/>
                </a:solidFill>
              </a:rPr>
              <a:t>2</a:t>
            </a:r>
            <a:br>
              <a:rPr lang="en-US" altLang="en-US" dirty="0">
                <a:solidFill>
                  <a:schemeClr val="tx1"/>
                </a:solidFill>
              </a:rPr>
            </a:br>
            <a:r>
              <a:rPr lang="en-US" altLang="en-US" dirty="0">
                <a:solidFill>
                  <a:schemeClr val="tx1"/>
                </a:solidFill>
              </a:rPr>
              <a:t>		=  j</a:t>
            </a:r>
            <a:r>
              <a:rPr lang="en-US" altLang="en-US" baseline="30000" dirty="0">
                <a:solidFill>
                  <a:schemeClr val="tx1"/>
                </a:solidFill>
              </a:rPr>
              <a:t>2</a:t>
            </a:r>
            <a:r>
              <a:rPr lang="en-US" altLang="en-US" dirty="0">
                <a:solidFill>
                  <a:schemeClr val="tx1"/>
                </a:solidFill>
              </a:rPr>
              <a:t> – (j</a:t>
            </a:r>
            <a:r>
              <a:rPr lang="en-US" altLang="en-US" baseline="30000" dirty="0">
                <a:solidFill>
                  <a:schemeClr val="tx1"/>
                </a:solidFill>
              </a:rPr>
              <a:t>2</a:t>
            </a:r>
            <a:r>
              <a:rPr lang="en-US" altLang="en-US" dirty="0">
                <a:solidFill>
                  <a:schemeClr val="tx1"/>
                </a:solidFill>
              </a:rPr>
              <a:t> – 2j + 1)</a:t>
            </a:r>
            <a:br>
              <a:rPr lang="en-US" altLang="en-US" dirty="0">
                <a:solidFill>
                  <a:schemeClr val="tx1"/>
                </a:solidFill>
              </a:rPr>
            </a:br>
            <a:r>
              <a:rPr lang="en-US" altLang="en-US" dirty="0">
                <a:solidFill>
                  <a:schemeClr val="tx1"/>
                </a:solidFill>
              </a:rPr>
              <a:t>		=  2j – 1</a:t>
            </a:r>
          </a:p>
        </p:txBody>
      </p:sp>
    </p:spTree>
    <p:extLst>
      <p:ext uri="{BB962C8B-B14F-4D97-AF65-F5344CB8AC3E}">
        <p14:creationId xmlns:p14="http://schemas.microsoft.com/office/powerpoint/2010/main" val="2100386494"/>
      </p:ext>
    </p:extLst>
  </p:cSld>
  <p:clrMapOvr>
    <a:masterClrMapping/>
  </p:clrMapOvr>
</p:sld>
</file>

<file path=ppt/slides/slide30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53613" y="3554361"/>
            <a:ext cx="1165122" cy="36871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2748474" y="3546971"/>
            <a:ext cx="1912016" cy="36871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6322423" cy="100584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>
          <a:xfrm>
            <a:off x="258763" y="79375"/>
            <a:ext cx="8683625" cy="847725"/>
          </a:xfrm>
        </p:spPr>
        <p:txBody>
          <a:bodyPr/>
          <a:lstStyle/>
          <a:p>
            <a:r>
              <a:rPr lang="en-US" altLang="en-US"/>
              <a:t>Handling the Other Types of Probing </a:t>
            </a:r>
            <a:r>
              <a:rPr lang="en-US" altLang="en-US" sz="2000"/>
              <a:t>(cont.)</a:t>
            </a:r>
          </a:p>
        </p:txBody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7725"/>
            <a:ext cx="8623300" cy="5614988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ts val="1000"/>
              </a:spcBef>
              <a:buFontTx/>
              <a:buChar char="•"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dirty="0"/>
              <a:t>Why is</a:t>
            </a:r>
            <a:r>
              <a:rPr lang="en-US" altLang="en-US" sz="1600" dirty="0">
                <a:solidFill>
                  <a:schemeClr val="tx1"/>
                </a:solidFill>
                <a:latin typeface="Lucida Console" panose="020B0609040504020204" pitchFamily="49" charset="0"/>
              </a:rPr>
              <a:t>	</a:t>
            </a:r>
            <a:r>
              <a:rPr lang="en-US" altLang="en-US" sz="2000" dirty="0">
                <a:solidFill>
                  <a:schemeClr val="tx1"/>
                </a:solidFill>
                <a:latin typeface="Lucida Console" panose="020B0609040504020204" pitchFamily="49" charset="0"/>
              </a:rPr>
              <a:t>2*</a:t>
            </a:r>
            <a:r>
              <a:rPr lang="en-US" altLang="en-US" sz="20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numChecked</a:t>
            </a:r>
            <a:r>
              <a:rPr lang="en-US" altLang="en-US" sz="2000" dirty="0">
                <a:solidFill>
                  <a:schemeClr val="tx1"/>
                </a:solidFill>
                <a:latin typeface="Lucida Console" panose="020B0609040504020204" pitchFamily="49" charset="0"/>
              </a:rPr>
              <a:t> - 1 </a:t>
            </a:r>
            <a:br>
              <a:rPr lang="en-US" altLang="en-US" sz="2000" dirty="0">
                <a:solidFill>
                  <a:schemeClr val="tx1"/>
                </a:solidFill>
                <a:latin typeface="Lucida Console" panose="020B0609040504020204" pitchFamily="49" charset="0"/>
              </a:rPr>
            </a:br>
            <a:r>
              <a:rPr lang="en-US" altLang="en-US" dirty="0">
                <a:solidFill>
                  <a:schemeClr val="tx1"/>
                </a:solidFill>
              </a:rPr>
              <a:t>the correct increment for quadratic probing</a:t>
            </a:r>
            <a:r>
              <a:rPr lang="en-US" altLang="en-US" dirty="0"/>
              <a:t>?</a:t>
            </a:r>
          </a:p>
          <a:p>
            <a:pPr>
              <a:spcBef>
                <a:spcPts val="2400"/>
              </a:spcBef>
              <a:buFontTx/>
              <a:buChar char="•"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dirty="0"/>
              <a:t>Recall that for quadratic probing:</a:t>
            </a:r>
          </a:p>
          <a:p>
            <a:pPr lvl="1">
              <a:spcBef>
                <a:spcPts val="500"/>
              </a:spcBef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dirty="0"/>
              <a:t>probe sequence = h1, h1 + 1</a:t>
            </a:r>
            <a:r>
              <a:rPr lang="en-US" altLang="en-US" baseline="30000" dirty="0"/>
              <a:t>2</a:t>
            </a:r>
            <a:r>
              <a:rPr lang="en-US" altLang="en-US" dirty="0"/>
              <a:t>, h1 + 2</a:t>
            </a:r>
            <a:r>
              <a:rPr lang="en-US" altLang="en-US" baseline="30000" dirty="0"/>
              <a:t>2</a:t>
            </a:r>
            <a:r>
              <a:rPr lang="en-US" altLang="en-US" dirty="0"/>
              <a:t>, …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dirty="0" err="1"/>
              <a:t>jth</a:t>
            </a:r>
            <a:r>
              <a:rPr lang="en-US" altLang="en-US" dirty="0"/>
              <a:t> index in the sequence = h1 + j</a:t>
            </a:r>
            <a:r>
              <a:rPr lang="en-US" altLang="en-US" baseline="30000" dirty="0"/>
              <a:t>2</a:t>
            </a:r>
            <a:r>
              <a:rPr lang="en-US" altLang="en-US" dirty="0">
                <a:solidFill>
                  <a:schemeClr val="tx1"/>
                </a:solidFill>
              </a:rPr>
              <a:t> 	(note: j = </a:t>
            </a:r>
            <a:r>
              <a:rPr lang="en-US" altLang="en-US" dirty="0" err="1">
                <a:solidFill>
                  <a:schemeClr val="tx1"/>
                </a:solidFill>
              </a:rPr>
              <a:t>numChecked</a:t>
            </a:r>
            <a:r>
              <a:rPr lang="en-US" altLang="en-US" dirty="0">
                <a:solidFill>
                  <a:schemeClr val="tx1"/>
                </a:solidFill>
              </a:rPr>
              <a:t>)</a:t>
            </a:r>
            <a:endParaRPr lang="en-US" altLang="en-US" baseline="30000" dirty="0"/>
          </a:p>
          <a:p>
            <a:pPr>
              <a:spcBef>
                <a:spcPts val="2400"/>
              </a:spcBef>
              <a:buFontTx/>
              <a:buChar char="•"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dirty="0">
                <a:solidFill>
                  <a:schemeClr val="tx1"/>
                </a:solidFill>
              </a:rPr>
              <a:t>The increment used to compute the </a:t>
            </a:r>
            <a:r>
              <a:rPr lang="en-US" altLang="en-US" dirty="0" err="1">
                <a:solidFill>
                  <a:schemeClr val="tx1"/>
                </a:solidFill>
              </a:rPr>
              <a:t>jth</a:t>
            </a:r>
            <a:r>
              <a:rPr lang="en-US" altLang="en-US" dirty="0">
                <a:solidFill>
                  <a:schemeClr val="tx1"/>
                </a:solidFill>
              </a:rPr>
              <a:t> index</a:t>
            </a:r>
            <a:br>
              <a:rPr lang="en-US" altLang="en-US" dirty="0">
                <a:solidFill>
                  <a:schemeClr val="tx1"/>
                </a:solidFill>
              </a:rPr>
            </a:br>
            <a:r>
              <a:rPr lang="en-US" altLang="en-US" dirty="0">
                <a:solidFill>
                  <a:schemeClr val="tx1"/>
                </a:solidFill>
              </a:rPr>
              <a:t>		</a:t>
            </a:r>
            <a:r>
              <a:rPr lang="en-US" altLang="en-US" dirty="0">
                <a:solidFill>
                  <a:schemeClr val="accent2"/>
                </a:solidFill>
              </a:rPr>
              <a:t>=  </a:t>
            </a:r>
            <a:r>
              <a:rPr lang="en-US" altLang="en-US" dirty="0" err="1">
                <a:solidFill>
                  <a:schemeClr val="accent2"/>
                </a:solidFill>
              </a:rPr>
              <a:t>jth</a:t>
            </a:r>
            <a:r>
              <a:rPr lang="en-US" altLang="en-US" dirty="0">
                <a:solidFill>
                  <a:schemeClr val="accent2"/>
                </a:solidFill>
              </a:rPr>
              <a:t> index  </a:t>
            </a:r>
            <a:r>
              <a:rPr lang="en-US" altLang="en-US" dirty="0">
                <a:solidFill>
                  <a:schemeClr val="tx1"/>
                </a:solidFill>
              </a:rPr>
              <a:t>–  </a:t>
            </a:r>
            <a:r>
              <a:rPr lang="en-US" altLang="en-US" dirty="0">
                <a:solidFill>
                  <a:schemeClr val="accent2"/>
                </a:solidFill>
              </a:rPr>
              <a:t>(j – 1)</a:t>
            </a:r>
            <a:r>
              <a:rPr lang="en-US" altLang="en-US" dirty="0" err="1">
                <a:solidFill>
                  <a:schemeClr val="accent2"/>
                </a:solidFill>
              </a:rPr>
              <a:t>st</a:t>
            </a:r>
            <a:r>
              <a:rPr lang="en-US" altLang="en-US" dirty="0">
                <a:solidFill>
                  <a:schemeClr val="accent2"/>
                </a:solidFill>
              </a:rPr>
              <a:t> index</a:t>
            </a:r>
            <a:br>
              <a:rPr lang="en-US" altLang="en-US" dirty="0">
                <a:solidFill>
                  <a:schemeClr val="accent2"/>
                </a:solidFill>
              </a:rPr>
            </a:br>
            <a:r>
              <a:rPr lang="en-US" altLang="en-US" dirty="0">
                <a:solidFill>
                  <a:schemeClr val="tx1"/>
                </a:solidFill>
              </a:rPr>
              <a:t>		= (h1 + j</a:t>
            </a:r>
            <a:r>
              <a:rPr lang="en-US" altLang="en-US" baseline="30000" dirty="0">
                <a:solidFill>
                  <a:schemeClr val="tx1"/>
                </a:solidFill>
              </a:rPr>
              <a:t>2</a:t>
            </a:r>
            <a:r>
              <a:rPr lang="en-US" altLang="en-US" dirty="0">
                <a:solidFill>
                  <a:schemeClr val="tx1"/>
                </a:solidFill>
              </a:rPr>
              <a:t>) – (h1 + (j – 1)</a:t>
            </a:r>
            <a:r>
              <a:rPr lang="en-US" altLang="en-US" baseline="30000" dirty="0">
                <a:solidFill>
                  <a:schemeClr val="tx1"/>
                </a:solidFill>
              </a:rPr>
              <a:t>2</a:t>
            </a:r>
            <a:r>
              <a:rPr lang="en-US" altLang="en-US" dirty="0">
                <a:solidFill>
                  <a:schemeClr val="tx1"/>
                </a:solidFill>
              </a:rPr>
              <a:t>)</a:t>
            </a:r>
            <a:br>
              <a:rPr lang="en-US" altLang="en-US" dirty="0">
                <a:solidFill>
                  <a:schemeClr val="tx1"/>
                </a:solidFill>
              </a:rPr>
            </a:br>
            <a:r>
              <a:rPr lang="en-US" altLang="en-US" dirty="0">
                <a:solidFill>
                  <a:schemeClr val="tx1"/>
                </a:solidFill>
              </a:rPr>
              <a:t>		=  j</a:t>
            </a:r>
            <a:r>
              <a:rPr lang="en-US" altLang="en-US" baseline="30000" dirty="0">
                <a:solidFill>
                  <a:schemeClr val="tx1"/>
                </a:solidFill>
              </a:rPr>
              <a:t>2</a:t>
            </a:r>
            <a:r>
              <a:rPr lang="en-US" altLang="en-US" dirty="0">
                <a:solidFill>
                  <a:schemeClr val="tx1"/>
                </a:solidFill>
              </a:rPr>
              <a:t> – (j – 1)</a:t>
            </a:r>
            <a:r>
              <a:rPr lang="en-US" altLang="en-US" baseline="30000" dirty="0">
                <a:solidFill>
                  <a:schemeClr val="tx1"/>
                </a:solidFill>
              </a:rPr>
              <a:t>2</a:t>
            </a:r>
            <a:br>
              <a:rPr lang="en-US" altLang="en-US" dirty="0">
                <a:solidFill>
                  <a:schemeClr val="tx1"/>
                </a:solidFill>
              </a:rPr>
            </a:br>
            <a:r>
              <a:rPr lang="en-US" altLang="en-US" dirty="0">
                <a:solidFill>
                  <a:schemeClr val="tx1"/>
                </a:solidFill>
              </a:rPr>
              <a:t>		=  j</a:t>
            </a:r>
            <a:r>
              <a:rPr lang="en-US" altLang="en-US" baseline="30000" dirty="0">
                <a:solidFill>
                  <a:schemeClr val="tx1"/>
                </a:solidFill>
              </a:rPr>
              <a:t>2</a:t>
            </a:r>
            <a:r>
              <a:rPr lang="en-US" altLang="en-US" dirty="0">
                <a:solidFill>
                  <a:schemeClr val="tx1"/>
                </a:solidFill>
              </a:rPr>
              <a:t> – (j</a:t>
            </a:r>
            <a:r>
              <a:rPr lang="en-US" altLang="en-US" baseline="30000" dirty="0">
                <a:solidFill>
                  <a:schemeClr val="tx1"/>
                </a:solidFill>
              </a:rPr>
              <a:t>2</a:t>
            </a:r>
            <a:r>
              <a:rPr lang="en-US" altLang="en-US" dirty="0">
                <a:solidFill>
                  <a:schemeClr val="tx1"/>
                </a:solidFill>
              </a:rPr>
              <a:t> – 2j + 1)</a:t>
            </a:r>
            <a:br>
              <a:rPr lang="en-US" altLang="en-US" dirty="0">
                <a:solidFill>
                  <a:schemeClr val="tx1"/>
                </a:solidFill>
              </a:rPr>
            </a:br>
            <a:r>
              <a:rPr lang="en-US" altLang="en-US" dirty="0">
                <a:solidFill>
                  <a:schemeClr val="tx1"/>
                </a:solidFill>
              </a:rPr>
              <a:t>		=  2j – 1</a:t>
            </a:r>
          </a:p>
        </p:txBody>
      </p:sp>
    </p:spTree>
    <p:extLst>
      <p:ext uri="{BB962C8B-B14F-4D97-AF65-F5344CB8AC3E}">
        <p14:creationId xmlns:p14="http://schemas.microsoft.com/office/powerpoint/2010/main" val="3474436150"/>
      </p:ext>
    </p:extLst>
  </p:cSld>
  <p:clrMapOvr>
    <a:masterClrMapping/>
  </p:clrMapOvr>
</p:sld>
</file>

<file path=ppt/slides/slide30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253613" y="4927420"/>
            <a:ext cx="1165122" cy="36871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1253613" y="3554361"/>
            <a:ext cx="1165122" cy="36871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2748474" y="3546971"/>
            <a:ext cx="1912016" cy="36871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6322423" cy="100584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>
          <a:xfrm>
            <a:off x="258763" y="79375"/>
            <a:ext cx="8683625" cy="847725"/>
          </a:xfrm>
        </p:spPr>
        <p:txBody>
          <a:bodyPr/>
          <a:lstStyle/>
          <a:p>
            <a:r>
              <a:rPr lang="en-US" altLang="en-US"/>
              <a:t>Handling the Other Types of Probing </a:t>
            </a:r>
            <a:r>
              <a:rPr lang="en-US" altLang="en-US" sz="2000"/>
              <a:t>(cont.)</a:t>
            </a:r>
          </a:p>
        </p:txBody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7725"/>
            <a:ext cx="8623300" cy="5614988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ts val="1000"/>
              </a:spcBef>
              <a:buFontTx/>
              <a:buChar char="•"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dirty="0"/>
              <a:t>Why is</a:t>
            </a:r>
            <a:r>
              <a:rPr lang="en-US" altLang="en-US" sz="1600" dirty="0">
                <a:solidFill>
                  <a:schemeClr val="tx1"/>
                </a:solidFill>
                <a:latin typeface="Lucida Console" panose="020B0609040504020204" pitchFamily="49" charset="0"/>
              </a:rPr>
              <a:t>	</a:t>
            </a:r>
            <a:r>
              <a:rPr lang="en-US" altLang="en-US" sz="2000" dirty="0">
                <a:solidFill>
                  <a:schemeClr val="tx1"/>
                </a:solidFill>
                <a:latin typeface="Lucida Console" panose="020B0609040504020204" pitchFamily="49" charset="0"/>
              </a:rPr>
              <a:t>2*</a:t>
            </a:r>
            <a:r>
              <a:rPr lang="en-US" altLang="en-US" sz="20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numChecked</a:t>
            </a:r>
            <a:r>
              <a:rPr lang="en-US" altLang="en-US" sz="2000" dirty="0">
                <a:solidFill>
                  <a:schemeClr val="tx1"/>
                </a:solidFill>
                <a:latin typeface="Lucida Console" panose="020B0609040504020204" pitchFamily="49" charset="0"/>
              </a:rPr>
              <a:t> - 1 </a:t>
            </a:r>
            <a:br>
              <a:rPr lang="en-US" altLang="en-US" sz="2000" dirty="0">
                <a:solidFill>
                  <a:schemeClr val="tx1"/>
                </a:solidFill>
                <a:latin typeface="Lucida Console" panose="020B0609040504020204" pitchFamily="49" charset="0"/>
              </a:rPr>
            </a:br>
            <a:r>
              <a:rPr lang="en-US" altLang="en-US" dirty="0">
                <a:solidFill>
                  <a:schemeClr val="tx1"/>
                </a:solidFill>
              </a:rPr>
              <a:t>the correct increment for quadratic probing</a:t>
            </a:r>
            <a:r>
              <a:rPr lang="en-US" altLang="en-US" dirty="0"/>
              <a:t>?</a:t>
            </a:r>
          </a:p>
          <a:p>
            <a:pPr>
              <a:spcBef>
                <a:spcPts val="2400"/>
              </a:spcBef>
              <a:buFontTx/>
              <a:buChar char="•"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dirty="0"/>
              <a:t>Recall that for quadratic probing:</a:t>
            </a:r>
          </a:p>
          <a:p>
            <a:pPr lvl="1">
              <a:spcBef>
                <a:spcPts val="500"/>
              </a:spcBef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dirty="0"/>
              <a:t>probe sequence = h1, h1 + 1</a:t>
            </a:r>
            <a:r>
              <a:rPr lang="en-US" altLang="en-US" baseline="30000" dirty="0"/>
              <a:t>2</a:t>
            </a:r>
            <a:r>
              <a:rPr lang="en-US" altLang="en-US" dirty="0"/>
              <a:t>, h1 + 2</a:t>
            </a:r>
            <a:r>
              <a:rPr lang="en-US" altLang="en-US" baseline="30000" dirty="0"/>
              <a:t>2</a:t>
            </a:r>
            <a:r>
              <a:rPr lang="en-US" altLang="en-US" dirty="0"/>
              <a:t>, …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dirty="0" err="1"/>
              <a:t>jth</a:t>
            </a:r>
            <a:r>
              <a:rPr lang="en-US" altLang="en-US" dirty="0"/>
              <a:t> index in the sequence = h1 + j</a:t>
            </a:r>
            <a:r>
              <a:rPr lang="en-US" altLang="en-US" baseline="30000" dirty="0"/>
              <a:t>2</a:t>
            </a:r>
            <a:r>
              <a:rPr lang="en-US" altLang="en-US" dirty="0">
                <a:solidFill>
                  <a:schemeClr val="tx1"/>
                </a:solidFill>
              </a:rPr>
              <a:t> 	(note: j = </a:t>
            </a:r>
            <a:r>
              <a:rPr lang="en-US" altLang="en-US" dirty="0" err="1">
                <a:solidFill>
                  <a:schemeClr val="tx1"/>
                </a:solidFill>
              </a:rPr>
              <a:t>numChecked</a:t>
            </a:r>
            <a:r>
              <a:rPr lang="en-US" altLang="en-US" dirty="0">
                <a:solidFill>
                  <a:schemeClr val="tx1"/>
                </a:solidFill>
              </a:rPr>
              <a:t>)</a:t>
            </a:r>
            <a:endParaRPr lang="en-US" altLang="en-US" baseline="30000" dirty="0"/>
          </a:p>
          <a:p>
            <a:pPr>
              <a:spcBef>
                <a:spcPts val="2400"/>
              </a:spcBef>
              <a:buFontTx/>
              <a:buChar char="•"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dirty="0">
                <a:solidFill>
                  <a:schemeClr val="tx1"/>
                </a:solidFill>
              </a:rPr>
              <a:t>The increment used to compute the </a:t>
            </a:r>
            <a:r>
              <a:rPr lang="en-US" altLang="en-US" dirty="0" err="1">
                <a:solidFill>
                  <a:schemeClr val="tx1"/>
                </a:solidFill>
              </a:rPr>
              <a:t>jth</a:t>
            </a:r>
            <a:r>
              <a:rPr lang="en-US" altLang="en-US" dirty="0">
                <a:solidFill>
                  <a:schemeClr val="tx1"/>
                </a:solidFill>
              </a:rPr>
              <a:t> index</a:t>
            </a:r>
            <a:br>
              <a:rPr lang="en-US" altLang="en-US" dirty="0">
                <a:solidFill>
                  <a:schemeClr val="tx1"/>
                </a:solidFill>
              </a:rPr>
            </a:br>
            <a:r>
              <a:rPr lang="en-US" altLang="en-US" dirty="0">
                <a:solidFill>
                  <a:schemeClr val="tx1"/>
                </a:solidFill>
              </a:rPr>
              <a:t>		</a:t>
            </a:r>
            <a:r>
              <a:rPr lang="en-US" altLang="en-US" dirty="0">
                <a:solidFill>
                  <a:schemeClr val="accent2"/>
                </a:solidFill>
              </a:rPr>
              <a:t>=  </a:t>
            </a:r>
            <a:r>
              <a:rPr lang="en-US" altLang="en-US" dirty="0" err="1">
                <a:solidFill>
                  <a:schemeClr val="accent2"/>
                </a:solidFill>
              </a:rPr>
              <a:t>jth</a:t>
            </a:r>
            <a:r>
              <a:rPr lang="en-US" altLang="en-US" dirty="0">
                <a:solidFill>
                  <a:schemeClr val="accent2"/>
                </a:solidFill>
              </a:rPr>
              <a:t> index  </a:t>
            </a:r>
            <a:r>
              <a:rPr lang="en-US" altLang="en-US" dirty="0">
                <a:solidFill>
                  <a:schemeClr val="tx1"/>
                </a:solidFill>
              </a:rPr>
              <a:t>–  </a:t>
            </a:r>
            <a:r>
              <a:rPr lang="en-US" altLang="en-US" dirty="0">
                <a:solidFill>
                  <a:schemeClr val="accent2"/>
                </a:solidFill>
              </a:rPr>
              <a:t>(j – 1)</a:t>
            </a:r>
            <a:r>
              <a:rPr lang="en-US" altLang="en-US" dirty="0" err="1">
                <a:solidFill>
                  <a:schemeClr val="accent2"/>
                </a:solidFill>
              </a:rPr>
              <a:t>st</a:t>
            </a:r>
            <a:r>
              <a:rPr lang="en-US" altLang="en-US" dirty="0">
                <a:solidFill>
                  <a:schemeClr val="accent2"/>
                </a:solidFill>
              </a:rPr>
              <a:t> index</a:t>
            </a:r>
            <a:br>
              <a:rPr lang="en-US" altLang="en-US" dirty="0">
                <a:solidFill>
                  <a:schemeClr val="accent2"/>
                </a:solidFill>
              </a:rPr>
            </a:br>
            <a:r>
              <a:rPr lang="en-US" altLang="en-US" dirty="0">
                <a:solidFill>
                  <a:schemeClr val="tx1"/>
                </a:solidFill>
              </a:rPr>
              <a:t>		= (h1 + j</a:t>
            </a:r>
            <a:r>
              <a:rPr lang="en-US" altLang="en-US" baseline="30000" dirty="0">
                <a:solidFill>
                  <a:schemeClr val="tx1"/>
                </a:solidFill>
              </a:rPr>
              <a:t>2</a:t>
            </a:r>
            <a:r>
              <a:rPr lang="en-US" altLang="en-US" dirty="0">
                <a:solidFill>
                  <a:schemeClr val="tx1"/>
                </a:solidFill>
              </a:rPr>
              <a:t>) – (h1 + (j – 1)</a:t>
            </a:r>
            <a:r>
              <a:rPr lang="en-US" altLang="en-US" baseline="30000" dirty="0">
                <a:solidFill>
                  <a:schemeClr val="tx1"/>
                </a:solidFill>
              </a:rPr>
              <a:t>2</a:t>
            </a:r>
            <a:r>
              <a:rPr lang="en-US" altLang="en-US" dirty="0">
                <a:solidFill>
                  <a:schemeClr val="tx1"/>
                </a:solidFill>
              </a:rPr>
              <a:t>)</a:t>
            </a:r>
            <a:br>
              <a:rPr lang="en-US" altLang="en-US" dirty="0">
                <a:solidFill>
                  <a:schemeClr val="tx1"/>
                </a:solidFill>
              </a:rPr>
            </a:br>
            <a:r>
              <a:rPr lang="en-US" altLang="en-US" dirty="0">
                <a:solidFill>
                  <a:schemeClr val="tx1"/>
                </a:solidFill>
              </a:rPr>
              <a:t>		=  j</a:t>
            </a:r>
            <a:r>
              <a:rPr lang="en-US" altLang="en-US" baseline="30000" dirty="0">
                <a:solidFill>
                  <a:schemeClr val="tx1"/>
                </a:solidFill>
              </a:rPr>
              <a:t>2</a:t>
            </a:r>
            <a:r>
              <a:rPr lang="en-US" altLang="en-US" dirty="0">
                <a:solidFill>
                  <a:schemeClr val="tx1"/>
                </a:solidFill>
              </a:rPr>
              <a:t> – (j – 1)</a:t>
            </a:r>
            <a:r>
              <a:rPr lang="en-US" altLang="en-US" baseline="30000" dirty="0">
                <a:solidFill>
                  <a:schemeClr val="tx1"/>
                </a:solidFill>
              </a:rPr>
              <a:t>2</a:t>
            </a:r>
            <a:br>
              <a:rPr lang="en-US" altLang="en-US" dirty="0">
                <a:solidFill>
                  <a:schemeClr val="tx1"/>
                </a:solidFill>
              </a:rPr>
            </a:br>
            <a:r>
              <a:rPr lang="en-US" altLang="en-US" dirty="0">
                <a:solidFill>
                  <a:schemeClr val="tx1"/>
                </a:solidFill>
              </a:rPr>
              <a:t>		=  j</a:t>
            </a:r>
            <a:r>
              <a:rPr lang="en-US" altLang="en-US" baseline="30000" dirty="0">
                <a:solidFill>
                  <a:schemeClr val="tx1"/>
                </a:solidFill>
              </a:rPr>
              <a:t>2</a:t>
            </a:r>
            <a:r>
              <a:rPr lang="en-US" altLang="en-US" dirty="0">
                <a:solidFill>
                  <a:schemeClr val="tx1"/>
                </a:solidFill>
              </a:rPr>
              <a:t> – (j</a:t>
            </a:r>
            <a:r>
              <a:rPr lang="en-US" altLang="en-US" baseline="30000" dirty="0">
                <a:solidFill>
                  <a:schemeClr val="tx1"/>
                </a:solidFill>
              </a:rPr>
              <a:t>2</a:t>
            </a:r>
            <a:r>
              <a:rPr lang="en-US" altLang="en-US" dirty="0">
                <a:solidFill>
                  <a:schemeClr val="tx1"/>
                </a:solidFill>
              </a:rPr>
              <a:t> – 2j + 1)</a:t>
            </a:r>
            <a:br>
              <a:rPr lang="en-US" altLang="en-US" dirty="0">
                <a:solidFill>
                  <a:schemeClr val="tx1"/>
                </a:solidFill>
              </a:rPr>
            </a:br>
            <a:r>
              <a:rPr lang="en-US" altLang="en-US" dirty="0">
                <a:solidFill>
                  <a:schemeClr val="tx1"/>
                </a:solidFill>
              </a:rPr>
              <a:t>		=  </a:t>
            </a:r>
            <a:r>
              <a:rPr lang="en-US" altLang="en-US" dirty="0">
                <a:solidFill>
                  <a:schemeClr val="accent2"/>
                </a:solidFill>
              </a:rPr>
              <a:t>2j – 1</a:t>
            </a:r>
          </a:p>
        </p:txBody>
      </p:sp>
    </p:spTree>
    <p:extLst>
      <p:ext uri="{BB962C8B-B14F-4D97-AF65-F5344CB8AC3E}">
        <p14:creationId xmlns:p14="http://schemas.microsoft.com/office/powerpoint/2010/main" val="1246517160"/>
      </p:ext>
    </p:extLst>
  </p:cSld>
  <p:clrMapOvr>
    <a:masterClrMapping/>
  </p:clrMapOvr>
</p:sld>
</file>

<file path=ppt/slides/slide30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253613" y="4927420"/>
            <a:ext cx="1165122" cy="36871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1253613" y="3554361"/>
            <a:ext cx="1165122" cy="36871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2748474" y="3546971"/>
            <a:ext cx="1912016" cy="36871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6322423" cy="100584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>
          <a:xfrm>
            <a:off x="258763" y="79375"/>
            <a:ext cx="8683625" cy="847725"/>
          </a:xfrm>
        </p:spPr>
        <p:txBody>
          <a:bodyPr/>
          <a:lstStyle/>
          <a:p>
            <a:r>
              <a:rPr lang="en-US" altLang="en-US"/>
              <a:t>Handling the Other Types of Probing </a:t>
            </a:r>
            <a:r>
              <a:rPr lang="en-US" altLang="en-US" sz="2000"/>
              <a:t>(cont.)</a:t>
            </a:r>
          </a:p>
        </p:txBody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7725"/>
            <a:ext cx="8623300" cy="5614988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ts val="1000"/>
              </a:spcBef>
              <a:buFontTx/>
              <a:buChar char="•"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dirty="0"/>
              <a:t>Why is</a:t>
            </a:r>
            <a:r>
              <a:rPr lang="en-US" altLang="en-US" sz="1600" dirty="0">
                <a:solidFill>
                  <a:schemeClr val="tx1"/>
                </a:solidFill>
                <a:latin typeface="Lucida Console" panose="020B0609040504020204" pitchFamily="49" charset="0"/>
              </a:rPr>
              <a:t>	</a:t>
            </a:r>
            <a:r>
              <a:rPr lang="en-US" altLang="en-US" sz="2000" dirty="0">
                <a:solidFill>
                  <a:schemeClr val="tx1"/>
                </a:solidFill>
                <a:latin typeface="Lucida Console" panose="020B0609040504020204" pitchFamily="49" charset="0"/>
              </a:rPr>
              <a:t>2*</a:t>
            </a:r>
            <a:r>
              <a:rPr lang="en-US" altLang="en-US" sz="20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numChecked</a:t>
            </a:r>
            <a:r>
              <a:rPr lang="en-US" altLang="en-US" sz="2000" dirty="0">
                <a:solidFill>
                  <a:schemeClr val="tx1"/>
                </a:solidFill>
                <a:latin typeface="Lucida Console" panose="020B0609040504020204" pitchFamily="49" charset="0"/>
              </a:rPr>
              <a:t> - 1 </a:t>
            </a:r>
            <a:br>
              <a:rPr lang="en-US" altLang="en-US" sz="2000" dirty="0">
                <a:solidFill>
                  <a:schemeClr val="tx1"/>
                </a:solidFill>
                <a:latin typeface="Lucida Console" panose="020B0609040504020204" pitchFamily="49" charset="0"/>
              </a:rPr>
            </a:br>
            <a:r>
              <a:rPr lang="en-US" altLang="en-US" dirty="0">
                <a:solidFill>
                  <a:schemeClr val="tx1"/>
                </a:solidFill>
              </a:rPr>
              <a:t>the correct increment for quadratic probing</a:t>
            </a:r>
            <a:r>
              <a:rPr lang="en-US" altLang="en-US" dirty="0"/>
              <a:t>?</a:t>
            </a:r>
          </a:p>
          <a:p>
            <a:pPr>
              <a:spcBef>
                <a:spcPts val="2400"/>
              </a:spcBef>
              <a:buFontTx/>
              <a:buChar char="•"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dirty="0"/>
              <a:t>Recall that for quadratic probing:</a:t>
            </a:r>
          </a:p>
          <a:p>
            <a:pPr lvl="1">
              <a:spcBef>
                <a:spcPts val="500"/>
              </a:spcBef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dirty="0"/>
              <a:t>probe sequence = h1, h1 + 1</a:t>
            </a:r>
            <a:r>
              <a:rPr lang="en-US" altLang="en-US" baseline="30000" dirty="0"/>
              <a:t>2</a:t>
            </a:r>
            <a:r>
              <a:rPr lang="en-US" altLang="en-US" dirty="0"/>
              <a:t>, h1 + 2</a:t>
            </a:r>
            <a:r>
              <a:rPr lang="en-US" altLang="en-US" baseline="30000" dirty="0"/>
              <a:t>2</a:t>
            </a:r>
            <a:r>
              <a:rPr lang="en-US" altLang="en-US" dirty="0"/>
              <a:t>, …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dirty="0" err="1"/>
              <a:t>jth</a:t>
            </a:r>
            <a:r>
              <a:rPr lang="en-US" altLang="en-US" dirty="0"/>
              <a:t> index in the sequence = h1 + j</a:t>
            </a:r>
            <a:r>
              <a:rPr lang="en-US" altLang="en-US" baseline="30000" dirty="0"/>
              <a:t>2</a:t>
            </a:r>
            <a:r>
              <a:rPr lang="en-US" altLang="en-US" dirty="0">
                <a:solidFill>
                  <a:schemeClr val="tx1"/>
                </a:solidFill>
              </a:rPr>
              <a:t> 	(note: j = </a:t>
            </a:r>
            <a:r>
              <a:rPr lang="en-US" altLang="en-US" dirty="0" err="1">
                <a:solidFill>
                  <a:schemeClr val="tx1"/>
                </a:solidFill>
              </a:rPr>
              <a:t>numChecked</a:t>
            </a:r>
            <a:r>
              <a:rPr lang="en-US" altLang="en-US" dirty="0">
                <a:solidFill>
                  <a:schemeClr val="tx1"/>
                </a:solidFill>
              </a:rPr>
              <a:t>)</a:t>
            </a:r>
            <a:endParaRPr lang="en-US" altLang="en-US" baseline="30000" dirty="0"/>
          </a:p>
          <a:p>
            <a:pPr>
              <a:spcBef>
                <a:spcPts val="2400"/>
              </a:spcBef>
              <a:buFontTx/>
              <a:buChar char="•"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dirty="0">
                <a:solidFill>
                  <a:schemeClr val="tx1"/>
                </a:solidFill>
              </a:rPr>
              <a:t>The increment used to compute the </a:t>
            </a:r>
            <a:r>
              <a:rPr lang="en-US" altLang="en-US" dirty="0" err="1">
                <a:solidFill>
                  <a:schemeClr val="tx1"/>
                </a:solidFill>
              </a:rPr>
              <a:t>jth</a:t>
            </a:r>
            <a:r>
              <a:rPr lang="en-US" altLang="en-US" dirty="0">
                <a:solidFill>
                  <a:schemeClr val="tx1"/>
                </a:solidFill>
              </a:rPr>
              <a:t> index</a:t>
            </a:r>
            <a:br>
              <a:rPr lang="en-US" altLang="en-US" dirty="0">
                <a:solidFill>
                  <a:schemeClr val="tx1"/>
                </a:solidFill>
              </a:rPr>
            </a:br>
            <a:r>
              <a:rPr lang="en-US" altLang="en-US" dirty="0">
                <a:solidFill>
                  <a:schemeClr val="tx1"/>
                </a:solidFill>
              </a:rPr>
              <a:t>		</a:t>
            </a:r>
            <a:r>
              <a:rPr lang="en-US" altLang="en-US" dirty="0">
                <a:solidFill>
                  <a:schemeClr val="accent2"/>
                </a:solidFill>
              </a:rPr>
              <a:t>=  </a:t>
            </a:r>
            <a:r>
              <a:rPr lang="en-US" altLang="en-US" dirty="0" err="1">
                <a:solidFill>
                  <a:schemeClr val="accent2"/>
                </a:solidFill>
              </a:rPr>
              <a:t>jth</a:t>
            </a:r>
            <a:r>
              <a:rPr lang="en-US" altLang="en-US" dirty="0">
                <a:solidFill>
                  <a:schemeClr val="accent2"/>
                </a:solidFill>
              </a:rPr>
              <a:t> index  </a:t>
            </a:r>
            <a:r>
              <a:rPr lang="en-US" altLang="en-US" dirty="0">
                <a:solidFill>
                  <a:schemeClr val="tx1"/>
                </a:solidFill>
              </a:rPr>
              <a:t>–  </a:t>
            </a:r>
            <a:r>
              <a:rPr lang="en-US" altLang="en-US" dirty="0">
                <a:solidFill>
                  <a:schemeClr val="accent2"/>
                </a:solidFill>
              </a:rPr>
              <a:t>(j – 1)</a:t>
            </a:r>
            <a:r>
              <a:rPr lang="en-US" altLang="en-US" dirty="0" err="1">
                <a:solidFill>
                  <a:schemeClr val="accent2"/>
                </a:solidFill>
              </a:rPr>
              <a:t>st</a:t>
            </a:r>
            <a:r>
              <a:rPr lang="en-US" altLang="en-US" dirty="0">
                <a:solidFill>
                  <a:schemeClr val="accent2"/>
                </a:solidFill>
              </a:rPr>
              <a:t> index</a:t>
            </a:r>
            <a:br>
              <a:rPr lang="en-US" altLang="en-US" dirty="0">
                <a:solidFill>
                  <a:schemeClr val="accent2"/>
                </a:solidFill>
              </a:rPr>
            </a:br>
            <a:r>
              <a:rPr lang="en-US" altLang="en-US" dirty="0">
                <a:solidFill>
                  <a:schemeClr val="tx1"/>
                </a:solidFill>
              </a:rPr>
              <a:t>		= (h1 + j</a:t>
            </a:r>
            <a:r>
              <a:rPr lang="en-US" altLang="en-US" baseline="30000" dirty="0">
                <a:solidFill>
                  <a:schemeClr val="tx1"/>
                </a:solidFill>
              </a:rPr>
              <a:t>2</a:t>
            </a:r>
            <a:r>
              <a:rPr lang="en-US" altLang="en-US" dirty="0">
                <a:solidFill>
                  <a:schemeClr val="tx1"/>
                </a:solidFill>
              </a:rPr>
              <a:t>) – (h1 + (j – 1)</a:t>
            </a:r>
            <a:r>
              <a:rPr lang="en-US" altLang="en-US" baseline="30000" dirty="0">
                <a:solidFill>
                  <a:schemeClr val="tx1"/>
                </a:solidFill>
              </a:rPr>
              <a:t>2</a:t>
            </a:r>
            <a:r>
              <a:rPr lang="en-US" altLang="en-US" dirty="0">
                <a:solidFill>
                  <a:schemeClr val="tx1"/>
                </a:solidFill>
              </a:rPr>
              <a:t>)</a:t>
            </a:r>
            <a:br>
              <a:rPr lang="en-US" altLang="en-US" dirty="0">
                <a:solidFill>
                  <a:schemeClr val="tx1"/>
                </a:solidFill>
              </a:rPr>
            </a:br>
            <a:r>
              <a:rPr lang="en-US" altLang="en-US" dirty="0">
                <a:solidFill>
                  <a:schemeClr val="tx1"/>
                </a:solidFill>
              </a:rPr>
              <a:t>		=  j</a:t>
            </a:r>
            <a:r>
              <a:rPr lang="en-US" altLang="en-US" baseline="30000" dirty="0">
                <a:solidFill>
                  <a:schemeClr val="tx1"/>
                </a:solidFill>
              </a:rPr>
              <a:t>2</a:t>
            </a:r>
            <a:r>
              <a:rPr lang="en-US" altLang="en-US" dirty="0">
                <a:solidFill>
                  <a:schemeClr val="tx1"/>
                </a:solidFill>
              </a:rPr>
              <a:t> – (j – 1)</a:t>
            </a:r>
            <a:r>
              <a:rPr lang="en-US" altLang="en-US" baseline="30000" dirty="0">
                <a:solidFill>
                  <a:schemeClr val="tx1"/>
                </a:solidFill>
              </a:rPr>
              <a:t>2</a:t>
            </a:r>
            <a:br>
              <a:rPr lang="en-US" altLang="en-US" dirty="0">
                <a:solidFill>
                  <a:schemeClr val="tx1"/>
                </a:solidFill>
              </a:rPr>
            </a:br>
            <a:r>
              <a:rPr lang="en-US" altLang="en-US" dirty="0">
                <a:solidFill>
                  <a:schemeClr val="tx1"/>
                </a:solidFill>
              </a:rPr>
              <a:t>		=  j</a:t>
            </a:r>
            <a:r>
              <a:rPr lang="en-US" altLang="en-US" baseline="30000" dirty="0">
                <a:solidFill>
                  <a:schemeClr val="tx1"/>
                </a:solidFill>
              </a:rPr>
              <a:t>2</a:t>
            </a:r>
            <a:r>
              <a:rPr lang="en-US" altLang="en-US" dirty="0">
                <a:solidFill>
                  <a:schemeClr val="tx1"/>
                </a:solidFill>
              </a:rPr>
              <a:t> – (j</a:t>
            </a:r>
            <a:r>
              <a:rPr lang="en-US" altLang="en-US" baseline="30000" dirty="0">
                <a:solidFill>
                  <a:schemeClr val="tx1"/>
                </a:solidFill>
              </a:rPr>
              <a:t>2</a:t>
            </a:r>
            <a:r>
              <a:rPr lang="en-US" altLang="en-US" dirty="0">
                <a:solidFill>
                  <a:schemeClr val="tx1"/>
                </a:solidFill>
              </a:rPr>
              <a:t> – 2j + 1)</a:t>
            </a:r>
            <a:br>
              <a:rPr lang="en-US" altLang="en-US" dirty="0">
                <a:solidFill>
                  <a:schemeClr val="tx1"/>
                </a:solidFill>
              </a:rPr>
            </a:br>
            <a:r>
              <a:rPr lang="en-US" altLang="en-US" dirty="0">
                <a:solidFill>
                  <a:schemeClr val="tx1"/>
                </a:solidFill>
              </a:rPr>
              <a:t>		=  </a:t>
            </a:r>
            <a:r>
              <a:rPr lang="en-US" altLang="en-US" dirty="0">
                <a:solidFill>
                  <a:schemeClr val="accent2"/>
                </a:solidFill>
              </a:rPr>
              <a:t>2</a:t>
            </a:r>
            <a:r>
              <a:rPr lang="en-US" altLang="en-US" b="1" dirty="0">
                <a:solidFill>
                  <a:schemeClr val="accent2"/>
                </a:solidFill>
              </a:rPr>
              <a:t>j</a:t>
            </a:r>
            <a:r>
              <a:rPr lang="en-US" altLang="en-US" dirty="0">
                <a:solidFill>
                  <a:schemeClr val="accent2"/>
                </a:solidFill>
              </a:rPr>
              <a:t> – 1</a:t>
            </a:r>
          </a:p>
        </p:txBody>
      </p:sp>
      <p:cxnSp>
        <p:nvCxnSpPr>
          <p:cNvPr id="5" name="Straight Arrow Connector 4"/>
          <p:cNvCxnSpPr/>
          <p:nvPr/>
        </p:nvCxnSpPr>
        <p:spPr bwMode="auto">
          <a:xfrm flipH="1" flipV="1">
            <a:off x="1616382" y="5296130"/>
            <a:ext cx="802353" cy="76835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" name="TextBox 8"/>
          <p:cNvSpPr txBox="1"/>
          <p:nvPr/>
        </p:nvSpPr>
        <p:spPr>
          <a:xfrm>
            <a:off x="2153264" y="5894264"/>
            <a:ext cx="2256503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accent2"/>
                </a:solidFill>
                <a:latin typeface="Lucida Console" panose="020B0609040504020204" pitchFamily="49" charset="0"/>
              </a:rPr>
              <a:t>numChecked</a:t>
            </a:r>
            <a:endParaRPr lang="en-US" dirty="0">
              <a:solidFill>
                <a:schemeClr val="accent2"/>
              </a:solidFill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1733387"/>
      </p:ext>
    </p:extLst>
  </p:cSld>
  <p:clrMapOvr>
    <a:masterClrMapping/>
  </p:clrMapOvr>
</p:sld>
</file>

<file path=ppt/slides/slide30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>
          <a:xfrm>
            <a:off x="258763" y="79375"/>
            <a:ext cx="8683625" cy="847725"/>
          </a:xfrm>
        </p:spPr>
        <p:txBody>
          <a:bodyPr/>
          <a:lstStyle/>
          <a:p>
            <a:r>
              <a:rPr lang="en-US" altLang="en-US"/>
              <a:t>Handling the Other Types of Probing </a:t>
            </a:r>
            <a:r>
              <a:rPr lang="en-US" altLang="en-US" sz="2000"/>
              <a:t>(cont.)</a:t>
            </a:r>
          </a:p>
        </p:txBody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7725"/>
            <a:ext cx="8623300" cy="5614988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ts val="1000"/>
              </a:spcBef>
              <a:buFontTx/>
              <a:buChar char="•"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dirty="0"/>
              <a:t>The </a:t>
            </a:r>
            <a:r>
              <a:rPr lang="en-US" altLang="en-US" sz="2000" dirty="0" err="1">
                <a:latin typeface="Lucida Console" panose="020B0609040504020204" pitchFamily="49" charset="0"/>
              </a:rPr>
              <a:t>probeIncr</a:t>
            </a:r>
            <a:r>
              <a:rPr lang="en-US" altLang="en-US" sz="2000" dirty="0">
                <a:latin typeface="Lucida Console" panose="020B0609040504020204" pitchFamily="49" charset="0"/>
              </a:rPr>
              <a:t>()</a:t>
            </a:r>
            <a:r>
              <a:rPr lang="en-US" altLang="en-US" dirty="0"/>
              <a:t> method bases the increment on the </a:t>
            </a:r>
            <a:br>
              <a:rPr lang="en-US" altLang="en-US" dirty="0"/>
            </a:br>
            <a:r>
              <a:rPr lang="en-US" altLang="en-US" dirty="0"/>
              <a:t>type of probing:</a:t>
            </a:r>
            <a:endParaRPr lang="en-US" altLang="en-US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>
              <a:lnSpc>
                <a:spcPct val="90000"/>
              </a:lnSpc>
              <a:spcBef>
                <a:spcPts val="100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private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probeIncr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numChecked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,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h2) {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increment;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if (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probeType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== LINEAR) {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    increment = 1;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} </a:t>
            </a: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else if (</a:t>
            </a:r>
            <a:r>
              <a:rPr lang="en-US" altLang="en-US" sz="1800" b="1" dirty="0" err="1">
                <a:solidFill>
                  <a:srgbClr val="0000FF"/>
                </a:solidFill>
                <a:latin typeface="Lucida Console" panose="020B0609040504020204" pitchFamily="49" charset="0"/>
              </a:rPr>
              <a:t>probeType</a:t>
            </a: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 == QUADRATIC) {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           increment = (2*</a:t>
            </a:r>
            <a:r>
              <a:rPr lang="en-US" altLang="en-US" sz="1800" b="1" dirty="0" err="1">
                <a:solidFill>
                  <a:srgbClr val="0000FF"/>
                </a:solidFill>
                <a:latin typeface="Lucida Console" panose="020B0609040504020204" pitchFamily="49" charset="0"/>
              </a:rPr>
              <a:t>numChecked</a:t>
            </a: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 - 1)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} else {   //  DOUBLE_HASHING: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    increment = h2;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}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endParaRPr lang="en-US" altLang="en-US" sz="18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					 return( increment );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}</a:t>
            </a:r>
          </a:p>
        </p:txBody>
      </p:sp>
    </p:spTree>
    <p:extLst>
      <p:ext uri="{BB962C8B-B14F-4D97-AF65-F5344CB8AC3E}">
        <p14:creationId xmlns:p14="http://schemas.microsoft.com/office/powerpoint/2010/main" val="4004297511"/>
      </p:ext>
    </p:extLst>
  </p:cSld>
  <p:clrMapOvr>
    <a:masterClrMapping/>
  </p:clrMapOvr>
</p:sld>
</file>

<file path=ppt/slides/slide30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>
          <a:xfrm>
            <a:off x="258763" y="79375"/>
            <a:ext cx="8683625" cy="847725"/>
          </a:xfrm>
        </p:spPr>
        <p:txBody>
          <a:bodyPr/>
          <a:lstStyle/>
          <a:p>
            <a:r>
              <a:rPr lang="en-US" altLang="en-US"/>
              <a:t>Handling the Other Types of Probing </a:t>
            </a:r>
            <a:r>
              <a:rPr lang="en-US" altLang="en-US" sz="2000"/>
              <a:t>(cont.)</a:t>
            </a:r>
          </a:p>
        </p:txBody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7725"/>
            <a:ext cx="8623300" cy="5614988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ts val="1000"/>
              </a:spcBef>
              <a:buFontTx/>
              <a:buChar char="•"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dirty="0"/>
              <a:t>The </a:t>
            </a:r>
            <a:r>
              <a:rPr lang="en-US" altLang="en-US" sz="2000" dirty="0" err="1">
                <a:latin typeface="Lucida Console" panose="020B0609040504020204" pitchFamily="49" charset="0"/>
              </a:rPr>
              <a:t>probeIncr</a:t>
            </a:r>
            <a:r>
              <a:rPr lang="en-US" altLang="en-US" sz="2000" dirty="0">
                <a:latin typeface="Lucida Console" panose="020B0609040504020204" pitchFamily="49" charset="0"/>
              </a:rPr>
              <a:t>()</a:t>
            </a:r>
            <a:r>
              <a:rPr lang="en-US" altLang="en-US" dirty="0"/>
              <a:t> method bases the increment on the </a:t>
            </a:r>
            <a:br>
              <a:rPr lang="en-US" altLang="en-US" dirty="0"/>
            </a:br>
            <a:r>
              <a:rPr lang="en-US" altLang="en-US" dirty="0"/>
              <a:t>type of probing:</a:t>
            </a:r>
            <a:endParaRPr lang="en-US" altLang="en-US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>
              <a:lnSpc>
                <a:spcPct val="90000"/>
              </a:lnSpc>
              <a:spcBef>
                <a:spcPts val="100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private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probeIncr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numChecked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,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h2) {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increment;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if (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probeType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== LINEAR) {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    increment = 1;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} else if (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probeType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== QUADRATIC) {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    increment = (2*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numChecked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- 1);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} </a:t>
            </a: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else {   //  DOUBLE_HASHING: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           increment = h2;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}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endParaRPr lang="en-US" altLang="en-US" sz="18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					 return( increment );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}</a:t>
            </a:r>
          </a:p>
        </p:txBody>
      </p:sp>
    </p:spTree>
    <p:extLst>
      <p:ext uri="{BB962C8B-B14F-4D97-AF65-F5344CB8AC3E}">
        <p14:creationId xmlns:p14="http://schemas.microsoft.com/office/powerpoint/2010/main" val="3122270164"/>
      </p:ext>
    </p:extLst>
  </p:cSld>
  <p:clrMapOvr>
    <a:masterClrMapping/>
  </p:clrMapOvr>
</p:sld>
</file>

<file path=ppt/slides/slide30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>
          <a:xfrm>
            <a:off x="258763" y="79375"/>
            <a:ext cx="8683625" cy="847725"/>
          </a:xfrm>
        </p:spPr>
        <p:txBody>
          <a:bodyPr/>
          <a:lstStyle/>
          <a:p>
            <a:r>
              <a:rPr lang="en-US" altLang="en-US"/>
              <a:t>Handling the Other Types of Probing </a:t>
            </a:r>
            <a:r>
              <a:rPr lang="en-US" altLang="en-US" sz="2000"/>
              <a:t>(cont.)</a:t>
            </a:r>
          </a:p>
        </p:txBody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7725"/>
            <a:ext cx="8623300" cy="5614988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ts val="1000"/>
              </a:spcBef>
              <a:buFontTx/>
              <a:buChar char="•"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dirty="0"/>
              <a:t>The </a:t>
            </a:r>
            <a:r>
              <a:rPr lang="en-US" altLang="en-US" sz="2000" dirty="0" err="1">
                <a:latin typeface="Lucida Console" panose="020B0609040504020204" pitchFamily="49" charset="0"/>
              </a:rPr>
              <a:t>probeIncr</a:t>
            </a:r>
            <a:r>
              <a:rPr lang="en-US" altLang="en-US" sz="2000" dirty="0">
                <a:latin typeface="Lucida Console" panose="020B0609040504020204" pitchFamily="49" charset="0"/>
              </a:rPr>
              <a:t>()</a:t>
            </a:r>
            <a:r>
              <a:rPr lang="en-US" altLang="en-US" dirty="0"/>
              <a:t> method bases the increment on the </a:t>
            </a:r>
            <a:br>
              <a:rPr lang="en-US" altLang="en-US" dirty="0"/>
            </a:br>
            <a:r>
              <a:rPr lang="en-US" altLang="en-US" dirty="0"/>
              <a:t>type of probing:</a:t>
            </a:r>
            <a:endParaRPr lang="en-US" altLang="en-US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>
              <a:lnSpc>
                <a:spcPct val="90000"/>
              </a:lnSpc>
              <a:spcBef>
                <a:spcPts val="100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private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probeIncr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numChecked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, </a:t>
            </a:r>
            <a:r>
              <a:rPr lang="en-US" altLang="en-US" sz="1800" dirty="0" err="1">
                <a:solidFill>
                  <a:schemeClr val="accent2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sz="1800" dirty="0">
                <a:solidFill>
                  <a:schemeClr val="accent2"/>
                </a:solidFill>
                <a:latin typeface="Lucida Console" panose="020B0609040504020204" pitchFamily="49" charset="0"/>
              </a:rPr>
              <a:t> h2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) {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increment;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if (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probeType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== LINEAR) {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    increment = 1;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} else if (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probeType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== QUADRATIC) {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    increment = (2*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numChecked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- 1);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} </a:t>
            </a: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else {   //  DOUBLE_HASHING: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           increment = h2;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}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endParaRPr lang="en-US" altLang="en-US" sz="18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					 return( increment );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}</a:t>
            </a:r>
          </a:p>
        </p:txBody>
      </p:sp>
    </p:spTree>
    <p:extLst>
      <p:ext uri="{BB962C8B-B14F-4D97-AF65-F5344CB8AC3E}">
        <p14:creationId xmlns:p14="http://schemas.microsoft.com/office/powerpoint/2010/main" val="276218216"/>
      </p:ext>
    </p:extLst>
  </p:cSld>
  <p:clrMapOvr>
    <a:masterClrMapping/>
  </p:clrMapOvr>
</p:sld>
</file>

<file path=ppt/slides/slide30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>
          <a:xfrm>
            <a:off x="258763" y="79375"/>
            <a:ext cx="8683625" cy="847725"/>
          </a:xfrm>
        </p:spPr>
        <p:txBody>
          <a:bodyPr/>
          <a:lstStyle/>
          <a:p>
            <a:r>
              <a:rPr lang="en-US" altLang="en-US"/>
              <a:t>Handling the Other Types of Probing </a:t>
            </a:r>
            <a:r>
              <a:rPr lang="en-US" altLang="en-US" sz="2000"/>
              <a:t>(cont.)</a:t>
            </a:r>
          </a:p>
        </p:txBody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7725"/>
            <a:ext cx="8623300" cy="5614988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ts val="1000"/>
              </a:spcBef>
              <a:buFontTx/>
              <a:buChar char="•"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dirty="0"/>
              <a:t>The </a:t>
            </a:r>
            <a:r>
              <a:rPr lang="en-US" altLang="en-US" sz="2000" dirty="0" err="1">
                <a:latin typeface="Lucida Console" panose="020B0609040504020204" pitchFamily="49" charset="0"/>
              </a:rPr>
              <a:t>probeIncr</a:t>
            </a:r>
            <a:r>
              <a:rPr lang="en-US" altLang="en-US" sz="2000" dirty="0">
                <a:latin typeface="Lucida Console" panose="020B0609040504020204" pitchFamily="49" charset="0"/>
              </a:rPr>
              <a:t>()</a:t>
            </a:r>
            <a:r>
              <a:rPr lang="en-US" altLang="en-US" dirty="0"/>
              <a:t> method bases the increment on the </a:t>
            </a:r>
            <a:br>
              <a:rPr lang="en-US" altLang="en-US" dirty="0"/>
            </a:br>
            <a:r>
              <a:rPr lang="en-US" altLang="en-US" dirty="0"/>
              <a:t>type of probing:</a:t>
            </a:r>
            <a:endParaRPr lang="en-US" altLang="en-US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>
              <a:lnSpc>
                <a:spcPct val="90000"/>
              </a:lnSpc>
              <a:spcBef>
                <a:spcPts val="100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private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probeIncr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numChecked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,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h2) {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increment;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if (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probeType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== LINEAR) {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    increment = 1;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} else if (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probeType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== QUADRATIC) {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    increment = (2*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numChecked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- 1);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} else {   //  DOUBLE_HASHING: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    increment = h2;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}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endParaRPr lang="en-US" altLang="en-US" sz="18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					 </a:t>
            </a: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return( increment );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}</a:t>
            </a:r>
          </a:p>
        </p:txBody>
      </p:sp>
    </p:spTree>
    <p:extLst>
      <p:ext uri="{BB962C8B-B14F-4D97-AF65-F5344CB8AC3E}">
        <p14:creationId xmlns:p14="http://schemas.microsoft.com/office/powerpoint/2010/main" val="2723492898"/>
      </p:ext>
    </p:extLst>
  </p:cSld>
  <p:clrMapOvr>
    <a:masterClrMapping/>
  </p:clrMapOvr>
</p:sld>
</file>

<file path=ppt/slides/slide3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>
          <a:xfrm>
            <a:off x="258763" y="128588"/>
            <a:ext cx="8683625" cy="847725"/>
          </a:xfrm>
        </p:spPr>
        <p:txBody>
          <a:bodyPr/>
          <a:lstStyle/>
          <a:p>
            <a:r>
              <a:rPr lang="en-US" altLang="en-US" dirty="0"/>
              <a:t>Handling the Return</a:t>
            </a:r>
            <a:endParaRPr lang="en-US" altLang="en-US" sz="2000" dirty="0"/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65188"/>
            <a:ext cx="8623300" cy="5614987"/>
          </a:xfrm>
        </p:spPr>
        <p:txBody>
          <a:bodyPr/>
          <a:lstStyle/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b="1" dirty="0">
                <a:solidFill>
                  <a:schemeClr val="accent2"/>
                </a:solidFill>
                <a:latin typeface="Lucida Console" panose="020B0609040504020204" pitchFamily="49" charset="0"/>
              </a:rPr>
              <a:t>private </a:t>
            </a:r>
            <a:r>
              <a:rPr lang="en-US" altLang="en-US" sz="1800" b="1" dirty="0" err="1">
                <a:solidFill>
                  <a:schemeClr val="accent2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sz="1800" b="1" dirty="0">
                <a:solidFill>
                  <a:schemeClr val="accent2"/>
                </a:solidFill>
                <a:latin typeface="Lucida Console" panose="020B0609040504020204" pitchFamily="49" charset="0"/>
              </a:rPr>
              <a:t> probe(Object </a:t>
            </a:r>
            <a:r>
              <a:rPr lang="en-US" altLang="en-US" sz="1800" b="1" dirty="0">
                <a:solidFill>
                  <a:srgbClr val="FF0000"/>
                </a:solidFill>
                <a:latin typeface="Lucida Console" panose="020B0609040504020204" pitchFamily="49" charset="0"/>
              </a:rPr>
              <a:t>key</a:t>
            </a:r>
            <a:r>
              <a:rPr lang="en-US" altLang="en-US" sz="1800" b="1" dirty="0">
                <a:solidFill>
                  <a:schemeClr val="accent2"/>
                </a:solidFill>
                <a:latin typeface="Lucida Console" panose="020B0609040504020204" pitchFamily="49" charset="0"/>
              </a:rPr>
              <a:t>) {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= h1(key);    // first hash function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h2 = h2(key);   // second hash function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numChecked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= 1;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endParaRPr lang="en-US" altLang="en-US" sz="18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// keep probing until we get an empty position or a match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while (table[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] != null &amp;&amp; !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key.equals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(table[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].key)) {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 if (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numChecked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==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table.length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) {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     return -1;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 }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 </a:t>
            </a:r>
            <a:r>
              <a:rPr lang="en-US" altLang="en-US" sz="1800" b="1" dirty="0" err="1">
                <a:solidFill>
                  <a:srgbClr val="0000FF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 =</a:t>
            </a:r>
            <a:r>
              <a:rPr lang="en-US" altLang="en-US" sz="1800" dirty="0">
                <a:solidFill>
                  <a:srgbClr val="0000FF"/>
                </a:solidFill>
                <a:latin typeface="Lucida Console" panose="020B0609040504020204" pitchFamily="49" charset="0"/>
              </a:rPr>
              <a:t> (</a:t>
            </a:r>
            <a:r>
              <a:rPr lang="en-US" altLang="en-US" sz="1800" dirty="0" err="1">
                <a:solidFill>
                  <a:srgbClr val="0000FF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rgbClr val="0000FF"/>
                </a:solidFill>
                <a:latin typeface="Lucida Console" panose="020B0609040504020204" pitchFamily="49" charset="0"/>
              </a:rPr>
              <a:t> + </a:t>
            </a:r>
            <a:r>
              <a:rPr lang="en-US" altLang="en-US" sz="1800" dirty="0" err="1">
                <a:solidFill>
                  <a:srgbClr val="0000FF"/>
                </a:solidFill>
                <a:latin typeface="Lucida Console" panose="020B0609040504020204" pitchFamily="49" charset="0"/>
              </a:rPr>
              <a:t>probeIncr</a:t>
            </a:r>
            <a:r>
              <a:rPr lang="en-US" altLang="en-US" sz="1800" dirty="0">
                <a:solidFill>
                  <a:srgbClr val="0000FF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1800" dirty="0" err="1">
                <a:solidFill>
                  <a:srgbClr val="0000FF"/>
                </a:solidFill>
                <a:latin typeface="Lucida Console" panose="020B0609040504020204" pitchFamily="49" charset="0"/>
              </a:rPr>
              <a:t>numChecked</a:t>
            </a:r>
            <a:r>
              <a:rPr lang="en-US" altLang="en-US" sz="1800" dirty="0">
                <a:solidFill>
                  <a:srgbClr val="0000FF"/>
                </a:solidFill>
                <a:latin typeface="Lucida Console" panose="020B0609040504020204" pitchFamily="49" charset="0"/>
              </a:rPr>
              <a:t>, h2)) % </a:t>
            </a:r>
            <a:r>
              <a:rPr lang="en-US" altLang="en-US" sz="1800" dirty="0" err="1">
                <a:solidFill>
                  <a:srgbClr val="0000FF"/>
                </a:solidFill>
                <a:latin typeface="Lucida Console" panose="020B0609040504020204" pitchFamily="49" charset="0"/>
              </a:rPr>
              <a:t>table.length</a:t>
            </a:r>
            <a:r>
              <a:rPr lang="en-US" altLang="en-US" sz="1800" dirty="0">
                <a:solidFill>
                  <a:srgbClr val="0000FF"/>
                </a:solidFill>
                <a:latin typeface="Lucida Console" panose="020B0609040504020204" pitchFamily="49" charset="0"/>
              </a:rPr>
              <a:t>;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numChecked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++;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}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endParaRPr lang="en-US" altLang="en-US" sz="18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return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;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67552425"/>
      </p:ext>
    </p:extLst>
  </p:cSld>
  <p:clrMapOvr>
    <a:masterClrMapping/>
  </p:clrMapOvr>
</p:sld>
</file>

<file path=ppt/slides/slide3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>
          <a:xfrm>
            <a:off x="258763" y="128588"/>
            <a:ext cx="8683625" cy="847725"/>
          </a:xfrm>
        </p:spPr>
        <p:txBody>
          <a:bodyPr/>
          <a:lstStyle/>
          <a:p>
            <a:r>
              <a:rPr lang="en-US" altLang="en-US" dirty="0"/>
              <a:t>Handling the Return</a:t>
            </a:r>
            <a:endParaRPr lang="en-US" altLang="en-US" sz="2000" dirty="0"/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65188"/>
            <a:ext cx="8623300" cy="5614987"/>
          </a:xfrm>
        </p:spPr>
        <p:txBody>
          <a:bodyPr/>
          <a:lstStyle/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b="1" dirty="0">
                <a:solidFill>
                  <a:schemeClr val="accent2"/>
                </a:solidFill>
                <a:latin typeface="Lucida Console" panose="020B0609040504020204" pitchFamily="49" charset="0"/>
              </a:rPr>
              <a:t>private </a:t>
            </a:r>
            <a:r>
              <a:rPr lang="en-US" altLang="en-US" sz="1800" b="1" dirty="0" err="1">
                <a:solidFill>
                  <a:schemeClr val="accent2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sz="1800" b="1" dirty="0">
                <a:solidFill>
                  <a:schemeClr val="accent2"/>
                </a:solidFill>
                <a:latin typeface="Lucida Console" panose="020B0609040504020204" pitchFamily="49" charset="0"/>
              </a:rPr>
              <a:t> probe(Object </a:t>
            </a:r>
            <a:r>
              <a:rPr lang="en-US" altLang="en-US" sz="1800" b="1" dirty="0">
                <a:solidFill>
                  <a:srgbClr val="FF0000"/>
                </a:solidFill>
                <a:latin typeface="Lucida Console" panose="020B0609040504020204" pitchFamily="49" charset="0"/>
              </a:rPr>
              <a:t>key</a:t>
            </a:r>
            <a:r>
              <a:rPr lang="en-US" altLang="en-US" sz="1800" b="1" dirty="0">
                <a:solidFill>
                  <a:schemeClr val="accent2"/>
                </a:solidFill>
                <a:latin typeface="Lucida Console" panose="020B0609040504020204" pitchFamily="49" charset="0"/>
              </a:rPr>
              <a:t>) {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= h1(key);    // first hash function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h2 = h2(key);   // second hash function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numChecked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= 1;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endParaRPr lang="en-US" altLang="en-US" sz="18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// keep probing until we get an empty position or a match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while (table[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] != null &amp;&amp; !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key.equals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(table[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].key)) {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 if (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numChecked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==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table.length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) {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     </a:t>
            </a:r>
            <a:r>
              <a:rPr lang="en-US" altLang="en-US" sz="1800" dirty="0">
                <a:solidFill>
                  <a:srgbClr val="FF0000"/>
                </a:solidFill>
                <a:latin typeface="Lucida Console" panose="020B0609040504020204" pitchFamily="49" charset="0"/>
              </a:rPr>
              <a:t>return -1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;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 }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= (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+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probeIncr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numChecked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, h2)) %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table.length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;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numChecked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++;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}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endParaRPr lang="en-US" altLang="en-US" sz="18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1800" dirty="0">
                <a:solidFill>
                  <a:srgbClr val="FF0000"/>
                </a:solidFill>
                <a:latin typeface="Lucida Console" panose="020B0609040504020204" pitchFamily="49" charset="0"/>
              </a:rPr>
              <a:t>return </a:t>
            </a:r>
            <a:r>
              <a:rPr lang="en-US" altLang="en-US" sz="18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;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}</a:t>
            </a:r>
          </a:p>
        </p:txBody>
      </p:sp>
      <p:sp>
        <p:nvSpPr>
          <p:cNvPr id="4" name="Cloud Callout 3"/>
          <p:cNvSpPr/>
          <p:nvPr/>
        </p:nvSpPr>
        <p:spPr bwMode="auto">
          <a:xfrm>
            <a:off x="4170947" y="4331369"/>
            <a:ext cx="3449053" cy="1973179"/>
          </a:xfrm>
          <a:prstGeom prst="cloudCallout">
            <a:avLst>
              <a:gd name="adj1" fmla="val -95252"/>
              <a:gd name="adj2" fmla="val -11425"/>
            </a:avLst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000" i="1" dirty="0"/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i="1" dirty="0">
                <a:latin typeface="+mj-lt"/>
              </a:rPr>
              <a:t>What possible values can </a:t>
            </a:r>
            <a:r>
              <a:rPr lang="en-US" sz="2000" b="1" i="1" dirty="0">
                <a:latin typeface="Lucida Console" panose="020B0609040504020204" pitchFamily="49" charset="0"/>
              </a:rPr>
              <a:t>be returned</a:t>
            </a:r>
            <a:r>
              <a:rPr lang="en-US" sz="2000" i="1" dirty="0">
                <a:latin typeface="+mj-lt"/>
              </a:rPr>
              <a:t>?</a:t>
            </a:r>
            <a:endParaRPr kumimoji="0" lang="en-US" sz="2000" i="1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+mj-lt"/>
            </a:endParaRPr>
          </a:p>
        </p:txBody>
      </p:sp>
      <p:sp>
        <p:nvSpPr>
          <p:cNvPr id="5" name="Cloud Callout 4"/>
          <p:cNvSpPr/>
          <p:nvPr/>
        </p:nvSpPr>
        <p:spPr bwMode="auto">
          <a:xfrm>
            <a:off x="4170947" y="4331368"/>
            <a:ext cx="3449053" cy="1973179"/>
          </a:xfrm>
          <a:prstGeom prst="cloudCallout">
            <a:avLst>
              <a:gd name="adj1" fmla="val -65019"/>
              <a:gd name="adj2" fmla="val -96791"/>
            </a:avLst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i="1" dirty="0"/>
              <a:t>Note the </a:t>
            </a:r>
            <a:r>
              <a:rPr lang="en-US" sz="2000" i="1" dirty="0">
                <a:latin typeface="+mj-lt"/>
              </a:rPr>
              <a:t>possible values can </a:t>
            </a:r>
            <a:r>
              <a:rPr lang="en-US" sz="2000" b="1" i="1" dirty="0">
                <a:latin typeface="Lucida Console" panose="020B0609040504020204" pitchFamily="49" charset="0"/>
              </a:rPr>
              <a:t>be returned</a:t>
            </a:r>
            <a:r>
              <a:rPr lang="en-US" sz="2000" i="1" dirty="0">
                <a:latin typeface="+mj-lt"/>
              </a:rPr>
              <a:t>.</a:t>
            </a:r>
            <a:endParaRPr kumimoji="0" lang="en-US" sz="2000" i="1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215776750"/>
      </p:ext>
    </p:extLst>
  </p:cSld>
  <p:clrMapOvr>
    <a:masterClrMapping/>
  </p:clrMapOvr>
</p:sld>
</file>

<file path=ppt/slides/slide3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>
          <a:xfrm>
            <a:off x="258763" y="128588"/>
            <a:ext cx="8683625" cy="847725"/>
          </a:xfrm>
        </p:spPr>
        <p:txBody>
          <a:bodyPr/>
          <a:lstStyle/>
          <a:p>
            <a:r>
              <a:rPr lang="en-US" altLang="en-US" dirty="0"/>
              <a:t>Handling the Return</a:t>
            </a:r>
            <a:endParaRPr lang="en-US" altLang="en-US" sz="2000" dirty="0"/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65188"/>
            <a:ext cx="8623300" cy="5614987"/>
          </a:xfrm>
        </p:spPr>
        <p:txBody>
          <a:bodyPr/>
          <a:lstStyle/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b="1" dirty="0">
                <a:solidFill>
                  <a:schemeClr val="accent2"/>
                </a:solidFill>
                <a:latin typeface="Lucida Console" panose="020B0609040504020204" pitchFamily="49" charset="0"/>
              </a:rPr>
              <a:t>private </a:t>
            </a:r>
            <a:r>
              <a:rPr lang="en-US" altLang="en-US" sz="1800" b="1" dirty="0" err="1">
                <a:solidFill>
                  <a:schemeClr val="accent2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sz="1800" b="1" dirty="0">
                <a:solidFill>
                  <a:schemeClr val="accent2"/>
                </a:solidFill>
                <a:latin typeface="Lucida Console" panose="020B0609040504020204" pitchFamily="49" charset="0"/>
              </a:rPr>
              <a:t> probe(Object </a:t>
            </a:r>
            <a:r>
              <a:rPr lang="en-US" altLang="en-US" sz="1800" b="1" dirty="0">
                <a:solidFill>
                  <a:srgbClr val="FF0000"/>
                </a:solidFill>
                <a:latin typeface="Lucida Console" panose="020B0609040504020204" pitchFamily="49" charset="0"/>
              </a:rPr>
              <a:t>key</a:t>
            </a:r>
            <a:r>
              <a:rPr lang="en-US" altLang="en-US" sz="1800" b="1" dirty="0">
                <a:solidFill>
                  <a:schemeClr val="accent2"/>
                </a:solidFill>
                <a:latin typeface="Lucida Console" panose="020B0609040504020204" pitchFamily="49" charset="0"/>
              </a:rPr>
              <a:t>) {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= h1(key);    // first hash function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h2 = h2(key);   // second hash function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numChecked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= 1;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endParaRPr lang="en-US" altLang="en-US" sz="18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// keep probing until we get an empty position or a match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while (table[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] != null &amp;&amp; !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key.equals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(table[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].key)) {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 if (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numChecked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==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table.length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) {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     return -1;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 }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= (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+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probeIncr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numChecked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, h2)) %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table.length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;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numChecked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++;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}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endParaRPr lang="en-US" altLang="en-US" sz="18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1800" dirty="0">
                <a:solidFill>
                  <a:srgbClr val="FF0000"/>
                </a:solidFill>
                <a:latin typeface="Lucida Console" panose="020B0609040504020204" pitchFamily="49" charset="0"/>
              </a:rPr>
              <a:t>return </a:t>
            </a:r>
            <a:r>
              <a:rPr lang="en-US" altLang="en-US" sz="18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;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}</a:t>
            </a:r>
          </a:p>
        </p:txBody>
      </p:sp>
      <p:sp>
        <p:nvSpPr>
          <p:cNvPr id="4" name="Cloud Callout 3"/>
          <p:cNvSpPr/>
          <p:nvPr/>
        </p:nvSpPr>
        <p:spPr bwMode="auto">
          <a:xfrm>
            <a:off x="4170947" y="4331369"/>
            <a:ext cx="3449053" cy="1973179"/>
          </a:xfrm>
          <a:prstGeom prst="cloudCallout">
            <a:avLst>
              <a:gd name="adj1" fmla="val -95252"/>
              <a:gd name="adj2" fmla="val -11425"/>
            </a:avLst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i="1" dirty="0">
                <a:latin typeface="+mj-lt"/>
              </a:rPr>
              <a:t>If </a:t>
            </a:r>
            <a:r>
              <a:rPr lang="en-US" sz="2000" i="1" dirty="0" err="1">
                <a:latin typeface="Lucida Console" panose="020B0609040504020204" pitchFamily="49" charset="0"/>
              </a:rPr>
              <a:t>i</a:t>
            </a:r>
            <a:r>
              <a:rPr lang="en-US" sz="2000" i="1" dirty="0">
                <a:latin typeface="+mj-lt"/>
              </a:rPr>
              <a:t> is valid, what possible values can </a:t>
            </a:r>
            <a:r>
              <a:rPr lang="en-US" sz="2000" i="1" dirty="0">
                <a:latin typeface="Lucida Console" panose="020B0609040504020204" pitchFamily="49" charset="0"/>
              </a:rPr>
              <a:t>table[</a:t>
            </a:r>
            <a:r>
              <a:rPr lang="en-US" sz="2000" b="1" i="1" dirty="0" err="1">
                <a:latin typeface="Lucida Console" panose="020B0609040504020204" pitchFamily="49" charset="0"/>
              </a:rPr>
              <a:t>i</a:t>
            </a:r>
            <a:r>
              <a:rPr lang="en-US" sz="2000" b="1" i="1" dirty="0">
                <a:latin typeface="Lucida Console" panose="020B0609040504020204" pitchFamily="49" charset="0"/>
              </a:rPr>
              <a:t>]</a:t>
            </a:r>
            <a:r>
              <a:rPr lang="en-US" sz="2000" i="1" dirty="0">
                <a:latin typeface="+mj-lt"/>
              </a:rPr>
              <a:t> contain?</a:t>
            </a:r>
            <a:endParaRPr kumimoji="0" lang="en-US" sz="2000" i="1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90934379"/>
      </p:ext>
    </p:extLst>
  </p:cSld>
  <p:clrMapOvr>
    <a:masterClrMapping/>
  </p:clrMapOvr>
</p:sld>
</file>

<file path=ppt/slides/slide3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>
          <a:xfrm>
            <a:off x="258763" y="65088"/>
            <a:ext cx="8683625" cy="847725"/>
          </a:xfrm>
        </p:spPr>
        <p:txBody>
          <a:bodyPr/>
          <a:lstStyle/>
          <a:p>
            <a:r>
              <a:rPr lang="en-US" altLang="en-US" dirty="0"/>
              <a:t>Search and Removal</a:t>
            </a:r>
            <a:endParaRPr lang="en-US" altLang="en-US" sz="1600" dirty="0"/>
          </a:p>
        </p:txBody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33438"/>
            <a:ext cx="8802687" cy="5614987"/>
          </a:xfrm>
        </p:spPr>
        <p:txBody>
          <a:bodyPr/>
          <a:lstStyle/>
          <a:p>
            <a:pPr>
              <a:spcBef>
                <a:spcPct val="0"/>
              </a:spcBef>
              <a:buFontTx/>
              <a:buChar char="•"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Both of these methods begin by probing for the key.</a:t>
            </a:r>
          </a:p>
          <a:p>
            <a:pPr>
              <a:spcBef>
                <a:spcPct val="5000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	</a:t>
            </a: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public </a:t>
            </a:r>
            <a:r>
              <a:rPr lang="en-US" altLang="en-US" sz="1800" b="1" dirty="0" err="1">
                <a:solidFill>
                  <a:srgbClr val="0000FF"/>
                </a:solidFill>
                <a:latin typeface="Lucida Console" panose="020B0609040504020204" pitchFamily="49" charset="0"/>
              </a:rPr>
              <a:t>LLQueue</a:t>
            </a: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&lt;Object&gt; search(Object key) {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	   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= probe(key);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	    if (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== -1 || table[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] == null) {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	        return null;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	    } else {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	        return table[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].values;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	    }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	</a:t>
            </a: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}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endParaRPr lang="en-US" altLang="en-US" sz="18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	public </a:t>
            </a:r>
            <a:r>
              <a:rPr lang="en-US" altLang="en-US" sz="1800" b="1" dirty="0" err="1">
                <a:solidFill>
                  <a:srgbClr val="0000FF"/>
                </a:solidFill>
                <a:latin typeface="Lucida Console" panose="020B0609040504020204" pitchFamily="49" charset="0"/>
              </a:rPr>
              <a:t>LLQueue</a:t>
            </a: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&lt;Object&gt; remove(Object key) {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	   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= probe(key);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	    if (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== -1 || table[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]</a:t>
            </a:r>
            <a:r>
              <a:rPr lang="en-US" altLang="en-US" sz="1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== null) {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	        return null;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	    }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endParaRPr lang="en-US" altLang="en-US" sz="10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	   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LLQueue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&lt;Object&gt;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removedVals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= table[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].values;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	    table[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].key = null;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	    table[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].values = null;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	    return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removedVals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;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	</a:t>
            </a: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196527743"/>
      </p:ext>
    </p:extLst>
  </p:cSld>
  <p:clrMapOvr>
    <a:masterClrMapping/>
  </p:clrMapOvr>
</p:sld>
</file>

<file path=ppt/slides/slide3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7114" y="731520"/>
            <a:ext cx="6865034" cy="60491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>
          <a:xfrm>
            <a:off x="258763" y="65088"/>
            <a:ext cx="8683625" cy="847725"/>
          </a:xfrm>
        </p:spPr>
        <p:txBody>
          <a:bodyPr/>
          <a:lstStyle/>
          <a:p>
            <a:r>
              <a:rPr lang="en-US" altLang="en-US" dirty="0"/>
              <a:t>Search and Removal</a:t>
            </a:r>
            <a:endParaRPr lang="en-US" altLang="en-US" sz="1600" dirty="0"/>
          </a:p>
        </p:txBody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33438"/>
            <a:ext cx="8802687" cy="5614987"/>
          </a:xfrm>
        </p:spPr>
        <p:txBody>
          <a:bodyPr/>
          <a:lstStyle/>
          <a:p>
            <a:pPr>
              <a:spcBef>
                <a:spcPct val="0"/>
              </a:spcBef>
              <a:buFontTx/>
              <a:buChar char="•"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Both of these methods begin by probing for the key.</a:t>
            </a:r>
          </a:p>
          <a:p>
            <a:pPr>
              <a:spcBef>
                <a:spcPct val="5000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	public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LLQueue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&lt;Object&gt; search(Object key) {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	    </a:t>
            </a:r>
            <a:r>
              <a:rPr lang="en-US" altLang="en-US" sz="1800" b="1" dirty="0" err="1">
                <a:solidFill>
                  <a:srgbClr val="0000FF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1800" b="1" dirty="0" err="1">
                <a:solidFill>
                  <a:srgbClr val="0000FF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 = probe(key);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	    if (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== -1 || table[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] == null) {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	        return null;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	    } else {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	        return table[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].values;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	    }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	}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endParaRPr lang="en-US" altLang="en-US" sz="18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	public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LLQueue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&lt;Object&gt; remove(Object key) {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	    </a:t>
            </a:r>
            <a:r>
              <a:rPr lang="en-US" altLang="en-US" sz="1800" b="1" dirty="0" err="1">
                <a:solidFill>
                  <a:srgbClr val="0000FF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1800" b="1" dirty="0" err="1">
                <a:solidFill>
                  <a:srgbClr val="0000FF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 = probe(key);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	    if (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== -1 || table[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]</a:t>
            </a:r>
            <a:r>
              <a:rPr lang="en-US" altLang="en-US" sz="1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== null) {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	        return null;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	    }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endParaRPr lang="en-US" altLang="en-US" sz="10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	   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LLQueue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&lt;Object&gt;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removedVals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= table[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].values;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	    table[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].key = null;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	    table[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].values = null;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	    return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removedVals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;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	}</a:t>
            </a:r>
          </a:p>
        </p:txBody>
      </p:sp>
    </p:spTree>
    <p:extLst>
      <p:ext uri="{BB962C8B-B14F-4D97-AF65-F5344CB8AC3E}">
        <p14:creationId xmlns:p14="http://schemas.microsoft.com/office/powerpoint/2010/main" val="3434768300"/>
      </p:ext>
    </p:extLst>
  </p:cSld>
  <p:clrMapOvr>
    <a:masterClrMapping/>
  </p:clrMapOvr>
</p:sld>
</file>

<file path=ppt/slides/slide3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47113" y="1336431"/>
            <a:ext cx="7726865" cy="248159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33438"/>
            <a:ext cx="8802687" cy="5614987"/>
          </a:xfrm>
        </p:spPr>
        <p:txBody>
          <a:bodyPr/>
          <a:lstStyle/>
          <a:p>
            <a:pPr>
              <a:spcBef>
                <a:spcPct val="0"/>
              </a:spcBef>
              <a:buFontTx/>
              <a:buChar char="•"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Both of these methods begin by probing for the key.</a:t>
            </a:r>
          </a:p>
          <a:p>
            <a:pPr>
              <a:spcBef>
                <a:spcPct val="5000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	public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LLQueue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&lt;Object&gt; search(Object key) {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	   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= probe(key);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	    </a:t>
            </a: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if (</a:t>
            </a:r>
            <a:r>
              <a:rPr lang="en-US" altLang="en-US" sz="1800" b="1" dirty="0" err="1">
                <a:solidFill>
                  <a:srgbClr val="0000FF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 == -1 || table[</a:t>
            </a:r>
            <a:r>
              <a:rPr lang="en-US" altLang="en-US" sz="1800" b="1" dirty="0" err="1">
                <a:solidFill>
                  <a:srgbClr val="0000FF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] == null) { 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	        return null;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	    }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else {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	        return table[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].values;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	    }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	}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endParaRPr lang="en-US" altLang="en-US" sz="18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	public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LLQueue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&lt;Object&gt; remove(Object key) {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	   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= probe(key);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	    </a:t>
            </a: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if (</a:t>
            </a:r>
            <a:r>
              <a:rPr lang="en-US" altLang="en-US" sz="1800" b="1" dirty="0" err="1">
                <a:solidFill>
                  <a:srgbClr val="0000FF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 == -1 || table[</a:t>
            </a:r>
            <a:r>
              <a:rPr lang="en-US" altLang="en-US" sz="1800" b="1" dirty="0" err="1">
                <a:solidFill>
                  <a:srgbClr val="0000FF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]</a:t>
            </a:r>
            <a:r>
              <a:rPr lang="en-US" altLang="en-US" sz="11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== null) {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	        return null;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	    }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endParaRPr lang="en-US" altLang="en-US" sz="10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	   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LLQueue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&lt;Object&gt;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removedVals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= table[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].values;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	    table[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].key = null;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	    table[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].values = null;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	    return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removedVals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;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	}</a:t>
            </a:r>
          </a:p>
        </p:txBody>
      </p:sp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>
          <a:xfrm>
            <a:off x="258763" y="65088"/>
            <a:ext cx="8683625" cy="847725"/>
          </a:xfrm>
        </p:spPr>
        <p:txBody>
          <a:bodyPr/>
          <a:lstStyle/>
          <a:p>
            <a:r>
              <a:rPr lang="en-US" altLang="en-US" dirty="0"/>
              <a:t>Search and Removal</a:t>
            </a:r>
            <a:endParaRPr lang="en-US" altLang="en-US" sz="1600" dirty="0"/>
          </a:p>
        </p:txBody>
      </p:sp>
      <p:sp>
        <p:nvSpPr>
          <p:cNvPr id="2" name="Cloud Callout 1"/>
          <p:cNvSpPr/>
          <p:nvPr/>
        </p:nvSpPr>
        <p:spPr bwMode="auto">
          <a:xfrm>
            <a:off x="5838092" y="2419643"/>
            <a:ext cx="3104296" cy="1716259"/>
          </a:xfrm>
          <a:prstGeom prst="cloudCallout">
            <a:avLst>
              <a:gd name="adj1" fmla="val -69775"/>
              <a:gd name="adj2" fmla="val -48975"/>
            </a:avLst>
          </a:prstGeom>
          <a:solidFill>
            <a:schemeClr val="bg1">
              <a:lumMod val="95000"/>
            </a:schemeClr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200" dirty="0"/>
              <a:t>k</a:t>
            </a:r>
            <a:r>
              <a:rPr kumimoji="0" lang="en-US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Narrow" pitchFamily="34" charset="0"/>
              </a:rPr>
              <a:t>ey was not found or entry is </a:t>
            </a:r>
            <a:r>
              <a:rPr kumimoji="0" lang="en-US" sz="2200" b="1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Narrow" pitchFamily="34" charset="0"/>
              </a:rPr>
              <a:t>empty</a:t>
            </a:r>
            <a:r>
              <a:rPr kumimoji="0" lang="en-US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Narrow" pitchFamily="34" charset="0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324411853"/>
      </p:ext>
    </p:extLst>
  </p:cSld>
  <p:clrMapOvr>
    <a:masterClrMapping/>
  </p:clrMapOvr>
</p:sld>
</file>

<file path=ppt/slides/slide3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47113" y="1336431"/>
            <a:ext cx="7726865" cy="248159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>
          <a:xfrm>
            <a:off x="258763" y="65088"/>
            <a:ext cx="8683625" cy="847725"/>
          </a:xfrm>
        </p:spPr>
        <p:txBody>
          <a:bodyPr/>
          <a:lstStyle/>
          <a:p>
            <a:r>
              <a:rPr lang="en-US" altLang="en-US"/>
              <a:t>Search and Removal</a:t>
            </a:r>
            <a:endParaRPr lang="en-US" altLang="en-US" sz="1600"/>
          </a:p>
        </p:txBody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33438"/>
            <a:ext cx="8802687" cy="5614987"/>
          </a:xfrm>
        </p:spPr>
        <p:txBody>
          <a:bodyPr/>
          <a:lstStyle/>
          <a:p>
            <a:pPr>
              <a:spcBef>
                <a:spcPct val="0"/>
              </a:spcBef>
              <a:buFontTx/>
              <a:buChar char="•"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Both of these methods begin by probing for the key.</a:t>
            </a:r>
          </a:p>
          <a:p>
            <a:pPr>
              <a:spcBef>
                <a:spcPct val="5000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	public </a:t>
            </a:r>
            <a:r>
              <a:rPr lang="en-US" altLang="en-US" sz="1800" b="1" dirty="0" err="1">
                <a:solidFill>
                  <a:srgbClr val="0000FF"/>
                </a:solidFill>
                <a:latin typeface="Lucida Console" panose="020B0609040504020204" pitchFamily="49" charset="0"/>
              </a:rPr>
              <a:t>LLQueue</a:t>
            </a: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&lt;Object&gt;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search(Object key) {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	   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= probe(key);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	    if (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== -1 || table[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] == null) {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	        return null;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	    } </a:t>
            </a: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else {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	        return table[</a:t>
            </a:r>
            <a:r>
              <a:rPr lang="en-US" altLang="en-US" sz="1800" b="1" dirty="0" err="1">
                <a:solidFill>
                  <a:srgbClr val="0000FF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].values;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	    }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	}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endParaRPr lang="en-US" altLang="en-US" sz="18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	public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LLQueue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&lt;Object&gt; remove(Object key) {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	   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= probe(key);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	    if (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== -1 || table[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]</a:t>
            </a:r>
            <a:r>
              <a:rPr lang="en-US" altLang="en-US" sz="1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== null) {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	        return null;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	    }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endParaRPr lang="en-US" altLang="en-US" sz="10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	   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LLQueue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&lt;Object&gt;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removedVals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= table[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].values;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	    table[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].key = null;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	    table[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].values = null;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	    return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removedVals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;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	}</a:t>
            </a:r>
          </a:p>
        </p:txBody>
      </p:sp>
      <p:sp>
        <p:nvSpPr>
          <p:cNvPr id="4" name="Cloud Callout 3"/>
          <p:cNvSpPr/>
          <p:nvPr/>
        </p:nvSpPr>
        <p:spPr bwMode="auto">
          <a:xfrm>
            <a:off x="5021179" y="2419643"/>
            <a:ext cx="3921209" cy="2360904"/>
          </a:xfrm>
          <a:prstGeom prst="cloudCallout">
            <a:avLst>
              <a:gd name="adj1" fmla="val -78388"/>
              <a:gd name="adj2" fmla="val -21508"/>
            </a:avLst>
          </a:prstGeom>
          <a:solidFill>
            <a:schemeClr val="bg1">
              <a:lumMod val="95000"/>
            </a:schemeClr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200" dirty="0"/>
              <a:t>k</a:t>
            </a:r>
            <a:r>
              <a:rPr kumimoji="0" lang="en-US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Narrow" pitchFamily="34" charset="0"/>
              </a:rPr>
              <a:t>ey </a:t>
            </a:r>
            <a:r>
              <a:rPr lang="en-US" sz="2200" dirty="0"/>
              <a:t>was</a:t>
            </a:r>
            <a:r>
              <a:rPr kumimoji="0" lang="en-US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Narrow" pitchFamily="34" charset="0"/>
              </a:rPr>
              <a:t> found </a:t>
            </a:r>
            <a:r>
              <a:rPr lang="en-US" sz="2200" dirty="0"/>
              <a:t>and the reference to the queue of values associated with the key is returned.</a:t>
            </a:r>
            <a:r>
              <a:rPr kumimoji="0" lang="en-US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Narrow" pitchFamily="34" charset="0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755514241"/>
      </p:ext>
    </p:extLst>
  </p:cSld>
  <p:clrMapOvr>
    <a:masterClrMapping/>
  </p:clrMapOvr>
</p:sld>
</file>

<file path=ppt/slides/slide3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29389" y="3705727"/>
            <a:ext cx="8229600" cy="307206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>
          <a:xfrm>
            <a:off x="258763" y="65088"/>
            <a:ext cx="8683625" cy="847725"/>
          </a:xfrm>
        </p:spPr>
        <p:txBody>
          <a:bodyPr/>
          <a:lstStyle/>
          <a:p>
            <a:r>
              <a:rPr lang="en-US" altLang="en-US"/>
              <a:t>Search and Removal</a:t>
            </a:r>
            <a:endParaRPr lang="en-US" altLang="en-US" sz="1600"/>
          </a:p>
        </p:txBody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33438"/>
            <a:ext cx="8802687" cy="5614987"/>
          </a:xfrm>
        </p:spPr>
        <p:txBody>
          <a:bodyPr/>
          <a:lstStyle/>
          <a:p>
            <a:pPr>
              <a:spcBef>
                <a:spcPct val="0"/>
              </a:spcBef>
              <a:buFontTx/>
              <a:buChar char="•"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Both of these methods begin by probing for the key.</a:t>
            </a:r>
          </a:p>
          <a:p>
            <a:pPr>
              <a:spcBef>
                <a:spcPct val="5000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	public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LLQueue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&lt;Object&gt; search(Object key) {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	   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= probe(key);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	    if (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== -1 || table[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] == null) {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	        return null;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	    } else {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	        return table[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].values;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	    }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	}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endParaRPr lang="en-US" altLang="en-US" sz="18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	public </a:t>
            </a:r>
            <a:r>
              <a:rPr lang="en-US" altLang="en-US" sz="1800" b="1" dirty="0" err="1">
                <a:solidFill>
                  <a:srgbClr val="0000FF"/>
                </a:solidFill>
                <a:latin typeface="Lucida Console" panose="020B0609040504020204" pitchFamily="49" charset="0"/>
              </a:rPr>
              <a:t>LLQueue</a:t>
            </a: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&lt;Object&gt;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remove(Object key) {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	   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= probe(key);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	    if (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== -1 || table[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]</a:t>
            </a:r>
            <a:r>
              <a:rPr lang="en-US" altLang="en-US" sz="1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== null) {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	        return null;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	    }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endParaRPr lang="en-US" altLang="en-US" sz="10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	    </a:t>
            </a:r>
            <a:r>
              <a:rPr lang="en-US" altLang="en-US" sz="1800" b="1" dirty="0" err="1">
                <a:solidFill>
                  <a:srgbClr val="0000FF"/>
                </a:solidFill>
                <a:latin typeface="Lucida Console" panose="020B0609040504020204" pitchFamily="49" charset="0"/>
              </a:rPr>
              <a:t>LLQueue</a:t>
            </a: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&lt;Object&gt; </a:t>
            </a:r>
            <a:r>
              <a:rPr lang="en-US" altLang="en-US" sz="1800" b="1" dirty="0" err="1">
                <a:solidFill>
                  <a:srgbClr val="0000FF"/>
                </a:solidFill>
                <a:latin typeface="Lucida Console" panose="020B0609040504020204" pitchFamily="49" charset="0"/>
              </a:rPr>
              <a:t>removedVals</a:t>
            </a: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 = table[</a:t>
            </a:r>
            <a:r>
              <a:rPr lang="en-US" altLang="en-US" sz="1800" b="1" dirty="0" err="1">
                <a:solidFill>
                  <a:srgbClr val="0000FF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].values;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	    table[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].key = null;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	    table[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].values = null;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	    </a:t>
            </a: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return </a:t>
            </a:r>
            <a:r>
              <a:rPr lang="en-US" altLang="en-US" sz="1800" b="1" dirty="0" err="1">
                <a:solidFill>
                  <a:srgbClr val="0000FF"/>
                </a:solidFill>
                <a:latin typeface="Lucida Console" panose="020B0609040504020204" pitchFamily="49" charset="0"/>
              </a:rPr>
              <a:t>removedVals</a:t>
            </a: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;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	}</a:t>
            </a:r>
          </a:p>
        </p:txBody>
      </p:sp>
      <p:sp>
        <p:nvSpPr>
          <p:cNvPr id="4" name="Cloud Callout 3"/>
          <p:cNvSpPr/>
          <p:nvPr/>
        </p:nvSpPr>
        <p:spPr bwMode="auto">
          <a:xfrm>
            <a:off x="5021179" y="2419643"/>
            <a:ext cx="3921209" cy="2360904"/>
          </a:xfrm>
          <a:prstGeom prst="cloudCallout">
            <a:avLst>
              <a:gd name="adj1" fmla="val -55478"/>
              <a:gd name="adj2" fmla="val 60710"/>
            </a:avLst>
          </a:prstGeom>
          <a:solidFill>
            <a:schemeClr val="bg1">
              <a:lumMod val="95000"/>
            </a:schemeClr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Narrow" pitchFamily="34" charset="0"/>
              </a:rPr>
              <a:t>Ass</a:t>
            </a:r>
            <a:r>
              <a:rPr lang="en-US" sz="2200" dirty="0"/>
              <a:t>ign the queue of values to a local reference that is returned by the method.</a:t>
            </a:r>
            <a:endParaRPr kumimoji="0" lang="en-US" sz="22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6111570"/>
      </p:ext>
    </p:extLst>
  </p:cSld>
  <p:clrMapOvr>
    <a:masterClrMapping/>
  </p:clrMapOvr>
</p:sld>
</file>

<file path=ppt/slides/slide3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29389" y="3705727"/>
            <a:ext cx="8229600" cy="307206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>
          <a:xfrm>
            <a:off x="258763" y="65088"/>
            <a:ext cx="8683625" cy="847725"/>
          </a:xfrm>
        </p:spPr>
        <p:txBody>
          <a:bodyPr/>
          <a:lstStyle/>
          <a:p>
            <a:r>
              <a:rPr lang="en-US" altLang="en-US"/>
              <a:t>Search and Removal</a:t>
            </a:r>
            <a:endParaRPr lang="en-US" altLang="en-US" sz="1600"/>
          </a:p>
        </p:txBody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33438"/>
            <a:ext cx="8802687" cy="5614987"/>
          </a:xfrm>
        </p:spPr>
        <p:txBody>
          <a:bodyPr/>
          <a:lstStyle/>
          <a:p>
            <a:pPr>
              <a:spcBef>
                <a:spcPct val="0"/>
              </a:spcBef>
              <a:buFontTx/>
              <a:buChar char="•"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Both of these methods begin by probing for the key.</a:t>
            </a:r>
          </a:p>
          <a:p>
            <a:pPr>
              <a:spcBef>
                <a:spcPct val="5000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	public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LLQueue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&lt;Object&gt; search(Object key) {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	   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= probe(key);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	    if (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== -1 || table[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] == null) {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	        return null;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	    } else {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	        return table[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].values;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	    }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	}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endParaRPr lang="en-US" altLang="en-US" sz="18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	public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LLQueue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&lt;Object&gt; remove(Object key) {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	   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= probe(key);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	    if (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== -1 || table[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]</a:t>
            </a:r>
            <a:r>
              <a:rPr lang="en-US" altLang="en-US" sz="1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== null) {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	        return null;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	    }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endParaRPr lang="en-US" altLang="en-US" sz="10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	   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LLQueue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&lt;Object&gt;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removedVals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= table[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].values;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	    table[</a:t>
            </a:r>
            <a:r>
              <a:rPr lang="en-US" altLang="en-US" sz="1800" b="1" dirty="0" err="1">
                <a:solidFill>
                  <a:srgbClr val="0000FF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].key = null;       // mark it as a removed cell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	    table[</a:t>
            </a:r>
            <a:r>
              <a:rPr lang="en-US" altLang="en-US" sz="1800" b="1" dirty="0" err="1">
                <a:solidFill>
                  <a:srgbClr val="0000FF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].values = null;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	    return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removedVals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;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	}</a:t>
            </a:r>
          </a:p>
        </p:txBody>
      </p:sp>
      <p:sp>
        <p:nvSpPr>
          <p:cNvPr id="4" name="Cloud Callout 3"/>
          <p:cNvSpPr/>
          <p:nvPr/>
        </p:nvSpPr>
        <p:spPr bwMode="auto">
          <a:xfrm>
            <a:off x="5021179" y="2419643"/>
            <a:ext cx="3921209" cy="2360904"/>
          </a:xfrm>
          <a:prstGeom prst="cloudCallout">
            <a:avLst>
              <a:gd name="adj1" fmla="val -55478"/>
              <a:gd name="adj2" fmla="val 60710"/>
            </a:avLst>
          </a:prstGeom>
          <a:solidFill>
            <a:schemeClr val="bg1">
              <a:lumMod val="95000"/>
            </a:schemeClr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Narrow" pitchFamily="34" charset="0"/>
              </a:rPr>
              <a:t>We</a:t>
            </a:r>
            <a:r>
              <a:rPr kumimoji="0" lang="en-US" sz="2200" b="0" i="0" u="none" strike="noStrike" cap="none" normalizeH="0" dirty="0">
                <a:ln>
                  <a:noFill/>
                </a:ln>
                <a:solidFill>
                  <a:srgbClr val="000000"/>
                </a:solidFill>
                <a:effectLst/>
                <a:latin typeface="Arial Narrow" pitchFamily="34" charset="0"/>
              </a:rPr>
              <a:t> remove the entry by assigning a </a:t>
            </a:r>
            <a:r>
              <a:rPr kumimoji="0" lang="en-US" sz="2200" b="0" i="0" u="none" strike="noStrike" cap="none" normalizeH="0" dirty="0">
                <a:ln>
                  <a:noFill/>
                </a:ln>
                <a:solidFill>
                  <a:srgbClr val="0000FF"/>
                </a:solidFill>
                <a:effectLst/>
                <a:latin typeface="Arial Narrow" pitchFamily="34" charset="0"/>
              </a:rPr>
              <a:t>null</a:t>
            </a:r>
            <a:r>
              <a:rPr kumimoji="0" lang="en-US" sz="2200" b="0" i="0" u="none" strike="noStrike" cap="none" normalizeH="0" dirty="0">
                <a:ln>
                  <a:noFill/>
                </a:ln>
                <a:solidFill>
                  <a:srgbClr val="000000"/>
                </a:solidFill>
                <a:effectLst/>
                <a:latin typeface="Arial Narrow" pitchFamily="34" charset="0"/>
              </a:rPr>
              <a:t> value to the </a:t>
            </a:r>
            <a:r>
              <a:rPr kumimoji="0" lang="en-US" sz="2200" b="0" i="0" u="none" strike="noStrike" cap="none" normalizeH="0" dirty="0" err="1">
                <a:ln>
                  <a:noFill/>
                </a:ln>
                <a:solidFill>
                  <a:srgbClr val="000000"/>
                </a:solidFill>
                <a:effectLst/>
                <a:latin typeface="Arial Narrow" pitchFamily="34" charset="0"/>
              </a:rPr>
              <a:t>key:value</a:t>
            </a:r>
            <a:r>
              <a:rPr kumimoji="0" lang="en-US" sz="2200" b="0" i="0" u="none" strike="noStrike" cap="none" normalizeH="0" dirty="0">
                <a:ln>
                  <a:noFill/>
                </a:ln>
                <a:solidFill>
                  <a:srgbClr val="000000"/>
                </a:solidFill>
                <a:effectLst/>
                <a:latin typeface="Arial Narrow" pitchFamily="34" charset="0"/>
              </a:rPr>
              <a:t> references of the entry object.</a:t>
            </a:r>
            <a:endParaRPr kumimoji="0" lang="en-US" sz="22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6981925"/>
      </p:ext>
    </p:extLst>
  </p:cSld>
  <p:clrMapOvr>
    <a:masterClrMapping/>
  </p:clrMapOvr>
</p:sld>
</file>

<file path=ppt/slides/slide3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7114" y="896938"/>
            <a:ext cx="7385538" cy="83338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76802" name="Rectangle 2"/>
          <p:cNvSpPr>
            <a:spLocks noGrp="1" noChangeArrowheads="1"/>
          </p:cNvSpPr>
          <p:nvPr>
            <p:ph type="title"/>
          </p:nvPr>
        </p:nvSpPr>
        <p:spPr>
          <a:xfrm>
            <a:off x="258763" y="128588"/>
            <a:ext cx="8683625" cy="847725"/>
          </a:xfrm>
        </p:spPr>
        <p:txBody>
          <a:bodyPr/>
          <a:lstStyle/>
          <a:p>
            <a:r>
              <a:rPr lang="en-US" altLang="en-US"/>
              <a:t>Insertion </a:t>
            </a:r>
            <a:r>
              <a:rPr lang="en-US" altLang="en-US" sz="2000"/>
              <a:t>(cont.)</a:t>
            </a:r>
          </a:p>
        </p:txBody>
      </p:sp>
      <p:sp>
        <p:nvSpPr>
          <p:cNvPr id="768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96938"/>
            <a:ext cx="8623300" cy="5614987"/>
          </a:xfrm>
        </p:spPr>
        <p:txBody>
          <a:bodyPr/>
          <a:lstStyle/>
          <a:p>
            <a:pPr>
              <a:spcBef>
                <a:spcPct val="0"/>
              </a:spcBef>
              <a:buFontTx/>
              <a:buChar char="•"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To handle the special cases, we give this method its own implementation of probing:</a:t>
            </a:r>
          </a:p>
          <a:p>
            <a:pPr>
              <a:lnSpc>
                <a:spcPct val="90000"/>
              </a:lnSpc>
              <a:spcBef>
                <a:spcPct val="6000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public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boolean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insert(Object key, Object value) {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= h1(key); 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h2 = h2(key);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numChecked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= 1;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firstRemoved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= -1;</a:t>
            </a:r>
          </a:p>
          <a:p>
            <a:pPr>
              <a:lnSpc>
                <a:spcPct val="5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endParaRPr lang="en-US" altLang="en-US" sz="1800" b="1" dirty="0">
              <a:solidFill>
                <a:srgbClr val="0000FF"/>
              </a:solidFill>
              <a:latin typeface="Lucida Console" panose="020B0609040504020204" pitchFamily="49" charset="0"/>
            </a:endParaRP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while (table[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] != null &amp;&amp; !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key.equals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(table[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].key)) {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        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if (table[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].key == null &amp;&amp;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firstRemoved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== -1) {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    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firstRemoved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=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;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 }</a:t>
            </a: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 </a:t>
            </a:r>
            <a:endParaRPr lang="en-US" altLang="en-US" sz="18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 if (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numChecked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==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table.length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) {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     break;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 }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= (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+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probeIncr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numChecked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, h2)) %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table.length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;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numChecked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++;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}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1800" dirty="0">
                <a:solidFill>
                  <a:srgbClr val="0000FF"/>
                </a:solidFill>
                <a:latin typeface="Lucida Console" panose="020B0609040504020204" pitchFamily="49" charset="0"/>
              </a:rPr>
              <a:t>// deal with the different cases (see next slide)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82447928"/>
      </p:ext>
    </p:extLst>
  </p:cSld>
  <p:clrMapOvr>
    <a:masterClrMapping/>
  </p:clrMapOvr>
</p:sld>
</file>

<file path=ppt/slides/slide3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1313" y="1632857"/>
            <a:ext cx="8601075" cy="505532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768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96938"/>
            <a:ext cx="8623300" cy="5614987"/>
          </a:xfrm>
        </p:spPr>
        <p:txBody>
          <a:bodyPr/>
          <a:lstStyle/>
          <a:p>
            <a:pPr>
              <a:spcBef>
                <a:spcPct val="0"/>
              </a:spcBef>
              <a:buFontTx/>
              <a:buChar char="•"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To handle the special cases, we give this method its own implementation of probing:</a:t>
            </a:r>
          </a:p>
          <a:p>
            <a:pPr>
              <a:lnSpc>
                <a:spcPct val="90000"/>
              </a:lnSpc>
              <a:spcBef>
                <a:spcPct val="6000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public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boolean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1800" dirty="0">
                <a:solidFill>
                  <a:srgbClr val="0000FF"/>
                </a:solidFill>
                <a:latin typeface="Lucida Console" panose="020B0609040504020204" pitchFamily="49" charset="0"/>
              </a:rPr>
              <a:t>insert(Object key, Object value) 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{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= h1(key); 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h2 = h2(key);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numChecked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= 1;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firstRemoved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= -1;</a:t>
            </a:r>
          </a:p>
          <a:p>
            <a:pPr>
              <a:lnSpc>
                <a:spcPct val="5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endParaRPr lang="en-US" altLang="en-US" sz="1800" b="1" dirty="0">
              <a:solidFill>
                <a:srgbClr val="0000FF"/>
              </a:solidFill>
              <a:latin typeface="Lucida Console" panose="020B0609040504020204" pitchFamily="49" charset="0"/>
            </a:endParaRP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while (table[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] != null &amp;&amp; !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key.equals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(table[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].key)) {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        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if (table[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].key == null &amp;&amp;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firstRemoved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== -1) {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    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firstRemoved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=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;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 }</a:t>
            </a: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 </a:t>
            </a:r>
            <a:endParaRPr lang="en-US" altLang="en-US" sz="18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 if (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numChecked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==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table.length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) {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     break;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 }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= (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+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probeIncr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numChecked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, h2)) %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table.length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;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numChecked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++;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}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// deal with the different cases (see next slide)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}</a:t>
            </a:r>
          </a:p>
        </p:txBody>
      </p:sp>
      <p:sp>
        <p:nvSpPr>
          <p:cNvPr id="76802" name="Rectangle 2"/>
          <p:cNvSpPr>
            <a:spLocks noGrp="1" noChangeArrowheads="1"/>
          </p:cNvSpPr>
          <p:nvPr>
            <p:ph type="title"/>
          </p:nvPr>
        </p:nvSpPr>
        <p:spPr>
          <a:xfrm>
            <a:off x="258763" y="128588"/>
            <a:ext cx="8683625" cy="847725"/>
          </a:xfrm>
        </p:spPr>
        <p:txBody>
          <a:bodyPr/>
          <a:lstStyle/>
          <a:p>
            <a:r>
              <a:rPr lang="en-US" altLang="en-US"/>
              <a:t>Insertion </a:t>
            </a:r>
            <a:r>
              <a:rPr lang="en-US" altLang="en-US" sz="2000"/>
              <a:t>(cont.)</a:t>
            </a:r>
          </a:p>
        </p:txBody>
      </p:sp>
    </p:spTree>
    <p:extLst>
      <p:ext uri="{BB962C8B-B14F-4D97-AF65-F5344CB8AC3E}">
        <p14:creationId xmlns:p14="http://schemas.microsoft.com/office/powerpoint/2010/main" val="829280895"/>
      </p:ext>
    </p:extLst>
  </p:cSld>
  <p:clrMapOvr>
    <a:masterClrMapping/>
  </p:clrMapOvr>
</p:sld>
</file>

<file path=ppt/slides/slide3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41313" y="1632857"/>
            <a:ext cx="8601075" cy="505532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76802" name="Rectangle 2"/>
          <p:cNvSpPr>
            <a:spLocks noGrp="1" noChangeArrowheads="1"/>
          </p:cNvSpPr>
          <p:nvPr>
            <p:ph type="title"/>
          </p:nvPr>
        </p:nvSpPr>
        <p:spPr>
          <a:xfrm>
            <a:off x="258763" y="128588"/>
            <a:ext cx="8683625" cy="847725"/>
          </a:xfrm>
        </p:spPr>
        <p:txBody>
          <a:bodyPr/>
          <a:lstStyle/>
          <a:p>
            <a:r>
              <a:rPr lang="en-US" altLang="en-US"/>
              <a:t>Insertion </a:t>
            </a:r>
            <a:r>
              <a:rPr lang="en-US" altLang="en-US" sz="2000"/>
              <a:t>(cont.)</a:t>
            </a:r>
          </a:p>
        </p:txBody>
      </p:sp>
      <p:sp>
        <p:nvSpPr>
          <p:cNvPr id="768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96938"/>
            <a:ext cx="8623300" cy="5614987"/>
          </a:xfrm>
        </p:spPr>
        <p:txBody>
          <a:bodyPr/>
          <a:lstStyle/>
          <a:p>
            <a:pPr>
              <a:spcBef>
                <a:spcPct val="0"/>
              </a:spcBef>
              <a:buFontTx/>
              <a:buChar char="•"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To handle the special cases, we give this method its own implementation of probing:</a:t>
            </a:r>
          </a:p>
          <a:p>
            <a:pPr>
              <a:lnSpc>
                <a:spcPct val="90000"/>
              </a:lnSpc>
              <a:spcBef>
                <a:spcPct val="6000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public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boolean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insert(Object key, Object value) {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= h1(key); 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h2 = h2(key);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numChecked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= 1;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1800" b="1" dirty="0" err="1">
                <a:solidFill>
                  <a:srgbClr val="0000FF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1800" b="1" dirty="0" err="1">
                <a:solidFill>
                  <a:srgbClr val="0000FF"/>
                </a:solidFill>
                <a:latin typeface="Lucida Console" panose="020B0609040504020204" pitchFamily="49" charset="0"/>
              </a:rPr>
              <a:t>firstRemoved</a:t>
            </a: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 = -1; </a:t>
            </a:r>
            <a:r>
              <a:rPr lang="en-US" altLang="en-US" sz="1800" b="1" dirty="0">
                <a:solidFill>
                  <a:srgbClr val="FF0000"/>
                </a:solidFill>
                <a:latin typeface="Lucida Console" panose="020B0609040504020204" pitchFamily="49" charset="0"/>
              </a:rPr>
              <a:t>// saves first removed position</a:t>
            </a:r>
          </a:p>
          <a:p>
            <a:pPr>
              <a:lnSpc>
                <a:spcPct val="5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endParaRPr lang="en-US" altLang="en-US" sz="1800" b="1" dirty="0">
              <a:solidFill>
                <a:srgbClr val="0000FF"/>
              </a:solidFill>
              <a:latin typeface="Lucida Console" panose="020B0609040504020204" pitchFamily="49" charset="0"/>
            </a:endParaRP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while (table[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] != null &amp;&amp; !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key.equals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(table[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].key)) {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        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if (table[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].key == null &amp;&amp;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firstRemoved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== -1) {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    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firstRemoved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=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;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 }</a:t>
            </a: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 </a:t>
            </a:r>
            <a:endParaRPr lang="en-US" altLang="en-US" sz="18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 if (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numChecked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==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table.length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) {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     break;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 }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= (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+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probeIncr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numChecked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, h2)) %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table.length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;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numChecked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++;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}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// deal with the different cases (see next slide)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}</a:t>
            </a:r>
          </a:p>
          <a:p>
            <a:pPr>
              <a:spcBef>
                <a:spcPts val="500"/>
              </a:spcBef>
              <a:buFontTx/>
              <a:buChar char="•"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2000" b="1" i="1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firstRemoved</a:t>
            </a:r>
            <a:r>
              <a:rPr lang="en-US" altLang="en-US" i="1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</a:rPr>
              <a:t>remembers the first removed position that we see</a:t>
            </a:r>
          </a:p>
        </p:txBody>
      </p:sp>
    </p:spTree>
    <p:extLst>
      <p:ext uri="{BB962C8B-B14F-4D97-AF65-F5344CB8AC3E}">
        <p14:creationId xmlns:p14="http://schemas.microsoft.com/office/powerpoint/2010/main" val="2497280972"/>
      </p:ext>
    </p:extLst>
  </p:cSld>
  <p:clrMapOvr>
    <a:masterClrMapping/>
  </p:clrMapOvr>
</p:sld>
</file>

<file path=ppt/slides/slide3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41313" y="1632857"/>
            <a:ext cx="8601075" cy="505532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76802" name="Rectangle 2"/>
          <p:cNvSpPr>
            <a:spLocks noGrp="1" noChangeArrowheads="1"/>
          </p:cNvSpPr>
          <p:nvPr>
            <p:ph type="title"/>
          </p:nvPr>
        </p:nvSpPr>
        <p:spPr>
          <a:xfrm>
            <a:off x="258763" y="128588"/>
            <a:ext cx="8683625" cy="847725"/>
          </a:xfrm>
        </p:spPr>
        <p:txBody>
          <a:bodyPr/>
          <a:lstStyle/>
          <a:p>
            <a:r>
              <a:rPr lang="en-US" altLang="en-US"/>
              <a:t>Insertion </a:t>
            </a:r>
            <a:r>
              <a:rPr lang="en-US" altLang="en-US" sz="2000"/>
              <a:t>(cont.)</a:t>
            </a:r>
          </a:p>
        </p:txBody>
      </p:sp>
      <p:sp>
        <p:nvSpPr>
          <p:cNvPr id="768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96938"/>
            <a:ext cx="8623300" cy="5614987"/>
          </a:xfrm>
        </p:spPr>
        <p:txBody>
          <a:bodyPr/>
          <a:lstStyle/>
          <a:p>
            <a:pPr>
              <a:spcBef>
                <a:spcPct val="0"/>
              </a:spcBef>
              <a:buFontTx/>
              <a:buChar char="•"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To handle the special cases, we give this method its own implementation of probing:</a:t>
            </a:r>
          </a:p>
          <a:p>
            <a:pPr>
              <a:lnSpc>
                <a:spcPct val="90000"/>
              </a:lnSpc>
              <a:spcBef>
                <a:spcPct val="6000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public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boolean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insert(Object key, Object value) {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= h1(key); 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h2 = h2(key);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numChecked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= 1;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1800" b="1" dirty="0" err="1">
                <a:solidFill>
                  <a:srgbClr val="0000FF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1800" b="1" dirty="0" err="1">
                <a:solidFill>
                  <a:srgbClr val="0000FF"/>
                </a:solidFill>
                <a:latin typeface="Lucida Console" panose="020B0609040504020204" pitchFamily="49" charset="0"/>
              </a:rPr>
              <a:t>firstRemoved</a:t>
            </a: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 = -1; </a:t>
            </a:r>
            <a:r>
              <a:rPr lang="en-US" altLang="en-US" sz="1800" b="1" dirty="0">
                <a:solidFill>
                  <a:srgbClr val="FF0000"/>
                </a:solidFill>
                <a:latin typeface="Lucida Console" panose="020B0609040504020204" pitchFamily="49" charset="0"/>
              </a:rPr>
              <a:t>// saves first removed position</a:t>
            </a:r>
          </a:p>
          <a:p>
            <a:pPr>
              <a:lnSpc>
                <a:spcPct val="5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endParaRPr lang="en-US" altLang="en-US" sz="1800" b="1" dirty="0">
              <a:solidFill>
                <a:srgbClr val="0000FF"/>
              </a:solidFill>
              <a:latin typeface="Lucida Console" panose="020B0609040504020204" pitchFamily="49" charset="0"/>
            </a:endParaRP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rgbClr val="0000FF"/>
                </a:solidFill>
                <a:latin typeface="Lucida Console" panose="020B0609040504020204" pitchFamily="49" charset="0"/>
              </a:rPr>
              <a:t>    while (table[</a:t>
            </a:r>
            <a:r>
              <a:rPr lang="en-US" altLang="en-US" sz="1800" dirty="0" err="1">
                <a:solidFill>
                  <a:srgbClr val="0000FF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rgbClr val="0000FF"/>
                </a:solidFill>
                <a:latin typeface="Lucida Console" panose="020B0609040504020204" pitchFamily="49" charset="0"/>
              </a:rPr>
              <a:t>] != null &amp;&amp; !</a:t>
            </a:r>
            <a:r>
              <a:rPr lang="en-US" altLang="en-US" sz="1800" dirty="0" err="1">
                <a:solidFill>
                  <a:srgbClr val="0000FF"/>
                </a:solidFill>
                <a:latin typeface="Lucida Console" panose="020B0609040504020204" pitchFamily="49" charset="0"/>
              </a:rPr>
              <a:t>key.equals</a:t>
            </a:r>
            <a:r>
              <a:rPr lang="en-US" altLang="en-US" sz="1800" dirty="0">
                <a:solidFill>
                  <a:srgbClr val="0000FF"/>
                </a:solidFill>
                <a:latin typeface="Lucida Console" panose="020B0609040504020204" pitchFamily="49" charset="0"/>
              </a:rPr>
              <a:t>(table[</a:t>
            </a:r>
            <a:r>
              <a:rPr lang="en-US" altLang="en-US" sz="1800" dirty="0" err="1">
                <a:solidFill>
                  <a:srgbClr val="0000FF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rgbClr val="0000FF"/>
                </a:solidFill>
                <a:latin typeface="Lucida Console" panose="020B0609040504020204" pitchFamily="49" charset="0"/>
              </a:rPr>
              <a:t>].key)) {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        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if (table[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].key == null &amp;&amp;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firstRemoved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== -1) {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    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firstRemoved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=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;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 }</a:t>
            </a: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 </a:t>
            </a:r>
            <a:endParaRPr lang="en-US" altLang="en-US" sz="18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 if (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numChecked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==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table.length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) {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     break;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 }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= (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+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probeIncr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numChecked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, h2)) %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table.length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;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numChecked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++;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1800" dirty="0">
                <a:solidFill>
                  <a:srgbClr val="0000FF"/>
                </a:solidFill>
                <a:latin typeface="Lucida Console" panose="020B0609040504020204" pitchFamily="49" charset="0"/>
              </a:rPr>
              <a:t>}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// deal with the different cases (see next slide)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}</a:t>
            </a:r>
          </a:p>
          <a:p>
            <a:pPr>
              <a:spcBef>
                <a:spcPts val="500"/>
              </a:spcBef>
              <a:buFontTx/>
              <a:buChar char="•"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2000" b="1" i="1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firstRemoved</a:t>
            </a:r>
            <a:r>
              <a:rPr lang="en-US" altLang="en-US" i="1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</a:rPr>
              <a:t>remembers the first removed position that we see</a:t>
            </a:r>
          </a:p>
        </p:txBody>
      </p:sp>
    </p:spTree>
    <p:extLst>
      <p:ext uri="{BB962C8B-B14F-4D97-AF65-F5344CB8AC3E}">
        <p14:creationId xmlns:p14="http://schemas.microsoft.com/office/powerpoint/2010/main" val="777837011"/>
      </p:ext>
    </p:extLst>
  </p:cSld>
  <p:clrMapOvr>
    <a:masterClrMapping/>
  </p:clrMapOvr>
</p:sld>
</file>

<file path=ppt/slides/slide3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341313" y="1632857"/>
            <a:ext cx="8601075" cy="505532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76802" name="Rectangle 2"/>
          <p:cNvSpPr>
            <a:spLocks noGrp="1" noChangeArrowheads="1"/>
          </p:cNvSpPr>
          <p:nvPr>
            <p:ph type="title"/>
          </p:nvPr>
        </p:nvSpPr>
        <p:spPr>
          <a:xfrm>
            <a:off x="258763" y="128588"/>
            <a:ext cx="8683625" cy="847725"/>
          </a:xfrm>
        </p:spPr>
        <p:txBody>
          <a:bodyPr/>
          <a:lstStyle/>
          <a:p>
            <a:r>
              <a:rPr lang="en-US" altLang="en-US"/>
              <a:t>Insertion </a:t>
            </a:r>
            <a:r>
              <a:rPr lang="en-US" altLang="en-US" sz="2000"/>
              <a:t>(cont.)</a:t>
            </a:r>
          </a:p>
        </p:txBody>
      </p:sp>
      <p:sp>
        <p:nvSpPr>
          <p:cNvPr id="768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96938"/>
            <a:ext cx="8623300" cy="5614987"/>
          </a:xfrm>
        </p:spPr>
        <p:txBody>
          <a:bodyPr/>
          <a:lstStyle/>
          <a:p>
            <a:pPr>
              <a:spcBef>
                <a:spcPct val="0"/>
              </a:spcBef>
              <a:buFontTx/>
              <a:buChar char="•"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To handle the special cases, we give this method its own implementation of probing:</a:t>
            </a:r>
          </a:p>
          <a:p>
            <a:pPr>
              <a:lnSpc>
                <a:spcPct val="90000"/>
              </a:lnSpc>
              <a:spcBef>
                <a:spcPct val="6000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public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boolean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insert(Object key, Object value) {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= h1(key); 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h2 = h2(key);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numChecked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= 1;</a:t>
            </a:r>
          </a:p>
          <a:p>
            <a:pPr>
              <a:lnSpc>
                <a:spcPct val="90000"/>
              </a:lnSpc>
              <a:spcBef>
                <a:spcPct val="0"/>
              </a:spcBef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1800" b="1" dirty="0" err="1">
                <a:solidFill>
                  <a:srgbClr val="0000FF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1800" b="1" dirty="0" err="1">
                <a:solidFill>
                  <a:srgbClr val="0000FF"/>
                </a:solidFill>
                <a:latin typeface="Lucida Console" panose="020B0609040504020204" pitchFamily="49" charset="0"/>
              </a:rPr>
              <a:t>firstRemoved</a:t>
            </a: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 = -1;</a:t>
            </a:r>
            <a:r>
              <a:rPr lang="en-US" altLang="en-US" sz="1800" b="1" dirty="0">
                <a:solidFill>
                  <a:srgbClr val="FF0000"/>
                </a:solidFill>
                <a:latin typeface="Lucida Console" panose="020B0609040504020204" pitchFamily="49" charset="0"/>
              </a:rPr>
              <a:t> // saves first removed position</a:t>
            </a:r>
          </a:p>
          <a:p>
            <a:pPr>
              <a:lnSpc>
                <a:spcPct val="5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endParaRPr lang="en-US" altLang="en-US" sz="1800" b="1" dirty="0">
              <a:solidFill>
                <a:srgbClr val="0000FF"/>
              </a:solidFill>
              <a:latin typeface="Lucida Console" panose="020B0609040504020204" pitchFamily="49" charset="0"/>
            </a:endParaRP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while (table[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] != null &amp;&amp; !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key.equals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(table[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].key)) {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        if (table[</a:t>
            </a:r>
            <a:r>
              <a:rPr lang="en-US" altLang="en-US" sz="1800" b="1" dirty="0" err="1">
                <a:solidFill>
                  <a:srgbClr val="0000FF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].key == null &amp;&amp; </a:t>
            </a:r>
            <a:r>
              <a:rPr lang="en-US" altLang="en-US" sz="1800" b="1" dirty="0" err="1">
                <a:solidFill>
                  <a:srgbClr val="0000FF"/>
                </a:solidFill>
                <a:latin typeface="Lucida Console" panose="020B0609040504020204" pitchFamily="49" charset="0"/>
              </a:rPr>
              <a:t>firstRemoved</a:t>
            </a: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 == -1) {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            </a:t>
            </a:r>
            <a:r>
              <a:rPr lang="en-US" altLang="en-US" sz="1800" b="1" dirty="0" err="1">
                <a:solidFill>
                  <a:srgbClr val="0000FF"/>
                </a:solidFill>
                <a:latin typeface="Lucida Console" panose="020B0609040504020204" pitchFamily="49" charset="0"/>
              </a:rPr>
              <a:t>firstRemoved</a:t>
            </a: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 = </a:t>
            </a:r>
            <a:r>
              <a:rPr lang="en-US" altLang="en-US" sz="1800" b="1" dirty="0" err="1">
                <a:solidFill>
                  <a:srgbClr val="0000FF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;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        } </a:t>
            </a:r>
            <a:endParaRPr lang="en-US" altLang="en-US" sz="18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 if (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numChecked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==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table.length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) {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     break;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 }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= (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+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probeIncr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numChecked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, h2)) %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table.length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;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numChecked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++;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}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// deal with the different cases (see next slide)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779847686"/>
      </p:ext>
    </p:extLst>
  </p:cSld>
  <p:clrMapOvr>
    <a:masterClrMapping/>
  </p:clrMapOvr>
</p:sld>
</file>

<file path=ppt/slides/slide3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41313" y="1632857"/>
            <a:ext cx="8601075" cy="505532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76802" name="Rectangle 2"/>
          <p:cNvSpPr>
            <a:spLocks noGrp="1" noChangeArrowheads="1"/>
          </p:cNvSpPr>
          <p:nvPr>
            <p:ph type="title"/>
          </p:nvPr>
        </p:nvSpPr>
        <p:spPr>
          <a:xfrm>
            <a:off x="258763" y="128588"/>
            <a:ext cx="8683625" cy="847725"/>
          </a:xfrm>
        </p:spPr>
        <p:txBody>
          <a:bodyPr/>
          <a:lstStyle/>
          <a:p>
            <a:r>
              <a:rPr lang="en-US" altLang="en-US"/>
              <a:t>Insertion </a:t>
            </a:r>
            <a:r>
              <a:rPr lang="en-US" altLang="en-US" sz="2000"/>
              <a:t>(cont.)</a:t>
            </a:r>
          </a:p>
        </p:txBody>
      </p:sp>
      <p:sp>
        <p:nvSpPr>
          <p:cNvPr id="768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96938"/>
            <a:ext cx="8623300" cy="5614987"/>
          </a:xfrm>
        </p:spPr>
        <p:txBody>
          <a:bodyPr/>
          <a:lstStyle/>
          <a:p>
            <a:pPr>
              <a:spcBef>
                <a:spcPct val="0"/>
              </a:spcBef>
              <a:buFontTx/>
              <a:buChar char="•"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To handle the special cases, we give this method its own implementation of probing:</a:t>
            </a:r>
          </a:p>
          <a:p>
            <a:pPr>
              <a:lnSpc>
                <a:spcPct val="90000"/>
              </a:lnSpc>
              <a:spcBef>
                <a:spcPct val="6000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public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boolean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insert(Object key, Object value) {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= h1(key); 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h2 = h2(key);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numChecked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= 1;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firstRemoved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= -1;</a:t>
            </a:r>
          </a:p>
          <a:p>
            <a:pPr>
              <a:lnSpc>
                <a:spcPct val="5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endParaRPr lang="en-US" altLang="en-US" sz="1800" b="1" dirty="0">
              <a:solidFill>
                <a:srgbClr val="0000FF"/>
              </a:solidFill>
              <a:latin typeface="Lucida Console" panose="020B0609040504020204" pitchFamily="49" charset="0"/>
            </a:endParaRP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while (table[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] != null &amp;&amp; !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key.equals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(table[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].key)) {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        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if (table[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].key == null &amp;&amp;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firstRemoved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== -1) {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    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firstRemoved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=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;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 }</a:t>
            </a: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 </a:t>
            </a:r>
            <a:endParaRPr lang="en-US" altLang="en-US" sz="18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 if (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numChecked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==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table.length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) {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     </a:t>
            </a: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break;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 }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= (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+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probeIncr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numChecked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, h2)) %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table.length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;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numChecked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++;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}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// deal with the different cases (see next slide)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518030928"/>
      </p:ext>
    </p:extLst>
  </p:cSld>
  <p:clrMapOvr>
    <a:masterClrMapping/>
  </p:clrMapOvr>
</p:sld>
</file>

<file path=ppt/slides/slide3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341312" y="718457"/>
            <a:ext cx="8802687" cy="660980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757646" y="3984171"/>
            <a:ext cx="8206967" cy="287382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77826" name="Rectangle 2"/>
          <p:cNvSpPr>
            <a:spLocks noGrp="1" noChangeArrowheads="1"/>
          </p:cNvSpPr>
          <p:nvPr>
            <p:ph type="title"/>
          </p:nvPr>
        </p:nvSpPr>
        <p:spPr>
          <a:xfrm>
            <a:off x="258763" y="128588"/>
            <a:ext cx="8683625" cy="847725"/>
          </a:xfrm>
        </p:spPr>
        <p:txBody>
          <a:bodyPr/>
          <a:lstStyle/>
          <a:p>
            <a:r>
              <a:rPr lang="en-US" altLang="en-US"/>
              <a:t>Insertion </a:t>
            </a:r>
            <a:r>
              <a:rPr lang="en-US" altLang="en-US" sz="2000"/>
              <a:t>(cont.)</a:t>
            </a:r>
          </a:p>
        </p:txBody>
      </p:sp>
      <p:sp>
        <p:nvSpPr>
          <p:cNvPr id="778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31623"/>
            <a:ext cx="8623300" cy="6026377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public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boolean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insert(Object key, Object value) {</a:t>
            </a:r>
          </a:p>
          <a:p>
            <a:pPr>
              <a:lnSpc>
                <a:spcPct val="5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...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firstRemoved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= -1;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while (table[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] != null &amp;&amp; !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key.equals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(table[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].key) {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 if (table[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].key == null &amp;&amp;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firstRemoved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== -1) {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    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firstRemoved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=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 } 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 if (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numChecked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==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table.length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) {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     break;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 }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= (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+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probeIncr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numChecked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, h2)) %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table.length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numChecked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++;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}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1800" b="1" dirty="0" err="1">
                <a:solidFill>
                  <a:srgbClr val="0000FF"/>
                </a:solidFill>
                <a:latin typeface="Lucida Console" panose="020B0609040504020204" pitchFamily="49" charset="0"/>
              </a:rPr>
              <a:t>boolean</a:t>
            </a: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 inserted = true;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endParaRPr lang="en-US" altLang="en-US" sz="10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    if (table[</a:t>
            </a:r>
            <a:r>
              <a:rPr lang="en-US" altLang="en-US" sz="1800" dirty="0" err="1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] != null &amp;&amp; </a:t>
            </a:r>
            <a:r>
              <a:rPr lang="en-US" altLang="en-US" sz="1800" dirty="0" err="1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key.equals</a:t>
            </a:r>
            <a:r>
              <a:rPr lang="en-US" altLang="en-US" sz="1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(table[</a:t>
            </a:r>
            <a:r>
              <a:rPr lang="en-US" altLang="en-US" sz="1800" dirty="0" err="1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].key)) { // 1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        table[</a:t>
            </a:r>
            <a:r>
              <a:rPr lang="en-US" altLang="en-US" sz="1800" dirty="0" err="1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].</a:t>
            </a:r>
            <a:r>
              <a:rPr lang="en-US" altLang="en-US" sz="1800" dirty="0" err="1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values.insert</a:t>
            </a:r>
            <a:r>
              <a:rPr lang="en-US" altLang="en-US" sz="1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(value);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    } else if (</a:t>
            </a:r>
            <a:r>
              <a:rPr lang="en-US" altLang="en-US" sz="1800" dirty="0" err="1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firstRemoved</a:t>
            </a:r>
            <a:r>
              <a:rPr lang="en-US" altLang="en-US" sz="1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 != -1) {                    // 2a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        table[</a:t>
            </a:r>
            <a:r>
              <a:rPr lang="en-US" altLang="en-US" sz="1800" dirty="0" err="1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firstRemoved</a:t>
            </a:r>
            <a:r>
              <a:rPr lang="en-US" altLang="en-US" sz="1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] = new Entry(key, value);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    } else if (table[</a:t>
            </a:r>
            <a:r>
              <a:rPr lang="en-US" altLang="en-US" sz="1800" dirty="0" err="1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] == null) {                      // 2b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        table[</a:t>
            </a:r>
            <a:r>
              <a:rPr lang="en-US" altLang="en-US" sz="1800" dirty="0" err="1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] = new Entry(key, value);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    } else {                                            // 2c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        inserted = false;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    }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return inserted;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}</a:t>
            </a:r>
            <a:endParaRPr lang="en-US" altLang="en-US" sz="1800" b="1" dirty="0">
              <a:solidFill>
                <a:srgbClr val="0000FF"/>
              </a:solidFill>
              <a:latin typeface="Lucida Console" panose="020B0609040504020204" pitchFamily="49" charset="0"/>
            </a:endParaRPr>
          </a:p>
        </p:txBody>
      </p:sp>
      <p:cxnSp>
        <p:nvCxnSpPr>
          <p:cNvPr id="4" name="Straight Arrow Connector 3"/>
          <p:cNvCxnSpPr/>
          <p:nvPr/>
        </p:nvCxnSpPr>
        <p:spPr bwMode="auto">
          <a:xfrm>
            <a:off x="393563" y="2926080"/>
            <a:ext cx="507774" cy="1058091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495547"/>
      </p:ext>
    </p:extLst>
  </p:cSld>
  <p:clrMapOvr>
    <a:masterClrMapping/>
  </p:clrMapOvr>
</p:sld>
</file>

<file path=ppt/slides/slide3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341312" y="718457"/>
            <a:ext cx="8802687" cy="660980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757646" y="3984171"/>
            <a:ext cx="8206967" cy="287382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77826" name="Rectangle 2"/>
          <p:cNvSpPr>
            <a:spLocks noGrp="1" noChangeArrowheads="1"/>
          </p:cNvSpPr>
          <p:nvPr>
            <p:ph type="title"/>
          </p:nvPr>
        </p:nvSpPr>
        <p:spPr>
          <a:xfrm>
            <a:off x="258763" y="128588"/>
            <a:ext cx="8683625" cy="847725"/>
          </a:xfrm>
        </p:spPr>
        <p:txBody>
          <a:bodyPr/>
          <a:lstStyle/>
          <a:p>
            <a:r>
              <a:rPr lang="en-US" altLang="en-US"/>
              <a:t>Insertion </a:t>
            </a:r>
            <a:r>
              <a:rPr lang="en-US" altLang="en-US" sz="2000"/>
              <a:t>(cont.)</a:t>
            </a:r>
          </a:p>
        </p:txBody>
      </p:sp>
      <p:sp>
        <p:nvSpPr>
          <p:cNvPr id="778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31623"/>
            <a:ext cx="8623300" cy="6026377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public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boolean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insert(Object key, Object value) {</a:t>
            </a:r>
          </a:p>
          <a:p>
            <a:pPr>
              <a:lnSpc>
                <a:spcPct val="5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...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firstRemoved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= -1;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while (table[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] != null &amp;&amp; !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key.equals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(table[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].key) {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 if (table[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].key == null &amp;&amp;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firstRemoved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== -1) {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    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firstRemoved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=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 } 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 if (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numChecked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==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table.length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) {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     break;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 }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= (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+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probeIncr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numChecked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, h2)) %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table.length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numChecked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++;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}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1800" b="1" dirty="0" err="1">
                <a:solidFill>
                  <a:srgbClr val="0000FF"/>
                </a:solidFill>
                <a:latin typeface="Lucida Console" panose="020B0609040504020204" pitchFamily="49" charset="0"/>
              </a:rPr>
              <a:t>boolean</a:t>
            </a: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 inserted = true;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endParaRPr lang="en-US" altLang="en-US" sz="10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if (table[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] != null &amp;&amp;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key.equals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(table[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].key)) { // 1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 table[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].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values.insert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(value);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} else if (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firstRemoved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!= -1) {                    // 2a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 table[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firstRemoved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] = new Entry(key, value);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} else if (table[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] == null) {                      // 2b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 table[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] = new Entry(key, value);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} else {                                            // 2c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 inserted = false;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}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return inserted;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}</a:t>
            </a:r>
            <a:endParaRPr lang="en-US" altLang="en-US" sz="1800" b="1" dirty="0">
              <a:solidFill>
                <a:srgbClr val="0000FF"/>
              </a:solidFill>
              <a:latin typeface="Lucida Console" panose="020B0609040504020204" pitchFamily="49" charset="0"/>
            </a:endParaRPr>
          </a:p>
        </p:txBody>
      </p:sp>
      <p:cxnSp>
        <p:nvCxnSpPr>
          <p:cNvPr id="4" name="Straight Arrow Connector 3"/>
          <p:cNvCxnSpPr/>
          <p:nvPr/>
        </p:nvCxnSpPr>
        <p:spPr bwMode="auto">
          <a:xfrm>
            <a:off x="393563" y="2926080"/>
            <a:ext cx="507774" cy="1058091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2032843"/>
      </p:ext>
    </p:extLst>
  </p:cSld>
  <p:clrMapOvr>
    <a:masterClrMapping/>
  </p:clrMapOvr>
</p:sld>
</file>

<file path=ppt/slides/slide3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341312" y="718457"/>
            <a:ext cx="8802687" cy="660980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341313" y="831623"/>
            <a:ext cx="8623300" cy="60263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marL="333375" indent="-333375" algn="l" defTabSz="447675" rtl="0" eaLnBrk="0" fontAlgn="base" hangingPunct="0">
              <a:spcBef>
                <a:spcPts val="1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733425" indent="-276225" algn="l" defTabSz="447675" rtl="0" eaLnBrk="0" fontAlgn="base" hangingPunct="0">
              <a:spcBef>
                <a:spcPts val="525"/>
              </a:spcBef>
              <a:spcAft>
                <a:spcPct val="0"/>
              </a:spcAft>
              <a:buClr>
                <a:srgbClr val="000000"/>
              </a:buClr>
              <a:buSzPct val="100000"/>
              <a:buChar char="•"/>
              <a:defRPr sz="2200">
                <a:solidFill>
                  <a:srgbClr val="000000"/>
                </a:solidFill>
                <a:latin typeface="+mn-lt"/>
              </a:defRPr>
            </a:lvl2pPr>
            <a:lvl3pPr marL="1076325" indent="-161925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000">
                <a:solidFill>
                  <a:srgbClr val="000000"/>
                </a:solidFill>
                <a:latin typeface="+mn-lt"/>
              </a:defRPr>
            </a:lvl3pPr>
            <a:lvl4pPr marL="1600200" indent="-228600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Helvetica" panose="020B0604020202020204" pitchFamily="34" charset="0"/>
              <a:buChar char="–"/>
              <a:defRPr sz="2000">
                <a:solidFill>
                  <a:srgbClr val="000000"/>
                </a:solidFill>
                <a:latin typeface="+mn-lt"/>
              </a:defRPr>
            </a:lvl4pPr>
            <a:lvl5pPr marL="2057400" indent="-228600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+mn-lt"/>
              </a:defRPr>
            </a:lvl5pPr>
            <a:lvl6pPr marL="2514600" indent="-228600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Char char="»"/>
              <a:defRPr sz="2000">
                <a:solidFill>
                  <a:srgbClr val="000000"/>
                </a:solidFill>
                <a:latin typeface="+mn-lt"/>
              </a:defRPr>
            </a:lvl6pPr>
            <a:lvl7pPr marL="2971800" indent="-228600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Char char="»"/>
              <a:defRPr sz="2000">
                <a:solidFill>
                  <a:srgbClr val="000000"/>
                </a:solidFill>
                <a:latin typeface="+mn-lt"/>
              </a:defRPr>
            </a:lvl7pPr>
            <a:lvl8pPr marL="3429000" indent="-228600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Char char="»"/>
              <a:defRPr sz="2000">
                <a:solidFill>
                  <a:srgbClr val="000000"/>
                </a:solidFill>
                <a:latin typeface="+mn-lt"/>
              </a:defRPr>
            </a:lvl8pPr>
            <a:lvl9pPr marL="3886200" indent="-228600" algn="l" defTabSz="447675" rtl="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Char char="»"/>
              <a:defRPr sz="2000">
                <a:solidFill>
                  <a:srgbClr val="000000"/>
                </a:solidFill>
                <a:latin typeface="+mn-lt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kern="0">
                <a:solidFill>
                  <a:schemeClr val="tx1"/>
                </a:solidFill>
                <a:latin typeface="Lucida Console" panose="020B0609040504020204" pitchFamily="49" charset="0"/>
              </a:rPr>
              <a:t>public boolean insert(Object key, Object value) {</a:t>
            </a:r>
          </a:p>
          <a:p>
            <a:pPr>
              <a:lnSpc>
                <a:spcPct val="5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kern="0">
                <a:solidFill>
                  <a:schemeClr val="tx1"/>
                </a:solidFill>
                <a:latin typeface="Lucida Console" panose="020B0609040504020204" pitchFamily="49" charset="0"/>
              </a:rPr>
              <a:t>    ...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kern="0">
                <a:solidFill>
                  <a:schemeClr val="tx1"/>
                </a:solidFill>
                <a:latin typeface="Lucida Console" panose="020B0609040504020204" pitchFamily="49" charset="0"/>
              </a:rPr>
              <a:t>    int firstRemoved = -1;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kern="0">
                <a:solidFill>
                  <a:schemeClr val="tx1"/>
                </a:solidFill>
                <a:latin typeface="Lucida Console" panose="020B0609040504020204" pitchFamily="49" charset="0"/>
              </a:rPr>
              <a:t>    while (table[i] != null &amp;&amp; !key.equals(table[i].key) {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kern="0">
                <a:solidFill>
                  <a:schemeClr val="tx1"/>
                </a:solidFill>
                <a:latin typeface="Lucida Console" panose="020B0609040504020204" pitchFamily="49" charset="0"/>
              </a:rPr>
              <a:t>        if (table[i].key == null &amp;&amp; firstRemoved == -1) {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kern="0">
                <a:solidFill>
                  <a:schemeClr val="tx1"/>
                </a:solidFill>
                <a:latin typeface="Lucida Console" panose="020B0609040504020204" pitchFamily="49" charset="0"/>
              </a:rPr>
              <a:t>            firstRemoved = i;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kern="0">
                <a:solidFill>
                  <a:schemeClr val="tx1"/>
                </a:solidFill>
                <a:latin typeface="Lucida Console" panose="020B0609040504020204" pitchFamily="49" charset="0"/>
              </a:rPr>
              <a:t>        } 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kern="0">
                <a:solidFill>
                  <a:schemeClr val="tx1"/>
                </a:solidFill>
                <a:latin typeface="Lucida Console" panose="020B0609040504020204" pitchFamily="49" charset="0"/>
              </a:rPr>
              <a:t>        if (numChecked == table.length) {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kern="0">
                <a:solidFill>
                  <a:schemeClr val="tx1"/>
                </a:solidFill>
                <a:latin typeface="Lucida Console" panose="020B0609040504020204" pitchFamily="49" charset="0"/>
              </a:rPr>
              <a:t>            break;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kern="0">
                <a:solidFill>
                  <a:schemeClr val="tx1"/>
                </a:solidFill>
                <a:latin typeface="Lucida Console" panose="020B0609040504020204" pitchFamily="49" charset="0"/>
              </a:rPr>
              <a:t>        }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kern="0">
                <a:solidFill>
                  <a:schemeClr val="tx1"/>
                </a:solidFill>
                <a:latin typeface="Lucida Console" panose="020B0609040504020204" pitchFamily="49" charset="0"/>
              </a:rPr>
              <a:t>        i = (i + probeIncr(numChecked, h2)) % table.length;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kern="0">
                <a:solidFill>
                  <a:schemeClr val="tx1"/>
                </a:solidFill>
                <a:latin typeface="Lucida Console" panose="020B0609040504020204" pitchFamily="49" charset="0"/>
              </a:rPr>
              <a:t>        numChecked++;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kern="0">
                <a:solidFill>
                  <a:schemeClr val="tx1"/>
                </a:solidFill>
                <a:latin typeface="Lucida Console" panose="020B0609040504020204" pitchFamily="49" charset="0"/>
              </a:rPr>
              <a:t>    }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kern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1800" b="1" kern="0">
                <a:solidFill>
                  <a:srgbClr val="0000FF"/>
                </a:solidFill>
                <a:latin typeface="Lucida Console" panose="020B0609040504020204" pitchFamily="49" charset="0"/>
              </a:rPr>
              <a:t>boolean inserted = true;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endParaRPr lang="en-US" altLang="en-US" sz="1000" kern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kern="0">
                <a:solidFill>
                  <a:schemeClr val="tx1"/>
                </a:solidFill>
                <a:latin typeface="Lucida Console" panose="020B0609040504020204" pitchFamily="49" charset="0"/>
              </a:rPr>
              <a:t>    if (table[i] != null &amp;&amp; key.equals(table[i].key)) { // 1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kern="0">
                <a:solidFill>
                  <a:schemeClr val="tx1"/>
                </a:solidFill>
                <a:latin typeface="Lucida Console" panose="020B0609040504020204" pitchFamily="49" charset="0"/>
              </a:rPr>
              <a:t>        table[i].values.insert(value);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kern="0">
                <a:solidFill>
                  <a:schemeClr val="tx1"/>
                </a:solidFill>
                <a:latin typeface="Lucida Console" panose="020B0609040504020204" pitchFamily="49" charset="0"/>
              </a:rPr>
              <a:t>    } else if (firstRemoved != -1) {                    // 2a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kern="0">
                <a:solidFill>
                  <a:schemeClr val="tx1"/>
                </a:solidFill>
                <a:latin typeface="Lucida Console" panose="020B0609040504020204" pitchFamily="49" charset="0"/>
              </a:rPr>
              <a:t>        table[firstRemoved] = new Entry(key, value);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kern="0">
                <a:solidFill>
                  <a:schemeClr val="tx1"/>
                </a:solidFill>
                <a:latin typeface="Lucida Console" panose="020B0609040504020204" pitchFamily="49" charset="0"/>
              </a:rPr>
              <a:t>    } else if (table[i] == null) {                      // 2b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kern="0">
                <a:solidFill>
                  <a:schemeClr val="tx1"/>
                </a:solidFill>
                <a:latin typeface="Lucida Console" panose="020B0609040504020204" pitchFamily="49" charset="0"/>
              </a:rPr>
              <a:t>        table[i] = new Entry(key, value);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kern="0">
                <a:solidFill>
                  <a:schemeClr val="tx1"/>
                </a:solidFill>
                <a:latin typeface="Lucida Console" panose="020B0609040504020204" pitchFamily="49" charset="0"/>
              </a:rPr>
              <a:t>    } else {                                            // 2c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kern="0">
                <a:solidFill>
                  <a:schemeClr val="tx1"/>
                </a:solidFill>
                <a:latin typeface="Lucida Console" panose="020B0609040504020204" pitchFamily="49" charset="0"/>
              </a:rPr>
              <a:t>        inserted = false;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kern="0">
                <a:solidFill>
                  <a:schemeClr val="tx1"/>
                </a:solidFill>
                <a:latin typeface="Lucida Console" panose="020B0609040504020204" pitchFamily="49" charset="0"/>
              </a:rPr>
              <a:t>    }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kern="0">
                <a:solidFill>
                  <a:schemeClr val="tx1"/>
                </a:solidFill>
                <a:latin typeface="Lucida Console" panose="020B0609040504020204" pitchFamily="49" charset="0"/>
              </a:rPr>
              <a:t>    return inserted;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kern="0">
                <a:solidFill>
                  <a:schemeClr val="tx1"/>
                </a:solidFill>
                <a:latin typeface="Lucida Console" panose="020B0609040504020204" pitchFamily="49" charset="0"/>
              </a:rPr>
              <a:t>}</a:t>
            </a:r>
            <a:endParaRPr lang="en-US" altLang="en-US" sz="1800" b="1" kern="0" dirty="0">
              <a:solidFill>
                <a:srgbClr val="0000FF"/>
              </a:solidFill>
              <a:latin typeface="Lucida Console" panose="020B0609040504020204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57646" y="3984171"/>
            <a:ext cx="8206967" cy="287382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77826" name="Rectangle 2"/>
          <p:cNvSpPr>
            <a:spLocks noGrp="1" noChangeArrowheads="1"/>
          </p:cNvSpPr>
          <p:nvPr>
            <p:ph type="title"/>
          </p:nvPr>
        </p:nvSpPr>
        <p:spPr>
          <a:xfrm>
            <a:off x="258763" y="128588"/>
            <a:ext cx="8683625" cy="847725"/>
          </a:xfrm>
        </p:spPr>
        <p:txBody>
          <a:bodyPr/>
          <a:lstStyle/>
          <a:p>
            <a:r>
              <a:rPr lang="en-US" altLang="en-US"/>
              <a:t>Insertion </a:t>
            </a:r>
            <a:r>
              <a:rPr lang="en-US" altLang="en-US" sz="2000"/>
              <a:t>(cont.)</a:t>
            </a:r>
          </a:p>
        </p:txBody>
      </p:sp>
      <p:sp>
        <p:nvSpPr>
          <p:cNvPr id="778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31623"/>
            <a:ext cx="8623300" cy="5614987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public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boolean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insert(Object key, Object value) {</a:t>
            </a:r>
          </a:p>
          <a:p>
            <a:pPr>
              <a:lnSpc>
                <a:spcPct val="5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...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firstRemoved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= -1;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while (table[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] != null &amp;&amp; !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key.equals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(table[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].key) {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 if (table[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].key == null &amp;&amp;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firstRemoved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== -1) {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    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firstRemoved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=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 } 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 if (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numChecked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==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table.length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) {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     break;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 }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= (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+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probeIncr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numChecked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, h2)) %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table.length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numChecked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++;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}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boolean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inserted = true;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endParaRPr lang="en-US" altLang="en-US" sz="10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if (table[</a:t>
            </a:r>
            <a:r>
              <a:rPr lang="en-US" altLang="en-US" sz="1800" b="1" dirty="0" err="1">
                <a:solidFill>
                  <a:srgbClr val="0000FF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] != null &amp;&amp; </a:t>
            </a:r>
            <a:r>
              <a:rPr lang="en-US" altLang="en-US" sz="1800" b="1" dirty="0" err="1">
                <a:solidFill>
                  <a:srgbClr val="0000FF"/>
                </a:solidFill>
                <a:latin typeface="Lucida Console" panose="020B0609040504020204" pitchFamily="49" charset="0"/>
              </a:rPr>
              <a:t>key.equals</a:t>
            </a: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(table[</a:t>
            </a:r>
            <a:r>
              <a:rPr lang="en-US" altLang="en-US" sz="1800" b="1" dirty="0" err="1">
                <a:solidFill>
                  <a:srgbClr val="0000FF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].key)) { </a:t>
            </a:r>
            <a:r>
              <a:rPr lang="en-US" altLang="en-US" sz="1800" b="1" dirty="0">
                <a:solidFill>
                  <a:srgbClr val="FF0000"/>
                </a:solidFill>
                <a:latin typeface="Lucida Console" panose="020B0609040504020204" pitchFamily="49" charset="0"/>
              </a:rPr>
              <a:t>// 1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        table[</a:t>
            </a:r>
            <a:r>
              <a:rPr lang="en-US" altLang="en-US" sz="1800" b="1" dirty="0" err="1">
                <a:solidFill>
                  <a:srgbClr val="0000FF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].</a:t>
            </a:r>
            <a:r>
              <a:rPr lang="en-US" altLang="en-US" sz="1800" b="1" dirty="0" err="1">
                <a:solidFill>
                  <a:srgbClr val="0000FF"/>
                </a:solidFill>
                <a:latin typeface="Lucida Console" panose="020B0609040504020204" pitchFamily="49" charset="0"/>
              </a:rPr>
              <a:t>values.insert</a:t>
            </a: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(value);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    } 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else if (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firstRemoved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!= -1) {                    // 2a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 table[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firstRemoved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] = new Entry(key, value);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} else if (table[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] == null) {                      // 2b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 table[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] = new Entry(key, value);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} else {                                            // 2c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 inserted = false;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}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return inserted;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}</a:t>
            </a:r>
            <a:endParaRPr lang="en-US" altLang="en-US" sz="1800" b="1" dirty="0">
              <a:solidFill>
                <a:srgbClr val="0000FF"/>
              </a:solidFill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2793496"/>
      </p:ext>
    </p:extLst>
  </p:cSld>
  <p:clrMapOvr>
    <a:masterClrMapping/>
  </p:clrMapOvr>
</p:sld>
</file>

<file path=ppt/slides/slide3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41312" y="718457"/>
            <a:ext cx="8802687" cy="660980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757646" y="3984171"/>
            <a:ext cx="8206967" cy="287382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77826" name="Rectangle 2"/>
          <p:cNvSpPr>
            <a:spLocks noGrp="1" noChangeArrowheads="1"/>
          </p:cNvSpPr>
          <p:nvPr>
            <p:ph type="title"/>
          </p:nvPr>
        </p:nvSpPr>
        <p:spPr>
          <a:xfrm>
            <a:off x="258763" y="128588"/>
            <a:ext cx="8683625" cy="847725"/>
          </a:xfrm>
        </p:spPr>
        <p:txBody>
          <a:bodyPr/>
          <a:lstStyle/>
          <a:p>
            <a:r>
              <a:rPr lang="en-US" altLang="en-US"/>
              <a:t>Insertion </a:t>
            </a:r>
            <a:r>
              <a:rPr lang="en-US" altLang="en-US" sz="2000"/>
              <a:t>(cont.)</a:t>
            </a:r>
          </a:p>
        </p:txBody>
      </p:sp>
      <p:sp>
        <p:nvSpPr>
          <p:cNvPr id="778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31623"/>
            <a:ext cx="8623300" cy="5614987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public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boolean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insert(Object key, Object value) {</a:t>
            </a:r>
          </a:p>
          <a:p>
            <a:pPr>
              <a:lnSpc>
                <a:spcPct val="5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...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firstRemoved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= -1;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while (table[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] != null &amp;&amp; !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key.equals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(table[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].key) {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 if (table[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].key == null &amp;&amp;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firstRemoved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== -1) {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    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firstRemoved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=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 } 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 if (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numChecked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==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table.length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) {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     break;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 }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= (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+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probeIncr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numChecked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, h2)) %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table.length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numChecked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++;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}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boolean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inserted = true;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endParaRPr lang="en-US" altLang="en-US" sz="10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if (table[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] != null &amp;&amp;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key.equals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(table[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].key)) { // 1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 table[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].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values.insert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(value);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} </a:t>
            </a: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else if (</a:t>
            </a:r>
            <a:r>
              <a:rPr lang="en-US" altLang="en-US" sz="1800" b="1" dirty="0" err="1">
                <a:solidFill>
                  <a:srgbClr val="0000FF"/>
                </a:solidFill>
                <a:latin typeface="Lucida Console" panose="020B0609040504020204" pitchFamily="49" charset="0"/>
              </a:rPr>
              <a:t>firstRemoved</a:t>
            </a: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 != -1) {                    </a:t>
            </a:r>
            <a:r>
              <a:rPr lang="en-US" altLang="en-US" sz="1800" b="1" dirty="0">
                <a:solidFill>
                  <a:srgbClr val="FF0000"/>
                </a:solidFill>
                <a:latin typeface="Lucida Console" panose="020B0609040504020204" pitchFamily="49" charset="0"/>
              </a:rPr>
              <a:t>// 2a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        table[</a:t>
            </a:r>
            <a:r>
              <a:rPr lang="en-US" altLang="en-US" sz="1800" b="1" dirty="0" err="1">
                <a:solidFill>
                  <a:srgbClr val="0000FF"/>
                </a:solidFill>
                <a:latin typeface="Lucida Console" panose="020B0609040504020204" pitchFamily="49" charset="0"/>
              </a:rPr>
              <a:t>firstRemoved</a:t>
            </a: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] = new Entry(key, value);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    }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else if (table[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] == null) {                      // 2b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 table[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] = new Entry(key, value);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} else {                                            // 2c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 inserted = false;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}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return inserted;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}</a:t>
            </a:r>
            <a:endParaRPr lang="en-US" altLang="en-US" sz="1800" b="1" dirty="0">
              <a:solidFill>
                <a:srgbClr val="0000FF"/>
              </a:solidFill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7893294"/>
      </p:ext>
    </p:extLst>
  </p:cSld>
  <p:clrMapOvr>
    <a:masterClrMapping/>
  </p:clrMapOvr>
</p:sld>
</file>

<file path=ppt/slides/slide3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41312" y="718457"/>
            <a:ext cx="8802687" cy="660980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757646" y="3984171"/>
            <a:ext cx="8206967" cy="287382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77826" name="Rectangle 2"/>
          <p:cNvSpPr>
            <a:spLocks noGrp="1" noChangeArrowheads="1"/>
          </p:cNvSpPr>
          <p:nvPr>
            <p:ph type="title"/>
          </p:nvPr>
        </p:nvSpPr>
        <p:spPr>
          <a:xfrm>
            <a:off x="258763" y="128588"/>
            <a:ext cx="8683625" cy="847725"/>
          </a:xfrm>
        </p:spPr>
        <p:txBody>
          <a:bodyPr/>
          <a:lstStyle/>
          <a:p>
            <a:r>
              <a:rPr lang="en-US" altLang="en-US"/>
              <a:t>Insertion </a:t>
            </a:r>
            <a:r>
              <a:rPr lang="en-US" altLang="en-US" sz="2000"/>
              <a:t>(cont.)</a:t>
            </a:r>
          </a:p>
        </p:txBody>
      </p:sp>
      <p:sp>
        <p:nvSpPr>
          <p:cNvPr id="778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31623"/>
            <a:ext cx="8623300" cy="5614987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public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boolean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insert(Object key, Object value) {</a:t>
            </a:r>
          </a:p>
          <a:p>
            <a:pPr>
              <a:lnSpc>
                <a:spcPct val="5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...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firstRemoved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= -1;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while (table[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] != null &amp;&amp; !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key.equals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(table[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].key) {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 if (table[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].key == null &amp;&amp;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firstRemoved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== -1) {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    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firstRemoved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=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 } 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 if (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numChecked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==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table.length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) {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     break;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 }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= (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+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probeIncr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numChecked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, h2)) %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table.length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numChecked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++;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}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boolean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inserted = true;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endParaRPr lang="en-US" altLang="en-US" sz="10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if (table[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] != null &amp;&amp;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key.equals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(table[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].key)) { // 1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 table[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].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values.insert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(value);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} else if (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firstRemoved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!= -1) {                    // 2a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 table[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firstRemoved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] = new Entry(key, value);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} </a:t>
            </a: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else if (table[</a:t>
            </a:r>
            <a:r>
              <a:rPr lang="en-US" altLang="en-US" sz="1800" b="1" dirty="0" err="1">
                <a:solidFill>
                  <a:srgbClr val="0000FF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] == null) {                      </a:t>
            </a:r>
            <a:r>
              <a:rPr lang="en-US" altLang="en-US" sz="1800" b="1" dirty="0">
                <a:solidFill>
                  <a:srgbClr val="FF0000"/>
                </a:solidFill>
                <a:latin typeface="Lucida Console" panose="020B0609040504020204" pitchFamily="49" charset="0"/>
              </a:rPr>
              <a:t>// 2b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        table[</a:t>
            </a:r>
            <a:r>
              <a:rPr lang="en-US" altLang="en-US" sz="1800" b="1" dirty="0" err="1">
                <a:solidFill>
                  <a:srgbClr val="0000FF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] = new Entry(key, value);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    }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else {                                            // 2c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 inserted = false;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}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return inserted;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}</a:t>
            </a:r>
            <a:endParaRPr lang="en-US" altLang="en-US" sz="1800" b="1" dirty="0">
              <a:solidFill>
                <a:srgbClr val="0000FF"/>
              </a:solidFill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4972576"/>
      </p:ext>
    </p:extLst>
  </p:cSld>
  <p:clrMapOvr>
    <a:masterClrMapping/>
  </p:clrMapOvr>
</p:sld>
</file>

<file path=ppt/slides/slide3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41312" y="718457"/>
            <a:ext cx="8802687" cy="660980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757646" y="3984171"/>
            <a:ext cx="8206967" cy="287382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77826" name="Rectangle 2"/>
          <p:cNvSpPr>
            <a:spLocks noGrp="1" noChangeArrowheads="1"/>
          </p:cNvSpPr>
          <p:nvPr>
            <p:ph type="title"/>
          </p:nvPr>
        </p:nvSpPr>
        <p:spPr>
          <a:xfrm>
            <a:off x="258763" y="128588"/>
            <a:ext cx="8683625" cy="847725"/>
          </a:xfrm>
        </p:spPr>
        <p:txBody>
          <a:bodyPr/>
          <a:lstStyle/>
          <a:p>
            <a:r>
              <a:rPr lang="en-US" altLang="en-US"/>
              <a:t>Insertion </a:t>
            </a:r>
            <a:r>
              <a:rPr lang="en-US" altLang="en-US" sz="2000"/>
              <a:t>(cont.)</a:t>
            </a:r>
          </a:p>
        </p:txBody>
      </p:sp>
      <p:sp>
        <p:nvSpPr>
          <p:cNvPr id="778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31623"/>
            <a:ext cx="8623300" cy="5614987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public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boolean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insert(Object key, Object value) {</a:t>
            </a:r>
          </a:p>
          <a:p>
            <a:pPr>
              <a:lnSpc>
                <a:spcPct val="5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...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firstRemoved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= -1;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while (table[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] != null &amp;&amp; !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key.equals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(table[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].key) {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 if (table[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].key == null &amp;&amp;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firstRemoved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== -1) {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    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firstRemoved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=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 } 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 if (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numChecked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==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table.length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) {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     break;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 }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= (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+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probeIncr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numChecked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, h2)) %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table.length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numChecked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++;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}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boolean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inserted = true;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endParaRPr lang="en-US" altLang="en-US" sz="10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if (table[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] != null &amp;&amp;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key.equals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(table[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].key)) { // 1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 table[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].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values.insert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(value);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} else if (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firstRemoved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!= -1) {                    // 2a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 table[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firstRemoved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] = new Entry(key, value);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} else if (table[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] == null) {                      // 2b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 table[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] = new Entry(key, value);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} </a:t>
            </a: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else {                                            </a:t>
            </a:r>
            <a:r>
              <a:rPr lang="en-US" altLang="en-US" sz="1800" b="1" dirty="0">
                <a:solidFill>
                  <a:srgbClr val="FF0000"/>
                </a:solidFill>
                <a:latin typeface="Lucida Console" panose="020B0609040504020204" pitchFamily="49" charset="0"/>
              </a:rPr>
              <a:t>// 2c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        inserted = false;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}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return inserted;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}</a:t>
            </a:r>
            <a:endParaRPr lang="en-US" altLang="en-US" sz="1800" b="1" dirty="0">
              <a:solidFill>
                <a:srgbClr val="0000FF"/>
              </a:solidFill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8847545"/>
      </p:ext>
    </p:extLst>
  </p:cSld>
  <p:clrMapOvr>
    <a:masterClrMapping/>
  </p:clrMapOvr>
</p:sld>
</file>

<file path=ppt/slides/slide3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41312" y="718457"/>
            <a:ext cx="8802687" cy="660980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757646" y="3984171"/>
            <a:ext cx="8206967" cy="287382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77826" name="Rectangle 2"/>
          <p:cNvSpPr>
            <a:spLocks noGrp="1" noChangeArrowheads="1"/>
          </p:cNvSpPr>
          <p:nvPr>
            <p:ph type="title"/>
          </p:nvPr>
        </p:nvSpPr>
        <p:spPr>
          <a:xfrm>
            <a:off x="258763" y="128588"/>
            <a:ext cx="8683625" cy="847725"/>
          </a:xfrm>
        </p:spPr>
        <p:txBody>
          <a:bodyPr/>
          <a:lstStyle/>
          <a:p>
            <a:r>
              <a:rPr lang="en-US" altLang="en-US"/>
              <a:t>Insertion </a:t>
            </a:r>
            <a:r>
              <a:rPr lang="en-US" altLang="en-US" sz="2000"/>
              <a:t>(cont.)</a:t>
            </a:r>
          </a:p>
        </p:txBody>
      </p:sp>
      <p:sp>
        <p:nvSpPr>
          <p:cNvPr id="778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31623"/>
            <a:ext cx="8623300" cy="5614987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public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boolean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insert(Object key, Object value) {</a:t>
            </a:r>
          </a:p>
          <a:p>
            <a:pPr>
              <a:lnSpc>
                <a:spcPct val="5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...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firstRemoved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= -1;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while (table[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] != null &amp;&amp; !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key.equals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(table[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].key) {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 if (table[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].key == null &amp;&amp;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firstRemoved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== -1) {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    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firstRemoved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=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 } 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 if (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numChecked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==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table.length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) {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     break;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 }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= (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+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probeIncr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numChecked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, h2)) %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table.length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numChecked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++;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}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boolean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inserted = true;</a:t>
            </a:r>
          </a:p>
          <a:p>
            <a:pPr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endParaRPr lang="en-US" altLang="en-US" sz="10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if (table[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] != null &amp;&amp; 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key.equals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(table[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].key)) { // 1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 table[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].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values.insert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(value);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} else if (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firstRemoved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!= -1) {                    // 2a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 table[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firstRemoved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] = new Entry(key, value);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} else if (table[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] == null) {                      // 2b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 table[</a:t>
            </a:r>
            <a:r>
              <a:rPr lang="en-US" altLang="en-US" sz="1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] = new Entry(key, value);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} else {                                            // 2c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 inserted = false;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  }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    return inserted;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344488" algn="l"/>
                <a:tab pos="569913" algn="l"/>
                <a:tab pos="688975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}</a:t>
            </a:r>
            <a:endParaRPr lang="en-US" altLang="en-US" sz="1800" b="1" dirty="0">
              <a:solidFill>
                <a:srgbClr val="0000FF"/>
              </a:solidFill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8522108"/>
      </p:ext>
    </p:extLst>
  </p:cSld>
  <p:clrMapOvr>
    <a:masterClrMapping/>
  </p:clrMapOvr>
</p:sld>
</file>

<file path=ppt/slides/slide3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736553" y="2494242"/>
            <a:ext cx="7661366" cy="230832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Hash Function</a:t>
            </a:r>
          </a:p>
        </p:txBody>
      </p:sp>
      <p:pic>
        <p:nvPicPr>
          <p:cNvPr id="4" name="Content Placeholder 3" descr="c++ - &lt;strong&gt;Hash function&lt;/strong&gt;: Is there a way to optimize my code ...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0272" y="2865416"/>
            <a:ext cx="6793927" cy="1565976"/>
          </a:xfrm>
        </p:spPr>
      </p:pic>
      <p:sp>
        <p:nvSpPr>
          <p:cNvPr id="6" name="TextBox 5"/>
          <p:cNvSpPr txBox="1"/>
          <p:nvPr/>
        </p:nvSpPr>
        <p:spPr>
          <a:xfrm>
            <a:off x="2895188" y="622716"/>
            <a:ext cx="31612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latin typeface="Lucida Console" panose="020B0609040504020204" pitchFamily="49" charset="0"/>
              </a:rPr>
              <a:t>KEY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1987" y="5704115"/>
            <a:ext cx="864761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latin typeface="Lucida Console" panose="020B0609040504020204" pitchFamily="49" charset="0"/>
              </a:rPr>
              <a:t>Hash Table Index</a:t>
            </a:r>
          </a:p>
        </p:txBody>
      </p:sp>
      <p:cxnSp>
        <p:nvCxnSpPr>
          <p:cNvPr id="9" name="Straight Arrow Connector 8"/>
          <p:cNvCxnSpPr/>
          <p:nvPr/>
        </p:nvCxnSpPr>
        <p:spPr bwMode="auto">
          <a:xfrm>
            <a:off x="4475793" y="1544505"/>
            <a:ext cx="0" cy="855863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 bwMode="auto">
          <a:xfrm>
            <a:off x="4475793" y="4848252"/>
            <a:ext cx="0" cy="855863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0515312"/>
      </p:ext>
    </p:extLst>
  </p:cSld>
  <p:clrMapOvr>
    <a:masterClrMapping/>
  </p:clrMapOvr>
</p:sld>
</file>

<file path=ppt/slides/slide3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587376" y="844549"/>
            <a:ext cx="8360681" cy="32963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737322" y="1187714"/>
            <a:ext cx="8067044" cy="130729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87042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Implementing the Hash Function</a:t>
            </a:r>
          </a:p>
        </p:txBody>
      </p:sp>
      <p:sp>
        <p:nvSpPr>
          <p:cNvPr id="870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9007475" cy="5614988"/>
          </a:xfrm>
        </p:spPr>
        <p:txBody>
          <a:bodyPr/>
          <a:lstStyle/>
          <a:p>
            <a:pPr marL="288925" indent="-288925"/>
            <a:r>
              <a:rPr lang="en-US" altLang="en-US" dirty="0"/>
              <a:t>Characteristics of a good hash function:</a:t>
            </a:r>
          </a:p>
          <a:p>
            <a:pPr marL="746125" lvl="1" indent="-230188">
              <a:spcBef>
                <a:spcPts val="200"/>
              </a:spcBef>
              <a:buFontTx/>
              <a:buNone/>
            </a:pPr>
            <a:r>
              <a:rPr lang="en-US" altLang="en-US" dirty="0"/>
              <a:t>1) 	</a:t>
            </a:r>
            <a:r>
              <a:rPr lang="en-US" altLang="en-US" dirty="0">
                <a:solidFill>
                  <a:schemeClr val="accent2"/>
                </a:solidFill>
              </a:rPr>
              <a:t>efficient to compute</a:t>
            </a:r>
          </a:p>
          <a:p>
            <a:pPr marL="746125" lvl="1" indent="-230188">
              <a:spcBef>
                <a:spcPts val="500"/>
              </a:spcBef>
              <a:buFontTx/>
              <a:buNone/>
            </a:pPr>
            <a:r>
              <a:rPr lang="en-US" altLang="en-US" dirty="0"/>
              <a:t>2) 	</a:t>
            </a:r>
            <a:r>
              <a:rPr lang="en-US" altLang="en-US" dirty="0">
                <a:solidFill>
                  <a:schemeClr val="accent2"/>
                </a:solidFill>
              </a:rPr>
              <a:t>uses the entire key</a:t>
            </a:r>
          </a:p>
          <a:p>
            <a:pPr marL="1203325" lvl="2" indent="-233363">
              <a:spcBef>
                <a:spcPts val="500"/>
              </a:spcBef>
            </a:pPr>
            <a:r>
              <a:rPr lang="en-US" altLang="en-US" sz="2200" dirty="0"/>
              <a:t>changing any char/digit/etc. should change the hash code</a:t>
            </a:r>
          </a:p>
          <a:p>
            <a:pPr marL="746125" lvl="1" indent="-230188">
              <a:spcBef>
                <a:spcPts val="500"/>
              </a:spcBef>
              <a:buFontTx/>
              <a:buNone/>
            </a:pPr>
            <a:r>
              <a:rPr lang="en-US" altLang="en-US" dirty="0"/>
              <a:t>3)	</a:t>
            </a:r>
            <a:r>
              <a:rPr lang="en-US" altLang="en-US" dirty="0">
                <a:solidFill>
                  <a:srgbClr val="0000FF"/>
                </a:solidFill>
              </a:rPr>
              <a:t>distributes</a:t>
            </a:r>
            <a:r>
              <a:rPr lang="en-US" altLang="en-US" dirty="0"/>
              <a:t> the keys more or less uniformly across the table</a:t>
            </a:r>
          </a:p>
        </p:txBody>
      </p:sp>
    </p:spTree>
    <p:extLst>
      <p:ext uri="{BB962C8B-B14F-4D97-AF65-F5344CB8AC3E}">
        <p14:creationId xmlns:p14="http://schemas.microsoft.com/office/powerpoint/2010/main" val="3386940461"/>
      </p:ext>
    </p:extLst>
  </p:cSld>
  <p:clrMapOvr>
    <a:masterClrMapping/>
  </p:clrMapOvr>
</p:sld>
</file>

<file path=ppt/slides/slide3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587376" y="844549"/>
            <a:ext cx="8360681" cy="32963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759655" y="2363372"/>
            <a:ext cx="8060788" cy="77972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87042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Implementing the Hash Function</a:t>
            </a:r>
          </a:p>
        </p:txBody>
      </p:sp>
      <p:sp>
        <p:nvSpPr>
          <p:cNvPr id="870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9007475" cy="5614988"/>
          </a:xfrm>
        </p:spPr>
        <p:txBody>
          <a:bodyPr/>
          <a:lstStyle/>
          <a:p>
            <a:pPr marL="288925" indent="-288925"/>
            <a:r>
              <a:rPr lang="en-US" altLang="en-US" dirty="0"/>
              <a:t>Characteristics of a good hash function:</a:t>
            </a:r>
          </a:p>
          <a:p>
            <a:pPr marL="746125" lvl="1" indent="-230188">
              <a:spcBef>
                <a:spcPts val="200"/>
              </a:spcBef>
              <a:buFontTx/>
              <a:buNone/>
            </a:pPr>
            <a:r>
              <a:rPr lang="en-US" altLang="en-US" dirty="0"/>
              <a:t>1) 	efficient to compute</a:t>
            </a:r>
          </a:p>
          <a:p>
            <a:pPr marL="746125" lvl="1" indent="-230188">
              <a:spcBef>
                <a:spcPts val="500"/>
              </a:spcBef>
              <a:buFontTx/>
              <a:buNone/>
            </a:pPr>
            <a:r>
              <a:rPr lang="en-US" altLang="en-US" dirty="0"/>
              <a:t>2) 	uses the entire key</a:t>
            </a:r>
          </a:p>
          <a:p>
            <a:pPr marL="1203325" lvl="2" indent="-233363">
              <a:spcBef>
                <a:spcPts val="500"/>
              </a:spcBef>
            </a:pPr>
            <a:r>
              <a:rPr lang="en-US" altLang="en-US" sz="2200" dirty="0"/>
              <a:t>changing any char/digit/etc. should change the hash code</a:t>
            </a:r>
          </a:p>
          <a:p>
            <a:pPr marL="746125" lvl="1" indent="-230188">
              <a:spcBef>
                <a:spcPts val="500"/>
              </a:spcBef>
              <a:buFontTx/>
              <a:buNone/>
            </a:pPr>
            <a:r>
              <a:rPr lang="en-US" altLang="en-US" dirty="0"/>
              <a:t>3)	</a:t>
            </a:r>
            <a:r>
              <a:rPr lang="en-US" altLang="en-US" dirty="0">
                <a:solidFill>
                  <a:srgbClr val="0000FF"/>
                </a:solidFill>
              </a:rPr>
              <a:t>distributes</a:t>
            </a:r>
            <a:r>
              <a:rPr lang="en-US" altLang="en-US" dirty="0"/>
              <a:t> the keys more or less uniformly across the table</a:t>
            </a:r>
          </a:p>
        </p:txBody>
      </p:sp>
    </p:spTree>
    <p:extLst>
      <p:ext uri="{BB962C8B-B14F-4D97-AF65-F5344CB8AC3E}">
        <p14:creationId xmlns:p14="http://schemas.microsoft.com/office/powerpoint/2010/main" val="3507730059"/>
      </p:ext>
    </p:extLst>
  </p:cSld>
  <p:clrMapOvr>
    <a:masterClrMapping/>
  </p:clrMapOvr>
</p:sld>
</file>

<file path=ppt/slides/slide3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87376" y="844549"/>
            <a:ext cx="8360681" cy="32963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717452" y="2827606"/>
            <a:ext cx="6893170" cy="108321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87042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Implementing the Hash Function</a:t>
            </a:r>
          </a:p>
        </p:txBody>
      </p:sp>
      <p:sp>
        <p:nvSpPr>
          <p:cNvPr id="870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9007475" cy="5614988"/>
          </a:xfrm>
        </p:spPr>
        <p:txBody>
          <a:bodyPr/>
          <a:lstStyle/>
          <a:p>
            <a:pPr marL="288925" indent="-288925"/>
            <a:r>
              <a:rPr lang="en-US" altLang="en-US" dirty="0"/>
              <a:t>Characteristics of a good hash function:</a:t>
            </a:r>
          </a:p>
          <a:p>
            <a:pPr marL="746125" lvl="1" indent="-230188">
              <a:spcBef>
                <a:spcPts val="200"/>
              </a:spcBef>
              <a:buFontTx/>
              <a:buNone/>
            </a:pPr>
            <a:r>
              <a:rPr lang="en-US" altLang="en-US" dirty="0"/>
              <a:t>1) 	efficient to compute</a:t>
            </a:r>
          </a:p>
          <a:p>
            <a:pPr marL="746125" lvl="1" indent="-230188">
              <a:spcBef>
                <a:spcPts val="500"/>
              </a:spcBef>
              <a:buFontTx/>
              <a:buNone/>
            </a:pPr>
            <a:r>
              <a:rPr lang="en-US" altLang="en-US" dirty="0"/>
              <a:t>2) 	uses the entire key</a:t>
            </a:r>
          </a:p>
          <a:p>
            <a:pPr marL="1203325" lvl="2" indent="-233363">
              <a:spcBef>
                <a:spcPts val="500"/>
              </a:spcBef>
            </a:pPr>
            <a:r>
              <a:rPr lang="en-US" altLang="en-US" sz="2200" dirty="0"/>
              <a:t>changing any char/digit/etc. should change the hash code</a:t>
            </a:r>
          </a:p>
          <a:p>
            <a:pPr marL="746125" lvl="1" indent="-230188">
              <a:spcBef>
                <a:spcPts val="500"/>
              </a:spcBef>
              <a:buFontTx/>
              <a:buNone/>
            </a:pPr>
            <a:r>
              <a:rPr lang="en-US" altLang="en-US" dirty="0"/>
              <a:t>3)	distributes the keys more or less uniformly across the table</a:t>
            </a:r>
          </a:p>
          <a:p>
            <a:pPr marL="746125" lvl="1" indent="-230188">
              <a:spcBef>
                <a:spcPts val="500"/>
              </a:spcBef>
              <a:buFontTx/>
              <a:buNone/>
            </a:pPr>
            <a:r>
              <a:rPr lang="en-US" altLang="en-US" dirty="0"/>
              <a:t>4)	must be a function!  </a:t>
            </a:r>
          </a:p>
          <a:p>
            <a:pPr marL="1203325" lvl="2" indent="-233363">
              <a:spcBef>
                <a:spcPts val="500"/>
              </a:spcBef>
            </a:pPr>
            <a:r>
              <a:rPr lang="en-US" altLang="en-US" sz="2200" dirty="0">
                <a:solidFill>
                  <a:srgbClr val="0000FF"/>
                </a:solidFill>
              </a:rPr>
              <a:t>a key must always get the same hash code</a:t>
            </a:r>
          </a:p>
        </p:txBody>
      </p:sp>
    </p:spTree>
    <p:extLst>
      <p:ext uri="{BB962C8B-B14F-4D97-AF65-F5344CB8AC3E}">
        <p14:creationId xmlns:p14="http://schemas.microsoft.com/office/powerpoint/2010/main" val="2485399911"/>
      </p:ext>
    </p:extLst>
  </p:cSld>
  <p:clrMapOvr>
    <a:masterClrMapping/>
  </p:clrMapOvr>
</p:sld>
</file>

<file path=ppt/slides/slide3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87375" y="3742006"/>
            <a:ext cx="7529683" cy="198354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88066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Implementing the Hash Function</a:t>
            </a:r>
          </a:p>
        </p:txBody>
      </p:sp>
      <p:sp>
        <p:nvSpPr>
          <p:cNvPr id="880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9007475" cy="5614988"/>
          </a:xfrm>
        </p:spPr>
        <p:txBody>
          <a:bodyPr/>
          <a:lstStyle/>
          <a:p>
            <a:pPr marL="288925" indent="-288925"/>
            <a:r>
              <a:rPr lang="en-US" altLang="en-US" dirty="0"/>
              <a:t>Characteristics of a good hash function:</a:t>
            </a:r>
          </a:p>
          <a:p>
            <a:pPr marL="746125" lvl="1" indent="-230188">
              <a:spcBef>
                <a:spcPts val="200"/>
              </a:spcBef>
              <a:buFontTx/>
              <a:buNone/>
            </a:pPr>
            <a:r>
              <a:rPr lang="en-US" altLang="en-US" dirty="0"/>
              <a:t>1) 	efficient to compute</a:t>
            </a:r>
          </a:p>
          <a:p>
            <a:pPr marL="746125" lvl="1" indent="-230188">
              <a:spcBef>
                <a:spcPts val="500"/>
              </a:spcBef>
              <a:buFontTx/>
              <a:buNone/>
            </a:pPr>
            <a:r>
              <a:rPr lang="en-US" altLang="en-US" dirty="0"/>
              <a:t>2) 	uses the entire key</a:t>
            </a:r>
          </a:p>
          <a:p>
            <a:pPr marL="1203325" lvl="2" indent="-233363">
              <a:spcBef>
                <a:spcPts val="500"/>
              </a:spcBef>
            </a:pPr>
            <a:r>
              <a:rPr lang="en-US" altLang="en-US" sz="2200" dirty="0"/>
              <a:t>changing any char/digit/etc. should change the hash code</a:t>
            </a:r>
          </a:p>
          <a:p>
            <a:pPr marL="746125" lvl="1" indent="-230188">
              <a:spcBef>
                <a:spcPts val="500"/>
              </a:spcBef>
              <a:buFontTx/>
              <a:buNone/>
            </a:pPr>
            <a:r>
              <a:rPr lang="en-US" altLang="en-US" dirty="0"/>
              <a:t>3)	distributes the keys more or less uniformly across the table</a:t>
            </a:r>
          </a:p>
          <a:p>
            <a:pPr marL="746125" lvl="1" indent="-230188">
              <a:spcBef>
                <a:spcPts val="500"/>
              </a:spcBef>
              <a:buFontTx/>
              <a:buNone/>
            </a:pPr>
            <a:r>
              <a:rPr lang="en-US" altLang="en-US" dirty="0"/>
              <a:t>4)	must be a function!  </a:t>
            </a:r>
          </a:p>
          <a:p>
            <a:pPr marL="1203325" lvl="2" indent="-233363">
              <a:spcBef>
                <a:spcPts val="500"/>
              </a:spcBef>
            </a:pPr>
            <a:r>
              <a:rPr lang="en-US" altLang="en-US" sz="2200" dirty="0"/>
              <a:t>a key must always get the same hash code</a:t>
            </a:r>
          </a:p>
          <a:p>
            <a:pPr marL="288925" indent="-288925">
              <a:spcBef>
                <a:spcPts val="2400"/>
              </a:spcBef>
              <a:buFontTx/>
              <a:buChar char="•"/>
            </a:pPr>
            <a:r>
              <a:rPr lang="en-US" altLang="en-US" dirty="0"/>
              <a:t>In Java, every object has a </a:t>
            </a:r>
            <a:r>
              <a:rPr lang="en-US" altLang="en-US" sz="2000" dirty="0" err="1">
                <a:latin typeface="Lucida Console" panose="020B0609040504020204" pitchFamily="49" charset="0"/>
              </a:rPr>
              <a:t>hashCode</a:t>
            </a:r>
            <a:r>
              <a:rPr lang="en-US" altLang="en-US" sz="2000" dirty="0">
                <a:latin typeface="Lucida Console" panose="020B0609040504020204" pitchFamily="49" charset="0"/>
              </a:rPr>
              <a:t>()</a:t>
            </a:r>
            <a:r>
              <a:rPr lang="en-US" altLang="en-US" dirty="0"/>
              <a:t> method.</a:t>
            </a:r>
          </a:p>
          <a:p>
            <a:pPr marL="746125" lvl="1" indent="-230188">
              <a:spcBef>
                <a:spcPts val="500"/>
              </a:spcBef>
            </a:pPr>
            <a:r>
              <a:rPr lang="en-US" altLang="en-US" dirty="0"/>
              <a:t>the version inherited from </a:t>
            </a:r>
            <a:r>
              <a:rPr lang="en-US" altLang="en-US" sz="2000" dirty="0">
                <a:latin typeface="Lucida Console" panose="020B0609040504020204" pitchFamily="49" charset="0"/>
              </a:rPr>
              <a:t>Object</a:t>
            </a:r>
            <a:r>
              <a:rPr lang="en-US" altLang="en-US" dirty="0"/>
              <a:t> </a:t>
            </a:r>
            <a:r>
              <a:rPr lang="en-US" altLang="en-US" dirty="0">
                <a:solidFill>
                  <a:srgbClr val="0000FF"/>
                </a:solidFill>
              </a:rPr>
              <a:t>returns a value </a:t>
            </a:r>
            <a:br>
              <a:rPr lang="en-US" altLang="en-US" dirty="0">
                <a:solidFill>
                  <a:srgbClr val="0000FF"/>
                </a:solidFill>
              </a:rPr>
            </a:br>
            <a:r>
              <a:rPr lang="en-US" altLang="en-US" dirty="0">
                <a:solidFill>
                  <a:srgbClr val="0000FF"/>
                </a:solidFill>
              </a:rPr>
              <a:t>based on an object's memory location </a:t>
            </a:r>
          </a:p>
          <a:p>
            <a:pPr marL="746125" lvl="1" indent="-230188">
              <a:spcBef>
                <a:spcPts val="500"/>
              </a:spcBef>
            </a:pPr>
            <a:r>
              <a:rPr lang="en-US" altLang="en-US" dirty="0"/>
              <a:t>classes can override this version with their own</a:t>
            </a:r>
          </a:p>
        </p:txBody>
      </p:sp>
    </p:spTree>
    <p:extLst>
      <p:ext uri="{BB962C8B-B14F-4D97-AF65-F5344CB8AC3E}">
        <p14:creationId xmlns:p14="http://schemas.microsoft.com/office/powerpoint/2010/main" val="1509395753"/>
      </p:ext>
    </p:extLst>
  </p:cSld>
  <p:clrMapOvr>
    <a:masterClrMapping/>
  </p:clrMapOvr>
</p:sld>
</file>

<file path=ppt/slides/slide3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87375" y="3742006"/>
            <a:ext cx="7529683" cy="198354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88066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Implementing the Hash Function</a:t>
            </a:r>
          </a:p>
        </p:txBody>
      </p:sp>
      <p:sp>
        <p:nvSpPr>
          <p:cNvPr id="880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9007475" cy="5614988"/>
          </a:xfrm>
        </p:spPr>
        <p:txBody>
          <a:bodyPr/>
          <a:lstStyle/>
          <a:p>
            <a:pPr marL="288925" indent="-288925"/>
            <a:r>
              <a:rPr lang="en-US" altLang="en-US" dirty="0"/>
              <a:t>Characteristics of a good hash function:</a:t>
            </a:r>
          </a:p>
          <a:p>
            <a:pPr marL="746125" lvl="1" indent="-230188">
              <a:spcBef>
                <a:spcPts val="200"/>
              </a:spcBef>
              <a:buFontTx/>
              <a:buNone/>
            </a:pPr>
            <a:r>
              <a:rPr lang="en-US" altLang="en-US" dirty="0"/>
              <a:t>1) 	efficient to compute</a:t>
            </a:r>
          </a:p>
          <a:p>
            <a:pPr marL="746125" lvl="1" indent="-230188">
              <a:spcBef>
                <a:spcPts val="500"/>
              </a:spcBef>
              <a:buFontTx/>
              <a:buNone/>
            </a:pPr>
            <a:r>
              <a:rPr lang="en-US" altLang="en-US" dirty="0"/>
              <a:t>2) 	uses the entire key</a:t>
            </a:r>
          </a:p>
          <a:p>
            <a:pPr marL="1203325" lvl="2" indent="-233363">
              <a:spcBef>
                <a:spcPts val="500"/>
              </a:spcBef>
            </a:pPr>
            <a:r>
              <a:rPr lang="en-US" altLang="en-US" sz="2200" dirty="0"/>
              <a:t>changing any char/digit/etc. should change the hash code</a:t>
            </a:r>
          </a:p>
          <a:p>
            <a:pPr marL="746125" lvl="1" indent="-230188">
              <a:spcBef>
                <a:spcPts val="500"/>
              </a:spcBef>
              <a:buFontTx/>
              <a:buNone/>
            </a:pPr>
            <a:r>
              <a:rPr lang="en-US" altLang="en-US" dirty="0"/>
              <a:t>3)	distributes the keys more or less uniformly across the table</a:t>
            </a:r>
          </a:p>
          <a:p>
            <a:pPr marL="746125" lvl="1" indent="-230188">
              <a:spcBef>
                <a:spcPts val="500"/>
              </a:spcBef>
              <a:buFontTx/>
              <a:buNone/>
            </a:pPr>
            <a:r>
              <a:rPr lang="en-US" altLang="en-US" dirty="0"/>
              <a:t>4)	must be a function!  </a:t>
            </a:r>
          </a:p>
          <a:p>
            <a:pPr marL="1203325" lvl="2" indent="-233363">
              <a:spcBef>
                <a:spcPts val="500"/>
              </a:spcBef>
            </a:pPr>
            <a:r>
              <a:rPr lang="en-US" altLang="en-US" sz="2200" dirty="0"/>
              <a:t>a key must always get the same hash code</a:t>
            </a:r>
          </a:p>
          <a:p>
            <a:pPr marL="288925" indent="-288925">
              <a:spcBef>
                <a:spcPts val="2400"/>
              </a:spcBef>
              <a:buFontTx/>
              <a:buChar char="•"/>
            </a:pPr>
            <a:r>
              <a:rPr lang="en-US" altLang="en-US" dirty="0"/>
              <a:t>In Java, every object has a </a:t>
            </a:r>
            <a:r>
              <a:rPr lang="en-US" altLang="en-US" sz="2000" dirty="0" err="1">
                <a:latin typeface="Lucida Console" panose="020B0609040504020204" pitchFamily="49" charset="0"/>
              </a:rPr>
              <a:t>hashCode</a:t>
            </a:r>
            <a:r>
              <a:rPr lang="en-US" altLang="en-US" sz="2000" dirty="0">
                <a:latin typeface="Lucida Console" panose="020B0609040504020204" pitchFamily="49" charset="0"/>
              </a:rPr>
              <a:t>()</a:t>
            </a:r>
            <a:r>
              <a:rPr lang="en-US" altLang="en-US" dirty="0"/>
              <a:t> method.</a:t>
            </a:r>
          </a:p>
          <a:p>
            <a:pPr marL="746125" lvl="1" indent="-230188">
              <a:spcBef>
                <a:spcPts val="500"/>
              </a:spcBef>
            </a:pPr>
            <a:r>
              <a:rPr lang="en-US" altLang="en-US" dirty="0"/>
              <a:t>the version inherited from </a:t>
            </a:r>
            <a:r>
              <a:rPr lang="en-US" altLang="en-US" sz="2000" dirty="0">
                <a:latin typeface="Lucida Console" panose="020B0609040504020204" pitchFamily="49" charset="0"/>
              </a:rPr>
              <a:t>Object</a:t>
            </a:r>
            <a:r>
              <a:rPr lang="en-US" altLang="en-US" dirty="0"/>
              <a:t> </a:t>
            </a:r>
            <a:r>
              <a:rPr lang="en-US" altLang="en-US" dirty="0">
                <a:solidFill>
                  <a:schemeClr val="tx1"/>
                </a:solidFill>
              </a:rPr>
              <a:t>returns a value </a:t>
            </a:r>
            <a:br>
              <a:rPr lang="en-US" altLang="en-US" dirty="0">
                <a:solidFill>
                  <a:schemeClr val="tx1"/>
                </a:solidFill>
              </a:rPr>
            </a:br>
            <a:r>
              <a:rPr lang="en-US" altLang="en-US" dirty="0">
                <a:solidFill>
                  <a:schemeClr val="tx1"/>
                </a:solidFill>
              </a:rPr>
              <a:t>based on an object's memory location </a:t>
            </a:r>
          </a:p>
          <a:p>
            <a:pPr marL="746125" lvl="1" indent="-230188">
              <a:spcBef>
                <a:spcPts val="500"/>
              </a:spcBef>
            </a:pPr>
            <a:r>
              <a:rPr lang="en-US" altLang="en-US" dirty="0">
                <a:solidFill>
                  <a:srgbClr val="0000FF"/>
                </a:solidFill>
              </a:rPr>
              <a:t>classes can override this version with their own</a:t>
            </a:r>
          </a:p>
        </p:txBody>
      </p:sp>
    </p:spTree>
    <p:extLst>
      <p:ext uri="{BB962C8B-B14F-4D97-AF65-F5344CB8AC3E}">
        <p14:creationId xmlns:p14="http://schemas.microsoft.com/office/powerpoint/2010/main" val="2687379578"/>
      </p:ext>
    </p:extLst>
  </p:cSld>
  <p:clrMapOvr>
    <a:masterClrMapping/>
  </p:clrMapOvr>
</p:sld>
</file>

<file path=ppt/slides/slide3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87375" y="718457"/>
            <a:ext cx="8295368" cy="262563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88066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 dirty="0"/>
              <a:t>Hash Functions in </a:t>
            </a:r>
            <a:r>
              <a:rPr lang="en-US" altLang="en-US" dirty="0" err="1">
                <a:latin typeface="Lucida Console" panose="020B0609040504020204" pitchFamily="49" charset="0"/>
              </a:rPr>
              <a:t>OpenHashTable</a:t>
            </a:r>
            <a:endParaRPr lang="en-US" altLang="en-US" dirty="0">
              <a:latin typeface="Lucida Console" panose="020B0609040504020204" pitchFamily="49" charset="0"/>
            </a:endParaRPr>
          </a:p>
        </p:txBody>
      </p:sp>
      <p:sp>
        <p:nvSpPr>
          <p:cNvPr id="880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9007475" cy="5614988"/>
          </a:xfrm>
        </p:spPr>
        <p:txBody>
          <a:bodyPr/>
          <a:lstStyle/>
          <a:p>
            <a:pPr marL="288925" indent="-288925"/>
            <a:r>
              <a:rPr lang="en-US" altLang="en-US" dirty="0"/>
              <a:t>Initial hash function: returns a value in </a:t>
            </a:r>
            <a:r>
              <a:rPr lang="en-US" altLang="en-US" sz="2000" dirty="0">
                <a:latin typeface="Lucida Console" panose="020B0609040504020204" pitchFamily="49" charset="0"/>
              </a:rPr>
              <a:t>[0, </a:t>
            </a:r>
            <a:r>
              <a:rPr lang="en-US" altLang="en-US" sz="2000" dirty="0" err="1">
                <a:latin typeface="Lucida Console" panose="020B0609040504020204" pitchFamily="49" charset="0"/>
              </a:rPr>
              <a:t>table.length</a:t>
            </a:r>
            <a:r>
              <a:rPr lang="en-US" altLang="en-US" sz="2000" dirty="0">
                <a:latin typeface="Lucida Console" panose="020B0609040504020204" pitchFamily="49" charset="0"/>
              </a:rPr>
              <a:t> - 1]</a:t>
            </a:r>
            <a:endParaRPr lang="en-US" altLang="en-US" dirty="0"/>
          </a:p>
          <a:p>
            <a:pPr marL="0" indent="0">
              <a:spcBef>
                <a:spcPts val="500"/>
              </a:spcBef>
              <a:buNone/>
            </a:pPr>
            <a:r>
              <a:rPr lang="en-US" altLang="en-US" sz="1800" dirty="0">
                <a:latin typeface="Lucida Console" panose="020B0609040504020204" pitchFamily="49" charset="0"/>
              </a:rPr>
              <a:t>		</a:t>
            </a: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public </a:t>
            </a:r>
            <a:r>
              <a:rPr lang="en-US" altLang="en-US" sz="1800" b="1" dirty="0" err="1">
                <a:solidFill>
                  <a:srgbClr val="0000FF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 h1(Object key)</a:t>
            </a:r>
            <a:r>
              <a:rPr lang="en-US" altLang="en-US" sz="1800" dirty="0">
                <a:latin typeface="Lucida Console" panose="020B0609040504020204" pitchFamily="49" charset="0"/>
              </a:rPr>
              <a:t>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en-US" sz="1800" dirty="0">
                <a:latin typeface="Lucida Console" panose="020B0609040504020204" pitchFamily="49" charset="0"/>
              </a:rPr>
              <a:t>   	  	    </a:t>
            </a:r>
            <a:r>
              <a:rPr lang="en-US" altLang="en-US" sz="1800" dirty="0" err="1">
                <a:latin typeface="Lucida Console" panose="020B0609040504020204" pitchFamily="49" charset="0"/>
              </a:rPr>
              <a:t>int</a:t>
            </a:r>
            <a:r>
              <a:rPr lang="en-US" altLang="en-US" sz="1800" dirty="0">
                <a:latin typeface="Lucida Console" panose="020B0609040504020204" pitchFamily="49" charset="0"/>
              </a:rPr>
              <a:t> h1 = </a:t>
            </a:r>
            <a:r>
              <a:rPr lang="en-US" altLang="en-US" sz="1800" dirty="0" err="1">
                <a:latin typeface="Lucida Console" panose="020B0609040504020204" pitchFamily="49" charset="0"/>
              </a:rPr>
              <a:t>key.hashCode</a:t>
            </a:r>
            <a:r>
              <a:rPr lang="en-US" altLang="en-US" sz="1800" dirty="0">
                <a:latin typeface="Lucida Console" panose="020B0609040504020204" pitchFamily="49" charset="0"/>
              </a:rPr>
              <a:t>() % </a:t>
            </a:r>
            <a:r>
              <a:rPr lang="en-US" altLang="en-US" sz="1800" dirty="0" err="1">
                <a:latin typeface="Lucida Console" panose="020B0609040504020204" pitchFamily="49" charset="0"/>
              </a:rPr>
              <a:t>table.length</a:t>
            </a:r>
            <a:r>
              <a:rPr lang="en-US" altLang="en-US" sz="1800" dirty="0">
                <a:latin typeface="Lucida Console" panose="020B0609040504020204" pitchFamily="49" charset="0"/>
              </a:rPr>
              <a:t>;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en-US" sz="1800" dirty="0">
                <a:latin typeface="Lucida Console" panose="020B0609040504020204" pitchFamily="49" charset="0"/>
              </a:rPr>
              <a:t>      	    if (h1 &lt; 0)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en-US" sz="1800" dirty="0">
                <a:latin typeface="Lucida Console" panose="020B0609040504020204" pitchFamily="49" charset="0"/>
              </a:rPr>
              <a:t>     	        h1 += </a:t>
            </a:r>
            <a:r>
              <a:rPr lang="en-US" altLang="en-US" sz="1800" dirty="0" err="1">
                <a:latin typeface="Lucida Console" panose="020B0609040504020204" pitchFamily="49" charset="0"/>
              </a:rPr>
              <a:t>table.length</a:t>
            </a:r>
            <a:r>
              <a:rPr lang="en-US" altLang="en-US" sz="1800" dirty="0">
                <a:latin typeface="Lucida Console" panose="020B06090405040202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en-US" sz="1800" dirty="0">
                <a:latin typeface="Lucida Console" panose="020B0609040504020204" pitchFamily="49" charset="0"/>
              </a:rPr>
              <a:t>     	    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en-US" sz="1800" dirty="0">
                <a:latin typeface="Lucida Console" panose="020B0609040504020204" pitchFamily="49" charset="0"/>
              </a:rPr>
              <a:t>     	    return h1;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en-US" sz="1800" dirty="0">
                <a:latin typeface="Lucida Console" panose="020B0609040504020204" pitchFamily="49" charset="0"/>
              </a:rPr>
              <a:t>  		}</a:t>
            </a:r>
          </a:p>
        </p:txBody>
      </p:sp>
    </p:spTree>
    <p:extLst>
      <p:ext uri="{BB962C8B-B14F-4D97-AF65-F5344CB8AC3E}">
        <p14:creationId xmlns:p14="http://schemas.microsoft.com/office/powerpoint/2010/main" val="1619834065"/>
      </p:ext>
    </p:extLst>
  </p:cSld>
  <p:clrMapOvr>
    <a:masterClrMapping/>
  </p:clrMapOvr>
</p:sld>
</file>

<file path=ppt/slides/slide3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87375" y="718457"/>
            <a:ext cx="8295368" cy="262563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88066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 dirty="0"/>
              <a:t>Hash Functions in </a:t>
            </a:r>
            <a:r>
              <a:rPr lang="en-US" altLang="en-US" dirty="0" err="1">
                <a:latin typeface="Lucida Console" panose="020B0609040504020204" pitchFamily="49" charset="0"/>
              </a:rPr>
              <a:t>OpenHashTable</a:t>
            </a:r>
            <a:endParaRPr lang="en-US" altLang="en-US" dirty="0">
              <a:latin typeface="Lucida Console" panose="020B0609040504020204" pitchFamily="49" charset="0"/>
            </a:endParaRPr>
          </a:p>
        </p:txBody>
      </p:sp>
      <p:sp>
        <p:nvSpPr>
          <p:cNvPr id="880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9007475" cy="5614988"/>
          </a:xfrm>
        </p:spPr>
        <p:txBody>
          <a:bodyPr/>
          <a:lstStyle/>
          <a:p>
            <a:pPr marL="288925" indent="-288925"/>
            <a:r>
              <a:rPr lang="en-US" altLang="en-US" dirty="0"/>
              <a:t>Initial hash function: returns a value in </a:t>
            </a:r>
            <a:r>
              <a:rPr lang="en-US" altLang="en-US" sz="2000" dirty="0">
                <a:latin typeface="Lucida Console" panose="020B0609040504020204" pitchFamily="49" charset="0"/>
              </a:rPr>
              <a:t>[0, </a:t>
            </a:r>
            <a:r>
              <a:rPr lang="en-US" altLang="en-US" sz="2000" dirty="0" err="1">
                <a:latin typeface="Lucida Console" panose="020B0609040504020204" pitchFamily="49" charset="0"/>
              </a:rPr>
              <a:t>table.length</a:t>
            </a:r>
            <a:r>
              <a:rPr lang="en-US" altLang="en-US" sz="2000" dirty="0">
                <a:latin typeface="Lucida Console" panose="020B0609040504020204" pitchFamily="49" charset="0"/>
              </a:rPr>
              <a:t> - 1]</a:t>
            </a:r>
            <a:endParaRPr lang="en-US" altLang="en-US" dirty="0"/>
          </a:p>
          <a:p>
            <a:pPr marL="0" indent="0">
              <a:spcBef>
                <a:spcPts val="500"/>
              </a:spcBef>
              <a:buNone/>
            </a:pPr>
            <a:r>
              <a:rPr lang="en-US" altLang="en-US" sz="1800" dirty="0">
                <a:latin typeface="Lucida Console" panose="020B0609040504020204" pitchFamily="49" charset="0"/>
              </a:rPr>
              <a:t>		public </a:t>
            </a:r>
            <a:r>
              <a:rPr lang="en-US" altLang="en-US" sz="1800" dirty="0" err="1">
                <a:latin typeface="Lucida Console" panose="020B0609040504020204" pitchFamily="49" charset="0"/>
              </a:rPr>
              <a:t>int</a:t>
            </a:r>
            <a:r>
              <a:rPr lang="en-US" altLang="en-US" sz="1800" dirty="0">
                <a:latin typeface="Lucida Console" panose="020B0609040504020204" pitchFamily="49" charset="0"/>
              </a:rPr>
              <a:t> h1(Object key)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en-US" sz="1800" dirty="0">
                <a:latin typeface="Lucida Console" panose="020B0609040504020204" pitchFamily="49" charset="0"/>
              </a:rPr>
              <a:t>   	  	    </a:t>
            </a:r>
            <a:r>
              <a:rPr lang="en-US" altLang="en-US" sz="1800" b="1" dirty="0" err="1">
                <a:solidFill>
                  <a:srgbClr val="0000FF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 h1 = </a:t>
            </a:r>
            <a:r>
              <a:rPr lang="en-US" altLang="en-US" sz="1800" b="1" dirty="0" err="1">
                <a:solidFill>
                  <a:srgbClr val="0000FF"/>
                </a:solidFill>
                <a:latin typeface="Lucida Console" panose="020B0609040504020204" pitchFamily="49" charset="0"/>
              </a:rPr>
              <a:t>key.hashCode</a:t>
            </a: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() % </a:t>
            </a:r>
            <a:r>
              <a:rPr lang="en-US" altLang="en-US" sz="1800" b="1" dirty="0" err="1">
                <a:solidFill>
                  <a:srgbClr val="0000FF"/>
                </a:solidFill>
                <a:latin typeface="Lucida Console" panose="020B0609040504020204" pitchFamily="49" charset="0"/>
              </a:rPr>
              <a:t>table.length</a:t>
            </a: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;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en-US" sz="1800" dirty="0">
                <a:latin typeface="Lucida Console" panose="020B0609040504020204" pitchFamily="49" charset="0"/>
              </a:rPr>
              <a:t>      	    if (h1 &lt; 0)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en-US" sz="1800" dirty="0">
                <a:latin typeface="Lucida Console" panose="020B0609040504020204" pitchFamily="49" charset="0"/>
              </a:rPr>
              <a:t>     	        h1 += </a:t>
            </a:r>
            <a:r>
              <a:rPr lang="en-US" altLang="en-US" sz="1800" dirty="0" err="1">
                <a:latin typeface="Lucida Console" panose="020B0609040504020204" pitchFamily="49" charset="0"/>
              </a:rPr>
              <a:t>table.length</a:t>
            </a:r>
            <a:r>
              <a:rPr lang="en-US" altLang="en-US" sz="1800" dirty="0">
                <a:latin typeface="Lucida Console" panose="020B06090405040202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en-US" sz="1800" dirty="0">
                <a:latin typeface="Lucida Console" panose="020B0609040504020204" pitchFamily="49" charset="0"/>
              </a:rPr>
              <a:t>     	    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en-US" sz="1800" dirty="0">
                <a:latin typeface="Lucida Console" panose="020B0609040504020204" pitchFamily="49" charset="0"/>
              </a:rPr>
              <a:t>     	    return h1;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en-US" sz="1800" dirty="0">
                <a:latin typeface="Lucida Console" panose="020B0609040504020204" pitchFamily="49" charset="0"/>
              </a:rPr>
              <a:t>  		}</a:t>
            </a:r>
          </a:p>
        </p:txBody>
      </p:sp>
    </p:spTree>
    <p:extLst>
      <p:ext uri="{BB962C8B-B14F-4D97-AF65-F5344CB8AC3E}">
        <p14:creationId xmlns:p14="http://schemas.microsoft.com/office/powerpoint/2010/main" val="3138068093"/>
      </p:ext>
    </p:extLst>
  </p:cSld>
  <p:clrMapOvr>
    <a:masterClrMapping/>
  </p:clrMapOvr>
</p:sld>
</file>

<file path=ppt/slides/slide3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87375" y="718457"/>
            <a:ext cx="8295368" cy="262563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88066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 dirty="0"/>
              <a:t>Hash Functions in </a:t>
            </a:r>
            <a:r>
              <a:rPr lang="en-US" altLang="en-US" dirty="0" err="1">
                <a:latin typeface="Lucida Console" panose="020B0609040504020204" pitchFamily="49" charset="0"/>
              </a:rPr>
              <a:t>OpenHashTable</a:t>
            </a:r>
            <a:endParaRPr lang="en-US" altLang="en-US" dirty="0">
              <a:latin typeface="Lucida Console" panose="020B0609040504020204" pitchFamily="49" charset="0"/>
            </a:endParaRPr>
          </a:p>
        </p:txBody>
      </p:sp>
      <p:sp>
        <p:nvSpPr>
          <p:cNvPr id="880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9007475" cy="5614988"/>
          </a:xfrm>
        </p:spPr>
        <p:txBody>
          <a:bodyPr/>
          <a:lstStyle/>
          <a:p>
            <a:pPr marL="288925" indent="-288925"/>
            <a:r>
              <a:rPr lang="en-US" altLang="en-US" dirty="0"/>
              <a:t>Initial hash function: returns a value in </a:t>
            </a:r>
            <a:r>
              <a:rPr lang="en-US" altLang="en-US" sz="2000" dirty="0">
                <a:latin typeface="Lucida Console" panose="020B0609040504020204" pitchFamily="49" charset="0"/>
              </a:rPr>
              <a:t>[0, </a:t>
            </a:r>
            <a:r>
              <a:rPr lang="en-US" altLang="en-US" sz="2000" dirty="0" err="1">
                <a:latin typeface="Lucida Console" panose="020B0609040504020204" pitchFamily="49" charset="0"/>
              </a:rPr>
              <a:t>table.length</a:t>
            </a:r>
            <a:r>
              <a:rPr lang="en-US" altLang="en-US" sz="2000" dirty="0">
                <a:latin typeface="Lucida Console" panose="020B0609040504020204" pitchFamily="49" charset="0"/>
              </a:rPr>
              <a:t> - 1]</a:t>
            </a:r>
            <a:endParaRPr lang="en-US" altLang="en-US" dirty="0"/>
          </a:p>
          <a:p>
            <a:pPr marL="0" indent="0">
              <a:spcBef>
                <a:spcPts val="500"/>
              </a:spcBef>
              <a:buNone/>
            </a:pPr>
            <a:r>
              <a:rPr lang="en-US" altLang="en-US" sz="1800" dirty="0">
                <a:latin typeface="Lucida Console" panose="020B0609040504020204" pitchFamily="49" charset="0"/>
              </a:rPr>
              <a:t>		public </a:t>
            </a:r>
            <a:r>
              <a:rPr lang="en-US" altLang="en-US" sz="1800" dirty="0" err="1">
                <a:latin typeface="Lucida Console" panose="020B0609040504020204" pitchFamily="49" charset="0"/>
              </a:rPr>
              <a:t>int</a:t>
            </a:r>
            <a:r>
              <a:rPr lang="en-US" altLang="en-US" sz="1800" dirty="0">
                <a:latin typeface="Lucida Console" panose="020B0609040504020204" pitchFamily="49" charset="0"/>
              </a:rPr>
              <a:t> h1(Object key)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en-US" sz="1800" dirty="0">
                <a:latin typeface="Lucida Console" panose="020B0609040504020204" pitchFamily="49" charset="0"/>
              </a:rPr>
              <a:t>   	  	    </a:t>
            </a:r>
            <a:r>
              <a:rPr lang="en-US" altLang="en-US" sz="1800" dirty="0" err="1">
                <a:latin typeface="Lucida Console" panose="020B0609040504020204" pitchFamily="49" charset="0"/>
              </a:rPr>
              <a:t>int</a:t>
            </a:r>
            <a:r>
              <a:rPr lang="en-US" altLang="en-US" sz="1800" dirty="0">
                <a:latin typeface="Lucida Console" panose="020B0609040504020204" pitchFamily="49" charset="0"/>
              </a:rPr>
              <a:t> h1 = </a:t>
            </a:r>
            <a:r>
              <a:rPr lang="en-US" altLang="en-US" sz="1800" dirty="0" err="1">
                <a:latin typeface="Lucida Console" panose="020B0609040504020204" pitchFamily="49" charset="0"/>
              </a:rPr>
              <a:t>key.hashCode</a:t>
            </a:r>
            <a:r>
              <a:rPr lang="en-US" altLang="en-US" sz="1800" dirty="0">
                <a:latin typeface="Lucida Console" panose="020B0609040504020204" pitchFamily="49" charset="0"/>
              </a:rPr>
              <a:t>() % </a:t>
            </a:r>
            <a:r>
              <a:rPr lang="en-US" altLang="en-US" sz="1800" dirty="0" err="1">
                <a:latin typeface="Lucida Console" panose="020B0609040504020204" pitchFamily="49" charset="0"/>
              </a:rPr>
              <a:t>table.length</a:t>
            </a:r>
            <a:r>
              <a:rPr lang="en-US" altLang="en-US" sz="1800" dirty="0">
                <a:latin typeface="Lucida Console" panose="020B0609040504020204" pitchFamily="49" charset="0"/>
              </a:rPr>
              <a:t>;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en-US" sz="1800" dirty="0">
                <a:latin typeface="Lucida Console" panose="020B0609040504020204" pitchFamily="49" charset="0"/>
              </a:rPr>
              <a:t>      	    </a:t>
            </a: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if (h1 &lt; 0)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     	        h1 += </a:t>
            </a:r>
            <a:r>
              <a:rPr lang="en-US" altLang="en-US" sz="1800" b="1" dirty="0" err="1">
                <a:solidFill>
                  <a:srgbClr val="0000FF"/>
                </a:solidFill>
                <a:latin typeface="Lucida Console" panose="020B0609040504020204" pitchFamily="49" charset="0"/>
              </a:rPr>
              <a:t>table.length</a:t>
            </a: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     	    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en-US" sz="1800" dirty="0">
                <a:latin typeface="Lucida Console" panose="020B0609040504020204" pitchFamily="49" charset="0"/>
              </a:rPr>
              <a:t>     	    return h1;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en-US" sz="1800" dirty="0">
                <a:latin typeface="Lucida Console" panose="020B0609040504020204" pitchFamily="49" charset="0"/>
              </a:rPr>
              <a:t>  		}</a:t>
            </a:r>
          </a:p>
        </p:txBody>
      </p:sp>
    </p:spTree>
    <p:extLst>
      <p:ext uri="{BB962C8B-B14F-4D97-AF65-F5344CB8AC3E}">
        <p14:creationId xmlns:p14="http://schemas.microsoft.com/office/powerpoint/2010/main" val="1666949986"/>
      </p:ext>
    </p:extLst>
  </p:cSld>
  <p:clrMapOvr>
    <a:masterClrMapping/>
  </p:clrMapOvr>
</p:sld>
</file>

<file path=ppt/slides/slide3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87375" y="718457"/>
            <a:ext cx="8295368" cy="262563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88066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 dirty="0"/>
              <a:t>Hash Functions in </a:t>
            </a:r>
            <a:r>
              <a:rPr lang="en-US" altLang="en-US" dirty="0" err="1">
                <a:latin typeface="Lucida Console" panose="020B0609040504020204" pitchFamily="49" charset="0"/>
              </a:rPr>
              <a:t>OpenHashTable</a:t>
            </a:r>
            <a:endParaRPr lang="en-US" altLang="en-US" dirty="0">
              <a:latin typeface="Lucida Console" panose="020B0609040504020204" pitchFamily="49" charset="0"/>
            </a:endParaRPr>
          </a:p>
        </p:txBody>
      </p:sp>
      <p:sp>
        <p:nvSpPr>
          <p:cNvPr id="880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9007475" cy="5614988"/>
          </a:xfrm>
        </p:spPr>
        <p:txBody>
          <a:bodyPr/>
          <a:lstStyle/>
          <a:p>
            <a:pPr marL="288925" indent="-288925"/>
            <a:r>
              <a:rPr lang="en-US" altLang="en-US" dirty="0"/>
              <a:t>Initial hash function: returns a value in </a:t>
            </a:r>
            <a:r>
              <a:rPr lang="en-US" altLang="en-US" sz="2000" dirty="0">
                <a:latin typeface="Lucida Console" panose="020B0609040504020204" pitchFamily="49" charset="0"/>
              </a:rPr>
              <a:t>[0, </a:t>
            </a:r>
            <a:r>
              <a:rPr lang="en-US" altLang="en-US" sz="2000" dirty="0" err="1">
                <a:latin typeface="Lucida Console" panose="020B0609040504020204" pitchFamily="49" charset="0"/>
              </a:rPr>
              <a:t>table.length</a:t>
            </a:r>
            <a:r>
              <a:rPr lang="en-US" altLang="en-US" sz="2000" dirty="0">
                <a:latin typeface="Lucida Console" panose="020B0609040504020204" pitchFamily="49" charset="0"/>
              </a:rPr>
              <a:t> - 1]</a:t>
            </a:r>
            <a:endParaRPr lang="en-US" altLang="en-US" dirty="0"/>
          </a:p>
          <a:p>
            <a:pPr marL="0" indent="0">
              <a:spcBef>
                <a:spcPts val="500"/>
              </a:spcBef>
              <a:buNone/>
            </a:pPr>
            <a:r>
              <a:rPr lang="en-US" altLang="en-US" sz="1800" dirty="0">
                <a:latin typeface="Lucida Console" panose="020B0609040504020204" pitchFamily="49" charset="0"/>
              </a:rPr>
              <a:t>		public </a:t>
            </a:r>
            <a:r>
              <a:rPr lang="en-US" altLang="en-US" sz="1800" dirty="0" err="1">
                <a:latin typeface="Lucida Console" panose="020B0609040504020204" pitchFamily="49" charset="0"/>
              </a:rPr>
              <a:t>int</a:t>
            </a:r>
            <a:r>
              <a:rPr lang="en-US" altLang="en-US" sz="1800" dirty="0">
                <a:latin typeface="Lucida Console" panose="020B0609040504020204" pitchFamily="49" charset="0"/>
              </a:rPr>
              <a:t> h1(Object key)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en-US" sz="1800" dirty="0">
                <a:latin typeface="Lucida Console" panose="020B0609040504020204" pitchFamily="49" charset="0"/>
              </a:rPr>
              <a:t>   	  	    </a:t>
            </a:r>
            <a:r>
              <a:rPr lang="en-US" altLang="en-US" sz="1800" dirty="0" err="1">
                <a:latin typeface="Lucida Console" panose="020B0609040504020204" pitchFamily="49" charset="0"/>
              </a:rPr>
              <a:t>int</a:t>
            </a:r>
            <a:r>
              <a:rPr lang="en-US" altLang="en-US" sz="1800" dirty="0">
                <a:latin typeface="Lucida Console" panose="020B0609040504020204" pitchFamily="49" charset="0"/>
              </a:rPr>
              <a:t> h1 = </a:t>
            </a:r>
            <a:r>
              <a:rPr lang="en-US" altLang="en-US" sz="1800" dirty="0" err="1">
                <a:latin typeface="Lucida Console" panose="020B0609040504020204" pitchFamily="49" charset="0"/>
              </a:rPr>
              <a:t>key.hashCode</a:t>
            </a:r>
            <a:r>
              <a:rPr lang="en-US" altLang="en-US" sz="1800" dirty="0">
                <a:latin typeface="Lucida Console" panose="020B0609040504020204" pitchFamily="49" charset="0"/>
              </a:rPr>
              <a:t>() % </a:t>
            </a:r>
            <a:r>
              <a:rPr lang="en-US" altLang="en-US" sz="1800" dirty="0" err="1">
                <a:latin typeface="Lucida Console" panose="020B0609040504020204" pitchFamily="49" charset="0"/>
              </a:rPr>
              <a:t>table.length</a:t>
            </a:r>
            <a:r>
              <a:rPr lang="en-US" altLang="en-US" sz="1800" dirty="0">
                <a:latin typeface="Lucida Console" panose="020B0609040504020204" pitchFamily="49" charset="0"/>
              </a:rPr>
              <a:t>;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en-US" sz="1800" dirty="0">
                <a:latin typeface="Lucida Console" panose="020B0609040504020204" pitchFamily="49" charset="0"/>
              </a:rPr>
              <a:t>      	    if (h1 &lt; 0)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en-US" sz="1800" dirty="0">
                <a:latin typeface="Lucida Console" panose="020B0609040504020204" pitchFamily="49" charset="0"/>
              </a:rPr>
              <a:t>     	        h1 += </a:t>
            </a:r>
            <a:r>
              <a:rPr lang="en-US" altLang="en-US" sz="1800" dirty="0" err="1">
                <a:latin typeface="Lucida Console" panose="020B0609040504020204" pitchFamily="49" charset="0"/>
              </a:rPr>
              <a:t>table.length</a:t>
            </a:r>
            <a:r>
              <a:rPr lang="en-US" altLang="en-US" sz="1800" dirty="0">
                <a:latin typeface="Lucida Console" panose="020B06090405040202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en-US" sz="1800" dirty="0">
                <a:latin typeface="Lucida Console" panose="020B0609040504020204" pitchFamily="49" charset="0"/>
              </a:rPr>
              <a:t>     	    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en-US" sz="1800" dirty="0">
                <a:latin typeface="Lucida Console" panose="020B0609040504020204" pitchFamily="49" charset="0"/>
              </a:rPr>
              <a:t>     	    </a:t>
            </a:r>
            <a:r>
              <a:rPr lang="en-US" altLang="en-US" sz="18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return h1;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en-US" sz="1800" dirty="0">
                <a:latin typeface="Lucida Console" panose="020B0609040504020204" pitchFamily="49" charset="0"/>
              </a:rPr>
              <a:t>  		}</a:t>
            </a:r>
          </a:p>
        </p:txBody>
      </p:sp>
    </p:spTree>
    <p:extLst>
      <p:ext uri="{BB962C8B-B14F-4D97-AF65-F5344CB8AC3E}">
        <p14:creationId xmlns:p14="http://schemas.microsoft.com/office/powerpoint/2010/main" val="2215777840"/>
      </p:ext>
    </p:extLst>
  </p:cSld>
  <p:clrMapOvr>
    <a:masterClrMapping/>
  </p:clrMapOvr>
</p:sld>
</file>

<file path=ppt/slides/slide3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87374" y="3304902"/>
            <a:ext cx="8399871" cy="303058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88066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 dirty="0"/>
              <a:t>Hash Functions in </a:t>
            </a:r>
            <a:r>
              <a:rPr lang="en-US" altLang="en-US" dirty="0" err="1">
                <a:latin typeface="Lucida Console" panose="020B0609040504020204" pitchFamily="49" charset="0"/>
              </a:rPr>
              <a:t>OpenHashTable</a:t>
            </a:r>
            <a:endParaRPr lang="en-US" altLang="en-US" dirty="0">
              <a:latin typeface="Lucida Console" panose="020B0609040504020204" pitchFamily="49" charset="0"/>
            </a:endParaRPr>
          </a:p>
        </p:txBody>
      </p:sp>
      <p:sp>
        <p:nvSpPr>
          <p:cNvPr id="880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9007475" cy="5614988"/>
          </a:xfrm>
        </p:spPr>
        <p:txBody>
          <a:bodyPr/>
          <a:lstStyle/>
          <a:p>
            <a:pPr marL="288925" indent="-288925"/>
            <a:r>
              <a:rPr lang="en-US" altLang="en-US" dirty="0"/>
              <a:t>Initial hash function: returns a value in </a:t>
            </a:r>
            <a:r>
              <a:rPr lang="en-US" altLang="en-US" sz="2000" dirty="0">
                <a:latin typeface="Lucida Console" panose="020B0609040504020204" pitchFamily="49" charset="0"/>
              </a:rPr>
              <a:t>[0, </a:t>
            </a:r>
            <a:r>
              <a:rPr lang="en-US" altLang="en-US" sz="2000" dirty="0" err="1">
                <a:latin typeface="Lucida Console" panose="020B0609040504020204" pitchFamily="49" charset="0"/>
              </a:rPr>
              <a:t>table.length</a:t>
            </a:r>
            <a:r>
              <a:rPr lang="en-US" altLang="en-US" sz="2000" dirty="0">
                <a:latin typeface="Lucida Console" panose="020B0609040504020204" pitchFamily="49" charset="0"/>
              </a:rPr>
              <a:t> - 1]</a:t>
            </a:r>
            <a:endParaRPr lang="en-US" altLang="en-US" dirty="0"/>
          </a:p>
          <a:p>
            <a:pPr marL="0" indent="0">
              <a:spcBef>
                <a:spcPts val="500"/>
              </a:spcBef>
              <a:buNone/>
            </a:pPr>
            <a:r>
              <a:rPr lang="en-US" altLang="en-US" sz="1800" dirty="0">
                <a:latin typeface="Lucida Console" panose="020B0609040504020204" pitchFamily="49" charset="0"/>
              </a:rPr>
              <a:t>		public </a:t>
            </a:r>
            <a:r>
              <a:rPr lang="en-US" altLang="en-US" sz="1800" dirty="0" err="1">
                <a:latin typeface="Lucida Console" panose="020B0609040504020204" pitchFamily="49" charset="0"/>
              </a:rPr>
              <a:t>int</a:t>
            </a:r>
            <a:r>
              <a:rPr lang="en-US" altLang="en-US" sz="1800" dirty="0">
                <a:latin typeface="Lucida Console" panose="020B0609040504020204" pitchFamily="49" charset="0"/>
              </a:rPr>
              <a:t> h1(Object key)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en-US" sz="1800" dirty="0">
                <a:latin typeface="Lucida Console" panose="020B0609040504020204" pitchFamily="49" charset="0"/>
              </a:rPr>
              <a:t>   	  	    </a:t>
            </a:r>
            <a:r>
              <a:rPr lang="en-US" altLang="en-US" sz="1800" dirty="0" err="1">
                <a:latin typeface="Lucida Console" panose="020B0609040504020204" pitchFamily="49" charset="0"/>
              </a:rPr>
              <a:t>int</a:t>
            </a:r>
            <a:r>
              <a:rPr lang="en-US" altLang="en-US" sz="1800" dirty="0">
                <a:latin typeface="Lucida Console" panose="020B0609040504020204" pitchFamily="49" charset="0"/>
              </a:rPr>
              <a:t> h1 = </a:t>
            </a:r>
            <a:r>
              <a:rPr lang="en-US" altLang="en-US" sz="1800" dirty="0" err="1">
                <a:latin typeface="Lucida Console" panose="020B0609040504020204" pitchFamily="49" charset="0"/>
              </a:rPr>
              <a:t>key.hashCode</a:t>
            </a:r>
            <a:r>
              <a:rPr lang="en-US" altLang="en-US" sz="1800" dirty="0">
                <a:latin typeface="Lucida Console" panose="020B0609040504020204" pitchFamily="49" charset="0"/>
              </a:rPr>
              <a:t>() % </a:t>
            </a:r>
            <a:r>
              <a:rPr lang="en-US" altLang="en-US" sz="1800" dirty="0" err="1">
                <a:latin typeface="Lucida Console" panose="020B0609040504020204" pitchFamily="49" charset="0"/>
              </a:rPr>
              <a:t>table.length</a:t>
            </a:r>
            <a:r>
              <a:rPr lang="en-US" altLang="en-US" sz="1800" dirty="0">
                <a:latin typeface="Lucida Console" panose="020B0609040504020204" pitchFamily="49" charset="0"/>
              </a:rPr>
              <a:t>;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en-US" sz="1800" dirty="0">
                <a:latin typeface="Lucida Console" panose="020B0609040504020204" pitchFamily="49" charset="0"/>
              </a:rPr>
              <a:t>      	    if (h1 &lt; 0)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en-US" sz="1800" dirty="0">
                <a:latin typeface="Lucida Console" panose="020B0609040504020204" pitchFamily="49" charset="0"/>
              </a:rPr>
              <a:t>     	        h1 += </a:t>
            </a:r>
            <a:r>
              <a:rPr lang="en-US" altLang="en-US" sz="1800" dirty="0" err="1">
                <a:latin typeface="Lucida Console" panose="020B0609040504020204" pitchFamily="49" charset="0"/>
              </a:rPr>
              <a:t>table.length</a:t>
            </a:r>
            <a:r>
              <a:rPr lang="en-US" altLang="en-US" sz="1800" dirty="0">
                <a:latin typeface="Lucida Console" panose="020B06090405040202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en-US" sz="1800" dirty="0">
                <a:latin typeface="Lucida Console" panose="020B0609040504020204" pitchFamily="49" charset="0"/>
              </a:rPr>
              <a:t>     	    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en-US" sz="1800" dirty="0">
                <a:latin typeface="Lucida Console" panose="020B0609040504020204" pitchFamily="49" charset="0"/>
              </a:rPr>
              <a:t>     	    return h1;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en-US" sz="1800" dirty="0">
                <a:latin typeface="Lucida Console" panose="020B0609040504020204" pitchFamily="49" charset="0"/>
              </a:rPr>
              <a:t>  		}</a:t>
            </a:r>
          </a:p>
          <a:p>
            <a:pPr marL="288925" lvl="0" indent="-288925">
              <a:spcBef>
                <a:spcPts val="1400"/>
              </a:spcBef>
            </a:pPr>
            <a:r>
              <a:rPr lang="en-US" altLang="en-US" dirty="0"/>
              <a:t>Second hash function (for double hashing):</a:t>
            </a:r>
          </a:p>
          <a:p>
            <a:pPr marL="0" lvl="0" indent="0">
              <a:spcBef>
                <a:spcPts val="500"/>
              </a:spcBef>
              <a:buNone/>
            </a:pPr>
            <a:r>
              <a:rPr lang="en-US" altLang="en-US" sz="1800" dirty="0">
                <a:latin typeface="Lucida Console" panose="020B0609040504020204" pitchFamily="49" charset="0"/>
              </a:rPr>
              <a:t>		public </a:t>
            </a:r>
            <a:r>
              <a:rPr lang="pt-BR" altLang="en-US" sz="1800" dirty="0">
                <a:latin typeface="Lucida Console" panose="020B0609040504020204" pitchFamily="49" charset="0"/>
              </a:rPr>
              <a:t>h2(Object key) {</a:t>
            </a:r>
          </a:p>
          <a:p>
            <a:pPr marL="0" lvl="0" indent="0">
              <a:spcBef>
                <a:spcPts val="0"/>
              </a:spcBef>
              <a:buNone/>
            </a:pPr>
            <a:r>
              <a:rPr lang="pt-BR" altLang="en-US" sz="1800" dirty="0">
                <a:latin typeface="Lucida Console" panose="020B0609040504020204" pitchFamily="49" charset="0"/>
              </a:rPr>
              <a:t>  	       int h2 = key.hashCode() % </a:t>
            </a:r>
            <a:r>
              <a:rPr lang="pt-BR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5;</a:t>
            </a:r>
          </a:p>
          <a:p>
            <a:pPr marL="0" lvl="0" indent="0">
              <a:spcBef>
                <a:spcPts val="0"/>
              </a:spcBef>
              <a:buNone/>
            </a:pPr>
            <a:r>
              <a:rPr lang="pt-BR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	       if (h2 &lt; 0) {</a:t>
            </a:r>
          </a:p>
          <a:p>
            <a:pPr marL="0" lvl="0" indent="0">
              <a:spcBef>
                <a:spcPts val="0"/>
              </a:spcBef>
              <a:buNone/>
            </a:pPr>
            <a:r>
              <a:rPr lang="pt-BR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	           h2 += 11;</a:t>
            </a:r>
          </a:p>
          <a:p>
            <a:pPr marL="0" lvl="0" indent="0">
              <a:spcBef>
                <a:spcPts val="0"/>
              </a:spcBef>
              <a:buNone/>
            </a:pPr>
            <a:r>
              <a:rPr lang="pt-BR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	       }</a:t>
            </a:r>
          </a:p>
          <a:p>
            <a:pPr marL="0" lvl="0" indent="0">
              <a:spcBef>
                <a:spcPts val="0"/>
              </a:spcBef>
              <a:buNone/>
            </a:pPr>
            <a:r>
              <a:rPr lang="pt-BR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	       h2 += 5;</a:t>
            </a:r>
          </a:p>
          <a:p>
            <a:pPr marL="0" lvl="0" indent="0">
              <a:spcBef>
                <a:spcPts val="0"/>
              </a:spcBef>
              <a:buNone/>
            </a:pPr>
            <a:r>
              <a:rPr lang="pt-BR" altLang="en-US" sz="1800" dirty="0">
                <a:solidFill>
                  <a:schemeClr val="tx1"/>
                </a:solidFill>
                <a:latin typeface="Lucida Console" panose="020B0609040504020204" pitchFamily="49" charset="0"/>
              </a:rPr>
              <a:t>  	       return h2;</a:t>
            </a:r>
          </a:p>
          <a:p>
            <a:pPr marL="0" indent="0">
              <a:spcBef>
                <a:spcPts val="0"/>
              </a:spcBef>
              <a:buNone/>
            </a:pPr>
            <a:r>
              <a:rPr lang="pt-BR" altLang="en-US" sz="1800" dirty="0">
                <a:latin typeface="Lucida Console" panose="020B0609040504020204" pitchFamily="49" charset="0"/>
              </a:rPr>
              <a:t>   		}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349794673"/>
      </p:ext>
    </p:extLst>
  </p:cSld>
  <p:clrMapOvr>
    <a:masterClrMapping/>
  </p:clrMapOvr>
</p:sld>
</file>

<file path=ppt/slides/slide3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87374" y="3304902"/>
            <a:ext cx="8399871" cy="303058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1047750" y="6038850"/>
            <a:ext cx="6991350" cy="81915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88066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 dirty="0"/>
              <a:t>Hash Functions in </a:t>
            </a:r>
            <a:r>
              <a:rPr lang="en-US" altLang="en-US" dirty="0" err="1">
                <a:latin typeface="Lucida Console" panose="020B0609040504020204" pitchFamily="49" charset="0"/>
              </a:rPr>
              <a:t>OpenHashTable</a:t>
            </a:r>
            <a:endParaRPr lang="en-US" altLang="en-US" dirty="0">
              <a:latin typeface="Lucida Console" panose="020B0609040504020204" pitchFamily="49" charset="0"/>
            </a:endParaRPr>
          </a:p>
        </p:txBody>
      </p:sp>
      <p:sp>
        <p:nvSpPr>
          <p:cNvPr id="880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9007475" cy="5614988"/>
          </a:xfrm>
        </p:spPr>
        <p:txBody>
          <a:bodyPr/>
          <a:lstStyle/>
          <a:p>
            <a:pPr marL="288925" indent="-288925"/>
            <a:r>
              <a:rPr lang="en-US" altLang="en-US" dirty="0"/>
              <a:t>Initial hash function: returns a value in </a:t>
            </a:r>
            <a:r>
              <a:rPr lang="en-US" altLang="en-US" sz="2000" dirty="0">
                <a:latin typeface="Lucida Console" panose="020B0609040504020204" pitchFamily="49" charset="0"/>
              </a:rPr>
              <a:t>[0, </a:t>
            </a:r>
            <a:r>
              <a:rPr lang="en-US" altLang="en-US" sz="2000" dirty="0" err="1">
                <a:latin typeface="Lucida Console" panose="020B0609040504020204" pitchFamily="49" charset="0"/>
              </a:rPr>
              <a:t>table.length</a:t>
            </a:r>
            <a:r>
              <a:rPr lang="en-US" altLang="en-US" sz="2000" dirty="0">
                <a:latin typeface="Lucida Console" panose="020B0609040504020204" pitchFamily="49" charset="0"/>
              </a:rPr>
              <a:t> - 1]</a:t>
            </a:r>
            <a:endParaRPr lang="en-US" altLang="en-US" dirty="0"/>
          </a:p>
          <a:p>
            <a:pPr marL="0" indent="0">
              <a:spcBef>
                <a:spcPts val="500"/>
              </a:spcBef>
              <a:buNone/>
            </a:pPr>
            <a:r>
              <a:rPr lang="en-US" altLang="en-US" sz="1800" dirty="0">
                <a:latin typeface="Lucida Console" panose="020B0609040504020204" pitchFamily="49" charset="0"/>
              </a:rPr>
              <a:t>		public </a:t>
            </a:r>
            <a:r>
              <a:rPr lang="en-US" altLang="en-US" sz="1800" dirty="0" err="1">
                <a:latin typeface="Lucida Console" panose="020B0609040504020204" pitchFamily="49" charset="0"/>
              </a:rPr>
              <a:t>int</a:t>
            </a:r>
            <a:r>
              <a:rPr lang="en-US" altLang="en-US" sz="1800" dirty="0">
                <a:latin typeface="Lucida Console" panose="020B0609040504020204" pitchFamily="49" charset="0"/>
              </a:rPr>
              <a:t> h1(Object key)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en-US" sz="1800" dirty="0">
                <a:latin typeface="Lucida Console" panose="020B0609040504020204" pitchFamily="49" charset="0"/>
              </a:rPr>
              <a:t>   	  	    </a:t>
            </a:r>
            <a:r>
              <a:rPr lang="en-US" altLang="en-US" sz="1800" dirty="0" err="1">
                <a:latin typeface="Lucida Console" panose="020B0609040504020204" pitchFamily="49" charset="0"/>
              </a:rPr>
              <a:t>int</a:t>
            </a:r>
            <a:r>
              <a:rPr lang="en-US" altLang="en-US" sz="1800" dirty="0">
                <a:latin typeface="Lucida Console" panose="020B0609040504020204" pitchFamily="49" charset="0"/>
              </a:rPr>
              <a:t> h1 = </a:t>
            </a:r>
            <a:r>
              <a:rPr lang="en-US" altLang="en-US" sz="1800" dirty="0" err="1">
                <a:latin typeface="Lucida Console" panose="020B0609040504020204" pitchFamily="49" charset="0"/>
              </a:rPr>
              <a:t>key.hashCode</a:t>
            </a:r>
            <a:r>
              <a:rPr lang="en-US" altLang="en-US" sz="1800" dirty="0">
                <a:latin typeface="Lucida Console" panose="020B0609040504020204" pitchFamily="49" charset="0"/>
              </a:rPr>
              <a:t>() % </a:t>
            </a:r>
            <a:r>
              <a:rPr lang="en-US" altLang="en-US" sz="1800" dirty="0" err="1">
                <a:latin typeface="Lucida Console" panose="020B0609040504020204" pitchFamily="49" charset="0"/>
              </a:rPr>
              <a:t>table.length</a:t>
            </a:r>
            <a:r>
              <a:rPr lang="en-US" altLang="en-US" sz="1800" dirty="0">
                <a:latin typeface="Lucida Console" panose="020B0609040504020204" pitchFamily="49" charset="0"/>
              </a:rPr>
              <a:t>;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en-US" sz="1800" dirty="0">
                <a:latin typeface="Lucida Console" panose="020B0609040504020204" pitchFamily="49" charset="0"/>
              </a:rPr>
              <a:t>      	    if (h1 &lt; 0)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en-US" sz="1800" dirty="0">
                <a:latin typeface="Lucida Console" panose="020B0609040504020204" pitchFamily="49" charset="0"/>
              </a:rPr>
              <a:t>     	        h1 += </a:t>
            </a:r>
            <a:r>
              <a:rPr lang="en-US" altLang="en-US" sz="1800" dirty="0" err="1">
                <a:latin typeface="Lucida Console" panose="020B0609040504020204" pitchFamily="49" charset="0"/>
              </a:rPr>
              <a:t>table.length</a:t>
            </a:r>
            <a:r>
              <a:rPr lang="en-US" altLang="en-US" sz="1800" dirty="0">
                <a:latin typeface="Lucida Console" panose="020B06090405040202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en-US" sz="1800" dirty="0">
                <a:latin typeface="Lucida Console" panose="020B0609040504020204" pitchFamily="49" charset="0"/>
              </a:rPr>
              <a:t>     	    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en-US" sz="1800" dirty="0">
                <a:latin typeface="Lucida Console" panose="020B0609040504020204" pitchFamily="49" charset="0"/>
              </a:rPr>
              <a:t>     	    return h1;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en-US" sz="1800" dirty="0">
                <a:latin typeface="Lucida Console" panose="020B0609040504020204" pitchFamily="49" charset="0"/>
              </a:rPr>
              <a:t>  		}</a:t>
            </a:r>
          </a:p>
          <a:p>
            <a:pPr marL="288925" lvl="0" indent="-288925">
              <a:spcBef>
                <a:spcPts val="1400"/>
              </a:spcBef>
            </a:pPr>
            <a:r>
              <a:rPr lang="en-US" altLang="en-US" dirty="0"/>
              <a:t>Second hash function (for double hashing):</a:t>
            </a:r>
          </a:p>
          <a:p>
            <a:pPr marL="0" lvl="0" indent="0">
              <a:spcBef>
                <a:spcPts val="500"/>
              </a:spcBef>
              <a:buNone/>
            </a:pPr>
            <a:r>
              <a:rPr lang="en-US" altLang="en-US" sz="1800" dirty="0">
                <a:latin typeface="Lucida Console" panose="020B0609040504020204" pitchFamily="49" charset="0"/>
              </a:rPr>
              <a:t>		public </a:t>
            </a:r>
            <a:r>
              <a:rPr lang="pt-BR" altLang="en-US" sz="1800" dirty="0">
                <a:latin typeface="Lucida Console" panose="020B0609040504020204" pitchFamily="49" charset="0"/>
              </a:rPr>
              <a:t>h2(Object key) {</a:t>
            </a:r>
          </a:p>
          <a:p>
            <a:pPr marL="0" lvl="0" indent="0">
              <a:spcBef>
                <a:spcPts val="0"/>
              </a:spcBef>
              <a:buNone/>
            </a:pPr>
            <a:r>
              <a:rPr lang="pt-BR" altLang="en-US" sz="1800" dirty="0">
                <a:latin typeface="Lucida Console" panose="020B0609040504020204" pitchFamily="49" charset="0"/>
              </a:rPr>
              <a:t>  	       int h2 = key.hashCode() % </a:t>
            </a:r>
            <a:r>
              <a:rPr lang="pt-BR" altLang="en-US" sz="1800" b="1" dirty="0">
                <a:solidFill>
                  <a:srgbClr val="FF0000"/>
                </a:solidFill>
                <a:latin typeface="Lucida Console" panose="020B0609040504020204" pitchFamily="49" charset="0"/>
              </a:rPr>
              <a:t>5</a:t>
            </a:r>
            <a:r>
              <a:rPr lang="pt-BR" altLang="en-US" sz="1800" dirty="0">
                <a:latin typeface="Lucida Console" panose="020B0609040504020204" pitchFamily="49" charset="0"/>
              </a:rPr>
              <a:t>;</a:t>
            </a:r>
          </a:p>
          <a:p>
            <a:pPr marL="0" lvl="0" indent="0">
              <a:spcBef>
                <a:spcPts val="0"/>
              </a:spcBef>
              <a:buNone/>
            </a:pPr>
            <a:r>
              <a:rPr lang="pt-BR" altLang="en-US" sz="1800" dirty="0">
                <a:latin typeface="Lucida Console" panose="020B0609040504020204" pitchFamily="49" charset="0"/>
              </a:rPr>
              <a:t>  	       if (h2 &lt; 0) {</a:t>
            </a:r>
          </a:p>
          <a:p>
            <a:pPr marL="0" lvl="0" indent="0">
              <a:spcBef>
                <a:spcPts val="0"/>
              </a:spcBef>
              <a:buNone/>
            </a:pPr>
            <a:r>
              <a:rPr lang="pt-BR" altLang="en-US" sz="1800" dirty="0">
                <a:latin typeface="Lucida Console" panose="020B0609040504020204" pitchFamily="49" charset="0"/>
              </a:rPr>
              <a:t>  	           h2 += </a:t>
            </a:r>
            <a:r>
              <a:rPr lang="pt-BR" altLang="en-US" sz="1800" b="1" dirty="0">
                <a:solidFill>
                  <a:srgbClr val="008000"/>
                </a:solidFill>
                <a:latin typeface="Lucida Console" panose="020B0609040504020204" pitchFamily="49" charset="0"/>
              </a:rPr>
              <a:t>11</a:t>
            </a:r>
            <a:r>
              <a:rPr lang="pt-BR" altLang="en-US" sz="1800" dirty="0">
                <a:latin typeface="Lucida Console" panose="020B0609040504020204" pitchFamily="49" charset="0"/>
              </a:rPr>
              <a:t>;</a:t>
            </a:r>
          </a:p>
          <a:p>
            <a:pPr marL="0" lvl="0" indent="0">
              <a:spcBef>
                <a:spcPts val="0"/>
              </a:spcBef>
              <a:buNone/>
            </a:pPr>
            <a:r>
              <a:rPr lang="pt-BR" altLang="en-US" sz="1800" dirty="0">
                <a:latin typeface="Lucida Console" panose="020B0609040504020204" pitchFamily="49" charset="0"/>
              </a:rPr>
              <a:t>  	       }</a:t>
            </a:r>
          </a:p>
          <a:p>
            <a:pPr marL="0" lvl="0" indent="0">
              <a:spcBef>
                <a:spcPts val="0"/>
              </a:spcBef>
              <a:buNone/>
            </a:pPr>
            <a:r>
              <a:rPr lang="pt-BR" altLang="en-US" sz="1800" dirty="0">
                <a:latin typeface="Lucida Console" panose="020B0609040504020204" pitchFamily="49" charset="0"/>
              </a:rPr>
              <a:t>  	       h2 += </a:t>
            </a:r>
            <a:r>
              <a:rPr lang="pt-BR" altLang="en-US" sz="1800" b="1" dirty="0">
                <a:solidFill>
                  <a:srgbClr val="FF0000"/>
                </a:solidFill>
                <a:latin typeface="Lucida Console" panose="020B0609040504020204" pitchFamily="49" charset="0"/>
              </a:rPr>
              <a:t>5</a:t>
            </a:r>
            <a:r>
              <a:rPr lang="pt-BR" altLang="en-US" sz="1800" dirty="0">
                <a:latin typeface="Lucida Console" panose="020B0609040504020204" pitchFamily="49" charset="0"/>
              </a:rPr>
              <a:t>;</a:t>
            </a:r>
          </a:p>
          <a:p>
            <a:pPr marL="0" lvl="0" indent="0">
              <a:spcBef>
                <a:spcPts val="0"/>
              </a:spcBef>
              <a:buNone/>
            </a:pPr>
            <a:r>
              <a:rPr lang="pt-BR" altLang="en-US" sz="1800" dirty="0">
                <a:latin typeface="Lucida Console" panose="020B0609040504020204" pitchFamily="49" charset="0"/>
              </a:rPr>
              <a:t>  	       return h2;</a:t>
            </a:r>
          </a:p>
          <a:p>
            <a:pPr marL="0" indent="0">
              <a:spcBef>
                <a:spcPts val="0"/>
              </a:spcBef>
              <a:buNone/>
            </a:pPr>
            <a:r>
              <a:rPr lang="pt-BR" altLang="en-US" sz="1800" dirty="0">
                <a:latin typeface="Lucida Console" panose="020B0609040504020204" pitchFamily="49" charset="0"/>
              </a:rPr>
              <a:t>   		}</a:t>
            </a:r>
            <a:endParaRPr lang="en-US" altLang="en-US" dirty="0"/>
          </a:p>
          <a:p>
            <a:pPr lvl="1">
              <a:spcBef>
                <a:spcPts val="500"/>
              </a:spcBef>
            </a:pPr>
            <a:r>
              <a:rPr lang="en-US" altLang="en-US" dirty="0"/>
              <a:t>5 and 11 are values that could be adjusted as needed</a:t>
            </a:r>
          </a:p>
          <a:p>
            <a:pPr lvl="1">
              <a:spcBef>
                <a:spcPts val="500"/>
              </a:spcBef>
            </a:pPr>
            <a:r>
              <a:rPr lang="en-US" altLang="en-US" dirty="0"/>
              <a:t>provide a range of possible increments &gt;= 5</a:t>
            </a:r>
          </a:p>
        </p:txBody>
      </p:sp>
    </p:spTree>
    <p:extLst>
      <p:ext uri="{BB962C8B-B14F-4D97-AF65-F5344CB8AC3E}">
        <p14:creationId xmlns:p14="http://schemas.microsoft.com/office/powerpoint/2010/main" val="1891340688"/>
      </p:ext>
    </p:extLst>
  </p:cSld>
  <p:clrMapOvr>
    <a:masterClrMapping/>
  </p:clrMapOvr>
</p:sld>
</file>

<file path=ppt/slides/slide3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Hash Functions for Strings: version 1</a:t>
            </a:r>
          </a:p>
        </p:txBody>
      </p:sp>
      <p:sp>
        <p:nvSpPr>
          <p:cNvPr id="890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802687" cy="5614988"/>
          </a:xfrm>
        </p:spPr>
        <p:txBody>
          <a:bodyPr/>
          <a:lstStyle/>
          <a:p>
            <a:r>
              <a:rPr lang="en-US" altLang="en-US" dirty="0"/>
              <a:t>h</a:t>
            </a:r>
            <a:r>
              <a:rPr lang="en-US" altLang="en-US" baseline="-25000" dirty="0"/>
              <a:t>a</a:t>
            </a:r>
            <a:r>
              <a:rPr lang="en-US" altLang="en-US" dirty="0"/>
              <a:t> = the sum of the characters' ASCII values</a:t>
            </a:r>
          </a:p>
          <a:p>
            <a:pPr>
              <a:spcBef>
                <a:spcPts val="2000"/>
              </a:spcBef>
            </a:pPr>
            <a:r>
              <a:rPr lang="en-US" altLang="en-US" dirty="0"/>
              <a:t>Example: h</a:t>
            </a:r>
            <a:r>
              <a:rPr lang="en-US" altLang="en-US" baseline="-25000" dirty="0"/>
              <a:t>a</a:t>
            </a:r>
            <a:r>
              <a:rPr lang="en-US" altLang="en-US" dirty="0"/>
              <a:t>("eat") = 101 + 97 + 116 = 314</a:t>
            </a:r>
          </a:p>
        </p:txBody>
      </p:sp>
    </p:spTree>
    <p:extLst>
      <p:ext uri="{BB962C8B-B14F-4D97-AF65-F5344CB8AC3E}">
        <p14:creationId xmlns:p14="http://schemas.microsoft.com/office/powerpoint/2010/main" val="1570946411"/>
      </p:ext>
    </p:extLst>
  </p:cSld>
  <p:clrMapOvr>
    <a:masterClrMapping/>
  </p:clrMapOvr>
</p:sld>
</file>

<file path=ppt/slides/slide3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87375" y="1894114"/>
            <a:ext cx="8295368" cy="220762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90114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Hash Functions for Strings: version 1</a:t>
            </a:r>
          </a:p>
        </p:txBody>
      </p:sp>
      <p:sp>
        <p:nvSpPr>
          <p:cNvPr id="901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802687" cy="5614988"/>
          </a:xfrm>
        </p:spPr>
        <p:txBody>
          <a:bodyPr/>
          <a:lstStyle/>
          <a:p>
            <a:r>
              <a:rPr lang="en-US" altLang="en-US" dirty="0"/>
              <a:t>h</a:t>
            </a:r>
            <a:r>
              <a:rPr lang="en-US" altLang="en-US" baseline="-25000" dirty="0"/>
              <a:t>a</a:t>
            </a:r>
            <a:r>
              <a:rPr lang="en-US" altLang="en-US" dirty="0"/>
              <a:t> = the sum of the characters' ASCII values</a:t>
            </a:r>
          </a:p>
          <a:p>
            <a:pPr>
              <a:spcBef>
                <a:spcPts val="2000"/>
              </a:spcBef>
            </a:pPr>
            <a:r>
              <a:rPr lang="en-US" altLang="en-US" dirty="0"/>
              <a:t>Example: h</a:t>
            </a:r>
            <a:r>
              <a:rPr lang="en-US" altLang="en-US" baseline="-25000" dirty="0"/>
              <a:t>a</a:t>
            </a:r>
            <a:r>
              <a:rPr lang="en-US" altLang="en-US" dirty="0"/>
              <a:t>("eat") = 101 + 97 + 116 = 314</a:t>
            </a:r>
          </a:p>
          <a:p>
            <a:pPr>
              <a:spcBef>
                <a:spcPts val="2000"/>
              </a:spcBef>
            </a:pPr>
            <a:r>
              <a:rPr lang="en-US" altLang="en-US" dirty="0"/>
              <a:t>All permutations of a given set of characters get the same code.</a:t>
            </a:r>
          </a:p>
          <a:p>
            <a:pPr lvl="1"/>
            <a:r>
              <a:rPr lang="en-US" altLang="en-US" dirty="0"/>
              <a:t>example: h</a:t>
            </a:r>
            <a:r>
              <a:rPr lang="en-US" altLang="en-US" baseline="-25000" dirty="0"/>
              <a:t>a</a:t>
            </a:r>
            <a:r>
              <a:rPr lang="en-US" altLang="en-US" dirty="0"/>
              <a:t>("tea") = h</a:t>
            </a:r>
            <a:r>
              <a:rPr lang="en-US" altLang="en-US" baseline="-25000" dirty="0"/>
              <a:t>a</a:t>
            </a:r>
            <a:r>
              <a:rPr lang="en-US" altLang="en-US" dirty="0"/>
              <a:t>("eat")</a:t>
            </a:r>
          </a:p>
          <a:p>
            <a:pPr lvl="1">
              <a:spcBef>
                <a:spcPts val="700"/>
              </a:spcBef>
            </a:pPr>
            <a:r>
              <a:rPr lang="en-US" altLang="en-US" dirty="0"/>
              <a:t>could be useful in a Scrabble game</a:t>
            </a:r>
          </a:p>
          <a:p>
            <a:pPr marL="1147763" lvl="2" indent="-233363">
              <a:spcBef>
                <a:spcPts val="500"/>
              </a:spcBef>
            </a:pPr>
            <a:r>
              <a:rPr lang="en-US" altLang="en-US" sz="2200" dirty="0"/>
              <a:t>allow you to look up all words that can be formed </a:t>
            </a:r>
            <a:br>
              <a:rPr lang="en-US" altLang="en-US" sz="2200" dirty="0"/>
            </a:br>
            <a:r>
              <a:rPr lang="en-US" altLang="en-US" sz="2200" dirty="0"/>
              <a:t>from a given set of characters</a:t>
            </a:r>
          </a:p>
        </p:txBody>
      </p:sp>
    </p:spTree>
    <p:extLst>
      <p:ext uri="{BB962C8B-B14F-4D97-AF65-F5344CB8AC3E}">
        <p14:creationId xmlns:p14="http://schemas.microsoft.com/office/powerpoint/2010/main" val="3815830889"/>
      </p:ext>
    </p:extLst>
  </p:cSld>
  <p:clrMapOvr>
    <a:masterClrMapping/>
  </p:clrMapOvr>
</p:sld>
</file>

<file path=ppt/slides/slide3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87375" y="4127863"/>
            <a:ext cx="8386808" cy="263869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91138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Hash Functions for Strings: version 1</a:t>
            </a:r>
          </a:p>
        </p:txBody>
      </p:sp>
      <p:sp>
        <p:nvSpPr>
          <p:cNvPr id="911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802687" cy="5614988"/>
          </a:xfrm>
        </p:spPr>
        <p:txBody>
          <a:bodyPr/>
          <a:lstStyle/>
          <a:p>
            <a:r>
              <a:rPr lang="en-US" altLang="en-US" dirty="0"/>
              <a:t>h</a:t>
            </a:r>
            <a:r>
              <a:rPr lang="en-US" altLang="en-US" baseline="-25000" dirty="0"/>
              <a:t>a</a:t>
            </a:r>
            <a:r>
              <a:rPr lang="en-US" altLang="en-US" dirty="0"/>
              <a:t> = the sum of the characters' ASCII values</a:t>
            </a:r>
          </a:p>
          <a:p>
            <a:pPr>
              <a:spcBef>
                <a:spcPts val="2000"/>
              </a:spcBef>
            </a:pPr>
            <a:r>
              <a:rPr lang="en-US" altLang="en-US" dirty="0"/>
              <a:t>Example: h</a:t>
            </a:r>
            <a:r>
              <a:rPr lang="en-US" altLang="en-US" baseline="-25000" dirty="0"/>
              <a:t>a</a:t>
            </a:r>
            <a:r>
              <a:rPr lang="en-US" altLang="en-US" dirty="0"/>
              <a:t>("eat") = 101 + 97 + 116 = 314</a:t>
            </a:r>
          </a:p>
          <a:p>
            <a:pPr>
              <a:spcBef>
                <a:spcPts val="2000"/>
              </a:spcBef>
            </a:pPr>
            <a:r>
              <a:rPr lang="en-US" altLang="en-US" dirty="0"/>
              <a:t>All permutations of a given set of characters get the same code.</a:t>
            </a:r>
          </a:p>
          <a:p>
            <a:pPr lvl="1"/>
            <a:r>
              <a:rPr lang="en-US" altLang="en-US" dirty="0"/>
              <a:t>example: h</a:t>
            </a:r>
            <a:r>
              <a:rPr lang="en-US" altLang="en-US" baseline="-25000" dirty="0"/>
              <a:t>a</a:t>
            </a:r>
            <a:r>
              <a:rPr lang="en-US" altLang="en-US" dirty="0"/>
              <a:t>("tea") = h</a:t>
            </a:r>
            <a:r>
              <a:rPr lang="en-US" altLang="en-US" baseline="-25000" dirty="0"/>
              <a:t>a</a:t>
            </a:r>
            <a:r>
              <a:rPr lang="en-US" altLang="en-US" dirty="0"/>
              <a:t>("eat")</a:t>
            </a:r>
          </a:p>
          <a:p>
            <a:pPr lvl="1">
              <a:spcBef>
                <a:spcPts val="700"/>
              </a:spcBef>
            </a:pPr>
            <a:r>
              <a:rPr lang="en-US" altLang="en-US" dirty="0"/>
              <a:t>could be useful in a Scrabble game</a:t>
            </a:r>
          </a:p>
          <a:p>
            <a:pPr marL="1147763" lvl="2" indent="-233363">
              <a:spcBef>
                <a:spcPts val="500"/>
              </a:spcBef>
            </a:pPr>
            <a:r>
              <a:rPr lang="en-US" altLang="en-US" sz="2200" dirty="0"/>
              <a:t>allow you to look up all words that can be formed </a:t>
            </a:r>
            <a:br>
              <a:rPr lang="en-US" altLang="en-US" sz="2200" dirty="0"/>
            </a:br>
            <a:r>
              <a:rPr lang="en-US" altLang="en-US" sz="2200" dirty="0"/>
              <a:t>from a given set of characters</a:t>
            </a:r>
          </a:p>
          <a:p>
            <a:pPr>
              <a:spcBef>
                <a:spcPts val="2000"/>
              </a:spcBef>
            </a:pPr>
            <a:r>
              <a:rPr lang="en-US" altLang="en-US" dirty="0"/>
              <a:t>The range of possible hash codes is very limited.</a:t>
            </a:r>
          </a:p>
          <a:p>
            <a:pPr lvl="1"/>
            <a:r>
              <a:rPr lang="en-US" altLang="en-US" dirty="0"/>
              <a:t>example: hashing keys composed of 1-5 lower-case char's (padded with spaces)</a:t>
            </a:r>
          </a:p>
          <a:p>
            <a:pPr lvl="1"/>
            <a:r>
              <a:rPr lang="en-US" altLang="en-US" dirty="0">
                <a:solidFill>
                  <a:srgbClr val="0000FF"/>
                </a:solidFill>
              </a:rPr>
              <a:t>26*27*27*27*27 </a:t>
            </a:r>
            <a:r>
              <a:rPr lang="en-US" altLang="en-US" dirty="0"/>
              <a:t>= over 13 million possible keys	</a:t>
            </a:r>
          </a:p>
        </p:txBody>
      </p:sp>
    </p:spTree>
    <p:extLst>
      <p:ext uri="{BB962C8B-B14F-4D97-AF65-F5344CB8AC3E}">
        <p14:creationId xmlns:p14="http://schemas.microsoft.com/office/powerpoint/2010/main" val="1262389579"/>
      </p:ext>
    </p:extLst>
  </p:cSld>
  <p:clrMapOvr>
    <a:masterClrMapping/>
  </p:clrMapOvr>
</p:sld>
</file>

<file path=ppt/slides/slide3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87375" y="4127863"/>
            <a:ext cx="8386808" cy="263869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92162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 dirty="0"/>
              <a:t>Hash Functions for Strings: version 1</a:t>
            </a:r>
            <a:br>
              <a:rPr lang="en-US" altLang="en-US" dirty="0"/>
            </a:br>
            <a:r>
              <a:rPr lang="en-US" altLang="en-US" sz="1800" i="1" dirty="0"/>
              <a:t>a side note</a:t>
            </a:r>
          </a:p>
        </p:txBody>
      </p:sp>
      <p:sp>
        <p:nvSpPr>
          <p:cNvPr id="921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802687" cy="5614988"/>
          </a:xfrm>
        </p:spPr>
        <p:txBody>
          <a:bodyPr/>
          <a:lstStyle/>
          <a:p>
            <a:r>
              <a:rPr lang="en-US" altLang="en-US" dirty="0"/>
              <a:t>h</a:t>
            </a:r>
            <a:r>
              <a:rPr lang="en-US" altLang="en-US" baseline="-25000" dirty="0"/>
              <a:t>a</a:t>
            </a:r>
            <a:r>
              <a:rPr lang="en-US" altLang="en-US" dirty="0"/>
              <a:t> = the sum of the characters' ASCII values</a:t>
            </a:r>
          </a:p>
          <a:p>
            <a:pPr>
              <a:spcBef>
                <a:spcPts val="2000"/>
              </a:spcBef>
            </a:pPr>
            <a:r>
              <a:rPr lang="en-US" altLang="en-US" dirty="0"/>
              <a:t>Example: h</a:t>
            </a:r>
            <a:r>
              <a:rPr lang="en-US" altLang="en-US" baseline="-25000" dirty="0"/>
              <a:t>a</a:t>
            </a:r>
            <a:r>
              <a:rPr lang="en-US" altLang="en-US" dirty="0"/>
              <a:t>("eat") = 101 + 97 + 116 = 314</a:t>
            </a:r>
          </a:p>
          <a:p>
            <a:pPr>
              <a:spcBef>
                <a:spcPts val="2000"/>
              </a:spcBef>
            </a:pPr>
            <a:r>
              <a:rPr lang="en-US" altLang="en-US" dirty="0"/>
              <a:t>All permutations of a given set of characters get the same code.</a:t>
            </a:r>
          </a:p>
          <a:p>
            <a:pPr lvl="1"/>
            <a:r>
              <a:rPr lang="en-US" altLang="en-US" dirty="0"/>
              <a:t>example: h</a:t>
            </a:r>
            <a:r>
              <a:rPr lang="en-US" altLang="en-US" baseline="-25000" dirty="0"/>
              <a:t>a</a:t>
            </a:r>
            <a:r>
              <a:rPr lang="en-US" altLang="en-US" dirty="0"/>
              <a:t>("tea") = h</a:t>
            </a:r>
            <a:r>
              <a:rPr lang="en-US" altLang="en-US" baseline="-25000" dirty="0"/>
              <a:t>a</a:t>
            </a:r>
            <a:r>
              <a:rPr lang="en-US" altLang="en-US" dirty="0"/>
              <a:t>("eat")</a:t>
            </a:r>
          </a:p>
          <a:p>
            <a:pPr lvl="1">
              <a:spcBef>
                <a:spcPts val="700"/>
              </a:spcBef>
            </a:pPr>
            <a:r>
              <a:rPr lang="en-US" altLang="en-US" dirty="0"/>
              <a:t>could be useful in a Scrabble game</a:t>
            </a:r>
          </a:p>
          <a:p>
            <a:pPr marL="1147763" lvl="2" indent="-233363">
              <a:spcBef>
                <a:spcPts val="500"/>
              </a:spcBef>
            </a:pPr>
            <a:r>
              <a:rPr lang="en-US" altLang="en-US" sz="2200" dirty="0"/>
              <a:t>allow you to look up all words that can be formed </a:t>
            </a:r>
            <a:br>
              <a:rPr lang="en-US" altLang="en-US" sz="2200" dirty="0"/>
            </a:br>
            <a:r>
              <a:rPr lang="en-US" altLang="en-US" sz="2200" dirty="0"/>
              <a:t>from a given set of characters</a:t>
            </a:r>
          </a:p>
          <a:p>
            <a:pPr>
              <a:spcBef>
                <a:spcPts val="2000"/>
              </a:spcBef>
            </a:pPr>
            <a:r>
              <a:rPr lang="en-US" altLang="en-US" dirty="0"/>
              <a:t>The range of possible hash codes is very limited.</a:t>
            </a:r>
          </a:p>
          <a:p>
            <a:pPr lvl="1"/>
            <a:r>
              <a:rPr lang="en-US" altLang="en-US" dirty="0"/>
              <a:t>example: hashing keys composed of 1-5 lower-case char's (padded with spaces)</a:t>
            </a:r>
          </a:p>
          <a:p>
            <a:pPr lvl="1"/>
            <a:r>
              <a:rPr lang="en-US" altLang="en-US" dirty="0"/>
              <a:t>26*27*27*27*27 = over 13 million possible keys</a:t>
            </a:r>
          </a:p>
          <a:p>
            <a:pPr lvl="1"/>
            <a:r>
              <a:rPr lang="en-US" altLang="en-US" dirty="0"/>
              <a:t>smallest code = h</a:t>
            </a:r>
            <a:r>
              <a:rPr lang="en-US" altLang="en-US" baseline="-25000" dirty="0"/>
              <a:t>a</a:t>
            </a:r>
            <a:r>
              <a:rPr lang="en-US" altLang="en-US" dirty="0"/>
              <a:t>("a    ") = 97 + 4*32 = 225</a:t>
            </a:r>
          </a:p>
          <a:p>
            <a:pPr lvl="1">
              <a:spcBef>
                <a:spcPts val="200"/>
              </a:spcBef>
              <a:buFontTx/>
              <a:buNone/>
            </a:pPr>
            <a:r>
              <a:rPr lang="en-US" altLang="en-US" dirty="0"/>
              <a:t>	largest code = h</a:t>
            </a:r>
            <a:r>
              <a:rPr lang="en-US" altLang="en-US" baseline="-25000" dirty="0"/>
              <a:t>a</a:t>
            </a:r>
            <a:r>
              <a:rPr lang="en-US" altLang="en-US" dirty="0"/>
              <a:t>("</a:t>
            </a:r>
            <a:r>
              <a:rPr lang="en-US" altLang="en-US" dirty="0" err="1"/>
              <a:t>zzzzz</a:t>
            </a:r>
            <a:r>
              <a:rPr lang="en-US" altLang="en-US" dirty="0"/>
              <a:t>") = 5*122 = 610</a:t>
            </a:r>
          </a:p>
          <a:p>
            <a:pPr lvl="1">
              <a:spcBef>
                <a:spcPts val="200"/>
              </a:spcBef>
              <a:buFontTx/>
              <a:buNone/>
            </a:pPr>
            <a:r>
              <a:rPr lang="en-US" altLang="en-US" dirty="0"/>
              <a:t>		</a:t>
            </a:r>
          </a:p>
        </p:txBody>
      </p:sp>
      <p:sp>
        <p:nvSpPr>
          <p:cNvPr id="92164" name="AutoShape 4"/>
          <p:cNvSpPr>
            <a:spLocks/>
          </p:cNvSpPr>
          <p:nvPr/>
        </p:nvSpPr>
        <p:spPr bwMode="auto">
          <a:xfrm>
            <a:off x="6653213" y="5792788"/>
            <a:ext cx="233362" cy="635000"/>
          </a:xfrm>
          <a:prstGeom prst="rightBrace">
            <a:avLst>
              <a:gd name="adj1" fmla="val 22676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>
              <a:spcBef>
                <a:spcPts val="1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 algn="l">
              <a:spcBef>
                <a:spcPts val="525"/>
              </a:spcBef>
              <a:buClr>
                <a:srgbClr val="000000"/>
              </a:buClr>
              <a:buSzPct val="10000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Helvetica" panose="020B0604020202020204" pitchFamily="34" charset="0"/>
              <a:buChar char="–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 Narrow" panose="020B0606020202030204" pitchFamily="34" charset="0"/>
            </a:endParaRPr>
          </a:p>
        </p:txBody>
      </p:sp>
      <p:sp>
        <p:nvSpPr>
          <p:cNvPr id="92165" name="Text Box 5"/>
          <p:cNvSpPr txBox="1">
            <a:spLocks noChangeArrowheads="1"/>
          </p:cNvSpPr>
          <p:nvPr/>
        </p:nvSpPr>
        <p:spPr bwMode="auto">
          <a:xfrm>
            <a:off x="6932613" y="5886450"/>
            <a:ext cx="1751012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>
              <a:spcBef>
                <a:spcPts val="1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 algn="l">
              <a:spcBef>
                <a:spcPts val="525"/>
              </a:spcBef>
              <a:buClr>
                <a:srgbClr val="000000"/>
              </a:buClr>
              <a:buSzPct val="100000"/>
              <a:buChar char="•"/>
              <a:defRPr sz="22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Helvetica" panose="020B0604020202020204" pitchFamily="34" charset="0"/>
              <a:buChar char="–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 algn="l">
              <a:spcBef>
                <a:spcPts val="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ts val="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dirty="0">
                <a:latin typeface="Arial" panose="020B0604020202020204" pitchFamily="34" charset="0"/>
              </a:rPr>
              <a:t>610 – 225 </a:t>
            </a:r>
            <a:br>
              <a:rPr lang="en-US" altLang="en-US" dirty="0">
                <a:latin typeface="Arial" panose="020B0604020202020204" pitchFamily="34" charset="0"/>
              </a:rPr>
            </a:br>
            <a:r>
              <a:rPr lang="en-US" altLang="en-US" dirty="0">
                <a:latin typeface="Arial" panose="020B0604020202020204" pitchFamily="34" charset="0"/>
              </a:rPr>
              <a:t>= </a:t>
            </a:r>
            <a:r>
              <a:rPr lang="en-US" altLang="en-US" dirty="0">
                <a:solidFill>
                  <a:srgbClr val="0000FF"/>
                </a:solidFill>
                <a:latin typeface="Arial" panose="020B0604020202020204" pitchFamily="34" charset="0"/>
              </a:rPr>
              <a:t>385 codes</a:t>
            </a:r>
          </a:p>
        </p:txBody>
      </p:sp>
    </p:spTree>
    <p:extLst>
      <p:ext uri="{BB962C8B-B14F-4D97-AF65-F5344CB8AC3E}">
        <p14:creationId xmlns:p14="http://schemas.microsoft.com/office/powerpoint/2010/main" val="2952927871"/>
      </p:ext>
    </p:extLst>
  </p:cSld>
  <p:clrMapOvr>
    <a:masterClrMapping/>
  </p:clrMapOvr>
</p:sld>
</file>

<file path=ppt/slides/slide3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05394" y="844550"/>
            <a:ext cx="7743281" cy="221215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93186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 dirty="0"/>
              <a:t>Hash Functions for Strings: version 2</a:t>
            </a:r>
            <a:br>
              <a:rPr lang="en-US" altLang="en-US" dirty="0"/>
            </a:br>
            <a:r>
              <a:rPr lang="en-US" altLang="en-US" sz="1800" i="1" dirty="0"/>
              <a:t>a side note</a:t>
            </a:r>
            <a:endParaRPr lang="en-US" altLang="en-US" sz="1800" dirty="0"/>
          </a:p>
        </p:txBody>
      </p:sp>
      <p:sp>
        <p:nvSpPr>
          <p:cNvPr id="931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512175" cy="5614988"/>
          </a:xfrm>
        </p:spPr>
        <p:txBody>
          <a:bodyPr/>
          <a:lstStyle/>
          <a:p>
            <a:pPr>
              <a:tabLst>
                <a:tab pos="1379538" algn="l"/>
              </a:tabLst>
            </a:pPr>
            <a:r>
              <a:rPr lang="en-US" altLang="en-US" dirty="0"/>
              <a:t>Compute a </a:t>
            </a:r>
            <a:r>
              <a:rPr lang="en-US" altLang="en-US" i="1" dirty="0">
                <a:solidFill>
                  <a:schemeClr val="accent2"/>
                </a:solidFill>
              </a:rPr>
              <a:t>weighted</a:t>
            </a:r>
            <a:r>
              <a:rPr lang="en-US" altLang="en-US" dirty="0"/>
              <a:t> sum of the ASCII values:</a:t>
            </a:r>
          </a:p>
          <a:p>
            <a:pPr>
              <a:spcBef>
                <a:spcPts val="1000"/>
              </a:spcBef>
              <a:buFont typeface="Times New Roman" panose="02020603050405020304" pitchFamily="18" charset="0"/>
              <a:buNone/>
              <a:tabLst>
                <a:tab pos="1379538" algn="l"/>
              </a:tabLst>
            </a:pPr>
            <a:r>
              <a:rPr lang="en-US" altLang="en-US" dirty="0"/>
              <a:t>	        </a:t>
            </a:r>
            <a:r>
              <a:rPr lang="en-US" altLang="en-US" dirty="0" err="1"/>
              <a:t>h</a:t>
            </a:r>
            <a:r>
              <a:rPr lang="en-US" altLang="en-US" baseline="-25000" dirty="0" err="1"/>
              <a:t>b</a:t>
            </a:r>
            <a:r>
              <a:rPr lang="en-US" altLang="en-US" baseline="-25000" dirty="0"/>
              <a:t> </a:t>
            </a:r>
            <a:r>
              <a:rPr lang="en-US" altLang="en-US" dirty="0"/>
              <a:t>= a</a:t>
            </a:r>
            <a:r>
              <a:rPr lang="en-US" altLang="en-US" baseline="-25000" dirty="0"/>
              <a:t>0</a:t>
            </a:r>
            <a:r>
              <a:rPr lang="en-US" altLang="en-US" dirty="0"/>
              <a:t>b</a:t>
            </a:r>
            <a:r>
              <a:rPr lang="en-US" altLang="en-US" baseline="30000" dirty="0"/>
              <a:t>n–1</a:t>
            </a:r>
            <a:r>
              <a:rPr lang="en-US" altLang="en-US" dirty="0"/>
              <a:t> + a</a:t>
            </a:r>
            <a:r>
              <a:rPr lang="en-US" altLang="en-US" baseline="-25000" dirty="0"/>
              <a:t>1</a:t>
            </a:r>
            <a:r>
              <a:rPr lang="en-US" altLang="en-US" dirty="0"/>
              <a:t>b</a:t>
            </a:r>
            <a:r>
              <a:rPr lang="en-US" altLang="en-US" baseline="30000" dirty="0"/>
              <a:t>n–2</a:t>
            </a:r>
            <a:r>
              <a:rPr lang="en-US" altLang="en-US" dirty="0"/>
              <a:t> + … + a</a:t>
            </a:r>
            <a:r>
              <a:rPr lang="en-US" altLang="en-US" baseline="-25000" dirty="0"/>
              <a:t>n–2</a:t>
            </a:r>
            <a:r>
              <a:rPr lang="en-US" altLang="en-US" dirty="0"/>
              <a:t>b + a</a:t>
            </a:r>
            <a:r>
              <a:rPr lang="en-US" altLang="en-US" baseline="-25000" dirty="0"/>
              <a:t>n–1</a:t>
            </a:r>
          </a:p>
          <a:p>
            <a:pPr>
              <a:spcBef>
                <a:spcPts val="1000"/>
              </a:spcBef>
              <a:buFont typeface="Times New Roman" panose="02020603050405020304" pitchFamily="18" charset="0"/>
              <a:buNone/>
              <a:tabLst>
                <a:tab pos="1379538" algn="l"/>
              </a:tabLst>
            </a:pPr>
            <a:r>
              <a:rPr lang="en-US" altLang="en-US" dirty="0"/>
              <a:t>	where 	</a:t>
            </a:r>
            <a:r>
              <a:rPr lang="en-US" altLang="en-US" dirty="0" err="1"/>
              <a:t>a</a:t>
            </a:r>
            <a:r>
              <a:rPr lang="en-US" altLang="en-US" baseline="-25000" dirty="0" err="1"/>
              <a:t>i</a:t>
            </a:r>
            <a:r>
              <a:rPr lang="en-US" altLang="en-US" dirty="0"/>
              <a:t> = ASCII value of the </a:t>
            </a:r>
            <a:r>
              <a:rPr lang="en-US" altLang="en-US" dirty="0" err="1"/>
              <a:t>ith</a:t>
            </a:r>
            <a:r>
              <a:rPr lang="en-US" altLang="en-US" dirty="0"/>
              <a:t> character</a:t>
            </a:r>
          </a:p>
          <a:p>
            <a:pPr lvl="1">
              <a:spcBef>
                <a:spcPct val="0"/>
              </a:spcBef>
              <a:buFontTx/>
              <a:buNone/>
              <a:tabLst>
                <a:tab pos="1379538" algn="l"/>
              </a:tabLst>
            </a:pPr>
            <a:r>
              <a:rPr lang="en-US" altLang="en-US" dirty="0"/>
              <a:t>		b = a constant</a:t>
            </a:r>
            <a:br>
              <a:rPr lang="en-US" altLang="en-US" dirty="0"/>
            </a:br>
            <a:r>
              <a:rPr lang="en-US" altLang="en-US" dirty="0"/>
              <a:t>	n = the number of characters</a:t>
            </a:r>
          </a:p>
          <a:p>
            <a:pPr>
              <a:spcBef>
                <a:spcPts val="2000"/>
              </a:spcBef>
              <a:tabLst>
                <a:tab pos="1379538" algn="l"/>
              </a:tabLst>
            </a:pPr>
            <a:r>
              <a:rPr lang="en-US" altLang="en-US" dirty="0"/>
              <a:t>Multiplying by powers of b allows the </a:t>
            </a:r>
            <a:r>
              <a:rPr lang="en-US" altLang="en-US" i="1" dirty="0"/>
              <a:t>positions </a:t>
            </a:r>
            <a:r>
              <a:rPr lang="en-US" altLang="en-US" dirty="0"/>
              <a:t>of the characters to affect the hash code.</a:t>
            </a:r>
          </a:p>
          <a:p>
            <a:pPr lvl="1">
              <a:spcBef>
                <a:spcPts val="500"/>
              </a:spcBef>
              <a:tabLst>
                <a:tab pos="1379538" algn="l"/>
              </a:tabLst>
            </a:pPr>
            <a:r>
              <a:rPr lang="en-US" altLang="en-US" dirty="0"/>
              <a:t>different permutations get different codes</a:t>
            </a:r>
          </a:p>
        </p:txBody>
      </p:sp>
    </p:spTree>
    <p:extLst>
      <p:ext uri="{BB962C8B-B14F-4D97-AF65-F5344CB8AC3E}">
        <p14:creationId xmlns:p14="http://schemas.microsoft.com/office/powerpoint/2010/main" val="1864744947"/>
      </p:ext>
    </p:extLst>
  </p:cSld>
  <p:clrMapOvr>
    <a:masterClrMapping/>
  </p:clrMapOvr>
</p:sld>
</file>

<file path=ppt/slides/slide3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87375" y="5190978"/>
            <a:ext cx="7861300" cy="98473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94210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 dirty="0"/>
              <a:t>Hash Functions for Strings: version 2</a:t>
            </a:r>
            <a:br>
              <a:rPr lang="en-US" altLang="en-US" dirty="0"/>
            </a:br>
            <a:r>
              <a:rPr lang="en-US" altLang="en-US" sz="1800" i="1" dirty="0"/>
              <a:t>a side note</a:t>
            </a:r>
            <a:endParaRPr lang="en-US" altLang="en-US" sz="1800" dirty="0"/>
          </a:p>
        </p:txBody>
      </p:sp>
      <p:sp>
        <p:nvSpPr>
          <p:cNvPr id="942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512175" cy="5614988"/>
          </a:xfrm>
        </p:spPr>
        <p:txBody>
          <a:bodyPr/>
          <a:lstStyle/>
          <a:p>
            <a:pPr>
              <a:tabLst>
                <a:tab pos="1379538" algn="l"/>
              </a:tabLst>
            </a:pPr>
            <a:r>
              <a:rPr lang="en-US" altLang="en-US" dirty="0"/>
              <a:t>Compute a </a:t>
            </a:r>
            <a:r>
              <a:rPr lang="en-US" altLang="en-US" i="1" dirty="0"/>
              <a:t>weighted</a:t>
            </a:r>
            <a:r>
              <a:rPr lang="en-US" altLang="en-US" dirty="0"/>
              <a:t> sum of the ASCII values:</a:t>
            </a:r>
          </a:p>
          <a:p>
            <a:pPr>
              <a:spcBef>
                <a:spcPts val="1000"/>
              </a:spcBef>
              <a:buFont typeface="Times New Roman" panose="02020603050405020304" pitchFamily="18" charset="0"/>
              <a:buNone/>
              <a:tabLst>
                <a:tab pos="1379538" algn="l"/>
              </a:tabLst>
            </a:pPr>
            <a:r>
              <a:rPr lang="en-US" altLang="en-US" dirty="0"/>
              <a:t>	        </a:t>
            </a:r>
            <a:r>
              <a:rPr lang="en-US" altLang="en-US" dirty="0" err="1"/>
              <a:t>h</a:t>
            </a:r>
            <a:r>
              <a:rPr lang="en-US" altLang="en-US" baseline="-25000" dirty="0" err="1"/>
              <a:t>b</a:t>
            </a:r>
            <a:r>
              <a:rPr lang="en-US" altLang="en-US" baseline="-25000" dirty="0"/>
              <a:t> </a:t>
            </a:r>
            <a:r>
              <a:rPr lang="en-US" altLang="en-US" dirty="0"/>
              <a:t>= a</a:t>
            </a:r>
            <a:r>
              <a:rPr lang="en-US" altLang="en-US" baseline="-25000" dirty="0"/>
              <a:t>0</a:t>
            </a:r>
            <a:r>
              <a:rPr lang="en-US" altLang="en-US" dirty="0"/>
              <a:t>b</a:t>
            </a:r>
            <a:r>
              <a:rPr lang="en-US" altLang="en-US" baseline="30000" dirty="0"/>
              <a:t>n–1</a:t>
            </a:r>
            <a:r>
              <a:rPr lang="en-US" altLang="en-US" dirty="0"/>
              <a:t> + a</a:t>
            </a:r>
            <a:r>
              <a:rPr lang="en-US" altLang="en-US" baseline="-25000" dirty="0"/>
              <a:t>1</a:t>
            </a:r>
            <a:r>
              <a:rPr lang="en-US" altLang="en-US" dirty="0"/>
              <a:t>b</a:t>
            </a:r>
            <a:r>
              <a:rPr lang="en-US" altLang="en-US" baseline="30000" dirty="0"/>
              <a:t>n–2</a:t>
            </a:r>
            <a:r>
              <a:rPr lang="en-US" altLang="en-US" dirty="0"/>
              <a:t> + … + a</a:t>
            </a:r>
            <a:r>
              <a:rPr lang="en-US" altLang="en-US" baseline="-25000" dirty="0"/>
              <a:t>n–2</a:t>
            </a:r>
            <a:r>
              <a:rPr lang="en-US" altLang="en-US" dirty="0"/>
              <a:t>b + a</a:t>
            </a:r>
            <a:r>
              <a:rPr lang="en-US" altLang="en-US" baseline="-25000" dirty="0"/>
              <a:t>n–1</a:t>
            </a:r>
          </a:p>
          <a:p>
            <a:pPr>
              <a:spcBef>
                <a:spcPts val="1000"/>
              </a:spcBef>
              <a:buFont typeface="Times New Roman" panose="02020603050405020304" pitchFamily="18" charset="0"/>
              <a:buNone/>
              <a:tabLst>
                <a:tab pos="1379538" algn="l"/>
              </a:tabLst>
            </a:pPr>
            <a:r>
              <a:rPr lang="en-US" altLang="en-US" dirty="0"/>
              <a:t>	where 	</a:t>
            </a:r>
            <a:r>
              <a:rPr lang="en-US" altLang="en-US" dirty="0" err="1"/>
              <a:t>a</a:t>
            </a:r>
            <a:r>
              <a:rPr lang="en-US" altLang="en-US" baseline="-25000" dirty="0" err="1"/>
              <a:t>i</a:t>
            </a:r>
            <a:r>
              <a:rPr lang="en-US" altLang="en-US" dirty="0"/>
              <a:t> = ASCII value of the </a:t>
            </a:r>
            <a:r>
              <a:rPr lang="en-US" altLang="en-US" dirty="0" err="1"/>
              <a:t>ith</a:t>
            </a:r>
            <a:r>
              <a:rPr lang="en-US" altLang="en-US" dirty="0"/>
              <a:t> character</a:t>
            </a:r>
          </a:p>
          <a:p>
            <a:pPr lvl="1">
              <a:spcBef>
                <a:spcPct val="0"/>
              </a:spcBef>
              <a:buFontTx/>
              <a:buNone/>
              <a:tabLst>
                <a:tab pos="1379538" algn="l"/>
              </a:tabLst>
            </a:pPr>
            <a:r>
              <a:rPr lang="en-US" altLang="en-US" dirty="0"/>
              <a:t>		b = a constant</a:t>
            </a:r>
            <a:br>
              <a:rPr lang="en-US" altLang="en-US" dirty="0"/>
            </a:br>
            <a:r>
              <a:rPr lang="en-US" altLang="en-US" dirty="0"/>
              <a:t>	n = the number of characters</a:t>
            </a:r>
          </a:p>
          <a:p>
            <a:pPr>
              <a:spcBef>
                <a:spcPts val="2000"/>
              </a:spcBef>
              <a:tabLst>
                <a:tab pos="1379538" algn="l"/>
              </a:tabLst>
            </a:pPr>
            <a:r>
              <a:rPr lang="en-US" altLang="en-US" dirty="0"/>
              <a:t>Multiplying by powers of b allows the </a:t>
            </a:r>
            <a:r>
              <a:rPr lang="en-US" altLang="en-US" i="1" dirty="0"/>
              <a:t>positions </a:t>
            </a:r>
            <a:r>
              <a:rPr lang="en-US" altLang="en-US" dirty="0"/>
              <a:t>of the characters to affect the hash code.</a:t>
            </a:r>
          </a:p>
          <a:p>
            <a:pPr lvl="1">
              <a:spcBef>
                <a:spcPts val="500"/>
              </a:spcBef>
              <a:tabLst>
                <a:tab pos="1379538" algn="l"/>
              </a:tabLst>
            </a:pPr>
            <a:r>
              <a:rPr lang="en-US" altLang="en-US" dirty="0"/>
              <a:t>different permutations get different codes</a:t>
            </a:r>
          </a:p>
          <a:p>
            <a:pPr>
              <a:spcBef>
                <a:spcPts val="2000"/>
              </a:spcBef>
              <a:tabLst>
                <a:tab pos="1379538" algn="l"/>
              </a:tabLst>
            </a:pPr>
            <a:r>
              <a:rPr lang="en-US" altLang="en-US" dirty="0">
                <a:solidFill>
                  <a:schemeClr val="accent2"/>
                </a:solidFill>
              </a:rPr>
              <a:t>We may get arithmetic overflow, and thus the code </a:t>
            </a:r>
            <a:br>
              <a:rPr lang="en-US" altLang="en-US" dirty="0">
                <a:solidFill>
                  <a:schemeClr val="accent2"/>
                </a:solidFill>
              </a:rPr>
            </a:br>
            <a:r>
              <a:rPr lang="en-US" altLang="en-US" dirty="0">
                <a:solidFill>
                  <a:schemeClr val="accent2"/>
                </a:solidFill>
              </a:rPr>
              <a:t>may be negative.</a:t>
            </a:r>
            <a:r>
              <a:rPr lang="en-US" altLang="en-US" dirty="0">
                <a:solidFill>
                  <a:schemeClr val="accent2"/>
                </a:solidFill>
                <a:sym typeface="Wingdings" panose="05000000000000000000" pitchFamily="2" charset="2"/>
              </a:rPr>
              <a:t>  We adjust it when this happens.</a:t>
            </a:r>
          </a:p>
          <a:p>
            <a:pPr>
              <a:spcBef>
                <a:spcPts val="2000"/>
              </a:spcBef>
              <a:tabLst>
                <a:tab pos="1379538" algn="l"/>
              </a:tabLst>
            </a:pPr>
            <a:r>
              <a:rPr lang="en-US" altLang="en-US" dirty="0">
                <a:sym typeface="Wingdings" panose="05000000000000000000" pitchFamily="2" charset="2"/>
              </a:rPr>
              <a:t>Java uses this hash function with </a:t>
            </a:r>
            <a:r>
              <a:rPr lang="en-US" altLang="en-US" dirty="0">
                <a:solidFill>
                  <a:srgbClr val="0000FF"/>
                </a:solidFill>
                <a:sym typeface="Wingdings" panose="05000000000000000000" pitchFamily="2" charset="2"/>
              </a:rPr>
              <a:t>b = 31 </a:t>
            </a:r>
            <a:r>
              <a:rPr lang="en-US" altLang="en-US" dirty="0">
                <a:sym typeface="Wingdings" panose="05000000000000000000" pitchFamily="2" charset="2"/>
              </a:rPr>
              <a:t>in the </a:t>
            </a:r>
            <a:r>
              <a:rPr lang="en-US" altLang="en-US" sz="2000" dirty="0" err="1">
                <a:latin typeface="Lucida Console" panose="020B0609040504020204" pitchFamily="49" charset="0"/>
                <a:sym typeface="Wingdings" panose="05000000000000000000" pitchFamily="2" charset="2"/>
              </a:rPr>
              <a:t>hashCode</a:t>
            </a:r>
            <a:r>
              <a:rPr lang="en-US" altLang="en-US" sz="2000" dirty="0">
                <a:latin typeface="Lucida Console" panose="020B0609040504020204" pitchFamily="49" charset="0"/>
                <a:sym typeface="Wingdings" panose="05000000000000000000" pitchFamily="2" charset="2"/>
              </a:rPr>
              <a:t>()</a:t>
            </a:r>
            <a:r>
              <a:rPr lang="en-US" altLang="en-US" dirty="0">
                <a:sym typeface="Wingdings" panose="05000000000000000000" pitchFamily="2" charset="2"/>
              </a:rPr>
              <a:t> </a:t>
            </a:r>
            <a:br>
              <a:rPr lang="en-US" altLang="en-US" dirty="0">
                <a:sym typeface="Wingdings" panose="05000000000000000000" pitchFamily="2" charset="2"/>
              </a:rPr>
            </a:br>
            <a:r>
              <a:rPr lang="en-US" altLang="en-US" dirty="0">
                <a:sym typeface="Wingdings" panose="05000000000000000000" pitchFamily="2" charset="2"/>
              </a:rPr>
              <a:t>method of the </a:t>
            </a:r>
            <a:r>
              <a:rPr lang="en-US" altLang="en-US" sz="2000" dirty="0">
                <a:latin typeface="Lucida Console" panose="020B0609040504020204" pitchFamily="49" charset="0"/>
                <a:sym typeface="Wingdings" panose="05000000000000000000" pitchFamily="2" charset="2"/>
              </a:rPr>
              <a:t>String</a:t>
            </a:r>
            <a:r>
              <a:rPr lang="en-US" altLang="en-US" dirty="0">
                <a:sym typeface="Wingdings" panose="05000000000000000000" pitchFamily="2" charset="2"/>
              </a:rPr>
              <a:t> class.</a:t>
            </a:r>
          </a:p>
        </p:txBody>
      </p:sp>
    </p:spTree>
    <p:extLst>
      <p:ext uri="{BB962C8B-B14F-4D97-AF65-F5344CB8AC3E}">
        <p14:creationId xmlns:p14="http://schemas.microsoft.com/office/powerpoint/2010/main" val="2011007863"/>
      </p:ext>
    </p:extLst>
  </p:cSld>
  <p:clrMapOvr>
    <a:masterClrMapping/>
  </p:clrMapOvr>
</p:sld>
</file>

<file path=ppt/slides/slide3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87375" y="844550"/>
            <a:ext cx="8267867" cy="58403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952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802687" cy="5614988"/>
          </a:xfrm>
        </p:spPr>
        <p:txBody>
          <a:bodyPr/>
          <a:lstStyle/>
          <a:p>
            <a:pPr>
              <a:tabLst>
                <a:tab pos="1379538" algn="l"/>
              </a:tabLst>
            </a:pPr>
            <a:r>
              <a:rPr lang="en-US" altLang="en-US" dirty="0"/>
              <a:t>In the best case, search and insertion are </a:t>
            </a:r>
            <a:r>
              <a:rPr lang="en-US" altLang="en-US" i="1" dirty="0">
                <a:solidFill>
                  <a:srgbClr val="0000FF"/>
                </a:solidFill>
              </a:rPr>
              <a:t>O</a:t>
            </a:r>
            <a:r>
              <a:rPr lang="en-US" altLang="en-US" dirty="0">
                <a:solidFill>
                  <a:srgbClr val="0000FF"/>
                </a:solidFill>
              </a:rPr>
              <a:t>(1)</a:t>
            </a:r>
            <a:r>
              <a:rPr lang="en-US" altLang="en-US" dirty="0"/>
              <a:t>.</a:t>
            </a:r>
            <a:endParaRPr lang="en-US" altLang="en-US" dirty="0">
              <a:sym typeface="Wingdings" panose="05000000000000000000" pitchFamily="2" charset="2"/>
            </a:endParaRPr>
          </a:p>
        </p:txBody>
      </p:sp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Hash Table Efficiency</a:t>
            </a:r>
          </a:p>
        </p:txBody>
      </p:sp>
    </p:spTree>
    <p:extLst>
      <p:ext uri="{BB962C8B-B14F-4D97-AF65-F5344CB8AC3E}">
        <p14:creationId xmlns:p14="http://schemas.microsoft.com/office/powerpoint/2010/main" val="1188873156"/>
      </p:ext>
    </p:extLst>
  </p:cSld>
  <p:clrMapOvr>
    <a:masterClrMapping/>
  </p:clrMapOvr>
</p:sld>
</file>

<file path=ppt/slides/slide3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87374" y="1431696"/>
            <a:ext cx="8412247" cy="134358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952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802687" cy="5614988"/>
          </a:xfrm>
        </p:spPr>
        <p:txBody>
          <a:bodyPr/>
          <a:lstStyle/>
          <a:p>
            <a:pPr>
              <a:tabLst>
                <a:tab pos="1379538" algn="l"/>
              </a:tabLst>
            </a:pPr>
            <a:r>
              <a:rPr lang="en-US" altLang="en-US" dirty="0"/>
              <a:t>In the best case, search and insertion are </a:t>
            </a:r>
            <a:r>
              <a:rPr lang="en-US" altLang="en-US" i="1" dirty="0"/>
              <a:t>O</a:t>
            </a:r>
            <a:r>
              <a:rPr lang="en-US" altLang="en-US" dirty="0"/>
              <a:t>(1).</a:t>
            </a:r>
            <a:endParaRPr lang="en-US" altLang="en-US" dirty="0">
              <a:sym typeface="Wingdings" panose="05000000000000000000" pitchFamily="2" charset="2"/>
            </a:endParaRPr>
          </a:p>
          <a:p>
            <a:pPr>
              <a:spcBef>
                <a:spcPts val="2000"/>
              </a:spcBef>
              <a:tabLst>
                <a:tab pos="1379538" algn="l"/>
              </a:tabLst>
            </a:pPr>
            <a:r>
              <a:rPr lang="en-US" altLang="en-US" dirty="0">
                <a:sym typeface="Wingdings" panose="05000000000000000000" pitchFamily="2" charset="2"/>
              </a:rPr>
              <a:t>In the worst case, search and insertion are linear.</a:t>
            </a:r>
          </a:p>
          <a:p>
            <a:pPr lvl="1">
              <a:spcBef>
                <a:spcPts val="500"/>
              </a:spcBef>
              <a:tabLst>
                <a:tab pos="1379538" algn="l"/>
              </a:tabLst>
            </a:pPr>
            <a:r>
              <a:rPr lang="en-US" altLang="en-US" dirty="0">
                <a:sym typeface="Wingdings" panose="05000000000000000000" pitchFamily="2" charset="2"/>
              </a:rPr>
              <a:t>open addressing: </a:t>
            </a:r>
            <a:r>
              <a:rPr lang="en-US" altLang="en-US" i="1" dirty="0">
                <a:solidFill>
                  <a:srgbClr val="0000FF"/>
                </a:solidFill>
                <a:sym typeface="Wingdings" panose="05000000000000000000" pitchFamily="2" charset="2"/>
              </a:rPr>
              <a:t>O</a:t>
            </a:r>
            <a:r>
              <a:rPr lang="en-US" altLang="en-US" dirty="0">
                <a:solidFill>
                  <a:srgbClr val="0000FF"/>
                </a:solidFill>
                <a:sym typeface="Wingdings" panose="05000000000000000000" pitchFamily="2" charset="2"/>
              </a:rPr>
              <a:t>(m)</a:t>
            </a:r>
            <a:r>
              <a:rPr lang="en-US" altLang="en-US" dirty="0">
                <a:sym typeface="Wingdings" panose="05000000000000000000" pitchFamily="2" charset="2"/>
              </a:rPr>
              <a:t>, where m = the size of the hash table</a:t>
            </a:r>
          </a:p>
          <a:p>
            <a:pPr lvl="1">
              <a:spcBef>
                <a:spcPts val="200"/>
              </a:spcBef>
              <a:tabLst>
                <a:tab pos="1379538" algn="l"/>
              </a:tabLst>
            </a:pPr>
            <a:r>
              <a:rPr lang="en-US" altLang="en-US" dirty="0">
                <a:sym typeface="Wingdings" panose="05000000000000000000" pitchFamily="2" charset="2"/>
              </a:rPr>
              <a:t>separate chaining: </a:t>
            </a:r>
            <a:r>
              <a:rPr lang="en-US" altLang="en-US" i="1" dirty="0">
                <a:solidFill>
                  <a:srgbClr val="0000FF"/>
                </a:solidFill>
                <a:sym typeface="Wingdings" panose="05000000000000000000" pitchFamily="2" charset="2"/>
              </a:rPr>
              <a:t>O</a:t>
            </a:r>
            <a:r>
              <a:rPr lang="en-US" altLang="en-US" dirty="0">
                <a:solidFill>
                  <a:srgbClr val="0000FF"/>
                </a:solidFill>
                <a:sym typeface="Wingdings" panose="05000000000000000000" pitchFamily="2" charset="2"/>
              </a:rPr>
              <a:t>(n)</a:t>
            </a:r>
            <a:r>
              <a:rPr lang="en-US" altLang="en-US" dirty="0">
                <a:sym typeface="Wingdings" panose="05000000000000000000" pitchFamily="2" charset="2"/>
              </a:rPr>
              <a:t>, where n = the number of keys</a:t>
            </a:r>
          </a:p>
          <a:p>
            <a:pPr>
              <a:spcBef>
                <a:spcPts val="2000"/>
              </a:spcBef>
              <a:buFontTx/>
              <a:buChar char="•"/>
              <a:tabLst>
                <a:tab pos="1379538" algn="l"/>
              </a:tabLst>
            </a:pPr>
            <a:r>
              <a:rPr lang="en-US" altLang="en-US" dirty="0">
                <a:sym typeface="Wingdings" panose="05000000000000000000" pitchFamily="2" charset="2"/>
              </a:rPr>
              <a:t>With good choices of hash function and table size, </a:t>
            </a:r>
            <a:br>
              <a:rPr lang="en-US" altLang="en-US" dirty="0">
                <a:sym typeface="Wingdings" panose="05000000000000000000" pitchFamily="2" charset="2"/>
              </a:rPr>
            </a:br>
            <a:r>
              <a:rPr lang="en-US" altLang="en-US" dirty="0">
                <a:sym typeface="Wingdings" panose="05000000000000000000" pitchFamily="2" charset="2"/>
              </a:rPr>
              <a:t>complexity is generally </a:t>
            </a:r>
            <a:r>
              <a:rPr lang="en-US" altLang="en-US" dirty="0">
                <a:solidFill>
                  <a:srgbClr val="0000FF"/>
                </a:solidFill>
                <a:sym typeface="Wingdings" panose="05000000000000000000" pitchFamily="2" charset="2"/>
              </a:rPr>
              <a:t>better than </a:t>
            </a:r>
            <a:r>
              <a:rPr lang="en-US" altLang="en-US" i="1" dirty="0">
                <a:solidFill>
                  <a:srgbClr val="0000FF"/>
                </a:solidFill>
                <a:sym typeface="Wingdings" panose="05000000000000000000" pitchFamily="2" charset="2"/>
              </a:rPr>
              <a:t>O</a:t>
            </a:r>
            <a:r>
              <a:rPr lang="en-US" altLang="en-US" dirty="0">
                <a:solidFill>
                  <a:srgbClr val="0000FF"/>
                </a:solidFill>
                <a:sym typeface="Wingdings" panose="05000000000000000000" pitchFamily="2" charset="2"/>
              </a:rPr>
              <a:t>(log n) </a:t>
            </a:r>
            <a:r>
              <a:rPr lang="en-US" altLang="en-US" dirty="0">
                <a:sym typeface="Wingdings" panose="05000000000000000000" pitchFamily="2" charset="2"/>
              </a:rPr>
              <a:t>and approaches </a:t>
            </a:r>
            <a:r>
              <a:rPr lang="en-US" altLang="en-US" i="1" dirty="0">
                <a:sym typeface="Wingdings" panose="05000000000000000000" pitchFamily="2" charset="2"/>
              </a:rPr>
              <a:t>O</a:t>
            </a:r>
            <a:r>
              <a:rPr lang="en-US" altLang="en-US" dirty="0">
                <a:sym typeface="Wingdings" panose="05000000000000000000" pitchFamily="2" charset="2"/>
              </a:rPr>
              <a:t>(1).</a:t>
            </a:r>
          </a:p>
        </p:txBody>
      </p:sp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Hash Table Efficiency</a:t>
            </a:r>
          </a:p>
        </p:txBody>
      </p:sp>
    </p:spTree>
    <p:extLst>
      <p:ext uri="{BB962C8B-B14F-4D97-AF65-F5344CB8AC3E}">
        <p14:creationId xmlns:p14="http://schemas.microsoft.com/office/powerpoint/2010/main" val="3432237799"/>
      </p:ext>
    </p:extLst>
  </p:cSld>
  <p:clrMapOvr>
    <a:masterClrMapping/>
  </p:clrMapOvr>
</p:sld>
</file>

<file path=ppt/slides/slide3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87376" y="2731107"/>
            <a:ext cx="8348078" cy="97461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952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802687" cy="5614988"/>
          </a:xfrm>
        </p:spPr>
        <p:txBody>
          <a:bodyPr/>
          <a:lstStyle/>
          <a:p>
            <a:pPr>
              <a:tabLst>
                <a:tab pos="1379538" algn="l"/>
              </a:tabLst>
            </a:pPr>
            <a:r>
              <a:rPr lang="en-US" altLang="en-US" dirty="0"/>
              <a:t>In the best case, search and insertion are </a:t>
            </a:r>
            <a:r>
              <a:rPr lang="en-US" altLang="en-US" i="1" dirty="0"/>
              <a:t>O</a:t>
            </a:r>
            <a:r>
              <a:rPr lang="en-US" altLang="en-US" dirty="0"/>
              <a:t>(1).</a:t>
            </a:r>
            <a:endParaRPr lang="en-US" altLang="en-US" dirty="0">
              <a:sym typeface="Wingdings" panose="05000000000000000000" pitchFamily="2" charset="2"/>
            </a:endParaRPr>
          </a:p>
          <a:p>
            <a:pPr>
              <a:spcBef>
                <a:spcPts val="2000"/>
              </a:spcBef>
              <a:tabLst>
                <a:tab pos="1379538" algn="l"/>
              </a:tabLst>
            </a:pPr>
            <a:r>
              <a:rPr lang="en-US" altLang="en-US" dirty="0">
                <a:sym typeface="Wingdings" panose="05000000000000000000" pitchFamily="2" charset="2"/>
              </a:rPr>
              <a:t>In the worst case, search and insertion are linear.</a:t>
            </a:r>
          </a:p>
          <a:p>
            <a:pPr lvl="1">
              <a:spcBef>
                <a:spcPts val="500"/>
              </a:spcBef>
              <a:tabLst>
                <a:tab pos="1379538" algn="l"/>
              </a:tabLst>
            </a:pPr>
            <a:r>
              <a:rPr lang="en-US" altLang="en-US" dirty="0">
                <a:sym typeface="Wingdings" panose="05000000000000000000" pitchFamily="2" charset="2"/>
              </a:rPr>
              <a:t>open addressing: </a:t>
            </a:r>
            <a:r>
              <a:rPr lang="en-US" altLang="en-US" i="1" dirty="0">
                <a:solidFill>
                  <a:srgbClr val="0000FF"/>
                </a:solidFill>
                <a:sym typeface="Wingdings" panose="05000000000000000000" pitchFamily="2" charset="2"/>
              </a:rPr>
              <a:t>O</a:t>
            </a:r>
            <a:r>
              <a:rPr lang="en-US" altLang="en-US" dirty="0">
                <a:solidFill>
                  <a:srgbClr val="0000FF"/>
                </a:solidFill>
                <a:sym typeface="Wingdings" panose="05000000000000000000" pitchFamily="2" charset="2"/>
              </a:rPr>
              <a:t>(m)</a:t>
            </a:r>
            <a:r>
              <a:rPr lang="en-US" altLang="en-US" dirty="0">
                <a:sym typeface="Wingdings" panose="05000000000000000000" pitchFamily="2" charset="2"/>
              </a:rPr>
              <a:t>, where m = the size of the hash table</a:t>
            </a:r>
          </a:p>
          <a:p>
            <a:pPr lvl="1">
              <a:spcBef>
                <a:spcPts val="200"/>
              </a:spcBef>
              <a:tabLst>
                <a:tab pos="1379538" algn="l"/>
              </a:tabLst>
            </a:pPr>
            <a:r>
              <a:rPr lang="en-US" altLang="en-US" dirty="0">
                <a:sym typeface="Wingdings" panose="05000000000000000000" pitchFamily="2" charset="2"/>
              </a:rPr>
              <a:t>separate chaining: </a:t>
            </a:r>
            <a:r>
              <a:rPr lang="en-US" altLang="en-US" i="1" dirty="0">
                <a:solidFill>
                  <a:srgbClr val="0000FF"/>
                </a:solidFill>
                <a:sym typeface="Wingdings" panose="05000000000000000000" pitchFamily="2" charset="2"/>
              </a:rPr>
              <a:t>O</a:t>
            </a:r>
            <a:r>
              <a:rPr lang="en-US" altLang="en-US" dirty="0">
                <a:solidFill>
                  <a:srgbClr val="0000FF"/>
                </a:solidFill>
                <a:sym typeface="Wingdings" panose="05000000000000000000" pitchFamily="2" charset="2"/>
              </a:rPr>
              <a:t>(n)</a:t>
            </a:r>
            <a:r>
              <a:rPr lang="en-US" altLang="en-US" dirty="0">
                <a:sym typeface="Wingdings" panose="05000000000000000000" pitchFamily="2" charset="2"/>
              </a:rPr>
              <a:t>, where n = the number of keys</a:t>
            </a:r>
          </a:p>
          <a:p>
            <a:pPr>
              <a:spcBef>
                <a:spcPts val="2000"/>
              </a:spcBef>
              <a:buFontTx/>
              <a:buChar char="•"/>
              <a:tabLst>
                <a:tab pos="1379538" algn="l"/>
              </a:tabLst>
            </a:pPr>
            <a:r>
              <a:rPr lang="en-US" altLang="en-US" dirty="0">
                <a:sym typeface="Wingdings" panose="05000000000000000000" pitchFamily="2" charset="2"/>
              </a:rPr>
              <a:t>With good choices of hash function and table size, </a:t>
            </a:r>
            <a:br>
              <a:rPr lang="en-US" altLang="en-US" dirty="0">
                <a:sym typeface="Wingdings" panose="05000000000000000000" pitchFamily="2" charset="2"/>
              </a:rPr>
            </a:br>
            <a:r>
              <a:rPr lang="en-US" altLang="en-US" dirty="0">
                <a:sym typeface="Wingdings" panose="05000000000000000000" pitchFamily="2" charset="2"/>
              </a:rPr>
              <a:t>complexity is generally </a:t>
            </a:r>
            <a:r>
              <a:rPr lang="en-US" altLang="en-US" dirty="0">
                <a:solidFill>
                  <a:srgbClr val="0000FF"/>
                </a:solidFill>
                <a:sym typeface="Wingdings" panose="05000000000000000000" pitchFamily="2" charset="2"/>
              </a:rPr>
              <a:t>better than </a:t>
            </a:r>
            <a:r>
              <a:rPr lang="en-US" altLang="en-US" i="1" dirty="0">
                <a:solidFill>
                  <a:srgbClr val="0000FF"/>
                </a:solidFill>
                <a:sym typeface="Wingdings" panose="05000000000000000000" pitchFamily="2" charset="2"/>
              </a:rPr>
              <a:t>O</a:t>
            </a:r>
            <a:r>
              <a:rPr lang="en-US" altLang="en-US" dirty="0">
                <a:solidFill>
                  <a:srgbClr val="0000FF"/>
                </a:solidFill>
                <a:sym typeface="Wingdings" panose="05000000000000000000" pitchFamily="2" charset="2"/>
              </a:rPr>
              <a:t>(log n) </a:t>
            </a:r>
            <a:r>
              <a:rPr lang="en-US" altLang="en-US" dirty="0">
                <a:sym typeface="Wingdings" panose="05000000000000000000" pitchFamily="2" charset="2"/>
              </a:rPr>
              <a:t>and approaches </a:t>
            </a:r>
            <a:r>
              <a:rPr lang="en-US" altLang="en-US" i="1" dirty="0">
                <a:sym typeface="Wingdings" panose="05000000000000000000" pitchFamily="2" charset="2"/>
              </a:rPr>
              <a:t>O</a:t>
            </a:r>
            <a:r>
              <a:rPr lang="en-US" altLang="en-US" dirty="0">
                <a:sym typeface="Wingdings" panose="05000000000000000000" pitchFamily="2" charset="2"/>
              </a:rPr>
              <a:t>(1).</a:t>
            </a:r>
          </a:p>
        </p:txBody>
      </p:sp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Hash Table Efficiency</a:t>
            </a:r>
          </a:p>
        </p:txBody>
      </p:sp>
    </p:spTree>
    <p:extLst>
      <p:ext uri="{BB962C8B-B14F-4D97-AF65-F5344CB8AC3E}">
        <p14:creationId xmlns:p14="http://schemas.microsoft.com/office/powerpoint/2010/main" val="1814389937"/>
      </p:ext>
    </p:extLst>
  </p:cSld>
  <p:clrMapOvr>
    <a:masterClrMapping/>
  </p:clrMapOvr>
</p:sld>
</file>

<file path=ppt/slides/slide3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87375" y="5275385"/>
            <a:ext cx="8148662" cy="1069144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96258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Hash Table Efficiency</a:t>
            </a:r>
          </a:p>
        </p:txBody>
      </p:sp>
      <p:sp>
        <p:nvSpPr>
          <p:cNvPr id="962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802687" cy="5614988"/>
          </a:xfrm>
        </p:spPr>
        <p:txBody>
          <a:bodyPr/>
          <a:lstStyle/>
          <a:p>
            <a:pPr>
              <a:tabLst>
                <a:tab pos="1379538" algn="l"/>
              </a:tabLst>
            </a:pPr>
            <a:r>
              <a:rPr lang="en-US" altLang="en-US" dirty="0"/>
              <a:t>In the best case, search and insertion are </a:t>
            </a:r>
            <a:r>
              <a:rPr lang="en-US" altLang="en-US" i="1" dirty="0"/>
              <a:t>O</a:t>
            </a:r>
            <a:r>
              <a:rPr lang="en-US" altLang="en-US" dirty="0"/>
              <a:t>(1).</a:t>
            </a:r>
            <a:endParaRPr lang="en-US" altLang="en-US" dirty="0">
              <a:sym typeface="Wingdings" panose="05000000000000000000" pitchFamily="2" charset="2"/>
            </a:endParaRPr>
          </a:p>
          <a:p>
            <a:pPr>
              <a:spcBef>
                <a:spcPts val="2000"/>
              </a:spcBef>
              <a:tabLst>
                <a:tab pos="1379538" algn="l"/>
              </a:tabLst>
            </a:pPr>
            <a:r>
              <a:rPr lang="en-US" altLang="en-US" dirty="0">
                <a:sym typeface="Wingdings" panose="05000000000000000000" pitchFamily="2" charset="2"/>
              </a:rPr>
              <a:t>In the worst case, search and insertion are linear.</a:t>
            </a:r>
          </a:p>
          <a:p>
            <a:pPr lvl="1">
              <a:spcBef>
                <a:spcPts val="500"/>
              </a:spcBef>
              <a:tabLst>
                <a:tab pos="1379538" algn="l"/>
              </a:tabLst>
            </a:pPr>
            <a:r>
              <a:rPr lang="en-US" altLang="en-US" dirty="0">
                <a:sym typeface="Wingdings" panose="05000000000000000000" pitchFamily="2" charset="2"/>
              </a:rPr>
              <a:t>open addressing: </a:t>
            </a:r>
            <a:r>
              <a:rPr lang="en-US" altLang="en-US" i="1" dirty="0">
                <a:sym typeface="Wingdings" panose="05000000000000000000" pitchFamily="2" charset="2"/>
              </a:rPr>
              <a:t>O</a:t>
            </a:r>
            <a:r>
              <a:rPr lang="en-US" altLang="en-US" dirty="0">
                <a:sym typeface="Wingdings" panose="05000000000000000000" pitchFamily="2" charset="2"/>
              </a:rPr>
              <a:t>(m), where m = the size of the hash table</a:t>
            </a:r>
          </a:p>
          <a:p>
            <a:pPr lvl="1">
              <a:spcBef>
                <a:spcPts val="200"/>
              </a:spcBef>
              <a:tabLst>
                <a:tab pos="1379538" algn="l"/>
              </a:tabLst>
            </a:pPr>
            <a:r>
              <a:rPr lang="en-US" altLang="en-US" dirty="0">
                <a:sym typeface="Wingdings" panose="05000000000000000000" pitchFamily="2" charset="2"/>
              </a:rPr>
              <a:t>separate chaining: </a:t>
            </a:r>
            <a:r>
              <a:rPr lang="en-US" altLang="en-US" i="1" dirty="0">
                <a:sym typeface="Wingdings" panose="05000000000000000000" pitchFamily="2" charset="2"/>
              </a:rPr>
              <a:t>O</a:t>
            </a:r>
            <a:r>
              <a:rPr lang="en-US" altLang="en-US" dirty="0">
                <a:sym typeface="Wingdings" panose="05000000000000000000" pitchFamily="2" charset="2"/>
              </a:rPr>
              <a:t>(n), where n = the number of keys</a:t>
            </a:r>
          </a:p>
          <a:p>
            <a:pPr>
              <a:spcBef>
                <a:spcPts val="2000"/>
              </a:spcBef>
              <a:buFontTx/>
              <a:buChar char="•"/>
              <a:tabLst>
                <a:tab pos="1379538" algn="l"/>
              </a:tabLst>
            </a:pPr>
            <a:r>
              <a:rPr lang="en-US" altLang="en-US" dirty="0">
                <a:sym typeface="Wingdings" panose="05000000000000000000" pitchFamily="2" charset="2"/>
              </a:rPr>
              <a:t>With good choices of hash function and table size, </a:t>
            </a:r>
            <a:br>
              <a:rPr lang="en-US" altLang="en-US" dirty="0">
                <a:sym typeface="Wingdings" panose="05000000000000000000" pitchFamily="2" charset="2"/>
              </a:rPr>
            </a:br>
            <a:r>
              <a:rPr lang="en-US" altLang="en-US" dirty="0">
                <a:sym typeface="Wingdings" panose="05000000000000000000" pitchFamily="2" charset="2"/>
              </a:rPr>
              <a:t>complexity is generally better than </a:t>
            </a:r>
            <a:r>
              <a:rPr lang="en-US" altLang="en-US" i="1" dirty="0">
                <a:sym typeface="Wingdings" panose="05000000000000000000" pitchFamily="2" charset="2"/>
              </a:rPr>
              <a:t>O</a:t>
            </a:r>
            <a:r>
              <a:rPr lang="en-US" altLang="en-US" dirty="0">
                <a:sym typeface="Wingdings" panose="05000000000000000000" pitchFamily="2" charset="2"/>
              </a:rPr>
              <a:t>(log n) and approaches </a:t>
            </a:r>
            <a:r>
              <a:rPr lang="en-US" altLang="en-US" i="1" dirty="0">
                <a:sym typeface="Wingdings" panose="05000000000000000000" pitchFamily="2" charset="2"/>
              </a:rPr>
              <a:t>O</a:t>
            </a:r>
            <a:r>
              <a:rPr lang="en-US" altLang="en-US" dirty="0">
                <a:sym typeface="Wingdings" panose="05000000000000000000" pitchFamily="2" charset="2"/>
              </a:rPr>
              <a:t>(1).</a:t>
            </a:r>
          </a:p>
          <a:p>
            <a:pPr>
              <a:spcBef>
                <a:spcPts val="2000"/>
              </a:spcBef>
              <a:buFontTx/>
              <a:buChar char="•"/>
              <a:tabLst>
                <a:tab pos="1379538" algn="l"/>
              </a:tabLst>
            </a:pPr>
            <a:r>
              <a:rPr lang="en-US" altLang="en-US" b="1" i="1" dirty="0">
                <a:solidFill>
                  <a:srgbClr val="0000FF"/>
                </a:solidFill>
                <a:sym typeface="Wingdings" panose="05000000000000000000" pitchFamily="2" charset="2"/>
              </a:rPr>
              <a:t>load factor</a:t>
            </a:r>
            <a:r>
              <a:rPr lang="en-US" altLang="en-US" b="1" dirty="0">
                <a:solidFill>
                  <a:srgbClr val="0000FF"/>
                </a:solidFill>
                <a:sym typeface="Wingdings" panose="05000000000000000000" pitchFamily="2" charset="2"/>
              </a:rPr>
              <a:t> =</a:t>
            </a:r>
            <a:r>
              <a:rPr lang="en-US" altLang="en-US" b="1" i="1" dirty="0">
                <a:solidFill>
                  <a:srgbClr val="0000FF"/>
                </a:solidFill>
                <a:sym typeface="Wingdings" panose="05000000000000000000" pitchFamily="2" charset="2"/>
              </a:rPr>
              <a:t> </a:t>
            </a:r>
            <a:r>
              <a:rPr lang="en-US" altLang="en-US" b="1" dirty="0">
                <a:solidFill>
                  <a:srgbClr val="0000FF"/>
                </a:solidFill>
                <a:sym typeface="Wingdings" panose="05000000000000000000" pitchFamily="2" charset="2"/>
              </a:rPr>
              <a:t># keys in table / size of the table.</a:t>
            </a:r>
            <a:br>
              <a:rPr lang="en-US" altLang="en-US" b="1" dirty="0">
                <a:solidFill>
                  <a:srgbClr val="0000FF"/>
                </a:solidFill>
                <a:sym typeface="Wingdings" panose="05000000000000000000" pitchFamily="2" charset="2"/>
              </a:rPr>
            </a:br>
            <a:r>
              <a:rPr lang="en-US" altLang="en-US" dirty="0">
                <a:sym typeface="Wingdings" panose="05000000000000000000" pitchFamily="2" charset="2"/>
              </a:rPr>
              <a:t>To prevent performance degradation:</a:t>
            </a:r>
          </a:p>
          <a:p>
            <a:pPr lvl="1">
              <a:spcBef>
                <a:spcPts val="500"/>
              </a:spcBef>
              <a:tabLst>
                <a:tab pos="1379538" algn="l"/>
              </a:tabLst>
            </a:pPr>
            <a:r>
              <a:rPr lang="en-US" altLang="en-US" dirty="0">
                <a:sym typeface="Wingdings" panose="05000000000000000000" pitchFamily="2" charset="2"/>
              </a:rPr>
              <a:t>open addressing: try to keep the load factor &lt; 1/2</a:t>
            </a:r>
          </a:p>
          <a:p>
            <a:pPr lvl="1">
              <a:spcBef>
                <a:spcPts val="200"/>
              </a:spcBef>
              <a:tabLst>
                <a:tab pos="1379538" algn="l"/>
              </a:tabLst>
            </a:pPr>
            <a:r>
              <a:rPr lang="en-US" altLang="en-US" dirty="0">
                <a:sym typeface="Wingdings" panose="05000000000000000000" pitchFamily="2" charset="2"/>
              </a:rPr>
              <a:t>separate chaining: try to keep the load factor &lt; 1</a:t>
            </a:r>
          </a:p>
          <a:p>
            <a:pPr>
              <a:spcBef>
                <a:spcPts val="2000"/>
              </a:spcBef>
              <a:buFontTx/>
              <a:buChar char="•"/>
              <a:tabLst>
                <a:tab pos="1379538" algn="l"/>
              </a:tabLst>
            </a:pPr>
            <a:r>
              <a:rPr lang="en-US" altLang="en-US" dirty="0">
                <a:sym typeface="Wingdings" panose="05000000000000000000" pitchFamily="2" charset="2"/>
              </a:rPr>
              <a:t>Time-space tradeoff: bigger tables have better performance, </a:t>
            </a:r>
            <a:br>
              <a:rPr lang="en-US" altLang="en-US" dirty="0">
                <a:sym typeface="Wingdings" panose="05000000000000000000" pitchFamily="2" charset="2"/>
              </a:rPr>
            </a:br>
            <a:r>
              <a:rPr lang="en-US" altLang="en-US" dirty="0">
                <a:sym typeface="Wingdings" panose="05000000000000000000" pitchFamily="2" charset="2"/>
              </a:rPr>
              <a:t>but they use up more memory.</a:t>
            </a:r>
          </a:p>
        </p:txBody>
      </p:sp>
    </p:spTree>
    <p:extLst>
      <p:ext uri="{BB962C8B-B14F-4D97-AF65-F5344CB8AC3E}">
        <p14:creationId xmlns:p14="http://schemas.microsoft.com/office/powerpoint/2010/main" val="3372306502"/>
      </p:ext>
    </p:extLst>
  </p:cSld>
  <p:clrMapOvr>
    <a:masterClrMapping/>
  </p:clrMapOvr>
</p:sld>
</file>

<file path=ppt/slides/slide3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87375" y="731520"/>
            <a:ext cx="7861300" cy="101287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Hash Table Limitations</a:t>
            </a:r>
          </a:p>
        </p:txBody>
      </p:sp>
      <p:sp>
        <p:nvSpPr>
          <p:cNvPr id="972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802687" cy="5614988"/>
          </a:xfrm>
        </p:spPr>
        <p:txBody>
          <a:bodyPr/>
          <a:lstStyle/>
          <a:p>
            <a:pPr>
              <a:tabLst>
                <a:tab pos="1379538" algn="l"/>
              </a:tabLst>
            </a:pPr>
            <a:r>
              <a:rPr lang="en-US" altLang="en-US" dirty="0"/>
              <a:t>It can be hard to come up with a good hash function for a particular data set.</a:t>
            </a:r>
          </a:p>
          <a:p>
            <a:pPr>
              <a:spcBef>
                <a:spcPts val="2000"/>
              </a:spcBef>
              <a:tabLst>
                <a:tab pos="1379538" algn="l"/>
              </a:tabLst>
            </a:pPr>
            <a:r>
              <a:rPr lang="en-US" altLang="en-US" dirty="0"/>
              <a:t>The items are not ordered by key. As a result, we can't easily:</a:t>
            </a:r>
          </a:p>
          <a:p>
            <a:pPr lvl="1">
              <a:spcBef>
                <a:spcPts val="500"/>
              </a:spcBef>
              <a:tabLst>
                <a:tab pos="1379538" algn="l"/>
              </a:tabLst>
            </a:pPr>
            <a:r>
              <a:rPr lang="en-US" altLang="en-US" dirty="0"/>
              <a:t>print the contents in sorted order</a:t>
            </a:r>
          </a:p>
          <a:p>
            <a:pPr lvl="1">
              <a:spcBef>
                <a:spcPts val="200"/>
              </a:spcBef>
              <a:tabLst>
                <a:tab pos="1379538" algn="l"/>
              </a:tabLst>
            </a:pPr>
            <a:r>
              <a:rPr lang="en-US" altLang="en-US" dirty="0"/>
              <a:t>perform a range search</a:t>
            </a:r>
          </a:p>
          <a:p>
            <a:pPr lvl="1">
              <a:spcBef>
                <a:spcPts val="200"/>
              </a:spcBef>
              <a:tabLst>
                <a:tab pos="1379538" algn="l"/>
              </a:tabLst>
            </a:pPr>
            <a:r>
              <a:rPr lang="en-US" altLang="en-US" dirty="0"/>
              <a:t>perform a rank search – get the kth largest item</a:t>
            </a:r>
            <a:endParaRPr lang="en-US" altLang="en-US" dirty="0">
              <a:sym typeface="Wingdings" panose="05000000000000000000" pitchFamily="2" charset="2"/>
            </a:endParaRPr>
          </a:p>
          <a:p>
            <a:pPr>
              <a:spcBef>
                <a:spcPts val="500"/>
              </a:spcBef>
              <a:buFont typeface="Times New Roman" panose="02020603050405020304" pitchFamily="18" charset="0"/>
              <a:buNone/>
              <a:tabLst>
                <a:tab pos="1379538" algn="l"/>
              </a:tabLst>
            </a:pPr>
            <a:r>
              <a:rPr lang="en-US" altLang="en-US" dirty="0">
                <a:sym typeface="Wingdings" panose="05000000000000000000" pitchFamily="2" charset="2"/>
              </a:rPr>
              <a:t>	We </a:t>
            </a:r>
            <a:r>
              <a:rPr lang="en-US" altLang="en-US" i="1" dirty="0">
                <a:sym typeface="Wingdings" panose="05000000000000000000" pitchFamily="2" charset="2"/>
              </a:rPr>
              <a:t>can</a:t>
            </a:r>
            <a:r>
              <a:rPr lang="en-US" altLang="en-US" dirty="0">
                <a:sym typeface="Wingdings" panose="05000000000000000000" pitchFamily="2" charset="2"/>
              </a:rPr>
              <a:t> do all of these things with a search tree.</a:t>
            </a:r>
          </a:p>
        </p:txBody>
      </p:sp>
    </p:spTree>
    <p:extLst>
      <p:ext uri="{BB962C8B-B14F-4D97-AF65-F5344CB8AC3E}">
        <p14:creationId xmlns:p14="http://schemas.microsoft.com/office/powerpoint/2010/main" val="318746587"/>
      </p:ext>
    </p:extLst>
  </p:cSld>
  <p:clrMapOvr>
    <a:masterClrMapping/>
  </p:clrMapOvr>
</p:sld>
</file>

<file path=ppt/slides/slide3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87374" y="1828800"/>
            <a:ext cx="8099425" cy="246888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972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802687" cy="5614988"/>
          </a:xfrm>
        </p:spPr>
        <p:txBody>
          <a:bodyPr/>
          <a:lstStyle/>
          <a:p>
            <a:pPr>
              <a:tabLst>
                <a:tab pos="1379538" algn="l"/>
              </a:tabLst>
            </a:pPr>
            <a:r>
              <a:rPr lang="en-US" altLang="en-US" dirty="0"/>
              <a:t>It can be hard to come up with a good hash function for a particular data set.</a:t>
            </a:r>
          </a:p>
          <a:p>
            <a:pPr>
              <a:spcBef>
                <a:spcPts val="2000"/>
              </a:spcBef>
              <a:tabLst>
                <a:tab pos="1379538" algn="l"/>
              </a:tabLst>
            </a:pPr>
            <a:r>
              <a:rPr lang="en-US" altLang="en-US" dirty="0"/>
              <a:t>The items are not ordered by key. As a result, we can't easily:</a:t>
            </a:r>
          </a:p>
          <a:p>
            <a:pPr lvl="1">
              <a:spcBef>
                <a:spcPts val="500"/>
              </a:spcBef>
              <a:tabLst>
                <a:tab pos="1379538" algn="l"/>
              </a:tabLst>
            </a:pPr>
            <a:r>
              <a:rPr lang="en-US" altLang="en-US" dirty="0"/>
              <a:t>print the contents in sorted order</a:t>
            </a:r>
          </a:p>
          <a:p>
            <a:pPr lvl="1">
              <a:spcBef>
                <a:spcPts val="200"/>
              </a:spcBef>
              <a:tabLst>
                <a:tab pos="1379538" algn="l"/>
              </a:tabLst>
            </a:pPr>
            <a:r>
              <a:rPr lang="en-US" altLang="en-US" dirty="0"/>
              <a:t>perform a range search</a:t>
            </a:r>
          </a:p>
          <a:p>
            <a:pPr lvl="1">
              <a:spcBef>
                <a:spcPts val="200"/>
              </a:spcBef>
              <a:tabLst>
                <a:tab pos="1379538" algn="l"/>
              </a:tabLst>
            </a:pPr>
            <a:r>
              <a:rPr lang="en-US" altLang="en-US" dirty="0"/>
              <a:t>perform a rank search – get the kth largest item</a:t>
            </a:r>
            <a:endParaRPr lang="en-US" altLang="en-US" dirty="0">
              <a:sym typeface="Wingdings" panose="05000000000000000000" pitchFamily="2" charset="2"/>
            </a:endParaRPr>
          </a:p>
          <a:p>
            <a:pPr>
              <a:spcBef>
                <a:spcPts val="500"/>
              </a:spcBef>
              <a:buFont typeface="Times New Roman" panose="02020603050405020304" pitchFamily="18" charset="0"/>
              <a:buNone/>
              <a:tabLst>
                <a:tab pos="1379538" algn="l"/>
              </a:tabLst>
            </a:pPr>
            <a:r>
              <a:rPr lang="en-US" altLang="en-US" dirty="0">
                <a:sym typeface="Wingdings" panose="05000000000000000000" pitchFamily="2" charset="2"/>
              </a:rPr>
              <a:t>	We </a:t>
            </a:r>
            <a:r>
              <a:rPr lang="en-US" altLang="en-US" i="1" dirty="0">
                <a:sym typeface="Wingdings" panose="05000000000000000000" pitchFamily="2" charset="2"/>
              </a:rPr>
              <a:t>can</a:t>
            </a:r>
            <a:r>
              <a:rPr lang="en-US" altLang="en-US" dirty="0">
                <a:sym typeface="Wingdings" panose="05000000000000000000" pitchFamily="2" charset="2"/>
              </a:rPr>
              <a:t> do all of these things with a search tree.</a:t>
            </a:r>
          </a:p>
        </p:txBody>
      </p:sp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Hash Table Limitations</a:t>
            </a:r>
          </a:p>
        </p:txBody>
      </p:sp>
    </p:spTree>
    <p:extLst>
      <p:ext uri="{BB962C8B-B14F-4D97-AF65-F5344CB8AC3E}">
        <p14:creationId xmlns:p14="http://schemas.microsoft.com/office/powerpoint/2010/main" val="4188952211"/>
      </p:ext>
    </p:extLst>
  </p:cSld>
  <p:clrMapOvr>
    <a:masterClrMapping/>
  </p:clrMapOvr>
</p:sld>
</file>

<file path=ppt/slides/slide3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87374" y="1828800"/>
            <a:ext cx="8099425" cy="246888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972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802687" cy="5614988"/>
          </a:xfrm>
        </p:spPr>
        <p:txBody>
          <a:bodyPr/>
          <a:lstStyle/>
          <a:p>
            <a:pPr>
              <a:tabLst>
                <a:tab pos="1379538" algn="l"/>
              </a:tabLst>
            </a:pPr>
            <a:r>
              <a:rPr lang="en-US" altLang="en-US" dirty="0"/>
              <a:t>It can be hard to come up with a good hash function for a particular data set.</a:t>
            </a:r>
          </a:p>
          <a:p>
            <a:pPr>
              <a:spcBef>
                <a:spcPts val="2000"/>
              </a:spcBef>
              <a:tabLst>
                <a:tab pos="1379538" algn="l"/>
              </a:tabLst>
            </a:pPr>
            <a:r>
              <a:rPr lang="en-US" altLang="en-US" dirty="0"/>
              <a:t>The items are not ordered by key. As a result, we can't easily:</a:t>
            </a:r>
          </a:p>
          <a:p>
            <a:pPr lvl="1">
              <a:spcBef>
                <a:spcPts val="500"/>
              </a:spcBef>
              <a:tabLst>
                <a:tab pos="1379538" algn="l"/>
              </a:tabLst>
            </a:pPr>
            <a:r>
              <a:rPr lang="en-US" altLang="en-US" dirty="0">
                <a:solidFill>
                  <a:srgbClr val="0000FF"/>
                </a:solidFill>
              </a:rPr>
              <a:t>print the contents in sorted order</a:t>
            </a:r>
          </a:p>
          <a:p>
            <a:pPr lvl="1">
              <a:spcBef>
                <a:spcPts val="200"/>
              </a:spcBef>
              <a:tabLst>
                <a:tab pos="1379538" algn="l"/>
              </a:tabLst>
            </a:pPr>
            <a:r>
              <a:rPr lang="en-US" altLang="en-US" dirty="0"/>
              <a:t>perform a range search</a:t>
            </a:r>
          </a:p>
          <a:p>
            <a:pPr lvl="1">
              <a:spcBef>
                <a:spcPts val="200"/>
              </a:spcBef>
              <a:tabLst>
                <a:tab pos="1379538" algn="l"/>
              </a:tabLst>
            </a:pPr>
            <a:r>
              <a:rPr lang="en-US" altLang="en-US" dirty="0"/>
              <a:t>perform a rank search – get the kth largest item</a:t>
            </a:r>
            <a:endParaRPr lang="en-US" altLang="en-US" dirty="0">
              <a:sym typeface="Wingdings" panose="05000000000000000000" pitchFamily="2" charset="2"/>
            </a:endParaRPr>
          </a:p>
          <a:p>
            <a:pPr>
              <a:spcBef>
                <a:spcPts val="500"/>
              </a:spcBef>
              <a:buFont typeface="Times New Roman" panose="02020603050405020304" pitchFamily="18" charset="0"/>
              <a:buNone/>
              <a:tabLst>
                <a:tab pos="1379538" algn="l"/>
              </a:tabLst>
            </a:pPr>
            <a:r>
              <a:rPr lang="en-US" altLang="en-US" dirty="0">
                <a:sym typeface="Wingdings" panose="05000000000000000000" pitchFamily="2" charset="2"/>
              </a:rPr>
              <a:t>	We </a:t>
            </a:r>
            <a:r>
              <a:rPr lang="en-US" altLang="en-US" i="1" dirty="0">
                <a:sym typeface="Wingdings" panose="05000000000000000000" pitchFamily="2" charset="2"/>
              </a:rPr>
              <a:t>can</a:t>
            </a:r>
            <a:r>
              <a:rPr lang="en-US" altLang="en-US" dirty="0">
                <a:sym typeface="Wingdings" panose="05000000000000000000" pitchFamily="2" charset="2"/>
              </a:rPr>
              <a:t> do all of these things with a search tree.</a:t>
            </a:r>
          </a:p>
        </p:txBody>
      </p:sp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Hash Table Limitations</a:t>
            </a:r>
          </a:p>
        </p:txBody>
      </p:sp>
    </p:spTree>
    <p:extLst>
      <p:ext uri="{BB962C8B-B14F-4D97-AF65-F5344CB8AC3E}">
        <p14:creationId xmlns:p14="http://schemas.microsoft.com/office/powerpoint/2010/main" val="2005867452"/>
      </p:ext>
    </p:extLst>
  </p:cSld>
  <p:clrMapOvr>
    <a:masterClrMapping/>
  </p:clrMapOvr>
</p:sld>
</file>

<file path=ppt/slides/slide3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87374" y="1828800"/>
            <a:ext cx="8099425" cy="246888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972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802687" cy="5614988"/>
          </a:xfrm>
        </p:spPr>
        <p:txBody>
          <a:bodyPr/>
          <a:lstStyle/>
          <a:p>
            <a:pPr>
              <a:tabLst>
                <a:tab pos="1379538" algn="l"/>
              </a:tabLst>
            </a:pPr>
            <a:r>
              <a:rPr lang="en-US" altLang="en-US" dirty="0"/>
              <a:t>It can be hard to come up with a good hash function for a particular data set.</a:t>
            </a:r>
          </a:p>
          <a:p>
            <a:pPr>
              <a:spcBef>
                <a:spcPts val="2000"/>
              </a:spcBef>
              <a:tabLst>
                <a:tab pos="1379538" algn="l"/>
              </a:tabLst>
            </a:pPr>
            <a:r>
              <a:rPr lang="en-US" altLang="en-US" dirty="0"/>
              <a:t>The items are not ordered by key. As a result, we can't easily:</a:t>
            </a:r>
          </a:p>
          <a:p>
            <a:pPr lvl="1">
              <a:spcBef>
                <a:spcPts val="500"/>
              </a:spcBef>
              <a:tabLst>
                <a:tab pos="1379538" algn="l"/>
              </a:tabLst>
            </a:pPr>
            <a:r>
              <a:rPr lang="en-US" altLang="en-US" dirty="0"/>
              <a:t>print the contents in sorted order</a:t>
            </a:r>
          </a:p>
          <a:p>
            <a:pPr lvl="1">
              <a:spcBef>
                <a:spcPts val="200"/>
              </a:spcBef>
              <a:tabLst>
                <a:tab pos="1379538" algn="l"/>
              </a:tabLst>
            </a:pPr>
            <a:r>
              <a:rPr lang="en-US" altLang="en-US" dirty="0">
                <a:solidFill>
                  <a:srgbClr val="0000FF"/>
                </a:solidFill>
              </a:rPr>
              <a:t>perform a range search</a:t>
            </a:r>
          </a:p>
          <a:p>
            <a:pPr lvl="1">
              <a:spcBef>
                <a:spcPts val="200"/>
              </a:spcBef>
              <a:tabLst>
                <a:tab pos="1379538" algn="l"/>
              </a:tabLst>
            </a:pPr>
            <a:r>
              <a:rPr lang="en-US" altLang="en-US" dirty="0"/>
              <a:t>perform a rank search – get the kth largest item</a:t>
            </a:r>
            <a:endParaRPr lang="en-US" altLang="en-US" dirty="0">
              <a:sym typeface="Wingdings" panose="05000000000000000000" pitchFamily="2" charset="2"/>
            </a:endParaRPr>
          </a:p>
          <a:p>
            <a:pPr>
              <a:spcBef>
                <a:spcPts val="500"/>
              </a:spcBef>
              <a:buFont typeface="Times New Roman" panose="02020603050405020304" pitchFamily="18" charset="0"/>
              <a:buNone/>
              <a:tabLst>
                <a:tab pos="1379538" algn="l"/>
              </a:tabLst>
            </a:pPr>
            <a:r>
              <a:rPr lang="en-US" altLang="en-US" dirty="0">
                <a:sym typeface="Wingdings" panose="05000000000000000000" pitchFamily="2" charset="2"/>
              </a:rPr>
              <a:t>	We </a:t>
            </a:r>
            <a:r>
              <a:rPr lang="en-US" altLang="en-US" i="1" dirty="0">
                <a:sym typeface="Wingdings" panose="05000000000000000000" pitchFamily="2" charset="2"/>
              </a:rPr>
              <a:t>can</a:t>
            </a:r>
            <a:r>
              <a:rPr lang="en-US" altLang="en-US" dirty="0">
                <a:sym typeface="Wingdings" panose="05000000000000000000" pitchFamily="2" charset="2"/>
              </a:rPr>
              <a:t> do all of these things with a search tree.</a:t>
            </a:r>
          </a:p>
        </p:txBody>
      </p:sp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Hash Table Limitations</a:t>
            </a:r>
          </a:p>
        </p:txBody>
      </p:sp>
    </p:spTree>
    <p:extLst>
      <p:ext uri="{BB962C8B-B14F-4D97-AF65-F5344CB8AC3E}">
        <p14:creationId xmlns:p14="http://schemas.microsoft.com/office/powerpoint/2010/main" val="105065968"/>
      </p:ext>
    </p:extLst>
  </p:cSld>
  <p:clrMapOvr>
    <a:masterClrMapping/>
  </p:clrMapOvr>
</p:sld>
</file>

<file path=ppt/slides/slide3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87374" y="1828800"/>
            <a:ext cx="8099425" cy="246888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972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802687" cy="5614988"/>
          </a:xfrm>
        </p:spPr>
        <p:txBody>
          <a:bodyPr/>
          <a:lstStyle/>
          <a:p>
            <a:pPr>
              <a:tabLst>
                <a:tab pos="1379538" algn="l"/>
              </a:tabLst>
            </a:pPr>
            <a:r>
              <a:rPr lang="en-US" altLang="en-US" dirty="0"/>
              <a:t>It can be hard to come up with a good hash function for a particular data set.</a:t>
            </a:r>
          </a:p>
          <a:p>
            <a:pPr>
              <a:spcBef>
                <a:spcPts val="2000"/>
              </a:spcBef>
              <a:tabLst>
                <a:tab pos="1379538" algn="l"/>
              </a:tabLst>
            </a:pPr>
            <a:r>
              <a:rPr lang="en-US" altLang="en-US" dirty="0"/>
              <a:t>The items are not ordered by key. As a result, we can't easily:</a:t>
            </a:r>
          </a:p>
          <a:p>
            <a:pPr lvl="1">
              <a:spcBef>
                <a:spcPts val="500"/>
              </a:spcBef>
              <a:tabLst>
                <a:tab pos="1379538" algn="l"/>
              </a:tabLst>
            </a:pPr>
            <a:r>
              <a:rPr lang="en-US" altLang="en-US" dirty="0"/>
              <a:t>print the contents in sorted order</a:t>
            </a:r>
          </a:p>
          <a:p>
            <a:pPr lvl="1">
              <a:spcBef>
                <a:spcPts val="200"/>
              </a:spcBef>
              <a:tabLst>
                <a:tab pos="1379538" algn="l"/>
              </a:tabLst>
            </a:pPr>
            <a:r>
              <a:rPr lang="en-US" altLang="en-US" dirty="0"/>
              <a:t>perform a range search</a:t>
            </a:r>
          </a:p>
          <a:p>
            <a:pPr lvl="1">
              <a:spcBef>
                <a:spcPts val="200"/>
              </a:spcBef>
              <a:tabLst>
                <a:tab pos="1379538" algn="l"/>
              </a:tabLst>
            </a:pPr>
            <a:r>
              <a:rPr lang="en-US" altLang="en-US" dirty="0">
                <a:solidFill>
                  <a:srgbClr val="0000FF"/>
                </a:solidFill>
              </a:rPr>
              <a:t>perform a rank search – get the kth largest item</a:t>
            </a:r>
            <a:endParaRPr lang="en-US" altLang="en-US" dirty="0">
              <a:solidFill>
                <a:srgbClr val="0000FF"/>
              </a:solidFill>
              <a:sym typeface="Wingdings" panose="05000000000000000000" pitchFamily="2" charset="2"/>
            </a:endParaRPr>
          </a:p>
          <a:p>
            <a:pPr>
              <a:spcBef>
                <a:spcPts val="500"/>
              </a:spcBef>
              <a:buFont typeface="Times New Roman" panose="02020603050405020304" pitchFamily="18" charset="0"/>
              <a:buNone/>
              <a:tabLst>
                <a:tab pos="1379538" algn="l"/>
              </a:tabLst>
            </a:pPr>
            <a:r>
              <a:rPr lang="en-US" altLang="en-US" dirty="0">
                <a:sym typeface="Wingdings" panose="05000000000000000000" pitchFamily="2" charset="2"/>
              </a:rPr>
              <a:t>	We </a:t>
            </a:r>
            <a:r>
              <a:rPr lang="en-US" altLang="en-US" i="1" dirty="0">
                <a:sym typeface="Wingdings" panose="05000000000000000000" pitchFamily="2" charset="2"/>
              </a:rPr>
              <a:t>can</a:t>
            </a:r>
            <a:r>
              <a:rPr lang="en-US" altLang="en-US" dirty="0">
                <a:sym typeface="Wingdings" panose="05000000000000000000" pitchFamily="2" charset="2"/>
              </a:rPr>
              <a:t> do all of these things with a search tree.</a:t>
            </a:r>
          </a:p>
        </p:txBody>
      </p:sp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/>
              <a:t>Hash Table Limitations</a:t>
            </a:r>
          </a:p>
        </p:txBody>
      </p:sp>
    </p:spTree>
    <p:extLst>
      <p:ext uri="{BB962C8B-B14F-4D97-AF65-F5344CB8AC3E}">
        <p14:creationId xmlns:p14="http://schemas.microsoft.com/office/powerpoint/2010/main" val="1463761768"/>
      </p:ext>
    </p:extLst>
  </p:cSld>
  <p:clrMapOvr>
    <a:masterClrMapping/>
  </p:clrMapOvr>
</p:sld>
</file>

<file path=ppt/slides/slide35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05394" y="844550"/>
            <a:ext cx="7171509" cy="277386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 dirty="0"/>
              <a:t>Dictionaries in Java's Class Library</a:t>
            </a:r>
          </a:p>
        </p:txBody>
      </p:sp>
      <p:sp>
        <p:nvSpPr>
          <p:cNvPr id="972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802687" cy="5614988"/>
          </a:xfrm>
        </p:spPr>
        <p:txBody>
          <a:bodyPr/>
          <a:lstStyle/>
          <a:p>
            <a:pPr>
              <a:tabLst>
                <a:tab pos="1379538" algn="l"/>
              </a:tabLst>
            </a:pPr>
            <a:r>
              <a:rPr lang="en-US" altLang="en-US" dirty="0"/>
              <a:t>Java provides a generic interface for dictionaries:</a:t>
            </a:r>
          </a:p>
          <a:p>
            <a:pPr marL="457200" lvl="1" indent="0">
              <a:spcBef>
                <a:spcPts val="1000"/>
              </a:spcBef>
              <a:buNone/>
              <a:tabLst>
                <a:tab pos="1379538" algn="l"/>
              </a:tabLst>
            </a:pPr>
            <a:r>
              <a:rPr lang="en-US" altLang="en-US" sz="2000" b="1" dirty="0">
                <a:latin typeface="Lucida Console" panose="020B0609040504020204" pitchFamily="49" charset="0"/>
              </a:rPr>
              <a:t>public interface </a:t>
            </a:r>
            <a:r>
              <a:rPr lang="en-US" altLang="en-US" sz="20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Map</a:t>
            </a:r>
            <a:r>
              <a:rPr lang="en-US" altLang="en-US" sz="2000" b="1" dirty="0">
                <a:latin typeface="Lucida Console" panose="020B0609040504020204" pitchFamily="49" charset="0"/>
              </a:rPr>
              <a:t>&lt;</a:t>
            </a:r>
            <a:r>
              <a:rPr lang="en-US" altLang="en-US" sz="20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K</a:t>
            </a:r>
            <a:r>
              <a:rPr lang="en-US" altLang="en-US" sz="2000" b="1" dirty="0">
                <a:latin typeface="Lucida Console" panose="020B0609040504020204" pitchFamily="49" charset="0"/>
              </a:rPr>
              <a:t>, </a:t>
            </a:r>
            <a:r>
              <a:rPr lang="en-US" altLang="en-US" sz="2000" b="1" dirty="0">
                <a:solidFill>
                  <a:srgbClr val="FF0000"/>
                </a:solidFill>
                <a:latin typeface="Lucida Console" panose="020B0609040504020204" pitchFamily="49" charset="0"/>
              </a:rPr>
              <a:t>V</a:t>
            </a:r>
            <a:r>
              <a:rPr lang="en-US" altLang="en-US" sz="2000" b="1" dirty="0">
                <a:latin typeface="Lucida Console" panose="020B0609040504020204" pitchFamily="49" charset="0"/>
              </a:rPr>
              <a:t>&gt; {</a:t>
            </a:r>
          </a:p>
          <a:p>
            <a:pPr marL="457200" lvl="1" indent="0">
              <a:lnSpc>
                <a:spcPct val="50000"/>
              </a:lnSpc>
              <a:spcBef>
                <a:spcPts val="0"/>
              </a:spcBef>
              <a:buNone/>
              <a:tabLst>
                <a:tab pos="1379538" algn="l"/>
              </a:tabLst>
            </a:pPr>
            <a:r>
              <a:rPr lang="en-US" altLang="en-US" sz="2000" b="1" dirty="0">
                <a:latin typeface="Lucida Console" panose="020B0609040504020204" pitchFamily="49" charset="0"/>
              </a:rPr>
              <a:t>    ...</a:t>
            </a:r>
          </a:p>
          <a:p>
            <a:pPr marL="457200" lvl="1" indent="0">
              <a:spcBef>
                <a:spcPts val="0"/>
              </a:spcBef>
              <a:buNone/>
              <a:tabLst>
                <a:tab pos="1379538" algn="l"/>
              </a:tabLst>
            </a:pPr>
            <a:r>
              <a:rPr lang="en-US" altLang="en-US" sz="2000" b="1" dirty="0">
                <a:latin typeface="Lucida Console" panose="020B0609040504020204" pitchFamily="49" charset="0"/>
              </a:rPr>
              <a:t>}</a:t>
            </a:r>
            <a:endParaRPr lang="en-US" altLang="en-US" b="1" dirty="0"/>
          </a:p>
          <a:p>
            <a:pPr lvl="1">
              <a:spcBef>
                <a:spcPts val="1000"/>
              </a:spcBef>
              <a:tabLst>
                <a:tab pos="1379538" algn="l"/>
              </a:tabLst>
            </a:pPr>
            <a:r>
              <a:rPr lang="en-US" altLang="en-US" b="1" dirty="0">
                <a:solidFill>
                  <a:srgbClr val="0000FF"/>
                </a:solidFill>
                <a:latin typeface="Lucida Console" panose="020B0609040504020204" pitchFamily="49" charset="0"/>
              </a:rPr>
              <a:t>K</a:t>
            </a:r>
            <a:r>
              <a:rPr lang="en-US" altLang="en-US" dirty="0"/>
              <a:t> is the type of the keys</a:t>
            </a:r>
          </a:p>
          <a:p>
            <a:pPr lvl="1">
              <a:spcBef>
                <a:spcPts val="200"/>
              </a:spcBef>
              <a:tabLst>
                <a:tab pos="1379538" algn="l"/>
              </a:tabLst>
            </a:pPr>
            <a:r>
              <a:rPr lang="en-US" altLang="en-US" b="1" dirty="0">
                <a:solidFill>
                  <a:srgbClr val="FF0000"/>
                </a:solidFill>
                <a:latin typeface="Lucida Console" panose="020B0609040504020204" pitchFamily="49" charset="0"/>
              </a:rPr>
              <a:t>V</a:t>
            </a:r>
            <a:r>
              <a:rPr lang="en-US" altLang="en-US" dirty="0"/>
              <a:t> is the type of the values</a:t>
            </a:r>
          </a:p>
        </p:txBody>
      </p:sp>
    </p:spTree>
    <p:extLst>
      <p:ext uri="{BB962C8B-B14F-4D97-AF65-F5344CB8AC3E}">
        <p14:creationId xmlns:p14="http://schemas.microsoft.com/office/powerpoint/2010/main" val="2724831899"/>
      </p:ext>
    </p:extLst>
  </p:cSld>
  <p:clrMapOvr>
    <a:masterClrMapping/>
  </p:clrMapOvr>
</p:sld>
</file>

<file path=ppt/slides/slide35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05394" y="844550"/>
            <a:ext cx="7171509" cy="277386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 dirty="0"/>
              <a:t>Dictionaries in Java's Class Library</a:t>
            </a:r>
          </a:p>
        </p:txBody>
      </p:sp>
      <p:sp>
        <p:nvSpPr>
          <p:cNvPr id="972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802687" cy="5614988"/>
          </a:xfrm>
        </p:spPr>
        <p:txBody>
          <a:bodyPr/>
          <a:lstStyle/>
          <a:p>
            <a:pPr>
              <a:tabLst>
                <a:tab pos="1379538" algn="l"/>
              </a:tabLst>
            </a:pPr>
            <a:r>
              <a:rPr lang="en-US" altLang="en-US" dirty="0"/>
              <a:t>Java provides a generic interface for dictionaries:</a:t>
            </a:r>
          </a:p>
          <a:p>
            <a:pPr marL="457200" lvl="1" indent="0">
              <a:spcBef>
                <a:spcPts val="1000"/>
              </a:spcBef>
              <a:buNone/>
              <a:tabLst>
                <a:tab pos="1379538" algn="l"/>
              </a:tabLst>
            </a:pPr>
            <a:r>
              <a:rPr lang="en-US" altLang="en-US" sz="2000" b="1" dirty="0">
                <a:latin typeface="Lucida Console" panose="020B0609040504020204" pitchFamily="49" charset="0"/>
              </a:rPr>
              <a:t>public interface </a:t>
            </a:r>
            <a:r>
              <a:rPr lang="en-US" altLang="en-US" sz="20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Map</a:t>
            </a:r>
            <a:r>
              <a:rPr lang="en-US" altLang="en-US" sz="2000" b="1" dirty="0">
                <a:latin typeface="Lucida Console" panose="020B0609040504020204" pitchFamily="49" charset="0"/>
              </a:rPr>
              <a:t>&lt;</a:t>
            </a:r>
            <a:r>
              <a:rPr lang="en-US" altLang="en-US" sz="20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K</a:t>
            </a:r>
            <a:r>
              <a:rPr lang="en-US" altLang="en-US" sz="2000" b="1" dirty="0">
                <a:latin typeface="Lucida Console" panose="020B0609040504020204" pitchFamily="49" charset="0"/>
              </a:rPr>
              <a:t>, </a:t>
            </a:r>
            <a:r>
              <a:rPr lang="en-US" altLang="en-US" sz="2000" b="1" dirty="0">
                <a:solidFill>
                  <a:srgbClr val="FF0000"/>
                </a:solidFill>
                <a:latin typeface="Lucida Console" panose="020B0609040504020204" pitchFamily="49" charset="0"/>
              </a:rPr>
              <a:t>V</a:t>
            </a:r>
            <a:r>
              <a:rPr lang="en-US" altLang="en-US" sz="2000" b="1" dirty="0">
                <a:latin typeface="Lucida Console" panose="020B0609040504020204" pitchFamily="49" charset="0"/>
              </a:rPr>
              <a:t>&gt; {</a:t>
            </a:r>
          </a:p>
          <a:p>
            <a:pPr marL="457200" lvl="1" indent="0">
              <a:lnSpc>
                <a:spcPct val="50000"/>
              </a:lnSpc>
              <a:spcBef>
                <a:spcPts val="0"/>
              </a:spcBef>
              <a:buNone/>
              <a:tabLst>
                <a:tab pos="1379538" algn="l"/>
              </a:tabLst>
            </a:pPr>
            <a:r>
              <a:rPr lang="en-US" altLang="en-US" sz="2000" b="1" dirty="0">
                <a:latin typeface="Lucida Console" panose="020B0609040504020204" pitchFamily="49" charset="0"/>
              </a:rPr>
              <a:t>    ...</a:t>
            </a:r>
          </a:p>
          <a:p>
            <a:pPr marL="457200" lvl="1" indent="0">
              <a:spcBef>
                <a:spcPts val="0"/>
              </a:spcBef>
              <a:buNone/>
              <a:tabLst>
                <a:tab pos="1379538" algn="l"/>
              </a:tabLst>
            </a:pPr>
            <a:r>
              <a:rPr lang="en-US" altLang="en-US" sz="2000" b="1" dirty="0">
                <a:latin typeface="Lucida Console" panose="020B0609040504020204" pitchFamily="49" charset="0"/>
              </a:rPr>
              <a:t>}</a:t>
            </a:r>
            <a:endParaRPr lang="en-US" altLang="en-US" b="1" dirty="0"/>
          </a:p>
          <a:p>
            <a:pPr lvl="1">
              <a:spcBef>
                <a:spcPts val="1000"/>
              </a:spcBef>
              <a:tabLst>
                <a:tab pos="1379538" algn="l"/>
              </a:tabLst>
            </a:pPr>
            <a:r>
              <a:rPr lang="en-US" altLang="en-US" b="1" dirty="0">
                <a:solidFill>
                  <a:srgbClr val="0000FF"/>
                </a:solidFill>
                <a:latin typeface="Lucida Console" panose="020B0609040504020204" pitchFamily="49" charset="0"/>
              </a:rPr>
              <a:t>K</a:t>
            </a:r>
            <a:r>
              <a:rPr lang="en-US" altLang="en-US" dirty="0"/>
              <a:t> is the type of the keys</a:t>
            </a:r>
          </a:p>
          <a:p>
            <a:pPr lvl="1">
              <a:spcBef>
                <a:spcPts val="200"/>
              </a:spcBef>
              <a:tabLst>
                <a:tab pos="1379538" algn="l"/>
              </a:tabLst>
            </a:pPr>
            <a:r>
              <a:rPr lang="en-US" altLang="en-US" b="1" dirty="0">
                <a:solidFill>
                  <a:srgbClr val="FF0000"/>
                </a:solidFill>
                <a:latin typeface="Lucida Console" panose="020B0609040504020204" pitchFamily="49" charset="0"/>
              </a:rPr>
              <a:t>V</a:t>
            </a:r>
            <a:r>
              <a:rPr lang="en-US" altLang="en-US" dirty="0"/>
              <a:t> is the type of the values</a:t>
            </a:r>
          </a:p>
        </p:txBody>
      </p:sp>
      <p:cxnSp>
        <p:nvCxnSpPr>
          <p:cNvPr id="4" name="Straight Arrow Connector 3"/>
          <p:cNvCxnSpPr/>
          <p:nvPr/>
        </p:nvCxnSpPr>
        <p:spPr bwMode="auto">
          <a:xfrm flipH="1" flipV="1">
            <a:off x="4153989" y="1692276"/>
            <a:ext cx="992777" cy="149506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" name="Straight Arrow Connector 8"/>
          <p:cNvCxnSpPr/>
          <p:nvPr/>
        </p:nvCxnSpPr>
        <p:spPr bwMode="auto">
          <a:xfrm flipH="1" flipV="1">
            <a:off x="4676504" y="1692277"/>
            <a:ext cx="470262" cy="149506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" name="TextBox 7"/>
          <p:cNvSpPr txBox="1"/>
          <p:nvPr/>
        </p:nvSpPr>
        <p:spPr>
          <a:xfrm>
            <a:off x="5394960" y="2743200"/>
            <a:ext cx="1920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Note two generic types are required.</a:t>
            </a:r>
          </a:p>
        </p:txBody>
      </p:sp>
    </p:spTree>
    <p:extLst>
      <p:ext uri="{BB962C8B-B14F-4D97-AF65-F5344CB8AC3E}">
        <p14:creationId xmlns:p14="http://schemas.microsoft.com/office/powerpoint/2010/main" val="1628227188"/>
      </p:ext>
    </p:extLst>
  </p:cSld>
  <p:clrMapOvr>
    <a:masterClrMapping/>
  </p:clrMapOvr>
</p:sld>
</file>

<file path=ppt/slides/slide36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05394" y="844550"/>
            <a:ext cx="7171509" cy="277386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 dirty="0"/>
              <a:t>Dictionaries in Java's Class Library</a:t>
            </a:r>
          </a:p>
        </p:txBody>
      </p:sp>
      <p:sp>
        <p:nvSpPr>
          <p:cNvPr id="972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802687" cy="5614988"/>
          </a:xfrm>
        </p:spPr>
        <p:txBody>
          <a:bodyPr/>
          <a:lstStyle/>
          <a:p>
            <a:pPr>
              <a:tabLst>
                <a:tab pos="1379538" algn="l"/>
              </a:tabLst>
            </a:pPr>
            <a:r>
              <a:rPr lang="en-US" altLang="en-US" dirty="0"/>
              <a:t>Java provides a generic interface for dictionaries:</a:t>
            </a:r>
          </a:p>
          <a:p>
            <a:pPr marL="457200" lvl="1" indent="0">
              <a:spcBef>
                <a:spcPts val="1000"/>
              </a:spcBef>
              <a:buNone/>
              <a:tabLst>
                <a:tab pos="1379538" algn="l"/>
              </a:tabLst>
            </a:pPr>
            <a:r>
              <a:rPr lang="en-US" altLang="en-US" sz="2000" b="1" dirty="0">
                <a:latin typeface="Lucida Console" panose="020B0609040504020204" pitchFamily="49" charset="0"/>
              </a:rPr>
              <a:t>public interface </a:t>
            </a:r>
            <a:r>
              <a:rPr lang="en-US" altLang="en-US" sz="20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Map</a:t>
            </a:r>
            <a:r>
              <a:rPr lang="en-US" altLang="en-US" sz="2000" b="1" dirty="0">
                <a:latin typeface="Lucida Console" panose="020B0609040504020204" pitchFamily="49" charset="0"/>
              </a:rPr>
              <a:t>&lt;</a:t>
            </a:r>
            <a:r>
              <a:rPr lang="en-US" altLang="en-US" sz="20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K</a:t>
            </a:r>
            <a:r>
              <a:rPr lang="en-US" altLang="en-US" sz="2000" b="1" dirty="0">
                <a:latin typeface="Lucida Console" panose="020B0609040504020204" pitchFamily="49" charset="0"/>
              </a:rPr>
              <a:t>, </a:t>
            </a:r>
            <a:r>
              <a:rPr lang="en-US" altLang="en-US" sz="2000" b="1" dirty="0">
                <a:solidFill>
                  <a:srgbClr val="FF0000"/>
                </a:solidFill>
                <a:latin typeface="Lucida Console" panose="020B0609040504020204" pitchFamily="49" charset="0"/>
              </a:rPr>
              <a:t>V</a:t>
            </a:r>
            <a:r>
              <a:rPr lang="en-US" altLang="en-US" sz="2000" b="1" dirty="0">
                <a:latin typeface="Lucida Console" panose="020B0609040504020204" pitchFamily="49" charset="0"/>
              </a:rPr>
              <a:t>&gt; {</a:t>
            </a:r>
          </a:p>
          <a:p>
            <a:pPr marL="457200" lvl="1" indent="0">
              <a:lnSpc>
                <a:spcPct val="50000"/>
              </a:lnSpc>
              <a:spcBef>
                <a:spcPts val="0"/>
              </a:spcBef>
              <a:buNone/>
              <a:tabLst>
                <a:tab pos="1379538" algn="l"/>
              </a:tabLst>
            </a:pPr>
            <a:r>
              <a:rPr lang="en-US" altLang="en-US" sz="2000" b="1" dirty="0">
                <a:latin typeface="Lucida Console" panose="020B0609040504020204" pitchFamily="49" charset="0"/>
              </a:rPr>
              <a:t>    ...</a:t>
            </a:r>
          </a:p>
          <a:p>
            <a:pPr marL="457200" lvl="1" indent="0">
              <a:spcBef>
                <a:spcPts val="0"/>
              </a:spcBef>
              <a:buNone/>
              <a:tabLst>
                <a:tab pos="1379538" algn="l"/>
              </a:tabLst>
            </a:pPr>
            <a:r>
              <a:rPr lang="en-US" altLang="en-US" sz="2000" b="1" dirty="0">
                <a:latin typeface="Lucida Console" panose="020B0609040504020204" pitchFamily="49" charset="0"/>
              </a:rPr>
              <a:t>}</a:t>
            </a:r>
            <a:endParaRPr lang="en-US" altLang="en-US" b="1" dirty="0"/>
          </a:p>
          <a:p>
            <a:pPr lvl="1">
              <a:spcBef>
                <a:spcPts val="1000"/>
              </a:spcBef>
              <a:tabLst>
                <a:tab pos="1379538" algn="l"/>
              </a:tabLst>
            </a:pPr>
            <a:r>
              <a:rPr lang="en-US" altLang="en-US" b="1" dirty="0">
                <a:solidFill>
                  <a:srgbClr val="0000FF"/>
                </a:solidFill>
                <a:latin typeface="Lucida Console" panose="020B0609040504020204" pitchFamily="49" charset="0"/>
              </a:rPr>
              <a:t>K</a:t>
            </a:r>
            <a:r>
              <a:rPr lang="en-US" altLang="en-US" b="1" dirty="0"/>
              <a:t> is the type of the keys</a:t>
            </a:r>
          </a:p>
          <a:p>
            <a:pPr lvl="1">
              <a:spcBef>
                <a:spcPts val="200"/>
              </a:spcBef>
              <a:tabLst>
                <a:tab pos="1379538" algn="l"/>
              </a:tabLst>
            </a:pPr>
            <a:r>
              <a:rPr lang="en-US" altLang="en-US" b="1" dirty="0">
                <a:solidFill>
                  <a:srgbClr val="FF0000"/>
                </a:solidFill>
                <a:latin typeface="Lucida Console" panose="020B0609040504020204" pitchFamily="49" charset="0"/>
              </a:rPr>
              <a:t>V</a:t>
            </a:r>
            <a:r>
              <a:rPr lang="en-US" altLang="en-US" dirty="0"/>
              <a:t> is the type of the values</a:t>
            </a:r>
          </a:p>
        </p:txBody>
      </p:sp>
      <p:cxnSp>
        <p:nvCxnSpPr>
          <p:cNvPr id="4" name="Straight Arrow Connector 3"/>
          <p:cNvCxnSpPr/>
          <p:nvPr/>
        </p:nvCxnSpPr>
        <p:spPr bwMode="auto">
          <a:xfrm flipH="1" flipV="1">
            <a:off x="4153989" y="1692276"/>
            <a:ext cx="992777" cy="149506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" name="Straight Arrow Connector 8"/>
          <p:cNvCxnSpPr/>
          <p:nvPr/>
        </p:nvCxnSpPr>
        <p:spPr bwMode="auto">
          <a:xfrm flipH="1" flipV="1">
            <a:off x="4676504" y="1692277"/>
            <a:ext cx="470262" cy="149506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" name="TextBox 7"/>
          <p:cNvSpPr txBox="1"/>
          <p:nvPr/>
        </p:nvSpPr>
        <p:spPr>
          <a:xfrm>
            <a:off x="5394960" y="2743200"/>
            <a:ext cx="1920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Note two generic types are required.</a:t>
            </a:r>
          </a:p>
        </p:txBody>
      </p:sp>
    </p:spTree>
    <p:extLst>
      <p:ext uri="{BB962C8B-B14F-4D97-AF65-F5344CB8AC3E}">
        <p14:creationId xmlns:p14="http://schemas.microsoft.com/office/powerpoint/2010/main" val="1318116609"/>
      </p:ext>
    </p:extLst>
  </p:cSld>
  <p:clrMapOvr>
    <a:masterClrMapping/>
  </p:clrMapOvr>
</p:sld>
</file>

<file path=ppt/slides/slide36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05394" y="844550"/>
            <a:ext cx="7171509" cy="277386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 dirty="0"/>
              <a:t>Dictionaries in Java's Class Library</a:t>
            </a:r>
          </a:p>
        </p:txBody>
      </p:sp>
      <p:sp>
        <p:nvSpPr>
          <p:cNvPr id="972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802687" cy="5614988"/>
          </a:xfrm>
        </p:spPr>
        <p:txBody>
          <a:bodyPr/>
          <a:lstStyle/>
          <a:p>
            <a:pPr>
              <a:tabLst>
                <a:tab pos="1379538" algn="l"/>
              </a:tabLst>
            </a:pPr>
            <a:r>
              <a:rPr lang="en-US" altLang="en-US" dirty="0"/>
              <a:t>Java provides a generic interface for dictionaries:</a:t>
            </a:r>
          </a:p>
          <a:p>
            <a:pPr marL="457200" lvl="1" indent="0">
              <a:spcBef>
                <a:spcPts val="1000"/>
              </a:spcBef>
              <a:buNone/>
              <a:tabLst>
                <a:tab pos="1379538" algn="l"/>
              </a:tabLst>
            </a:pPr>
            <a:r>
              <a:rPr lang="en-US" altLang="en-US" sz="2000" b="1" dirty="0">
                <a:latin typeface="Lucida Console" panose="020B0609040504020204" pitchFamily="49" charset="0"/>
              </a:rPr>
              <a:t>public interface </a:t>
            </a:r>
            <a:r>
              <a:rPr lang="en-US" altLang="en-US" sz="20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Map</a:t>
            </a:r>
            <a:r>
              <a:rPr lang="en-US" altLang="en-US" sz="2000" b="1" dirty="0">
                <a:latin typeface="Lucida Console" panose="020B0609040504020204" pitchFamily="49" charset="0"/>
              </a:rPr>
              <a:t>&lt;</a:t>
            </a:r>
            <a:r>
              <a:rPr lang="en-US" altLang="en-US" sz="20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K</a:t>
            </a:r>
            <a:r>
              <a:rPr lang="en-US" altLang="en-US" sz="2000" b="1" dirty="0">
                <a:latin typeface="Lucida Console" panose="020B0609040504020204" pitchFamily="49" charset="0"/>
              </a:rPr>
              <a:t>, </a:t>
            </a:r>
            <a:r>
              <a:rPr lang="en-US" altLang="en-US" sz="2000" b="1" dirty="0">
                <a:solidFill>
                  <a:srgbClr val="FF0000"/>
                </a:solidFill>
                <a:latin typeface="Lucida Console" panose="020B0609040504020204" pitchFamily="49" charset="0"/>
              </a:rPr>
              <a:t>V</a:t>
            </a:r>
            <a:r>
              <a:rPr lang="en-US" altLang="en-US" sz="2000" b="1" dirty="0">
                <a:latin typeface="Lucida Console" panose="020B0609040504020204" pitchFamily="49" charset="0"/>
              </a:rPr>
              <a:t>&gt; {</a:t>
            </a:r>
          </a:p>
          <a:p>
            <a:pPr marL="457200" lvl="1" indent="0">
              <a:lnSpc>
                <a:spcPct val="50000"/>
              </a:lnSpc>
              <a:spcBef>
                <a:spcPts val="0"/>
              </a:spcBef>
              <a:buNone/>
              <a:tabLst>
                <a:tab pos="1379538" algn="l"/>
              </a:tabLst>
            </a:pPr>
            <a:r>
              <a:rPr lang="en-US" altLang="en-US" sz="2000" b="1" dirty="0">
                <a:latin typeface="Lucida Console" panose="020B0609040504020204" pitchFamily="49" charset="0"/>
              </a:rPr>
              <a:t>    ...</a:t>
            </a:r>
          </a:p>
          <a:p>
            <a:pPr marL="457200" lvl="1" indent="0">
              <a:spcBef>
                <a:spcPts val="0"/>
              </a:spcBef>
              <a:buNone/>
              <a:tabLst>
                <a:tab pos="1379538" algn="l"/>
              </a:tabLst>
            </a:pPr>
            <a:r>
              <a:rPr lang="en-US" altLang="en-US" sz="2000" b="1" dirty="0">
                <a:latin typeface="Lucida Console" panose="020B0609040504020204" pitchFamily="49" charset="0"/>
              </a:rPr>
              <a:t>}</a:t>
            </a:r>
            <a:endParaRPr lang="en-US" altLang="en-US" b="1" dirty="0"/>
          </a:p>
          <a:p>
            <a:pPr lvl="1">
              <a:spcBef>
                <a:spcPts val="1000"/>
              </a:spcBef>
              <a:tabLst>
                <a:tab pos="1379538" algn="l"/>
              </a:tabLst>
            </a:pPr>
            <a:r>
              <a:rPr lang="en-US" altLang="en-US" b="1" dirty="0">
                <a:solidFill>
                  <a:srgbClr val="0000FF"/>
                </a:solidFill>
                <a:latin typeface="Lucida Console" panose="020B0609040504020204" pitchFamily="49" charset="0"/>
              </a:rPr>
              <a:t>K</a:t>
            </a:r>
            <a:r>
              <a:rPr lang="en-US" altLang="en-US" dirty="0"/>
              <a:t> is the type of the keys</a:t>
            </a:r>
          </a:p>
          <a:p>
            <a:pPr lvl="1">
              <a:spcBef>
                <a:spcPts val="200"/>
              </a:spcBef>
              <a:tabLst>
                <a:tab pos="1379538" algn="l"/>
              </a:tabLst>
            </a:pPr>
            <a:r>
              <a:rPr lang="en-US" altLang="en-US" b="1" dirty="0">
                <a:solidFill>
                  <a:srgbClr val="FF0000"/>
                </a:solidFill>
                <a:latin typeface="Lucida Console" panose="020B0609040504020204" pitchFamily="49" charset="0"/>
              </a:rPr>
              <a:t>V</a:t>
            </a:r>
            <a:r>
              <a:rPr lang="en-US" altLang="en-US" b="1" dirty="0"/>
              <a:t> is the type of the values</a:t>
            </a:r>
          </a:p>
        </p:txBody>
      </p:sp>
      <p:cxnSp>
        <p:nvCxnSpPr>
          <p:cNvPr id="4" name="Straight Arrow Connector 3"/>
          <p:cNvCxnSpPr/>
          <p:nvPr/>
        </p:nvCxnSpPr>
        <p:spPr bwMode="auto">
          <a:xfrm flipH="1" flipV="1">
            <a:off x="4153989" y="1692276"/>
            <a:ext cx="992777" cy="149506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" name="Straight Arrow Connector 8"/>
          <p:cNvCxnSpPr/>
          <p:nvPr/>
        </p:nvCxnSpPr>
        <p:spPr bwMode="auto">
          <a:xfrm flipH="1" flipV="1">
            <a:off x="4676504" y="1692277"/>
            <a:ext cx="470262" cy="149506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" name="TextBox 7"/>
          <p:cNvSpPr txBox="1"/>
          <p:nvPr/>
        </p:nvSpPr>
        <p:spPr>
          <a:xfrm>
            <a:off x="5394960" y="2743200"/>
            <a:ext cx="1920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Note two generic types are required.</a:t>
            </a:r>
          </a:p>
        </p:txBody>
      </p:sp>
    </p:spTree>
    <p:extLst>
      <p:ext uri="{BB962C8B-B14F-4D97-AF65-F5344CB8AC3E}">
        <p14:creationId xmlns:p14="http://schemas.microsoft.com/office/powerpoint/2010/main" val="874017387"/>
      </p:ext>
    </p:extLst>
  </p:cSld>
  <p:clrMapOvr>
    <a:masterClrMapping/>
  </p:clrMapOvr>
</p:sld>
</file>

<file path=ppt/slides/slide36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87375" y="3004457"/>
            <a:ext cx="7498534" cy="295220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 dirty="0"/>
              <a:t>Dictionaries in Java's Class Library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069145" y="4234376"/>
            <a:ext cx="6063175" cy="1378634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972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802687" cy="5614988"/>
          </a:xfrm>
        </p:spPr>
        <p:txBody>
          <a:bodyPr/>
          <a:lstStyle/>
          <a:p>
            <a:pPr>
              <a:tabLst>
                <a:tab pos="1379538" algn="l"/>
              </a:tabLst>
            </a:pPr>
            <a:r>
              <a:rPr lang="en-US" altLang="en-US" dirty="0"/>
              <a:t>Java provides a generic interface for dictionaries:</a:t>
            </a:r>
          </a:p>
          <a:p>
            <a:pPr marL="457200" lvl="1" indent="0">
              <a:spcBef>
                <a:spcPts val="1000"/>
              </a:spcBef>
              <a:buNone/>
              <a:tabLst>
                <a:tab pos="1379538" algn="l"/>
              </a:tabLst>
            </a:pPr>
            <a:r>
              <a:rPr lang="en-US" altLang="en-US" sz="2000" dirty="0">
                <a:latin typeface="Lucida Console" panose="020B0609040504020204" pitchFamily="49" charset="0"/>
              </a:rPr>
              <a:t>public interface </a:t>
            </a:r>
            <a:r>
              <a:rPr lang="en-US" altLang="en-US" sz="2000" dirty="0">
                <a:solidFill>
                  <a:srgbClr val="0000FF"/>
                </a:solidFill>
                <a:latin typeface="Lucida Console" panose="020B0609040504020204" pitchFamily="49" charset="0"/>
              </a:rPr>
              <a:t>Map</a:t>
            </a:r>
            <a:r>
              <a:rPr lang="en-US" altLang="en-US" sz="2000" dirty="0">
                <a:latin typeface="Lucida Console" panose="020B0609040504020204" pitchFamily="49" charset="0"/>
              </a:rPr>
              <a:t>&lt;</a:t>
            </a:r>
            <a:r>
              <a:rPr lang="en-US" altLang="en-US" sz="20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K</a:t>
            </a:r>
            <a:r>
              <a:rPr lang="en-US" altLang="en-US" sz="2000" dirty="0">
                <a:latin typeface="Lucida Console" panose="020B0609040504020204" pitchFamily="49" charset="0"/>
              </a:rPr>
              <a:t>, </a:t>
            </a:r>
            <a:r>
              <a:rPr lang="en-US" altLang="en-US" sz="2000" b="1" dirty="0">
                <a:solidFill>
                  <a:srgbClr val="FF0000"/>
                </a:solidFill>
                <a:latin typeface="Lucida Console" panose="020B0609040504020204" pitchFamily="49" charset="0"/>
              </a:rPr>
              <a:t>V</a:t>
            </a:r>
            <a:r>
              <a:rPr lang="en-US" altLang="en-US" sz="2000" dirty="0">
                <a:latin typeface="Lucida Console" panose="020B0609040504020204" pitchFamily="49" charset="0"/>
              </a:rPr>
              <a:t>&gt; {</a:t>
            </a:r>
          </a:p>
          <a:p>
            <a:pPr marL="457200" lvl="1" indent="0">
              <a:lnSpc>
                <a:spcPct val="50000"/>
              </a:lnSpc>
              <a:spcBef>
                <a:spcPts val="0"/>
              </a:spcBef>
              <a:buNone/>
              <a:tabLst>
                <a:tab pos="1379538" algn="l"/>
              </a:tabLst>
            </a:pPr>
            <a:r>
              <a:rPr lang="en-US" altLang="en-US" sz="2000" dirty="0">
                <a:latin typeface="Lucida Console" panose="020B0609040504020204" pitchFamily="49" charset="0"/>
              </a:rPr>
              <a:t>    ...</a:t>
            </a:r>
          </a:p>
          <a:p>
            <a:pPr marL="457200" lvl="1" indent="0">
              <a:spcBef>
                <a:spcPts val="0"/>
              </a:spcBef>
              <a:buNone/>
              <a:tabLst>
                <a:tab pos="1379538" algn="l"/>
              </a:tabLst>
            </a:pPr>
            <a:r>
              <a:rPr lang="en-US" altLang="en-US" sz="2000" dirty="0">
                <a:latin typeface="Lucida Console" panose="020B0609040504020204" pitchFamily="49" charset="0"/>
              </a:rPr>
              <a:t>}</a:t>
            </a:r>
            <a:endParaRPr lang="en-US" altLang="en-US" dirty="0"/>
          </a:p>
          <a:p>
            <a:pPr lvl="1">
              <a:spcBef>
                <a:spcPts val="1000"/>
              </a:spcBef>
              <a:tabLst>
                <a:tab pos="1379538" algn="l"/>
              </a:tabLst>
            </a:pPr>
            <a:r>
              <a:rPr lang="en-US" altLang="en-US" b="1" dirty="0">
                <a:solidFill>
                  <a:srgbClr val="0000FF"/>
                </a:solidFill>
                <a:latin typeface="Lucida Console" panose="020B0609040504020204" pitchFamily="49" charset="0"/>
              </a:rPr>
              <a:t>K</a:t>
            </a:r>
            <a:r>
              <a:rPr lang="en-US" altLang="en-US" dirty="0"/>
              <a:t> is the type of the keys</a:t>
            </a:r>
          </a:p>
          <a:p>
            <a:pPr lvl="1">
              <a:spcBef>
                <a:spcPts val="200"/>
              </a:spcBef>
              <a:tabLst>
                <a:tab pos="1379538" algn="l"/>
              </a:tabLst>
            </a:pPr>
            <a:r>
              <a:rPr lang="en-US" altLang="en-US" b="1" dirty="0">
                <a:solidFill>
                  <a:srgbClr val="FF0000"/>
                </a:solidFill>
                <a:latin typeface="Lucida Console" panose="020B0609040504020204" pitchFamily="49" charset="0"/>
              </a:rPr>
              <a:t>V</a:t>
            </a:r>
            <a:r>
              <a:rPr lang="en-US" altLang="en-US" dirty="0"/>
              <a:t> is the type of the values</a:t>
            </a:r>
          </a:p>
          <a:p>
            <a:pPr>
              <a:spcBef>
                <a:spcPts val="2000"/>
              </a:spcBef>
              <a:tabLst>
                <a:tab pos="1379538" algn="l"/>
              </a:tabLst>
            </a:pPr>
            <a:r>
              <a:rPr lang="en-US" altLang="en-US" dirty="0"/>
              <a:t>It differs somewhat from our dictionary implementations:</a:t>
            </a:r>
          </a:p>
          <a:p>
            <a:pPr lvl="1">
              <a:spcBef>
                <a:spcPts val="200"/>
              </a:spcBef>
              <a:tabLst>
                <a:tab pos="1379538" algn="l"/>
              </a:tabLst>
            </a:pPr>
            <a:r>
              <a:rPr lang="en-US" altLang="en-US" sz="2000" dirty="0">
                <a:latin typeface="Lucida Console" panose="020B0609040504020204" pitchFamily="49" charset="0"/>
              </a:rPr>
              <a:t>insert()</a:t>
            </a:r>
            <a:r>
              <a:rPr lang="en-US" altLang="en-US" dirty="0"/>
              <a:t> is called </a:t>
            </a:r>
            <a:r>
              <a:rPr lang="en-US" altLang="en-US" sz="2000" dirty="0">
                <a:latin typeface="Lucida Console" panose="020B0609040504020204" pitchFamily="49" charset="0"/>
              </a:rPr>
              <a:t>put()</a:t>
            </a:r>
          </a:p>
          <a:p>
            <a:pPr lvl="1">
              <a:spcBef>
                <a:spcPts val="200"/>
              </a:spcBef>
              <a:tabLst>
                <a:tab pos="1379538" algn="l"/>
              </a:tabLst>
            </a:pPr>
            <a:r>
              <a:rPr lang="en-US" altLang="en-US" sz="2000" dirty="0">
                <a:latin typeface="Lucida Console" panose="020B0609040504020204" pitchFamily="49" charset="0"/>
              </a:rPr>
              <a:t>search()</a:t>
            </a:r>
            <a:r>
              <a:rPr lang="en-US" altLang="en-US" dirty="0"/>
              <a:t> is called </a:t>
            </a:r>
            <a:r>
              <a:rPr lang="en-US" altLang="en-US" sz="2000" dirty="0">
                <a:latin typeface="Lucida Console" panose="020B0609040504020204" pitchFamily="49" charset="0"/>
              </a:rPr>
              <a:t>get()</a:t>
            </a:r>
          </a:p>
          <a:p>
            <a:pPr lvl="1">
              <a:spcBef>
                <a:spcPts val="200"/>
              </a:spcBef>
              <a:tabLst>
                <a:tab pos="1379538" algn="l"/>
              </a:tabLst>
            </a:pPr>
            <a:r>
              <a:rPr lang="en-US" altLang="en-US" dirty="0">
                <a:latin typeface="+mj-lt"/>
              </a:rPr>
              <a:t>it does </a:t>
            </a:r>
            <a:r>
              <a:rPr lang="en-US" altLang="en-US" i="1" dirty="0">
                <a:latin typeface="+mj-lt"/>
              </a:rPr>
              <a:t>not</a:t>
            </a:r>
            <a:r>
              <a:rPr lang="en-US" altLang="en-US" dirty="0">
                <a:latin typeface="+mj-lt"/>
              </a:rPr>
              <a:t> support duplicates</a:t>
            </a:r>
          </a:p>
          <a:p>
            <a:pPr marL="1149350" lvl="2" indent="-234950">
              <a:spcBef>
                <a:spcPts val="200"/>
              </a:spcBef>
              <a:tabLst>
                <a:tab pos="1379538" algn="l"/>
              </a:tabLst>
            </a:pPr>
            <a:r>
              <a:rPr lang="en-US" altLang="en-US" sz="2200" dirty="0">
                <a:latin typeface="+mj-lt"/>
              </a:rPr>
              <a:t>to have multiple values for a given key, </a:t>
            </a:r>
            <a:br>
              <a:rPr lang="en-US" altLang="en-US" sz="2200" dirty="0">
                <a:latin typeface="+mj-lt"/>
              </a:rPr>
            </a:br>
            <a:r>
              <a:rPr lang="en-US" altLang="en-US" sz="2200" dirty="0">
                <a:latin typeface="+mj-lt"/>
              </a:rPr>
              <a:t>the client can use a list as the key's value</a:t>
            </a:r>
          </a:p>
        </p:txBody>
      </p:sp>
    </p:spTree>
    <p:extLst>
      <p:ext uri="{BB962C8B-B14F-4D97-AF65-F5344CB8AC3E}">
        <p14:creationId xmlns:p14="http://schemas.microsoft.com/office/powerpoint/2010/main" val="4215080966"/>
      </p:ext>
    </p:extLst>
  </p:cSld>
  <p:clrMapOvr>
    <a:masterClrMapping/>
  </p:clrMapOvr>
</p:sld>
</file>

<file path=ppt/slides/slide36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3723" y="5950634"/>
            <a:ext cx="8102991" cy="90736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 dirty="0"/>
              <a:t>Dictionaries in Java's Class Library</a:t>
            </a:r>
          </a:p>
        </p:txBody>
      </p:sp>
      <p:sp>
        <p:nvSpPr>
          <p:cNvPr id="972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802687" cy="5614988"/>
          </a:xfrm>
        </p:spPr>
        <p:txBody>
          <a:bodyPr/>
          <a:lstStyle/>
          <a:p>
            <a:pPr>
              <a:tabLst>
                <a:tab pos="1379538" algn="l"/>
              </a:tabLst>
            </a:pPr>
            <a:r>
              <a:rPr lang="en-US" altLang="en-US" dirty="0"/>
              <a:t>Java provides a generic interface for dictionaries:</a:t>
            </a:r>
          </a:p>
          <a:p>
            <a:pPr marL="457200" lvl="1" indent="0">
              <a:spcBef>
                <a:spcPts val="1000"/>
              </a:spcBef>
              <a:buNone/>
              <a:tabLst>
                <a:tab pos="1379538" algn="l"/>
              </a:tabLst>
            </a:pPr>
            <a:r>
              <a:rPr lang="en-US" altLang="en-US" sz="2000" dirty="0">
                <a:latin typeface="Lucida Console" panose="020B0609040504020204" pitchFamily="49" charset="0"/>
              </a:rPr>
              <a:t>public interface </a:t>
            </a:r>
            <a:r>
              <a:rPr lang="en-US" altLang="en-US" sz="2000" dirty="0">
                <a:solidFill>
                  <a:srgbClr val="0000FF"/>
                </a:solidFill>
                <a:latin typeface="Lucida Console" panose="020B0609040504020204" pitchFamily="49" charset="0"/>
              </a:rPr>
              <a:t>Map</a:t>
            </a:r>
            <a:r>
              <a:rPr lang="en-US" altLang="en-US" sz="2000" dirty="0">
                <a:latin typeface="Lucida Console" panose="020B0609040504020204" pitchFamily="49" charset="0"/>
              </a:rPr>
              <a:t>&lt;</a:t>
            </a:r>
            <a:r>
              <a:rPr lang="en-US" altLang="en-US" sz="20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K</a:t>
            </a:r>
            <a:r>
              <a:rPr lang="en-US" altLang="en-US" sz="2000" dirty="0">
                <a:latin typeface="Lucida Console" panose="020B0609040504020204" pitchFamily="49" charset="0"/>
              </a:rPr>
              <a:t>, </a:t>
            </a:r>
            <a:r>
              <a:rPr lang="en-US" altLang="en-US" sz="2000" b="1" dirty="0">
                <a:solidFill>
                  <a:srgbClr val="FF0000"/>
                </a:solidFill>
                <a:latin typeface="Lucida Console" panose="020B0609040504020204" pitchFamily="49" charset="0"/>
              </a:rPr>
              <a:t>V</a:t>
            </a:r>
            <a:r>
              <a:rPr lang="en-US" altLang="en-US" sz="2000" dirty="0">
                <a:latin typeface="Lucida Console" panose="020B0609040504020204" pitchFamily="49" charset="0"/>
              </a:rPr>
              <a:t>&gt; {</a:t>
            </a:r>
          </a:p>
          <a:p>
            <a:pPr marL="457200" lvl="1" indent="0">
              <a:lnSpc>
                <a:spcPct val="50000"/>
              </a:lnSpc>
              <a:spcBef>
                <a:spcPts val="0"/>
              </a:spcBef>
              <a:buNone/>
              <a:tabLst>
                <a:tab pos="1379538" algn="l"/>
              </a:tabLst>
            </a:pPr>
            <a:r>
              <a:rPr lang="en-US" altLang="en-US" sz="2000" dirty="0">
                <a:latin typeface="Lucida Console" panose="020B0609040504020204" pitchFamily="49" charset="0"/>
              </a:rPr>
              <a:t>    ...</a:t>
            </a:r>
          </a:p>
          <a:p>
            <a:pPr marL="457200" lvl="1" indent="0">
              <a:spcBef>
                <a:spcPts val="0"/>
              </a:spcBef>
              <a:buNone/>
              <a:tabLst>
                <a:tab pos="1379538" algn="l"/>
              </a:tabLst>
            </a:pPr>
            <a:r>
              <a:rPr lang="en-US" altLang="en-US" sz="2000" dirty="0">
                <a:latin typeface="Lucida Console" panose="020B0609040504020204" pitchFamily="49" charset="0"/>
              </a:rPr>
              <a:t>}</a:t>
            </a:r>
            <a:endParaRPr lang="en-US" altLang="en-US" dirty="0"/>
          </a:p>
          <a:p>
            <a:pPr lvl="1">
              <a:spcBef>
                <a:spcPts val="1000"/>
              </a:spcBef>
              <a:tabLst>
                <a:tab pos="1379538" algn="l"/>
              </a:tabLst>
            </a:pPr>
            <a:r>
              <a:rPr lang="en-US" altLang="en-US" b="1" dirty="0">
                <a:solidFill>
                  <a:srgbClr val="0000FF"/>
                </a:solidFill>
                <a:latin typeface="Lucida Console" panose="020B0609040504020204" pitchFamily="49" charset="0"/>
              </a:rPr>
              <a:t>K</a:t>
            </a:r>
            <a:r>
              <a:rPr lang="en-US" altLang="en-US" dirty="0"/>
              <a:t> is the type of the keys</a:t>
            </a:r>
          </a:p>
          <a:p>
            <a:pPr lvl="1">
              <a:spcBef>
                <a:spcPts val="200"/>
              </a:spcBef>
              <a:tabLst>
                <a:tab pos="1379538" algn="l"/>
              </a:tabLst>
            </a:pPr>
            <a:r>
              <a:rPr lang="en-US" altLang="en-US" b="1" dirty="0">
                <a:solidFill>
                  <a:srgbClr val="FF0000"/>
                </a:solidFill>
                <a:latin typeface="Lucida Console" panose="020B0609040504020204" pitchFamily="49" charset="0"/>
              </a:rPr>
              <a:t>V</a:t>
            </a:r>
            <a:r>
              <a:rPr lang="en-US" altLang="en-US" dirty="0"/>
              <a:t> is the type of the values</a:t>
            </a:r>
          </a:p>
          <a:p>
            <a:pPr>
              <a:spcBef>
                <a:spcPts val="2000"/>
              </a:spcBef>
              <a:tabLst>
                <a:tab pos="1379538" algn="l"/>
              </a:tabLst>
            </a:pPr>
            <a:r>
              <a:rPr lang="en-US" altLang="en-US" dirty="0"/>
              <a:t>It differs somewhat from our dictionary implementations:</a:t>
            </a:r>
          </a:p>
          <a:p>
            <a:pPr lvl="1">
              <a:spcBef>
                <a:spcPts val="200"/>
              </a:spcBef>
              <a:tabLst>
                <a:tab pos="1379538" algn="l"/>
              </a:tabLst>
            </a:pPr>
            <a:r>
              <a:rPr lang="en-US" altLang="en-US" sz="2000" dirty="0">
                <a:latin typeface="Lucida Console" panose="020B0609040504020204" pitchFamily="49" charset="0"/>
              </a:rPr>
              <a:t>insert()</a:t>
            </a:r>
            <a:r>
              <a:rPr lang="en-US" altLang="en-US" dirty="0"/>
              <a:t> is called </a:t>
            </a:r>
            <a:r>
              <a:rPr lang="en-US" altLang="en-US" sz="2000" dirty="0">
                <a:latin typeface="Lucida Console" panose="020B0609040504020204" pitchFamily="49" charset="0"/>
              </a:rPr>
              <a:t>put()</a:t>
            </a:r>
          </a:p>
          <a:p>
            <a:pPr lvl="1">
              <a:spcBef>
                <a:spcPts val="200"/>
              </a:spcBef>
              <a:tabLst>
                <a:tab pos="1379538" algn="l"/>
              </a:tabLst>
            </a:pPr>
            <a:r>
              <a:rPr lang="en-US" altLang="en-US" sz="2000" dirty="0">
                <a:latin typeface="Lucida Console" panose="020B0609040504020204" pitchFamily="49" charset="0"/>
              </a:rPr>
              <a:t>search()</a:t>
            </a:r>
            <a:r>
              <a:rPr lang="en-US" altLang="en-US" dirty="0"/>
              <a:t> is called </a:t>
            </a:r>
            <a:r>
              <a:rPr lang="en-US" altLang="en-US" sz="2000" dirty="0">
                <a:latin typeface="Lucida Console" panose="020B0609040504020204" pitchFamily="49" charset="0"/>
              </a:rPr>
              <a:t>get()</a:t>
            </a:r>
          </a:p>
          <a:p>
            <a:pPr lvl="1">
              <a:spcBef>
                <a:spcPts val="200"/>
              </a:spcBef>
              <a:tabLst>
                <a:tab pos="1379538" algn="l"/>
              </a:tabLst>
            </a:pPr>
            <a:r>
              <a:rPr lang="en-US" altLang="en-US" dirty="0">
                <a:latin typeface="+mj-lt"/>
              </a:rPr>
              <a:t>it does </a:t>
            </a:r>
            <a:r>
              <a:rPr lang="en-US" altLang="en-US" i="1" dirty="0">
                <a:latin typeface="+mj-lt"/>
              </a:rPr>
              <a:t>not</a:t>
            </a:r>
            <a:r>
              <a:rPr lang="en-US" altLang="en-US" dirty="0">
                <a:latin typeface="+mj-lt"/>
              </a:rPr>
              <a:t> support duplicates</a:t>
            </a:r>
          </a:p>
          <a:p>
            <a:pPr marL="1149350" lvl="2" indent="-234950">
              <a:spcBef>
                <a:spcPts val="200"/>
              </a:spcBef>
              <a:tabLst>
                <a:tab pos="1379538" algn="l"/>
              </a:tabLst>
            </a:pPr>
            <a:r>
              <a:rPr lang="en-US" altLang="en-US" sz="2200" dirty="0">
                <a:latin typeface="+mj-lt"/>
              </a:rPr>
              <a:t>to have multiple values for a given key, </a:t>
            </a:r>
            <a:br>
              <a:rPr lang="en-US" altLang="en-US" sz="2200" dirty="0">
                <a:latin typeface="+mj-lt"/>
              </a:rPr>
            </a:br>
            <a:r>
              <a:rPr lang="en-US" altLang="en-US" sz="2200" dirty="0">
                <a:latin typeface="+mj-lt"/>
              </a:rPr>
              <a:t>the client can use a list as the key's value</a:t>
            </a:r>
          </a:p>
          <a:p>
            <a:pPr>
              <a:spcBef>
                <a:spcPts val="2000"/>
              </a:spcBef>
              <a:tabLst>
                <a:tab pos="1379538" algn="l"/>
              </a:tabLst>
            </a:pPr>
            <a:r>
              <a:rPr lang="en-US" altLang="en-US" dirty="0">
                <a:solidFill>
                  <a:srgbClr val="0000FF"/>
                </a:solidFill>
              </a:rPr>
              <a:t>The implementations of </a:t>
            </a:r>
            <a:r>
              <a:rPr lang="en-US" altLang="en-US" sz="2000" dirty="0">
                <a:solidFill>
                  <a:srgbClr val="0000FF"/>
                </a:solidFill>
                <a:latin typeface="Lucida Console" panose="020B0609040504020204" pitchFamily="49" charset="0"/>
              </a:rPr>
              <a:t>Map&lt;K, V&gt;</a:t>
            </a:r>
            <a:r>
              <a:rPr lang="en-US" altLang="en-US" dirty="0">
                <a:solidFill>
                  <a:srgbClr val="0000FF"/>
                </a:solidFill>
              </a:rPr>
              <a:t> include:</a:t>
            </a:r>
          </a:p>
          <a:p>
            <a:pPr lvl="1">
              <a:spcBef>
                <a:spcPts val="500"/>
              </a:spcBef>
              <a:tabLst>
                <a:tab pos="1379538" algn="l"/>
              </a:tabLst>
            </a:pPr>
            <a:r>
              <a:rPr lang="en-US" altLang="en-US" sz="2000" b="1" dirty="0" err="1">
                <a:latin typeface="Lucida Console" panose="020B0609040504020204" pitchFamily="49" charset="0"/>
                <a:sym typeface="Wingdings" panose="05000000000000000000" pitchFamily="2" charset="2"/>
              </a:rPr>
              <a:t>TreeMap</a:t>
            </a:r>
            <a:r>
              <a:rPr lang="en-US" altLang="en-US" sz="2000" b="1" dirty="0">
                <a:latin typeface="Lucida Console" panose="020B0609040504020204" pitchFamily="49" charset="0"/>
                <a:sym typeface="Wingdings" panose="05000000000000000000" pitchFamily="2" charset="2"/>
              </a:rPr>
              <a:t>&lt;K, V&gt;</a:t>
            </a:r>
            <a:r>
              <a:rPr lang="en-US" altLang="en-US" b="1" dirty="0">
                <a:sym typeface="Wingdings" panose="05000000000000000000" pitchFamily="2" charset="2"/>
              </a:rPr>
              <a:t> - uses a balanced </a:t>
            </a:r>
            <a:r>
              <a:rPr lang="en-US" altLang="en-US" b="1" dirty="0" err="1">
                <a:sym typeface="Wingdings" panose="05000000000000000000" pitchFamily="2" charset="2"/>
              </a:rPr>
              <a:t>seach</a:t>
            </a:r>
            <a:r>
              <a:rPr lang="en-US" altLang="en-US" b="1" dirty="0">
                <a:sym typeface="Wingdings" panose="05000000000000000000" pitchFamily="2" charset="2"/>
              </a:rPr>
              <a:t> tree</a:t>
            </a:r>
          </a:p>
          <a:p>
            <a:pPr lvl="1">
              <a:spcBef>
                <a:spcPts val="500"/>
              </a:spcBef>
              <a:tabLst>
                <a:tab pos="1379538" algn="l"/>
              </a:tabLst>
            </a:pPr>
            <a:r>
              <a:rPr lang="en-US" altLang="en-US" sz="2000" dirty="0" err="1">
                <a:latin typeface="Lucida Console" panose="020B0609040504020204" pitchFamily="49" charset="0"/>
                <a:sym typeface="Wingdings" panose="05000000000000000000" pitchFamily="2" charset="2"/>
              </a:rPr>
              <a:t>HashMap</a:t>
            </a:r>
            <a:r>
              <a:rPr lang="en-US" altLang="en-US" sz="2000" dirty="0">
                <a:latin typeface="Lucida Console" panose="020B0609040504020204" pitchFamily="49" charset="0"/>
                <a:sym typeface="Wingdings" panose="05000000000000000000" pitchFamily="2" charset="2"/>
              </a:rPr>
              <a:t>&lt;K, V&gt;</a:t>
            </a:r>
            <a:r>
              <a:rPr lang="en-US" altLang="en-US" dirty="0">
                <a:sym typeface="Wingdings" panose="05000000000000000000" pitchFamily="2" charset="2"/>
              </a:rPr>
              <a:t> - uses a hash table with </a:t>
            </a:r>
            <a:r>
              <a:rPr lang="en-US" altLang="en-US" dirty="0">
                <a:solidFill>
                  <a:srgbClr val="0000FF"/>
                </a:solidFill>
                <a:sym typeface="Wingdings" panose="05000000000000000000" pitchFamily="2" charset="2"/>
              </a:rPr>
              <a:t>separate chaining</a:t>
            </a:r>
          </a:p>
        </p:txBody>
      </p:sp>
    </p:spTree>
    <p:extLst>
      <p:ext uri="{BB962C8B-B14F-4D97-AF65-F5344CB8AC3E}">
        <p14:creationId xmlns:p14="http://schemas.microsoft.com/office/powerpoint/2010/main" val="4019532213"/>
      </p:ext>
    </p:extLst>
  </p:cSld>
  <p:clrMapOvr>
    <a:masterClrMapping/>
  </p:clrMapOvr>
</p:sld>
</file>

<file path=ppt/slides/slide3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3723" y="5950634"/>
            <a:ext cx="8102991" cy="90736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76200"/>
            <a:ext cx="7861300" cy="847725"/>
          </a:xfrm>
        </p:spPr>
        <p:txBody>
          <a:bodyPr/>
          <a:lstStyle/>
          <a:p>
            <a:r>
              <a:rPr lang="en-US" altLang="en-US" dirty="0"/>
              <a:t>Dictionaries in Java's Class Library</a:t>
            </a:r>
          </a:p>
        </p:txBody>
      </p:sp>
      <p:sp>
        <p:nvSpPr>
          <p:cNvPr id="972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844550"/>
            <a:ext cx="8802687" cy="5614988"/>
          </a:xfrm>
        </p:spPr>
        <p:txBody>
          <a:bodyPr/>
          <a:lstStyle/>
          <a:p>
            <a:pPr>
              <a:tabLst>
                <a:tab pos="1379538" algn="l"/>
              </a:tabLst>
            </a:pPr>
            <a:r>
              <a:rPr lang="en-US" altLang="en-US" dirty="0"/>
              <a:t>Java provides a generic interface for dictionaries:</a:t>
            </a:r>
          </a:p>
          <a:p>
            <a:pPr marL="457200" lvl="1" indent="0">
              <a:spcBef>
                <a:spcPts val="1000"/>
              </a:spcBef>
              <a:buNone/>
              <a:tabLst>
                <a:tab pos="1379538" algn="l"/>
              </a:tabLst>
            </a:pPr>
            <a:r>
              <a:rPr lang="en-US" altLang="en-US" sz="2000" dirty="0">
                <a:latin typeface="Lucida Console" panose="020B0609040504020204" pitchFamily="49" charset="0"/>
              </a:rPr>
              <a:t>public interface </a:t>
            </a:r>
            <a:r>
              <a:rPr lang="en-US" altLang="en-US" sz="2000" dirty="0">
                <a:solidFill>
                  <a:srgbClr val="0000FF"/>
                </a:solidFill>
                <a:latin typeface="Lucida Console" panose="020B0609040504020204" pitchFamily="49" charset="0"/>
              </a:rPr>
              <a:t>Map</a:t>
            </a:r>
            <a:r>
              <a:rPr lang="en-US" altLang="en-US" sz="2000" dirty="0">
                <a:latin typeface="Lucida Console" panose="020B0609040504020204" pitchFamily="49" charset="0"/>
              </a:rPr>
              <a:t>&lt;</a:t>
            </a:r>
            <a:r>
              <a:rPr lang="en-US" altLang="en-US" sz="2000" b="1" dirty="0">
                <a:solidFill>
                  <a:srgbClr val="0000FF"/>
                </a:solidFill>
                <a:latin typeface="Lucida Console" panose="020B0609040504020204" pitchFamily="49" charset="0"/>
              </a:rPr>
              <a:t>K</a:t>
            </a:r>
            <a:r>
              <a:rPr lang="en-US" altLang="en-US" sz="2000" dirty="0">
                <a:latin typeface="Lucida Console" panose="020B0609040504020204" pitchFamily="49" charset="0"/>
              </a:rPr>
              <a:t>, </a:t>
            </a:r>
            <a:r>
              <a:rPr lang="en-US" altLang="en-US" sz="2000" b="1" dirty="0">
                <a:solidFill>
                  <a:srgbClr val="FF0000"/>
                </a:solidFill>
                <a:latin typeface="Lucida Console" panose="020B0609040504020204" pitchFamily="49" charset="0"/>
              </a:rPr>
              <a:t>V</a:t>
            </a:r>
            <a:r>
              <a:rPr lang="en-US" altLang="en-US" sz="2000" dirty="0">
                <a:latin typeface="Lucida Console" panose="020B0609040504020204" pitchFamily="49" charset="0"/>
              </a:rPr>
              <a:t>&gt; {</a:t>
            </a:r>
          </a:p>
          <a:p>
            <a:pPr marL="457200" lvl="1" indent="0">
              <a:lnSpc>
                <a:spcPct val="50000"/>
              </a:lnSpc>
              <a:spcBef>
                <a:spcPts val="0"/>
              </a:spcBef>
              <a:buNone/>
              <a:tabLst>
                <a:tab pos="1379538" algn="l"/>
              </a:tabLst>
            </a:pPr>
            <a:r>
              <a:rPr lang="en-US" altLang="en-US" sz="2000" dirty="0">
                <a:latin typeface="Lucida Console" panose="020B0609040504020204" pitchFamily="49" charset="0"/>
              </a:rPr>
              <a:t>    ...</a:t>
            </a:r>
          </a:p>
          <a:p>
            <a:pPr marL="457200" lvl="1" indent="0">
              <a:spcBef>
                <a:spcPts val="0"/>
              </a:spcBef>
              <a:buNone/>
              <a:tabLst>
                <a:tab pos="1379538" algn="l"/>
              </a:tabLst>
            </a:pPr>
            <a:r>
              <a:rPr lang="en-US" altLang="en-US" sz="2000" dirty="0">
                <a:latin typeface="Lucida Console" panose="020B0609040504020204" pitchFamily="49" charset="0"/>
              </a:rPr>
              <a:t>}</a:t>
            </a:r>
            <a:endParaRPr lang="en-US" altLang="en-US" dirty="0"/>
          </a:p>
          <a:p>
            <a:pPr lvl="1">
              <a:spcBef>
                <a:spcPts val="1000"/>
              </a:spcBef>
              <a:tabLst>
                <a:tab pos="1379538" algn="l"/>
              </a:tabLst>
            </a:pPr>
            <a:r>
              <a:rPr lang="en-US" altLang="en-US" b="1" dirty="0">
                <a:solidFill>
                  <a:srgbClr val="0000FF"/>
                </a:solidFill>
                <a:latin typeface="Lucida Console" panose="020B0609040504020204" pitchFamily="49" charset="0"/>
              </a:rPr>
              <a:t>K</a:t>
            </a:r>
            <a:r>
              <a:rPr lang="en-US" altLang="en-US" dirty="0"/>
              <a:t> is the type of the keys</a:t>
            </a:r>
          </a:p>
          <a:p>
            <a:pPr lvl="1">
              <a:spcBef>
                <a:spcPts val="200"/>
              </a:spcBef>
              <a:tabLst>
                <a:tab pos="1379538" algn="l"/>
              </a:tabLst>
            </a:pPr>
            <a:r>
              <a:rPr lang="en-US" altLang="en-US" b="1" dirty="0">
                <a:solidFill>
                  <a:srgbClr val="FF0000"/>
                </a:solidFill>
                <a:latin typeface="Lucida Console" panose="020B0609040504020204" pitchFamily="49" charset="0"/>
              </a:rPr>
              <a:t>V</a:t>
            </a:r>
            <a:r>
              <a:rPr lang="en-US" altLang="en-US" dirty="0"/>
              <a:t> is the type of the values</a:t>
            </a:r>
          </a:p>
          <a:p>
            <a:pPr>
              <a:spcBef>
                <a:spcPts val="2000"/>
              </a:spcBef>
              <a:tabLst>
                <a:tab pos="1379538" algn="l"/>
              </a:tabLst>
            </a:pPr>
            <a:r>
              <a:rPr lang="en-US" altLang="en-US" dirty="0"/>
              <a:t>It differs somewhat from our dictionary implementations:</a:t>
            </a:r>
          </a:p>
          <a:p>
            <a:pPr lvl="1">
              <a:spcBef>
                <a:spcPts val="200"/>
              </a:spcBef>
              <a:tabLst>
                <a:tab pos="1379538" algn="l"/>
              </a:tabLst>
            </a:pPr>
            <a:r>
              <a:rPr lang="en-US" altLang="en-US" sz="2000" dirty="0">
                <a:latin typeface="Lucida Console" panose="020B0609040504020204" pitchFamily="49" charset="0"/>
              </a:rPr>
              <a:t>insert()</a:t>
            </a:r>
            <a:r>
              <a:rPr lang="en-US" altLang="en-US" dirty="0"/>
              <a:t> is called </a:t>
            </a:r>
            <a:r>
              <a:rPr lang="en-US" altLang="en-US" sz="2000" dirty="0">
                <a:latin typeface="Lucida Console" panose="020B0609040504020204" pitchFamily="49" charset="0"/>
              </a:rPr>
              <a:t>put()</a:t>
            </a:r>
          </a:p>
          <a:p>
            <a:pPr lvl="1">
              <a:spcBef>
                <a:spcPts val="200"/>
              </a:spcBef>
              <a:tabLst>
                <a:tab pos="1379538" algn="l"/>
              </a:tabLst>
            </a:pPr>
            <a:r>
              <a:rPr lang="en-US" altLang="en-US" sz="2000" dirty="0">
                <a:latin typeface="Lucida Console" panose="020B0609040504020204" pitchFamily="49" charset="0"/>
              </a:rPr>
              <a:t>search()</a:t>
            </a:r>
            <a:r>
              <a:rPr lang="en-US" altLang="en-US" dirty="0"/>
              <a:t> is called </a:t>
            </a:r>
            <a:r>
              <a:rPr lang="en-US" altLang="en-US" sz="2000" dirty="0">
                <a:latin typeface="Lucida Console" panose="020B0609040504020204" pitchFamily="49" charset="0"/>
              </a:rPr>
              <a:t>get()</a:t>
            </a:r>
          </a:p>
          <a:p>
            <a:pPr lvl="1">
              <a:spcBef>
                <a:spcPts val="200"/>
              </a:spcBef>
              <a:tabLst>
                <a:tab pos="1379538" algn="l"/>
              </a:tabLst>
            </a:pPr>
            <a:r>
              <a:rPr lang="en-US" altLang="en-US" dirty="0">
                <a:latin typeface="+mj-lt"/>
              </a:rPr>
              <a:t>it does </a:t>
            </a:r>
            <a:r>
              <a:rPr lang="en-US" altLang="en-US" i="1" dirty="0">
                <a:latin typeface="+mj-lt"/>
              </a:rPr>
              <a:t>not</a:t>
            </a:r>
            <a:r>
              <a:rPr lang="en-US" altLang="en-US" dirty="0">
                <a:latin typeface="+mj-lt"/>
              </a:rPr>
              <a:t> support duplicates</a:t>
            </a:r>
          </a:p>
          <a:p>
            <a:pPr marL="1149350" lvl="2" indent="-234950">
              <a:spcBef>
                <a:spcPts val="200"/>
              </a:spcBef>
              <a:tabLst>
                <a:tab pos="1379538" algn="l"/>
              </a:tabLst>
            </a:pPr>
            <a:r>
              <a:rPr lang="en-US" altLang="en-US" sz="2200" dirty="0">
                <a:latin typeface="+mj-lt"/>
              </a:rPr>
              <a:t>to have multiple values for a given key, </a:t>
            </a:r>
            <a:br>
              <a:rPr lang="en-US" altLang="en-US" sz="2200" dirty="0">
                <a:latin typeface="+mj-lt"/>
              </a:rPr>
            </a:br>
            <a:r>
              <a:rPr lang="en-US" altLang="en-US" sz="2200" dirty="0">
                <a:latin typeface="+mj-lt"/>
              </a:rPr>
              <a:t>the client can use a list as the key's value</a:t>
            </a:r>
          </a:p>
          <a:p>
            <a:pPr>
              <a:spcBef>
                <a:spcPts val="2000"/>
              </a:spcBef>
              <a:tabLst>
                <a:tab pos="1379538" algn="l"/>
              </a:tabLst>
            </a:pPr>
            <a:r>
              <a:rPr lang="en-US" altLang="en-US" dirty="0">
                <a:solidFill>
                  <a:srgbClr val="0000FF"/>
                </a:solidFill>
              </a:rPr>
              <a:t>The implementations of </a:t>
            </a:r>
            <a:r>
              <a:rPr lang="en-US" altLang="en-US" sz="2000" dirty="0">
                <a:solidFill>
                  <a:srgbClr val="0000FF"/>
                </a:solidFill>
                <a:latin typeface="Lucida Console" panose="020B0609040504020204" pitchFamily="49" charset="0"/>
              </a:rPr>
              <a:t>Map&lt;K, V&gt;</a:t>
            </a:r>
            <a:r>
              <a:rPr lang="en-US" altLang="en-US" dirty="0">
                <a:solidFill>
                  <a:srgbClr val="0000FF"/>
                </a:solidFill>
              </a:rPr>
              <a:t> include:</a:t>
            </a:r>
          </a:p>
          <a:p>
            <a:pPr lvl="1">
              <a:spcBef>
                <a:spcPts val="500"/>
              </a:spcBef>
              <a:tabLst>
                <a:tab pos="1379538" algn="l"/>
              </a:tabLst>
            </a:pPr>
            <a:r>
              <a:rPr lang="en-US" altLang="en-US" sz="2000" dirty="0" err="1">
                <a:latin typeface="Lucida Console" panose="020B0609040504020204" pitchFamily="49" charset="0"/>
                <a:sym typeface="Wingdings" panose="05000000000000000000" pitchFamily="2" charset="2"/>
              </a:rPr>
              <a:t>TreeMap</a:t>
            </a:r>
            <a:r>
              <a:rPr lang="en-US" altLang="en-US" sz="2000" dirty="0">
                <a:latin typeface="Lucida Console" panose="020B0609040504020204" pitchFamily="49" charset="0"/>
                <a:sym typeface="Wingdings" panose="05000000000000000000" pitchFamily="2" charset="2"/>
              </a:rPr>
              <a:t>&lt;K, V&gt;</a:t>
            </a:r>
            <a:r>
              <a:rPr lang="en-US" altLang="en-US" dirty="0">
                <a:sym typeface="Wingdings" panose="05000000000000000000" pitchFamily="2" charset="2"/>
              </a:rPr>
              <a:t> - uses a balanced </a:t>
            </a:r>
            <a:r>
              <a:rPr lang="en-US" altLang="en-US" dirty="0" err="1">
                <a:sym typeface="Wingdings" panose="05000000000000000000" pitchFamily="2" charset="2"/>
              </a:rPr>
              <a:t>seach</a:t>
            </a:r>
            <a:r>
              <a:rPr lang="en-US" altLang="en-US" dirty="0">
                <a:sym typeface="Wingdings" panose="05000000000000000000" pitchFamily="2" charset="2"/>
              </a:rPr>
              <a:t> tree</a:t>
            </a:r>
          </a:p>
          <a:p>
            <a:pPr lvl="1">
              <a:spcBef>
                <a:spcPts val="500"/>
              </a:spcBef>
              <a:tabLst>
                <a:tab pos="1379538" algn="l"/>
              </a:tabLst>
            </a:pPr>
            <a:r>
              <a:rPr lang="en-US" altLang="en-US" sz="2000" b="1" dirty="0" err="1">
                <a:latin typeface="Lucida Console" panose="020B0609040504020204" pitchFamily="49" charset="0"/>
                <a:sym typeface="Wingdings" panose="05000000000000000000" pitchFamily="2" charset="2"/>
              </a:rPr>
              <a:t>HashMap</a:t>
            </a:r>
            <a:r>
              <a:rPr lang="en-US" altLang="en-US" sz="2000" b="1" dirty="0">
                <a:latin typeface="Lucida Console" panose="020B0609040504020204" pitchFamily="49" charset="0"/>
                <a:sym typeface="Wingdings" panose="05000000000000000000" pitchFamily="2" charset="2"/>
              </a:rPr>
              <a:t>&lt;K, V&gt;</a:t>
            </a:r>
            <a:r>
              <a:rPr lang="en-US" altLang="en-US" b="1" dirty="0">
                <a:sym typeface="Wingdings" panose="05000000000000000000" pitchFamily="2" charset="2"/>
              </a:rPr>
              <a:t> - uses a hash table with </a:t>
            </a:r>
            <a:r>
              <a:rPr lang="en-US" altLang="en-US" b="1" dirty="0">
                <a:solidFill>
                  <a:srgbClr val="0000FF"/>
                </a:solidFill>
                <a:sym typeface="Wingdings" panose="05000000000000000000" pitchFamily="2" charset="2"/>
              </a:rPr>
              <a:t>separate chaining</a:t>
            </a:r>
          </a:p>
        </p:txBody>
      </p:sp>
    </p:spTree>
    <p:extLst>
      <p:ext uri="{BB962C8B-B14F-4D97-AF65-F5344CB8AC3E}">
        <p14:creationId xmlns:p14="http://schemas.microsoft.com/office/powerpoint/2010/main" val="1026453169"/>
      </p:ext>
    </p:extLst>
  </p:cSld>
  <p:clrMapOvr>
    <a:masterClrMapping/>
  </p:clrMapOvr>
</p:sld>
</file>

<file path=ppt/slides/slide36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CS112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10889" y="1151792"/>
            <a:ext cx="6459054" cy="5506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8870952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Arial"/>
        <a:ea typeface=""/>
        <a:cs typeface="Arial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triangle" w="lg" len="lg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 Narrow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triangle" w="lg" len="lg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 Narrow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Arial"/>
        <a:ea typeface=""/>
        <a:cs typeface="Arial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lg" len="lg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800" b="0" i="1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 Narrow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lg" len="lg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800" b="0" i="1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 Narrow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618724</TotalTime>
  <Words>42658</Words>
  <Application>Microsoft Office PowerPoint</Application>
  <PresentationFormat>On-screen Show (4:3)</PresentationFormat>
  <Paragraphs>7691</Paragraphs>
  <Slides>365</Slides>
  <Notes>345</Notes>
  <HiddenSlides>120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365</vt:i4>
      </vt:variant>
      <vt:variant>
        <vt:lpstr>Custom Shows</vt:lpstr>
      </vt:variant>
      <vt:variant>
        <vt:i4>1</vt:i4>
      </vt:variant>
    </vt:vector>
  </HeadingPairs>
  <TitlesOfParts>
    <vt:vector size="373" baseType="lpstr">
      <vt:lpstr>Arial</vt:lpstr>
      <vt:lpstr>Arial Narrow</vt:lpstr>
      <vt:lpstr>Helvetica</vt:lpstr>
      <vt:lpstr>Lucida Console</vt:lpstr>
      <vt:lpstr>Times New Roman</vt:lpstr>
      <vt:lpstr>Default Design</vt:lpstr>
      <vt:lpstr>1_Default Design</vt:lpstr>
      <vt:lpstr>Hash Tables</vt:lpstr>
      <vt:lpstr>Data Dictionary Revisited</vt:lpstr>
      <vt:lpstr>Data Dictionary Revisited</vt:lpstr>
      <vt:lpstr>Data Dictionary Revisited</vt:lpstr>
      <vt:lpstr>Data Dictionary Revisited</vt:lpstr>
      <vt:lpstr>Hash Tables: in a nutshell</vt:lpstr>
      <vt:lpstr>Hash Tables: in a nutshell</vt:lpstr>
      <vt:lpstr>Hash Tables: in a nutshell</vt:lpstr>
      <vt:lpstr>Hash Tables: in a nutshell</vt:lpstr>
      <vt:lpstr>Hash Tables: in a nutshell</vt:lpstr>
      <vt:lpstr>Hash Tables: in a nutshell</vt:lpstr>
      <vt:lpstr>Hash Tables: in a nutshell</vt:lpstr>
      <vt:lpstr>Hash Tables: in a nutshell</vt:lpstr>
      <vt:lpstr>Hash Tables: in a nutshell</vt:lpstr>
      <vt:lpstr>Ideal Case: Searching = Indexing</vt:lpstr>
      <vt:lpstr>Ideal Case: Searching = Indexing</vt:lpstr>
      <vt:lpstr>Ideal Case: Searching = Indexing</vt:lpstr>
      <vt:lpstr>Ideal Case: Searching = Indexing</vt:lpstr>
      <vt:lpstr>Ideal Case: Searching = Indexing</vt:lpstr>
      <vt:lpstr>Ideal Case: Searching = Indexing</vt:lpstr>
      <vt:lpstr>Hashing: Turning Keys into Array Indices</vt:lpstr>
      <vt:lpstr>Hashing: Turning Keys into Array Indices</vt:lpstr>
      <vt:lpstr>Hashing: Turning Keys into Array Indices</vt:lpstr>
      <vt:lpstr>Hashing: Turning Keys into Array Indices</vt:lpstr>
      <vt:lpstr>Hashing: Turning Keys into Array Indices</vt:lpstr>
      <vt:lpstr>Hashing: Turning Keys into Array Indices</vt:lpstr>
      <vt:lpstr>Hash Functions</vt:lpstr>
      <vt:lpstr>Hash Functions</vt:lpstr>
      <vt:lpstr>Hash Functions</vt:lpstr>
      <vt:lpstr>Hash Functions</vt:lpstr>
      <vt:lpstr>Hash Functions</vt:lpstr>
      <vt:lpstr>Hash Functions</vt:lpstr>
      <vt:lpstr>Hash Functions</vt:lpstr>
      <vt:lpstr>Hash Functions</vt:lpstr>
      <vt:lpstr>Dealing with Collisions I:  Separate Chaining</vt:lpstr>
      <vt:lpstr>Dealing with Collisions I:  Separate Chaining</vt:lpstr>
      <vt:lpstr>Dealing with Collisions I:  Separate Chaining</vt:lpstr>
      <vt:lpstr>Dealing with Collisions I:  Separate Chaining</vt:lpstr>
      <vt:lpstr>Dealing with Collisions I:  Separate Chaining</vt:lpstr>
      <vt:lpstr>Dealing with Collisions I:  Separate Chaining</vt:lpstr>
      <vt:lpstr>Dealing with Collisions I:  Separate Chaining</vt:lpstr>
      <vt:lpstr>Dealing with Collisions I:  Separate Chaining</vt:lpstr>
      <vt:lpstr>Dealing with Collisions I:  Separate Chaining</vt:lpstr>
      <vt:lpstr>Dealing with Collisions I:  Separate Chaining</vt:lpstr>
      <vt:lpstr>Dealing with Collisions I:  Separate Chaining</vt:lpstr>
      <vt:lpstr>Dealing with Collisions I:  Separate Chaining</vt:lpstr>
      <vt:lpstr>Dealing with Collisions I:  Separate Chaining</vt:lpstr>
      <vt:lpstr>Dealing with Collisions I:  Separate Chaining</vt:lpstr>
      <vt:lpstr>Dealing with Collisions II: Open Addressing</vt:lpstr>
      <vt:lpstr>Dealing with Collisions II: Open Addressing</vt:lpstr>
      <vt:lpstr>Dealing with Collisions II: Open Addressing</vt:lpstr>
      <vt:lpstr>Dealing with Collisions II: Open Addressing</vt:lpstr>
      <vt:lpstr>Dealing with Collisions II: Open Addressing</vt:lpstr>
      <vt:lpstr>Linear Probing</vt:lpstr>
      <vt:lpstr>Linear Probing</vt:lpstr>
      <vt:lpstr>Linear Probing</vt:lpstr>
      <vt:lpstr>Linear Probing</vt:lpstr>
      <vt:lpstr>Linear Probing</vt:lpstr>
      <vt:lpstr>Linear Probing</vt:lpstr>
      <vt:lpstr>Linear Probing</vt:lpstr>
      <vt:lpstr>Linear Probing</vt:lpstr>
      <vt:lpstr>Linear Probing</vt:lpstr>
      <vt:lpstr>Linear Probing</vt:lpstr>
      <vt:lpstr>Linear Probing</vt:lpstr>
      <vt:lpstr>Linear Probing</vt:lpstr>
      <vt:lpstr>Linear Probing</vt:lpstr>
      <vt:lpstr>Linear Probing</vt:lpstr>
      <vt:lpstr>Linear Probing</vt:lpstr>
      <vt:lpstr>Linear Probing</vt:lpstr>
      <vt:lpstr>PowerPoint Presentation</vt:lpstr>
      <vt:lpstr>PowerPoint Presentation</vt:lpstr>
      <vt:lpstr>Linear Probing</vt:lpstr>
      <vt:lpstr>Linear Probing</vt:lpstr>
      <vt:lpstr>Linear Probing</vt:lpstr>
      <vt:lpstr>Quadratic Probing</vt:lpstr>
      <vt:lpstr>Quadratic Probing</vt:lpstr>
      <vt:lpstr>Quadratic Probing</vt:lpstr>
      <vt:lpstr>Quadratic Probing</vt:lpstr>
      <vt:lpstr>Quadratic Probing</vt:lpstr>
      <vt:lpstr>Quadratic Probing</vt:lpstr>
      <vt:lpstr>Quadratic Probing</vt:lpstr>
      <vt:lpstr>Quadratic Probing</vt:lpstr>
      <vt:lpstr>Quadratic Probing</vt:lpstr>
      <vt:lpstr>Quadratic Probing</vt:lpstr>
      <vt:lpstr>Quadratic Probing</vt:lpstr>
      <vt:lpstr>Quadratic Probing</vt:lpstr>
      <vt:lpstr>Quadratic Probing</vt:lpstr>
      <vt:lpstr>Quadratic Probing</vt:lpstr>
      <vt:lpstr>Quadratic Probing</vt:lpstr>
      <vt:lpstr>Quadratic Probing</vt:lpstr>
      <vt:lpstr>Quadratic Probing</vt:lpstr>
      <vt:lpstr>Quadratic Probing</vt:lpstr>
      <vt:lpstr>Quadratic Probing</vt:lpstr>
      <vt:lpstr>Quadratic Probing</vt:lpstr>
      <vt:lpstr>Quadratic Probing</vt:lpstr>
      <vt:lpstr>Quadratic Probing</vt:lpstr>
      <vt:lpstr>Quadratic Probing</vt:lpstr>
      <vt:lpstr>Quadratic Probing</vt:lpstr>
      <vt:lpstr>Quadratic Probing</vt:lpstr>
      <vt:lpstr>Quadratic Probing</vt:lpstr>
      <vt:lpstr>Quadratic Probing</vt:lpstr>
      <vt:lpstr>Quadratic Probing</vt:lpstr>
      <vt:lpstr>Quadratic Probing</vt:lpstr>
      <vt:lpstr>Double Hashing</vt:lpstr>
      <vt:lpstr>Double Hashing</vt:lpstr>
      <vt:lpstr>Double Hashing</vt:lpstr>
      <vt:lpstr>Double Hashing</vt:lpstr>
      <vt:lpstr>Double Hashing</vt:lpstr>
      <vt:lpstr>Double Hashing</vt:lpstr>
      <vt:lpstr>Double Hashing</vt:lpstr>
      <vt:lpstr>Double Hashing</vt:lpstr>
      <vt:lpstr>Double Hashing</vt:lpstr>
      <vt:lpstr>Double Hashing</vt:lpstr>
      <vt:lpstr>Double Hashing</vt:lpstr>
      <vt:lpstr>Double Hashing</vt:lpstr>
      <vt:lpstr>Double Hashing</vt:lpstr>
      <vt:lpstr>Double Hashing</vt:lpstr>
      <vt:lpstr>Double Hashing</vt:lpstr>
      <vt:lpstr>Double Hashing</vt:lpstr>
      <vt:lpstr>Double Hashing</vt:lpstr>
      <vt:lpstr>Double Hashing</vt:lpstr>
      <vt:lpstr>Double Hashing</vt:lpstr>
      <vt:lpstr>Double Hashing</vt:lpstr>
      <vt:lpstr>Double Hashing</vt:lpstr>
      <vt:lpstr>Removing Items Under Open Addressing</vt:lpstr>
      <vt:lpstr>Removing Items Under Open Addressing</vt:lpstr>
      <vt:lpstr>Removing Items Under Open Addressing</vt:lpstr>
      <vt:lpstr>Removing Items Under Open Addressing</vt:lpstr>
      <vt:lpstr>Removing Items Under Open Addressing</vt:lpstr>
      <vt:lpstr>Removing Items Under Open Addressing</vt:lpstr>
      <vt:lpstr>Removing Items Under Open Addressing</vt:lpstr>
      <vt:lpstr>Removing Items Under Open Addressing</vt:lpstr>
      <vt:lpstr>Removing Items Under Open Addressing</vt:lpstr>
      <vt:lpstr>Removing Items Under Open Addressing</vt:lpstr>
      <vt:lpstr>Removing Items Under Open Addressing</vt:lpstr>
      <vt:lpstr>Removing Items Under Open Addressing</vt:lpstr>
      <vt:lpstr>Removing Items Under Open Addressing</vt:lpstr>
      <vt:lpstr>Removing Items Under Open Addressing</vt:lpstr>
      <vt:lpstr>Removing Items Under Open Addressing</vt:lpstr>
      <vt:lpstr>Removing Items Under Open Addressing</vt:lpstr>
      <vt:lpstr>Removing Items Under Open Addressing</vt:lpstr>
      <vt:lpstr>Removing Items Under Open Addressing</vt:lpstr>
      <vt:lpstr>Removing Items Under Open Addressing</vt:lpstr>
      <vt:lpstr>Removing Items Under Open Addressing</vt:lpstr>
      <vt:lpstr>Removing Items Under Open Addressing</vt:lpstr>
      <vt:lpstr>Removing Items Under Open Addressing</vt:lpstr>
      <vt:lpstr>Removing Items Under Open Addressing</vt:lpstr>
      <vt:lpstr>Removing Items Under Open Addressing</vt:lpstr>
      <vt:lpstr>Removing Items Under Open Addressing</vt:lpstr>
      <vt:lpstr>Removing Items Under Open Addressing</vt:lpstr>
      <vt:lpstr>Removing Items Under Open Addressing</vt:lpstr>
      <vt:lpstr>Removing Items Under Open Addressing</vt:lpstr>
      <vt:lpstr>Removing Items Under Open Addressing</vt:lpstr>
      <vt:lpstr>Removing Items Under Open Addressing</vt:lpstr>
      <vt:lpstr>Removing Items Under Open Addressing</vt:lpstr>
      <vt:lpstr>Removing Items Under Open Addressing</vt:lpstr>
      <vt:lpstr>Removing Items Under Open Addressing</vt:lpstr>
      <vt:lpstr>Removing Items Under Open Addressing</vt:lpstr>
      <vt:lpstr>Removing Items Under Open Addressing</vt:lpstr>
      <vt:lpstr>Insertion</vt:lpstr>
      <vt:lpstr>Insertion</vt:lpstr>
      <vt:lpstr>Insertion</vt:lpstr>
      <vt:lpstr>Insertion</vt:lpstr>
      <vt:lpstr>Insertion</vt:lpstr>
      <vt:lpstr>Insertion</vt:lpstr>
      <vt:lpstr>Insertion</vt:lpstr>
      <vt:lpstr>Tracing Through Some Examples</vt:lpstr>
      <vt:lpstr>Tracing Through Some Examples</vt:lpstr>
      <vt:lpstr>Tracing Through Some Examples</vt:lpstr>
      <vt:lpstr>Tracing Through Some Examples</vt:lpstr>
      <vt:lpstr>Tracing Through Some Examples</vt:lpstr>
      <vt:lpstr>Tracing Through Some Examples</vt:lpstr>
      <vt:lpstr>Tracing Through Some Examples</vt:lpstr>
      <vt:lpstr>Tracing Through Some Examples</vt:lpstr>
      <vt:lpstr>Tracing Through Some Examples</vt:lpstr>
      <vt:lpstr>Tracing Through Some Examples</vt:lpstr>
      <vt:lpstr>Tracing Through Some Examples</vt:lpstr>
      <vt:lpstr>Tracing Through Some Examples</vt:lpstr>
      <vt:lpstr>Tracing Through Some Examples</vt:lpstr>
      <vt:lpstr>Tracing Through Some Examples</vt:lpstr>
      <vt:lpstr>Tracing Through Some Examples</vt:lpstr>
      <vt:lpstr>Tracing Through Some Examples</vt:lpstr>
      <vt:lpstr>Tracing Through Some Examples</vt:lpstr>
      <vt:lpstr>Tracing Through Some Examples</vt:lpstr>
      <vt:lpstr>Tracing Through Some Examples</vt:lpstr>
      <vt:lpstr>Tracing Through Some Examples</vt:lpstr>
      <vt:lpstr>Tracing Through Some Examples</vt:lpstr>
      <vt:lpstr>Tracing Through Some Examples</vt:lpstr>
      <vt:lpstr>Tracing Through Some Examples</vt:lpstr>
      <vt:lpstr>Tracing Through Some Examples</vt:lpstr>
      <vt:lpstr>Tracing Through Some Examples</vt:lpstr>
      <vt:lpstr>Tracing Through Some Examples</vt:lpstr>
      <vt:lpstr>Tracing Through Some Examples</vt:lpstr>
      <vt:lpstr>Tracing Through Some Examples</vt:lpstr>
      <vt:lpstr>Tracing Through Some Examples</vt:lpstr>
      <vt:lpstr>Tracing Through Some Examples</vt:lpstr>
      <vt:lpstr>Tracing Through Some Examples</vt:lpstr>
      <vt:lpstr>Tracing Through Some Examples</vt:lpstr>
      <vt:lpstr>Tracing Through Some Examples</vt:lpstr>
      <vt:lpstr>Tracing Through Some Examples</vt:lpstr>
      <vt:lpstr>Tracing Through Some Examples</vt:lpstr>
      <vt:lpstr>Dealing with Overflow</vt:lpstr>
      <vt:lpstr>Dealing with Overflow</vt:lpstr>
      <vt:lpstr>Dealing with Overflow</vt:lpstr>
      <vt:lpstr>Dealing with Overflow</vt:lpstr>
      <vt:lpstr>Dealing with Overflow</vt:lpstr>
      <vt:lpstr>Dealing with Overflow</vt:lpstr>
      <vt:lpstr>Dealing with Overflow</vt:lpstr>
      <vt:lpstr>Dealing with Overflow</vt:lpstr>
      <vt:lpstr>Dealing with Overflow</vt:lpstr>
      <vt:lpstr>Dealing with Overflow</vt:lpstr>
      <vt:lpstr>Dealing with Overflow</vt:lpstr>
      <vt:lpstr>Play Time</vt:lpstr>
      <vt:lpstr>Another Example</vt:lpstr>
      <vt:lpstr>Another Example</vt:lpstr>
      <vt:lpstr>Another Example</vt:lpstr>
      <vt:lpstr>Another Example</vt:lpstr>
      <vt:lpstr>Another Example</vt:lpstr>
      <vt:lpstr>Another Example</vt:lpstr>
      <vt:lpstr>Another Example</vt:lpstr>
      <vt:lpstr>Another Example</vt:lpstr>
      <vt:lpstr>Another Example</vt:lpstr>
      <vt:lpstr>Hash Table with Open Addressing</vt:lpstr>
      <vt:lpstr>Operations on a Hash Table</vt:lpstr>
      <vt:lpstr>Operations on a Hash Table</vt:lpstr>
      <vt:lpstr>Operations on a Hash Table</vt:lpstr>
      <vt:lpstr>Operations on a Hash Table</vt:lpstr>
      <vt:lpstr>An Interface For Hash Tables</vt:lpstr>
      <vt:lpstr>An Interface For Hash Tables</vt:lpstr>
      <vt:lpstr>An Interface For Hash Tables</vt:lpstr>
      <vt:lpstr>An Implementation Using Open Addressing</vt:lpstr>
      <vt:lpstr>An Implementation Using Open Addressing</vt:lpstr>
      <vt:lpstr>An Implementation Using Open Addressing</vt:lpstr>
      <vt:lpstr>An Implementation Using Open Addressing</vt:lpstr>
      <vt:lpstr>An Implementation Using Open Addressing</vt:lpstr>
      <vt:lpstr>An Implementation Using Open Addressing</vt:lpstr>
      <vt:lpstr>An Implementation Using Open Addressing</vt:lpstr>
      <vt:lpstr>An Implementation Using Open Addressing</vt:lpstr>
      <vt:lpstr>An Implementation Using Open Addressing</vt:lpstr>
      <vt:lpstr>An Implementation Using Open Addressing</vt:lpstr>
      <vt:lpstr>An Implementation Using Open Addressing</vt:lpstr>
      <vt:lpstr>An Implementation Using Open Addressing</vt:lpstr>
      <vt:lpstr>An Implementation Using Open Addressing</vt:lpstr>
      <vt:lpstr>Empty vs. Removed</vt:lpstr>
      <vt:lpstr>Empty vs. Removed</vt:lpstr>
      <vt:lpstr>Empty vs. Removed</vt:lpstr>
      <vt:lpstr>Empty vs. Removed</vt:lpstr>
      <vt:lpstr>Empty vs. Removed</vt:lpstr>
      <vt:lpstr>Empty vs. Removed</vt:lpstr>
      <vt:lpstr>Empty vs. Removed</vt:lpstr>
      <vt:lpstr>Empty vs. Removed</vt:lpstr>
      <vt:lpstr>Empty vs. Removed</vt:lpstr>
      <vt:lpstr>Empty vs. Removed</vt:lpstr>
      <vt:lpstr>Probing Using Double Hashing: instance method of OpenHashTable</vt:lpstr>
      <vt:lpstr>Probing Using Double Hashing: instance method of OpenHashTable</vt:lpstr>
      <vt:lpstr>Probing Using Double Hashing: instance method of OpenHashTable</vt:lpstr>
      <vt:lpstr>Probing Using Double Hashing: instance method of OpenHashTable</vt:lpstr>
      <vt:lpstr>Probing Using Double Hashing: instance method of OpenHashTable</vt:lpstr>
      <vt:lpstr>Probing Using Double Hashing</vt:lpstr>
      <vt:lpstr>Probing Using Double Hashing</vt:lpstr>
      <vt:lpstr>Probing Using Double Hashing</vt:lpstr>
      <vt:lpstr>Probing Using Double Hashing</vt:lpstr>
      <vt:lpstr>Probing Using Double Hashing</vt:lpstr>
      <vt:lpstr>Probing Using Double Hashing</vt:lpstr>
      <vt:lpstr>Probing Using Double Hashing</vt:lpstr>
      <vt:lpstr>Probing Using Double Hashing</vt:lpstr>
      <vt:lpstr>Probing Using Double Hashing</vt:lpstr>
      <vt:lpstr>Probing Using Double Hashing</vt:lpstr>
      <vt:lpstr>Probing Using Double Hashing</vt:lpstr>
      <vt:lpstr>Avoiding an Infinite Loop</vt:lpstr>
      <vt:lpstr>Avoiding an Infinite Loop</vt:lpstr>
      <vt:lpstr>Avoiding an Infinite Loop</vt:lpstr>
      <vt:lpstr>Avoiding an Infinite Loop</vt:lpstr>
      <vt:lpstr>Avoiding an Infinite Loop</vt:lpstr>
      <vt:lpstr>Avoiding an Infinite Loop</vt:lpstr>
      <vt:lpstr>Avoiding an Infinite Loop</vt:lpstr>
      <vt:lpstr>Avoiding an Infinite Loop</vt:lpstr>
      <vt:lpstr>Avoiding an Infinite Loop</vt:lpstr>
      <vt:lpstr>Avoiding an Infinite Loop</vt:lpstr>
      <vt:lpstr>Avoiding an Infinite Loop (cont.)</vt:lpstr>
      <vt:lpstr>Avoiding an Infinite Loop (cont.)</vt:lpstr>
      <vt:lpstr>Avoiding an Infinite Loop (cont.)</vt:lpstr>
      <vt:lpstr>Avoiding an Infinite Loop (cont.)</vt:lpstr>
      <vt:lpstr>Avoiding an Infinite Loop (cont.)</vt:lpstr>
      <vt:lpstr>Handling the Other Types of Probing</vt:lpstr>
      <vt:lpstr>Handling the Other Types of Probing</vt:lpstr>
      <vt:lpstr>Handling the Other Types of Probing</vt:lpstr>
      <vt:lpstr>Handling the Other Types of Probing (cont.)</vt:lpstr>
      <vt:lpstr>Handling the Other Types of Probing (cont.)</vt:lpstr>
      <vt:lpstr>Handling the Other Types of Probing (cont.)</vt:lpstr>
      <vt:lpstr>Handling the Other Types of Probing (cont.)</vt:lpstr>
      <vt:lpstr>Handling the Other Types of Probing (cont.)</vt:lpstr>
      <vt:lpstr>Handling the Other Types of Probing (cont.)</vt:lpstr>
      <vt:lpstr>Handling the Other Types of Probing (cont.)</vt:lpstr>
      <vt:lpstr>Handling the Other Types of Probing (cont.)</vt:lpstr>
      <vt:lpstr>Handling the Other Types of Probing (cont.)</vt:lpstr>
      <vt:lpstr>Handling the Other Types of Probing (cont.)</vt:lpstr>
      <vt:lpstr>Handling the Other Types of Probing (cont.)</vt:lpstr>
      <vt:lpstr>Handling the Other Types of Probing (cont.)</vt:lpstr>
      <vt:lpstr>Handling the Other Types of Probing (cont.)</vt:lpstr>
      <vt:lpstr>Handling the Other Types of Probing (cont.)</vt:lpstr>
      <vt:lpstr>Handling the Other Types of Probing (cont.)</vt:lpstr>
      <vt:lpstr>Handling the Other Types of Probing (cont.)</vt:lpstr>
      <vt:lpstr>Handling the Other Types of Probing (cont.)</vt:lpstr>
      <vt:lpstr>Handling the Other Types of Probing (cont.)</vt:lpstr>
      <vt:lpstr>Handling the Other Types of Probing (cont.)</vt:lpstr>
      <vt:lpstr>Handling the Other Types of Probing (cont.)</vt:lpstr>
      <vt:lpstr>Handling the Other Types of Probing (cont.)</vt:lpstr>
      <vt:lpstr>Handling the Return</vt:lpstr>
      <vt:lpstr>Handling the Return</vt:lpstr>
      <vt:lpstr>Handling the Return</vt:lpstr>
      <vt:lpstr>Search and Removal</vt:lpstr>
      <vt:lpstr>Search and Removal</vt:lpstr>
      <vt:lpstr>Search and Removal</vt:lpstr>
      <vt:lpstr>Search and Removal</vt:lpstr>
      <vt:lpstr>Search and Removal</vt:lpstr>
      <vt:lpstr>Search and Removal</vt:lpstr>
      <vt:lpstr>Insertion (cont.)</vt:lpstr>
      <vt:lpstr>Insertion (cont.)</vt:lpstr>
      <vt:lpstr>Insertion (cont.)</vt:lpstr>
      <vt:lpstr>Insertion (cont.)</vt:lpstr>
      <vt:lpstr>Insertion (cont.)</vt:lpstr>
      <vt:lpstr>Insertion (cont.)</vt:lpstr>
      <vt:lpstr>Insertion (cont.)</vt:lpstr>
      <vt:lpstr>Insertion (cont.)</vt:lpstr>
      <vt:lpstr>Insertion (cont.)</vt:lpstr>
      <vt:lpstr>Insertion (cont.)</vt:lpstr>
      <vt:lpstr>Insertion (cont.)</vt:lpstr>
      <vt:lpstr>Insertion (cont.)</vt:lpstr>
      <vt:lpstr>Insertion (cont.)</vt:lpstr>
      <vt:lpstr>The Hash Function</vt:lpstr>
      <vt:lpstr>Implementing the Hash Function</vt:lpstr>
      <vt:lpstr>Implementing the Hash Function</vt:lpstr>
      <vt:lpstr>Implementing the Hash Function</vt:lpstr>
      <vt:lpstr>Implementing the Hash Function</vt:lpstr>
      <vt:lpstr>Implementing the Hash Function</vt:lpstr>
      <vt:lpstr>Hash Functions in OpenHashTable</vt:lpstr>
      <vt:lpstr>Hash Functions in OpenHashTable</vt:lpstr>
      <vt:lpstr>Hash Functions in OpenHashTable</vt:lpstr>
      <vt:lpstr>Hash Functions in OpenHashTable</vt:lpstr>
      <vt:lpstr>Hash Functions in OpenHashTable</vt:lpstr>
      <vt:lpstr>Hash Functions in OpenHashTable</vt:lpstr>
      <vt:lpstr>Hash Functions for Strings: version 1</vt:lpstr>
      <vt:lpstr>Hash Functions for Strings: version 1</vt:lpstr>
      <vt:lpstr>Hash Functions for Strings: version 1</vt:lpstr>
      <vt:lpstr>Hash Functions for Strings: version 1 a side note</vt:lpstr>
      <vt:lpstr>Hash Functions for Strings: version 2 a side note</vt:lpstr>
      <vt:lpstr>Hash Functions for Strings: version 2 a side note</vt:lpstr>
      <vt:lpstr>Hash Table Efficiency</vt:lpstr>
      <vt:lpstr>Hash Table Efficiency</vt:lpstr>
      <vt:lpstr>Hash Table Efficiency</vt:lpstr>
      <vt:lpstr>Hash Table Efficiency</vt:lpstr>
      <vt:lpstr>Hash Table Limitations</vt:lpstr>
      <vt:lpstr>Hash Table Limitations</vt:lpstr>
      <vt:lpstr>Hash Table Limitations</vt:lpstr>
      <vt:lpstr>Hash Table Limitations</vt:lpstr>
      <vt:lpstr>Hash Table Limitations</vt:lpstr>
      <vt:lpstr>Dictionaries in Java's Class Library</vt:lpstr>
      <vt:lpstr>Dictionaries in Java's Class Library</vt:lpstr>
      <vt:lpstr>Dictionaries in Java's Class Library</vt:lpstr>
      <vt:lpstr>Dictionaries in Java's Class Library</vt:lpstr>
      <vt:lpstr>Dictionaries in Java's Class Library</vt:lpstr>
      <vt:lpstr>Dictionaries in Java's Class Library</vt:lpstr>
      <vt:lpstr>Dictionaries in Java's Class Library</vt:lpstr>
      <vt:lpstr>CS112</vt:lpstr>
      <vt:lpstr>Custom Show 1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CS112: Computer Science II</dc:title>
  <dc:subject>Data Structures</dc:subject>
  <dc:creator>dgs;papadakis</dc:creator>
  <cp:lastModifiedBy>Papadakis-Kanaris, Christine</cp:lastModifiedBy>
  <cp:revision>2092</cp:revision>
  <cp:lastPrinted>2004-03-16T20:08:02Z</cp:lastPrinted>
  <dcterms:modified xsi:type="dcterms:W3CDTF">2022-12-06T01:18:50Z</dcterms:modified>
</cp:coreProperties>
</file>